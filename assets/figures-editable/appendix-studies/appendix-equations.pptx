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A-E01 · Exact kinematics under incompressibility</a:t>
            </a:r>
          </a:p>
        </p:txBody>
      </p:sp>
      <p:sp>
        <p:nvSpPr>
          <p:cNvPr id="3" name="A-E01 round_rect 1" descr="sci-ppt:o001"/>
          <p:cNvSpPr/>
          <p:nvPr/>
        </p:nvSpPr>
        <p:spPr>
          <a:xfrm>
            <a:off x="365760" y="914400"/>
            <a:ext cx="493776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A-E01 text 2" descr="sci-ppt:o002"/>
          <p:cNvSpPr txBox="1"/>
          <p:nvPr/>
        </p:nvSpPr>
        <p:spPr>
          <a:xfrm>
            <a:off x="475488" y="969264"/>
            <a:ext cx="47183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The same network shells before and after</a:t>
            </a:r>
          </a:p>
        </p:txBody>
      </p:sp>
      <p:sp>
        <p:nvSpPr>
          <p:cNvPr id="5" name="A-E01 ellipse 3" descr="sci-ppt:o003"/>
          <p:cNvSpPr/>
          <p:nvPr/>
        </p:nvSpPr>
        <p:spPr>
          <a:xfrm>
            <a:off x="1005840" y="2468880"/>
            <a:ext cx="731520" cy="731520"/>
          </a:xfrm>
          <a:prstGeom prst="ellipse">
            <a:avLst/>
          </a:prstGeom>
          <a:solidFill>
            <a:srgbClr val="0C1820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A-E01 text 4" descr="sci-ppt:o004"/>
          <p:cNvSpPr txBox="1"/>
          <p:nvPr/>
        </p:nvSpPr>
        <p:spPr>
          <a:xfrm>
            <a:off x="822960" y="2697480"/>
            <a:ext cx="109728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R_ref</a:t>
            </a:r>
          </a:p>
        </p:txBody>
      </p:sp>
      <p:sp>
        <p:nvSpPr>
          <p:cNvPr id="7" name="A-E01 ellipse 5" descr="sci-ppt:o005"/>
          <p:cNvSpPr/>
          <p:nvPr/>
        </p:nvSpPr>
        <p:spPr>
          <a:xfrm>
            <a:off x="777240" y="2240280"/>
            <a:ext cx="1188720" cy="118872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A-E01 ellipse 6" descr="sci-ppt:o006"/>
          <p:cNvSpPr/>
          <p:nvPr/>
        </p:nvSpPr>
        <p:spPr>
          <a:xfrm>
            <a:off x="548640" y="2011680"/>
            <a:ext cx="1645920" cy="164592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-E01 text 7" descr="sci-ppt:o007"/>
          <p:cNvSpPr txBox="1"/>
          <p:nvPr/>
        </p:nvSpPr>
        <p:spPr>
          <a:xfrm>
            <a:off x="548640" y="406908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reference state</a:t>
            </a:r>
          </a:p>
        </p:txBody>
      </p:sp>
      <p:sp>
        <p:nvSpPr>
          <p:cNvPr id="10" name="A-E01 ellipse 8" descr="sci-ppt:o008"/>
          <p:cNvSpPr/>
          <p:nvPr/>
        </p:nvSpPr>
        <p:spPr>
          <a:xfrm>
            <a:off x="3108960" y="2103120"/>
            <a:ext cx="1463040" cy="14630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-E01 ellipse 9" descr="sci-ppt:o009"/>
          <p:cNvSpPr/>
          <p:nvPr/>
        </p:nvSpPr>
        <p:spPr>
          <a:xfrm>
            <a:off x="2926080" y="1920240"/>
            <a:ext cx="1828800" cy="182880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-E01 ellipse 10" descr="sci-ppt:o010"/>
          <p:cNvSpPr/>
          <p:nvPr/>
        </p:nvSpPr>
        <p:spPr>
          <a:xfrm>
            <a:off x="2743200" y="1737360"/>
            <a:ext cx="2194560" cy="219456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A-E01 arrow 11" descr="sci-ppt:o011"/>
          <p:cNvCxnSpPr/>
          <p:nvPr/>
        </p:nvCxnSpPr>
        <p:spPr>
          <a:xfrm>
            <a:off x="2103120" y="2834640"/>
            <a:ext cx="64008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A-E01 text 12" descr="sci-ppt:o012"/>
          <p:cNvSpPr txBox="1"/>
          <p:nvPr/>
        </p:nvSpPr>
        <p:spPr>
          <a:xfrm>
            <a:off x="3383280" y="2697480"/>
            <a:ext cx="914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R</a:t>
            </a:r>
          </a:p>
        </p:txBody>
      </p:sp>
      <p:sp>
        <p:nvSpPr>
          <p:cNvPr id="15" name="A-E01 text 13" descr="sci-ppt:o013"/>
          <p:cNvSpPr txBox="1"/>
          <p:nvPr/>
        </p:nvSpPr>
        <p:spPr>
          <a:xfrm>
            <a:off x="2743200" y="406908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expanded to R</a:t>
            </a:r>
          </a:p>
        </p:txBody>
      </p:sp>
      <p:sp>
        <p:nvSpPr>
          <p:cNvPr id="16" name="A-E01 text 14" descr="sci-ppt:o014"/>
          <p:cNvSpPr txBox="1"/>
          <p:nvPr/>
        </p:nvSpPr>
        <p:spPr>
          <a:xfrm>
            <a:off x="548640" y="443484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shell volume conserved: r³ − R³ = r₀³ − R_ref³</a:t>
            </a:r>
          </a:p>
        </p:txBody>
      </p:sp>
      <p:sp>
        <p:nvSpPr>
          <p:cNvPr id="17" name="A-E01 text 15" descr="sci-ppt:o015"/>
          <p:cNvSpPr txBox="1"/>
          <p:nvPr/>
        </p:nvSpPr>
        <p:spPr>
          <a:xfrm>
            <a:off x="548640" y="4937760"/>
            <a:ext cx="4572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λᵣ = ∂r/∂r₀ = r₀²/r²,   λ_θ = λᵩ = r/r₀,   λ_rλ_θλᵩ = 1</a:t>
            </a:r>
          </a:p>
        </p:txBody>
      </p:sp>
      <p:cxnSp>
        <p:nvCxnSpPr>
          <p:cNvPr id="18" name="A-E01 line 16" descr="sci-ppt:o016"/>
          <p:cNvCxnSpPr/>
          <p:nvPr/>
        </p:nvCxnSpPr>
        <p:spPr>
          <a:xfrm>
            <a:off x="6126480" y="5029200"/>
            <a:ext cx="5577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9" name="A-E01 line 17" descr="sci-ppt:o017"/>
          <p:cNvCxnSpPr/>
          <p:nvPr/>
        </p:nvCxnSpPr>
        <p:spPr>
          <a:xfrm>
            <a:off x="612648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0" name="A-E01 line 18" descr="sci-ppt:o018"/>
          <p:cNvCxnSpPr/>
          <p:nvPr/>
        </p:nvCxnSpPr>
        <p:spPr>
          <a:xfrm>
            <a:off x="61264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1 line 19" descr="sci-ppt:o019"/>
          <p:cNvCxnSpPr/>
          <p:nvPr/>
        </p:nvCxnSpPr>
        <p:spPr>
          <a:xfrm>
            <a:off x="61264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1 text 20" descr="sci-ppt:o020"/>
          <p:cNvSpPr txBox="1"/>
          <p:nvPr/>
        </p:nvSpPr>
        <p:spPr>
          <a:xfrm>
            <a:off x="56692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3" name="A-E01 line 21" descr="sci-ppt:o021"/>
          <p:cNvCxnSpPr/>
          <p:nvPr/>
        </p:nvCxnSpPr>
        <p:spPr>
          <a:xfrm>
            <a:off x="724204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1 line 22" descr="sci-ppt:o022"/>
          <p:cNvCxnSpPr/>
          <p:nvPr/>
        </p:nvCxnSpPr>
        <p:spPr>
          <a:xfrm>
            <a:off x="724204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A-E01 text 23" descr="sci-ppt:o023"/>
          <p:cNvSpPr txBox="1"/>
          <p:nvPr/>
        </p:nvSpPr>
        <p:spPr>
          <a:xfrm>
            <a:off x="678484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6" name="A-E01 line 24" descr="sci-ppt:o024"/>
          <p:cNvCxnSpPr/>
          <p:nvPr/>
        </p:nvCxnSpPr>
        <p:spPr>
          <a:xfrm>
            <a:off x="835761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A-E01 line 25" descr="sci-ppt:o025"/>
          <p:cNvCxnSpPr/>
          <p:nvPr/>
        </p:nvCxnSpPr>
        <p:spPr>
          <a:xfrm>
            <a:off x="835761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A-E01 text 26" descr="sci-ppt:o026"/>
          <p:cNvSpPr txBox="1"/>
          <p:nvPr/>
        </p:nvSpPr>
        <p:spPr>
          <a:xfrm>
            <a:off x="790041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29" name="A-E01 line 27" descr="sci-ppt:o027"/>
          <p:cNvCxnSpPr/>
          <p:nvPr/>
        </p:nvCxnSpPr>
        <p:spPr>
          <a:xfrm>
            <a:off x="947318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A-E01 line 28" descr="sci-ppt:o028"/>
          <p:cNvCxnSpPr/>
          <p:nvPr/>
        </p:nvCxnSpPr>
        <p:spPr>
          <a:xfrm>
            <a:off x="947318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A-E01 text 29" descr="sci-ppt:o029"/>
          <p:cNvSpPr txBox="1"/>
          <p:nvPr/>
        </p:nvSpPr>
        <p:spPr>
          <a:xfrm>
            <a:off x="901598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32" name="A-E01 line 30" descr="sci-ppt:o030"/>
          <p:cNvCxnSpPr/>
          <p:nvPr/>
        </p:nvCxnSpPr>
        <p:spPr>
          <a:xfrm>
            <a:off x="1058875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A-E01 line 31" descr="sci-ppt:o031"/>
          <p:cNvCxnSpPr/>
          <p:nvPr/>
        </p:nvCxnSpPr>
        <p:spPr>
          <a:xfrm>
            <a:off x="1058875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A-E01 text 32" descr="sci-ppt:o032"/>
          <p:cNvSpPr txBox="1"/>
          <p:nvPr/>
        </p:nvSpPr>
        <p:spPr>
          <a:xfrm>
            <a:off x="1013155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35" name="A-E01 line 33" descr="sci-ppt:o033"/>
          <p:cNvCxnSpPr/>
          <p:nvPr/>
        </p:nvCxnSpPr>
        <p:spPr>
          <a:xfrm>
            <a:off x="117043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A-E01 line 34" descr="sci-ppt:o034"/>
          <p:cNvCxnSpPr/>
          <p:nvPr/>
        </p:nvCxnSpPr>
        <p:spPr>
          <a:xfrm>
            <a:off x="117043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A-E01 text 35" descr="sci-ppt:o035"/>
          <p:cNvSpPr txBox="1"/>
          <p:nvPr/>
        </p:nvSpPr>
        <p:spPr>
          <a:xfrm>
            <a:off x="112471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38" name="A-E01 line 36" descr="sci-ppt:o036"/>
          <p:cNvCxnSpPr/>
          <p:nvPr/>
        </p:nvCxnSpPr>
        <p:spPr>
          <a:xfrm>
            <a:off x="606247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A-E01 line 37" descr="sci-ppt:o037"/>
          <p:cNvCxnSpPr/>
          <p:nvPr/>
        </p:nvCxnSpPr>
        <p:spPr>
          <a:xfrm>
            <a:off x="6062472" y="4419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A-E01 line 38" descr="sci-ppt:o038"/>
          <p:cNvCxnSpPr/>
          <p:nvPr/>
        </p:nvCxnSpPr>
        <p:spPr>
          <a:xfrm>
            <a:off x="6126480" y="44196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A-E01 text 39" descr="sci-ppt:o039"/>
          <p:cNvSpPr txBox="1"/>
          <p:nvPr/>
        </p:nvSpPr>
        <p:spPr>
          <a:xfrm>
            <a:off x="5257800" y="4337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2" name="A-E01 line 40" descr="sci-ppt:o040"/>
          <p:cNvCxnSpPr/>
          <p:nvPr/>
        </p:nvCxnSpPr>
        <p:spPr>
          <a:xfrm>
            <a:off x="606247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A-E01 line 41" descr="sci-ppt:o041"/>
          <p:cNvCxnSpPr/>
          <p:nvPr/>
        </p:nvCxnSpPr>
        <p:spPr>
          <a:xfrm>
            <a:off x="6126480" y="38100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A-E01 text 42" descr="sci-ppt:o042"/>
          <p:cNvSpPr txBox="1"/>
          <p:nvPr/>
        </p:nvSpPr>
        <p:spPr>
          <a:xfrm>
            <a:off x="525780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5" name="A-E01 line 43" descr="sci-ppt:o043"/>
          <p:cNvCxnSpPr/>
          <p:nvPr/>
        </p:nvCxnSpPr>
        <p:spPr>
          <a:xfrm>
            <a:off x="606247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A-E01 line 44" descr="sci-ppt:o044"/>
          <p:cNvCxnSpPr/>
          <p:nvPr/>
        </p:nvCxnSpPr>
        <p:spPr>
          <a:xfrm>
            <a:off x="6126480" y="32004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A-E01 text 45" descr="sci-ppt:o045"/>
          <p:cNvSpPr txBox="1"/>
          <p:nvPr/>
        </p:nvSpPr>
        <p:spPr>
          <a:xfrm>
            <a:off x="525780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8" name="A-E01 line 46" descr="sci-ppt:o046"/>
          <p:cNvCxnSpPr/>
          <p:nvPr/>
        </p:nvCxnSpPr>
        <p:spPr>
          <a:xfrm>
            <a:off x="606247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A-E01 line 47" descr="sci-ppt:o047"/>
          <p:cNvCxnSpPr/>
          <p:nvPr/>
        </p:nvCxnSpPr>
        <p:spPr>
          <a:xfrm>
            <a:off x="6126480" y="25908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A-E01 text 48" descr="sci-ppt:o048"/>
          <p:cNvSpPr txBox="1"/>
          <p:nvPr/>
        </p:nvSpPr>
        <p:spPr>
          <a:xfrm>
            <a:off x="525780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51" name="A-E01 line 49" descr="sci-ppt:o049"/>
          <p:cNvCxnSpPr/>
          <p:nvPr/>
        </p:nvCxnSpPr>
        <p:spPr>
          <a:xfrm>
            <a:off x="6062472" y="198119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A-E01 line 50" descr="sci-ppt:o050"/>
          <p:cNvCxnSpPr/>
          <p:nvPr/>
        </p:nvCxnSpPr>
        <p:spPr>
          <a:xfrm>
            <a:off x="6126480" y="1981199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A-E01 text 51" descr="sci-ppt:o051"/>
          <p:cNvSpPr txBox="1"/>
          <p:nvPr/>
        </p:nvSpPr>
        <p:spPr>
          <a:xfrm>
            <a:off x="5257800" y="1898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54" name="A-E01 line 52" descr="sci-ppt:o052"/>
          <p:cNvCxnSpPr/>
          <p:nvPr/>
        </p:nvCxnSpPr>
        <p:spPr>
          <a:xfrm>
            <a:off x="606247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5" name="A-E01 line 53" descr="sci-ppt:o053"/>
          <p:cNvCxnSpPr/>
          <p:nvPr/>
        </p:nvCxnSpPr>
        <p:spPr>
          <a:xfrm>
            <a:off x="6126480" y="13716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6" name="A-E01 text 54" descr="sci-ppt:o054"/>
          <p:cNvSpPr txBox="1"/>
          <p:nvPr/>
        </p:nvSpPr>
        <p:spPr>
          <a:xfrm>
            <a:off x="525780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57" name="A-E01 text 55" descr="sci-ppt:o055"/>
          <p:cNvSpPr txBox="1"/>
          <p:nvPr/>
        </p:nvSpPr>
        <p:spPr>
          <a:xfrm>
            <a:off x="6126480" y="5312664"/>
            <a:ext cx="5577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reference radius r₀ / R_ref</a:t>
            </a:r>
          </a:p>
        </p:txBody>
      </p:sp>
      <p:sp>
        <p:nvSpPr>
          <p:cNvPr id="58" name="A-E01 text 56" descr="sci-ppt:o056"/>
          <p:cNvSpPr txBox="1"/>
          <p:nvPr/>
        </p:nvSpPr>
        <p:spPr>
          <a:xfrm>
            <a:off x="5577840" y="1024128"/>
            <a:ext cx="5577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stretch</a:t>
            </a:r>
          </a:p>
        </p:txBody>
      </p:sp>
      <p:sp>
        <p:nvSpPr>
          <p:cNvPr id="59" name="A-E01 polygon 57" descr="sci-ppt:o057"/>
          <p:cNvSpPr/>
          <p:nvPr/>
        </p:nvSpPr>
        <p:spPr>
          <a:xfrm>
            <a:off x="6154509" y="1460821"/>
            <a:ext cx="5549811" cy="2800924"/>
          </a:xfrm>
          <a:custGeom>
            <a:avLst/>
            <a:gdLst/>
            <a:ahLst/>
            <a:cxnLst/>
            <a:rect l="l" t="t" r="r" b="b"/>
            <a:pathLst>
              <a:path w="5549811" h="2800924">
                <a:moveTo>
                  <a:pt x="0" y="0"/>
                </a:moveTo>
                <a:lnTo>
                  <a:pt x="28029" y="84932"/>
                </a:lnTo>
                <a:lnTo>
                  <a:pt x="56059" y="165874"/>
                </a:lnTo>
                <a:lnTo>
                  <a:pt x="84088" y="243100"/>
                </a:lnTo>
                <a:lnTo>
                  <a:pt x="112117" y="316857"/>
                </a:lnTo>
                <a:lnTo>
                  <a:pt x="140147" y="387373"/>
                </a:lnTo>
                <a:lnTo>
                  <a:pt x="168176" y="454854"/>
                </a:lnTo>
                <a:lnTo>
                  <a:pt x="196205" y="519491"/>
                </a:lnTo>
                <a:lnTo>
                  <a:pt x="224235" y="581459"/>
                </a:lnTo>
                <a:lnTo>
                  <a:pt x="252264" y="640917"/>
                </a:lnTo>
                <a:lnTo>
                  <a:pt x="280293" y="698013"/>
                </a:lnTo>
                <a:lnTo>
                  <a:pt x="308323" y="752884"/>
                </a:lnTo>
                <a:lnTo>
                  <a:pt x="336352" y="805656"/>
                </a:lnTo>
                <a:lnTo>
                  <a:pt x="364381" y="856446"/>
                </a:lnTo>
                <a:lnTo>
                  <a:pt x="392411" y="905361"/>
                </a:lnTo>
                <a:lnTo>
                  <a:pt x="420440" y="952503"/>
                </a:lnTo>
                <a:lnTo>
                  <a:pt x="448469" y="997964"/>
                </a:lnTo>
                <a:lnTo>
                  <a:pt x="476499" y="1041831"/>
                </a:lnTo>
                <a:lnTo>
                  <a:pt x="504528" y="1084186"/>
                </a:lnTo>
                <a:lnTo>
                  <a:pt x="532557" y="1125103"/>
                </a:lnTo>
                <a:lnTo>
                  <a:pt x="560587" y="1164654"/>
                </a:lnTo>
                <a:lnTo>
                  <a:pt x="588616" y="1202905"/>
                </a:lnTo>
                <a:lnTo>
                  <a:pt x="616645" y="1239916"/>
                </a:lnTo>
                <a:lnTo>
                  <a:pt x="644675" y="1275747"/>
                </a:lnTo>
                <a:lnTo>
                  <a:pt x="672704" y="1310452"/>
                </a:lnTo>
                <a:lnTo>
                  <a:pt x="700734" y="1344082"/>
                </a:lnTo>
                <a:lnTo>
                  <a:pt x="728763" y="1376684"/>
                </a:lnTo>
                <a:lnTo>
                  <a:pt x="756792" y="1408304"/>
                </a:lnTo>
                <a:lnTo>
                  <a:pt x="784822" y="1438984"/>
                </a:lnTo>
                <a:lnTo>
                  <a:pt x="812851" y="1468766"/>
                </a:lnTo>
                <a:lnTo>
                  <a:pt x="840880" y="1497685"/>
                </a:lnTo>
                <a:lnTo>
                  <a:pt x="868910" y="1525779"/>
                </a:lnTo>
                <a:lnTo>
                  <a:pt x="896939" y="1553081"/>
                </a:lnTo>
                <a:lnTo>
                  <a:pt x="924968" y="1579622"/>
                </a:lnTo>
                <a:lnTo>
                  <a:pt x="952998" y="1605434"/>
                </a:lnTo>
                <a:lnTo>
                  <a:pt x="981027" y="1630545"/>
                </a:lnTo>
                <a:lnTo>
                  <a:pt x="1009056" y="1654981"/>
                </a:lnTo>
                <a:lnTo>
                  <a:pt x="1037086" y="1678770"/>
                </a:lnTo>
                <a:lnTo>
                  <a:pt x="1065115" y="1701934"/>
                </a:lnTo>
                <a:lnTo>
                  <a:pt x="1093144" y="1724498"/>
                </a:lnTo>
                <a:lnTo>
                  <a:pt x="1121174" y="1746484"/>
                </a:lnTo>
                <a:lnTo>
                  <a:pt x="1149203" y="1767912"/>
                </a:lnTo>
                <a:lnTo>
                  <a:pt x="1177232" y="1788803"/>
                </a:lnTo>
                <a:lnTo>
                  <a:pt x="1205262" y="1809176"/>
                </a:lnTo>
                <a:lnTo>
                  <a:pt x="1233291" y="1829048"/>
                </a:lnTo>
                <a:lnTo>
                  <a:pt x="1261320" y="1848437"/>
                </a:lnTo>
                <a:lnTo>
                  <a:pt x="1289350" y="1867360"/>
                </a:lnTo>
                <a:lnTo>
                  <a:pt x="1317379" y="1885832"/>
                </a:lnTo>
                <a:lnTo>
                  <a:pt x="1345408" y="1903869"/>
                </a:lnTo>
                <a:lnTo>
                  <a:pt x="1373438" y="1921484"/>
                </a:lnTo>
                <a:lnTo>
                  <a:pt x="1401467" y="1938692"/>
                </a:lnTo>
                <a:lnTo>
                  <a:pt x="1429497" y="1955506"/>
                </a:lnTo>
                <a:lnTo>
                  <a:pt x="1457526" y="1971938"/>
                </a:lnTo>
                <a:lnTo>
                  <a:pt x="1485555" y="1988000"/>
                </a:lnTo>
                <a:lnTo>
                  <a:pt x="1513585" y="2003705"/>
                </a:lnTo>
                <a:lnTo>
                  <a:pt x="1541614" y="2019062"/>
                </a:lnTo>
                <a:lnTo>
                  <a:pt x="1569643" y="2034083"/>
                </a:lnTo>
                <a:lnTo>
                  <a:pt x="1597673" y="2048777"/>
                </a:lnTo>
                <a:lnTo>
                  <a:pt x="1625702" y="2063155"/>
                </a:lnTo>
                <a:lnTo>
                  <a:pt x="1653731" y="2077227"/>
                </a:lnTo>
                <a:lnTo>
                  <a:pt x="1681761" y="2091000"/>
                </a:lnTo>
                <a:lnTo>
                  <a:pt x="1709790" y="2104483"/>
                </a:lnTo>
                <a:lnTo>
                  <a:pt x="1737819" y="2117686"/>
                </a:lnTo>
                <a:lnTo>
                  <a:pt x="1765849" y="2130615"/>
                </a:lnTo>
                <a:lnTo>
                  <a:pt x="1793878" y="2143279"/>
                </a:lnTo>
                <a:lnTo>
                  <a:pt x="1821907" y="2155685"/>
                </a:lnTo>
                <a:lnTo>
                  <a:pt x="1849937" y="2167841"/>
                </a:lnTo>
                <a:lnTo>
                  <a:pt x="1877966" y="2179752"/>
                </a:lnTo>
                <a:lnTo>
                  <a:pt x="1905995" y="2191426"/>
                </a:lnTo>
                <a:lnTo>
                  <a:pt x="1934025" y="2202870"/>
                </a:lnTo>
                <a:lnTo>
                  <a:pt x="1962054" y="2214088"/>
                </a:lnTo>
                <a:lnTo>
                  <a:pt x="1990083" y="2225088"/>
                </a:lnTo>
                <a:lnTo>
                  <a:pt x="2018113" y="2235874"/>
                </a:lnTo>
                <a:lnTo>
                  <a:pt x="2046142" y="2246453"/>
                </a:lnTo>
                <a:lnTo>
                  <a:pt x="2074172" y="2256830"/>
                </a:lnTo>
                <a:lnTo>
                  <a:pt x="2102201" y="2267010"/>
                </a:lnTo>
                <a:lnTo>
                  <a:pt x="2130230" y="2276998"/>
                </a:lnTo>
                <a:lnTo>
                  <a:pt x="2158260" y="2286798"/>
                </a:lnTo>
                <a:lnTo>
                  <a:pt x="2186289" y="2296416"/>
                </a:lnTo>
                <a:lnTo>
                  <a:pt x="2214318" y="2305856"/>
                </a:lnTo>
                <a:lnTo>
                  <a:pt x="2242348" y="2315122"/>
                </a:lnTo>
                <a:lnTo>
                  <a:pt x="2270377" y="2324219"/>
                </a:lnTo>
                <a:lnTo>
                  <a:pt x="2298406" y="2333150"/>
                </a:lnTo>
                <a:lnTo>
                  <a:pt x="2326436" y="2341920"/>
                </a:lnTo>
                <a:lnTo>
                  <a:pt x="2354465" y="2350532"/>
                </a:lnTo>
                <a:lnTo>
                  <a:pt x="2382494" y="2358990"/>
                </a:lnTo>
                <a:lnTo>
                  <a:pt x="2410524" y="2367298"/>
                </a:lnTo>
                <a:lnTo>
                  <a:pt x="2438553" y="2375459"/>
                </a:lnTo>
                <a:lnTo>
                  <a:pt x="2466582" y="2383476"/>
                </a:lnTo>
                <a:lnTo>
                  <a:pt x="2494612" y="2391353"/>
                </a:lnTo>
                <a:lnTo>
                  <a:pt x="2522641" y="2399094"/>
                </a:lnTo>
                <a:lnTo>
                  <a:pt x="2550670" y="2406700"/>
                </a:lnTo>
                <a:lnTo>
                  <a:pt x="2578700" y="2414175"/>
                </a:lnTo>
                <a:lnTo>
                  <a:pt x="2606729" y="2421523"/>
                </a:lnTo>
                <a:lnTo>
                  <a:pt x="2634758" y="2428745"/>
                </a:lnTo>
                <a:lnTo>
                  <a:pt x="2662788" y="2435844"/>
                </a:lnTo>
                <a:lnTo>
                  <a:pt x="2690817" y="2442824"/>
                </a:lnTo>
                <a:lnTo>
                  <a:pt x="2718846" y="2449686"/>
                </a:lnTo>
                <a:lnTo>
                  <a:pt x="2746876" y="2456434"/>
                </a:lnTo>
                <a:lnTo>
                  <a:pt x="2774905" y="2463069"/>
                </a:lnTo>
                <a:lnTo>
                  <a:pt x="2802935" y="2469595"/>
                </a:lnTo>
                <a:lnTo>
                  <a:pt x="2830964" y="2476012"/>
                </a:lnTo>
                <a:lnTo>
                  <a:pt x="2858993" y="2482325"/>
                </a:lnTo>
                <a:lnTo>
                  <a:pt x="2887023" y="2488534"/>
                </a:lnTo>
                <a:lnTo>
                  <a:pt x="2915052" y="2494642"/>
                </a:lnTo>
                <a:lnTo>
                  <a:pt x="2943081" y="2500651"/>
                </a:lnTo>
                <a:lnTo>
                  <a:pt x="2971111" y="2506564"/>
                </a:lnTo>
                <a:lnTo>
                  <a:pt x="2999140" y="2512381"/>
                </a:lnTo>
                <a:lnTo>
                  <a:pt x="3027169" y="2518105"/>
                </a:lnTo>
                <a:lnTo>
                  <a:pt x="3055199" y="2523738"/>
                </a:lnTo>
                <a:lnTo>
                  <a:pt x="3083228" y="2529281"/>
                </a:lnTo>
                <a:lnTo>
                  <a:pt x="3111257" y="2534737"/>
                </a:lnTo>
                <a:lnTo>
                  <a:pt x="3139287" y="2540107"/>
                </a:lnTo>
                <a:lnTo>
                  <a:pt x="3167316" y="2545392"/>
                </a:lnTo>
                <a:lnTo>
                  <a:pt x="3195345" y="2550595"/>
                </a:lnTo>
                <a:lnTo>
                  <a:pt x="3223375" y="2555717"/>
                </a:lnTo>
                <a:lnTo>
                  <a:pt x="3251404" y="2560759"/>
                </a:lnTo>
                <a:lnTo>
                  <a:pt x="3279433" y="2565724"/>
                </a:lnTo>
                <a:lnTo>
                  <a:pt x="3307463" y="2570612"/>
                </a:lnTo>
                <a:lnTo>
                  <a:pt x="3335492" y="2575425"/>
                </a:lnTo>
                <a:lnTo>
                  <a:pt x="3363521" y="2580164"/>
                </a:lnTo>
                <a:lnTo>
                  <a:pt x="3391551" y="2584831"/>
                </a:lnTo>
                <a:lnTo>
                  <a:pt x="3419580" y="2589427"/>
                </a:lnTo>
                <a:lnTo>
                  <a:pt x="3447609" y="2593954"/>
                </a:lnTo>
                <a:lnTo>
                  <a:pt x="3475639" y="2598412"/>
                </a:lnTo>
                <a:lnTo>
                  <a:pt x="3503668" y="2602804"/>
                </a:lnTo>
                <a:lnTo>
                  <a:pt x="3531698" y="2607129"/>
                </a:lnTo>
                <a:lnTo>
                  <a:pt x="3559727" y="2611390"/>
                </a:lnTo>
                <a:lnTo>
                  <a:pt x="3587756" y="2615588"/>
                </a:lnTo>
                <a:lnTo>
                  <a:pt x="3615786" y="2619723"/>
                </a:lnTo>
                <a:lnTo>
                  <a:pt x="3643815" y="2623797"/>
                </a:lnTo>
                <a:lnTo>
                  <a:pt x="3671844" y="2627811"/>
                </a:lnTo>
                <a:lnTo>
                  <a:pt x="3699874" y="2631766"/>
                </a:lnTo>
                <a:lnTo>
                  <a:pt x="3727903" y="2635663"/>
                </a:lnTo>
                <a:lnTo>
                  <a:pt x="3755932" y="2639503"/>
                </a:lnTo>
                <a:lnTo>
                  <a:pt x="3783962" y="2643287"/>
                </a:lnTo>
                <a:lnTo>
                  <a:pt x="3811991" y="2647016"/>
                </a:lnTo>
                <a:lnTo>
                  <a:pt x="3840020" y="2650691"/>
                </a:lnTo>
                <a:lnTo>
                  <a:pt x="3868050" y="2654313"/>
                </a:lnTo>
                <a:lnTo>
                  <a:pt x="3896079" y="2657883"/>
                </a:lnTo>
                <a:lnTo>
                  <a:pt x="3924108" y="2661402"/>
                </a:lnTo>
                <a:lnTo>
                  <a:pt x="3952138" y="2664870"/>
                </a:lnTo>
                <a:lnTo>
                  <a:pt x="3980167" y="2668289"/>
                </a:lnTo>
                <a:lnTo>
                  <a:pt x="4008196" y="2671659"/>
                </a:lnTo>
                <a:lnTo>
                  <a:pt x="4036226" y="2674981"/>
                </a:lnTo>
                <a:lnTo>
                  <a:pt x="4064255" y="2678256"/>
                </a:lnTo>
                <a:lnTo>
                  <a:pt x="4092284" y="2681485"/>
                </a:lnTo>
                <a:lnTo>
                  <a:pt x="4120314" y="2684669"/>
                </a:lnTo>
                <a:lnTo>
                  <a:pt x="4148343" y="2687808"/>
                </a:lnTo>
                <a:lnTo>
                  <a:pt x="4176373" y="2690902"/>
                </a:lnTo>
                <a:lnTo>
                  <a:pt x="4204402" y="2693954"/>
                </a:lnTo>
                <a:lnTo>
                  <a:pt x="4232431" y="2696963"/>
                </a:lnTo>
                <a:lnTo>
                  <a:pt x="4260461" y="2699930"/>
                </a:lnTo>
                <a:lnTo>
                  <a:pt x="4288490" y="2702856"/>
                </a:lnTo>
                <a:lnTo>
                  <a:pt x="4316519" y="2705742"/>
                </a:lnTo>
                <a:lnTo>
                  <a:pt x="4344549" y="2708587"/>
                </a:lnTo>
                <a:lnTo>
                  <a:pt x="4372578" y="2711394"/>
                </a:lnTo>
                <a:lnTo>
                  <a:pt x="4400607" y="2714162"/>
                </a:lnTo>
                <a:lnTo>
                  <a:pt x="4428637" y="2716892"/>
                </a:lnTo>
                <a:lnTo>
                  <a:pt x="4456666" y="2719585"/>
                </a:lnTo>
                <a:lnTo>
                  <a:pt x="4484695" y="2722242"/>
                </a:lnTo>
                <a:lnTo>
                  <a:pt x="4512725" y="2724862"/>
                </a:lnTo>
                <a:lnTo>
                  <a:pt x="4540754" y="2727446"/>
                </a:lnTo>
                <a:lnTo>
                  <a:pt x="4568783" y="2729996"/>
                </a:lnTo>
                <a:lnTo>
                  <a:pt x="4596813" y="2732511"/>
                </a:lnTo>
                <a:lnTo>
                  <a:pt x="4624842" y="2734992"/>
                </a:lnTo>
                <a:lnTo>
                  <a:pt x="4652871" y="2737440"/>
                </a:lnTo>
                <a:lnTo>
                  <a:pt x="4680901" y="2739856"/>
                </a:lnTo>
                <a:lnTo>
                  <a:pt x="4708930" y="2742239"/>
                </a:lnTo>
                <a:lnTo>
                  <a:pt x="4736959" y="2744590"/>
                </a:lnTo>
                <a:lnTo>
                  <a:pt x="4764989" y="2746910"/>
                </a:lnTo>
                <a:lnTo>
                  <a:pt x="4793018" y="2749199"/>
                </a:lnTo>
                <a:lnTo>
                  <a:pt x="4821047" y="2751458"/>
                </a:lnTo>
                <a:lnTo>
                  <a:pt x="4849077" y="2753686"/>
                </a:lnTo>
                <a:lnTo>
                  <a:pt x="4877106" y="2755886"/>
                </a:lnTo>
                <a:lnTo>
                  <a:pt x="4905136" y="2758057"/>
                </a:lnTo>
                <a:lnTo>
                  <a:pt x="4933165" y="2760199"/>
                </a:lnTo>
                <a:lnTo>
                  <a:pt x="4961194" y="2762313"/>
                </a:lnTo>
                <a:lnTo>
                  <a:pt x="4989224" y="2764399"/>
                </a:lnTo>
                <a:lnTo>
                  <a:pt x="5017253" y="2766458"/>
                </a:lnTo>
                <a:lnTo>
                  <a:pt x="5045282" y="2768491"/>
                </a:lnTo>
                <a:lnTo>
                  <a:pt x="5073312" y="2770497"/>
                </a:lnTo>
                <a:lnTo>
                  <a:pt x="5101341" y="2772477"/>
                </a:lnTo>
                <a:lnTo>
                  <a:pt x="5129370" y="2774431"/>
                </a:lnTo>
                <a:lnTo>
                  <a:pt x="5157400" y="2776360"/>
                </a:lnTo>
                <a:lnTo>
                  <a:pt x="5185429" y="2778265"/>
                </a:lnTo>
                <a:lnTo>
                  <a:pt x="5213458" y="2780145"/>
                </a:lnTo>
                <a:lnTo>
                  <a:pt x="5241488" y="2782001"/>
                </a:lnTo>
                <a:lnTo>
                  <a:pt x="5269517" y="2783833"/>
                </a:lnTo>
                <a:lnTo>
                  <a:pt x="5297546" y="2785642"/>
                </a:lnTo>
                <a:lnTo>
                  <a:pt x="5325576" y="2787427"/>
                </a:lnTo>
                <a:lnTo>
                  <a:pt x="5353605" y="2789190"/>
                </a:lnTo>
                <a:lnTo>
                  <a:pt x="5381634" y="2790931"/>
                </a:lnTo>
                <a:lnTo>
                  <a:pt x="5409664" y="2792650"/>
                </a:lnTo>
                <a:lnTo>
                  <a:pt x="5437693" y="2794347"/>
                </a:lnTo>
                <a:lnTo>
                  <a:pt x="5465722" y="2796022"/>
                </a:lnTo>
                <a:lnTo>
                  <a:pt x="5493752" y="2797677"/>
                </a:lnTo>
                <a:lnTo>
                  <a:pt x="5521781" y="2799310"/>
                </a:lnTo>
                <a:lnTo>
                  <a:pt x="5549811" y="2800924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A-E01 polygon 58" descr="sci-ppt:o058"/>
          <p:cNvSpPr/>
          <p:nvPr/>
        </p:nvSpPr>
        <p:spPr>
          <a:xfrm>
            <a:off x="6126480" y="4644582"/>
            <a:ext cx="5577840" cy="367684"/>
          </a:xfrm>
          <a:custGeom>
            <a:avLst/>
            <a:gdLst/>
            <a:ahLst/>
            <a:cxnLst/>
            <a:rect l="l" t="t" r="r" b="b"/>
            <a:pathLst>
              <a:path w="5577840" h="367684">
                <a:moveTo>
                  <a:pt x="0" y="367684"/>
                </a:moveTo>
                <a:lnTo>
                  <a:pt x="28029" y="366827"/>
                </a:lnTo>
                <a:lnTo>
                  <a:pt x="56058" y="365949"/>
                </a:lnTo>
                <a:lnTo>
                  <a:pt x="84088" y="365050"/>
                </a:lnTo>
                <a:lnTo>
                  <a:pt x="112117" y="364130"/>
                </a:lnTo>
                <a:lnTo>
                  <a:pt x="140146" y="363190"/>
                </a:lnTo>
                <a:lnTo>
                  <a:pt x="168176" y="362230"/>
                </a:lnTo>
                <a:lnTo>
                  <a:pt x="196205" y="361249"/>
                </a:lnTo>
                <a:lnTo>
                  <a:pt x="224234" y="360248"/>
                </a:lnTo>
                <a:lnTo>
                  <a:pt x="252264" y="359226"/>
                </a:lnTo>
                <a:lnTo>
                  <a:pt x="280293" y="358184"/>
                </a:lnTo>
                <a:lnTo>
                  <a:pt x="308322" y="357122"/>
                </a:lnTo>
                <a:lnTo>
                  <a:pt x="336352" y="356040"/>
                </a:lnTo>
                <a:lnTo>
                  <a:pt x="364381" y="354938"/>
                </a:lnTo>
                <a:lnTo>
                  <a:pt x="392410" y="353816"/>
                </a:lnTo>
                <a:lnTo>
                  <a:pt x="420440" y="352674"/>
                </a:lnTo>
                <a:lnTo>
                  <a:pt x="448469" y="351512"/>
                </a:lnTo>
                <a:lnTo>
                  <a:pt x="476498" y="350331"/>
                </a:lnTo>
                <a:lnTo>
                  <a:pt x="504528" y="349130"/>
                </a:lnTo>
                <a:lnTo>
                  <a:pt x="532557" y="347909"/>
                </a:lnTo>
                <a:lnTo>
                  <a:pt x="560586" y="346669"/>
                </a:lnTo>
                <a:lnTo>
                  <a:pt x="588616" y="345410"/>
                </a:lnTo>
                <a:lnTo>
                  <a:pt x="616645" y="344132"/>
                </a:lnTo>
                <a:lnTo>
                  <a:pt x="644674" y="342835"/>
                </a:lnTo>
                <a:lnTo>
                  <a:pt x="672704" y="341519"/>
                </a:lnTo>
                <a:lnTo>
                  <a:pt x="700733" y="340184"/>
                </a:lnTo>
                <a:lnTo>
                  <a:pt x="728763" y="338830"/>
                </a:lnTo>
                <a:lnTo>
                  <a:pt x="756792" y="337457"/>
                </a:lnTo>
                <a:lnTo>
                  <a:pt x="784821" y="336067"/>
                </a:lnTo>
                <a:lnTo>
                  <a:pt x="812851" y="334657"/>
                </a:lnTo>
                <a:lnTo>
                  <a:pt x="840880" y="333230"/>
                </a:lnTo>
                <a:lnTo>
                  <a:pt x="868909" y="331785"/>
                </a:lnTo>
                <a:lnTo>
                  <a:pt x="896939" y="330321"/>
                </a:lnTo>
                <a:lnTo>
                  <a:pt x="924968" y="328840"/>
                </a:lnTo>
                <a:lnTo>
                  <a:pt x="952997" y="327342"/>
                </a:lnTo>
                <a:lnTo>
                  <a:pt x="981027" y="325825"/>
                </a:lnTo>
                <a:lnTo>
                  <a:pt x="1009056" y="324292"/>
                </a:lnTo>
                <a:lnTo>
                  <a:pt x="1037085" y="322741"/>
                </a:lnTo>
                <a:lnTo>
                  <a:pt x="1065115" y="321173"/>
                </a:lnTo>
                <a:lnTo>
                  <a:pt x="1093144" y="319589"/>
                </a:lnTo>
                <a:lnTo>
                  <a:pt x="1121173" y="317988"/>
                </a:lnTo>
                <a:lnTo>
                  <a:pt x="1149203" y="316370"/>
                </a:lnTo>
                <a:lnTo>
                  <a:pt x="1177232" y="314736"/>
                </a:lnTo>
                <a:lnTo>
                  <a:pt x="1205261" y="313085"/>
                </a:lnTo>
                <a:lnTo>
                  <a:pt x="1233291" y="311419"/>
                </a:lnTo>
                <a:lnTo>
                  <a:pt x="1261320" y="309737"/>
                </a:lnTo>
                <a:lnTo>
                  <a:pt x="1289349" y="308039"/>
                </a:lnTo>
                <a:lnTo>
                  <a:pt x="1317379" y="306326"/>
                </a:lnTo>
                <a:lnTo>
                  <a:pt x="1345408" y="304597"/>
                </a:lnTo>
                <a:lnTo>
                  <a:pt x="1373437" y="302853"/>
                </a:lnTo>
                <a:lnTo>
                  <a:pt x="1401467" y="301095"/>
                </a:lnTo>
                <a:lnTo>
                  <a:pt x="1429496" y="299322"/>
                </a:lnTo>
                <a:lnTo>
                  <a:pt x="1457526" y="297534"/>
                </a:lnTo>
                <a:lnTo>
                  <a:pt x="1485555" y="295732"/>
                </a:lnTo>
                <a:lnTo>
                  <a:pt x="1513584" y="293916"/>
                </a:lnTo>
                <a:lnTo>
                  <a:pt x="1541614" y="292086"/>
                </a:lnTo>
                <a:lnTo>
                  <a:pt x="1569643" y="290243"/>
                </a:lnTo>
                <a:lnTo>
                  <a:pt x="1597672" y="288386"/>
                </a:lnTo>
                <a:lnTo>
                  <a:pt x="1625702" y="286516"/>
                </a:lnTo>
                <a:lnTo>
                  <a:pt x="1653731" y="284633"/>
                </a:lnTo>
                <a:lnTo>
                  <a:pt x="1681760" y="282737"/>
                </a:lnTo>
                <a:lnTo>
                  <a:pt x="1709790" y="280829"/>
                </a:lnTo>
                <a:lnTo>
                  <a:pt x="1737819" y="278908"/>
                </a:lnTo>
                <a:lnTo>
                  <a:pt x="1765848" y="276975"/>
                </a:lnTo>
                <a:lnTo>
                  <a:pt x="1793878" y="275030"/>
                </a:lnTo>
                <a:lnTo>
                  <a:pt x="1821907" y="273074"/>
                </a:lnTo>
                <a:lnTo>
                  <a:pt x="1849936" y="271106"/>
                </a:lnTo>
                <a:lnTo>
                  <a:pt x="1877966" y="269127"/>
                </a:lnTo>
                <a:lnTo>
                  <a:pt x="1905995" y="267137"/>
                </a:lnTo>
                <a:lnTo>
                  <a:pt x="1934024" y="265137"/>
                </a:lnTo>
                <a:lnTo>
                  <a:pt x="1962054" y="263126"/>
                </a:lnTo>
                <a:lnTo>
                  <a:pt x="1990083" y="261105"/>
                </a:lnTo>
                <a:lnTo>
                  <a:pt x="2018112" y="259074"/>
                </a:lnTo>
                <a:lnTo>
                  <a:pt x="2046142" y="257033"/>
                </a:lnTo>
                <a:lnTo>
                  <a:pt x="2074171" y="254983"/>
                </a:lnTo>
                <a:lnTo>
                  <a:pt x="2102201" y="252923"/>
                </a:lnTo>
                <a:lnTo>
                  <a:pt x="2130230" y="250855"/>
                </a:lnTo>
                <a:lnTo>
                  <a:pt x="2158259" y="248778"/>
                </a:lnTo>
                <a:lnTo>
                  <a:pt x="2186289" y="246692"/>
                </a:lnTo>
                <a:lnTo>
                  <a:pt x="2214318" y="244599"/>
                </a:lnTo>
                <a:lnTo>
                  <a:pt x="2242347" y="242497"/>
                </a:lnTo>
                <a:lnTo>
                  <a:pt x="2270377" y="240388"/>
                </a:lnTo>
                <a:lnTo>
                  <a:pt x="2298406" y="238271"/>
                </a:lnTo>
                <a:lnTo>
                  <a:pt x="2326435" y="236147"/>
                </a:lnTo>
                <a:lnTo>
                  <a:pt x="2354465" y="234016"/>
                </a:lnTo>
                <a:lnTo>
                  <a:pt x="2382494" y="231879"/>
                </a:lnTo>
                <a:lnTo>
                  <a:pt x="2410523" y="229735"/>
                </a:lnTo>
                <a:lnTo>
                  <a:pt x="2438553" y="227585"/>
                </a:lnTo>
                <a:lnTo>
                  <a:pt x="2466582" y="225429"/>
                </a:lnTo>
                <a:lnTo>
                  <a:pt x="2494611" y="223267"/>
                </a:lnTo>
                <a:lnTo>
                  <a:pt x="2522641" y="221100"/>
                </a:lnTo>
                <a:lnTo>
                  <a:pt x="2550670" y="218928"/>
                </a:lnTo>
                <a:lnTo>
                  <a:pt x="2578699" y="216751"/>
                </a:lnTo>
                <a:lnTo>
                  <a:pt x="2606729" y="214570"/>
                </a:lnTo>
                <a:lnTo>
                  <a:pt x="2634758" y="212384"/>
                </a:lnTo>
                <a:lnTo>
                  <a:pt x="2662787" y="210194"/>
                </a:lnTo>
                <a:lnTo>
                  <a:pt x="2690817" y="208001"/>
                </a:lnTo>
                <a:lnTo>
                  <a:pt x="2718846" y="205803"/>
                </a:lnTo>
                <a:lnTo>
                  <a:pt x="2746875" y="203603"/>
                </a:lnTo>
                <a:lnTo>
                  <a:pt x="2774905" y="201399"/>
                </a:lnTo>
                <a:lnTo>
                  <a:pt x="2802934" y="199193"/>
                </a:lnTo>
                <a:lnTo>
                  <a:pt x="2830964" y="196984"/>
                </a:lnTo>
                <a:lnTo>
                  <a:pt x="2858993" y="194773"/>
                </a:lnTo>
                <a:lnTo>
                  <a:pt x="2887022" y="192560"/>
                </a:lnTo>
                <a:lnTo>
                  <a:pt x="2915052" y="190344"/>
                </a:lnTo>
                <a:lnTo>
                  <a:pt x="2943081" y="188128"/>
                </a:lnTo>
                <a:lnTo>
                  <a:pt x="2971110" y="185910"/>
                </a:lnTo>
                <a:lnTo>
                  <a:pt x="2999140" y="183691"/>
                </a:lnTo>
                <a:lnTo>
                  <a:pt x="3027169" y="181471"/>
                </a:lnTo>
                <a:lnTo>
                  <a:pt x="3055198" y="179251"/>
                </a:lnTo>
                <a:lnTo>
                  <a:pt x="3083228" y="177030"/>
                </a:lnTo>
                <a:lnTo>
                  <a:pt x="3111257" y="174809"/>
                </a:lnTo>
                <a:lnTo>
                  <a:pt x="3139286" y="172589"/>
                </a:lnTo>
                <a:lnTo>
                  <a:pt x="3167316" y="170368"/>
                </a:lnTo>
                <a:lnTo>
                  <a:pt x="3195345" y="168149"/>
                </a:lnTo>
                <a:lnTo>
                  <a:pt x="3223374" y="165930"/>
                </a:lnTo>
                <a:lnTo>
                  <a:pt x="3251404" y="163712"/>
                </a:lnTo>
                <a:lnTo>
                  <a:pt x="3279433" y="161496"/>
                </a:lnTo>
                <a:lnTo>
                  <a:pt x="3307462" y="159281"/>
                </a:lnTo>
                <a:lnTo>
                  <a:pt x="3335492" y="157068"/>
                </a:lnTo>
                <a:lnTo>
                  <a:pt x="3363521" y="154856"/>
                </a:lnTo>
                <a:lnTo>
                  <a:pt x="3391550" y="152647"/>
                </a:lnTo>
                <a:lnTo>
                  <a:pt x="3419580" y="150440"/>
                </a:lnTo>
                <a:lnTo>
                  <a:pt x="3447609" y="148236"/>
                </a:lnTo>
                <a:lnTo>
                  <a:pt x="3475638" y="146035"/>
                </a:lnTo>
                <a:lnTo>
                  <a:pt x="3503668" y="143837"/>
                </a:lnTo>
                <a:lnTo>
                  <a:pt x="3531697" y="141642"/>
                </a:lnTo>
                <a:lnTo>
                  <a:pt x="3559727" y="139450"/>
                </a:lnTo>
                <a:lnTo>
                  <a:pt x="3587756" y="137262"/>
                </a:lnTo>
                <a:lnTo>
                  <a:pt x="3615785" y="135078"/>
                </a:lnTo>
                <a:lnTo>
                  <a:pt x="3643815" y="132897"/>
                </a:lnTo>
                <a:lnTo>
                  <a:pt x="3671844" y="130721"/>
                </a:lnTo>
                <a:lnTo>
                  <a:pt x="3699873" y="128550"/>
                </a:lnTo>
                <a:lnTo>
                  <a:pt x="3727903" y="126383"/>
                </a:lnTo>
                <a:lnTo>
                  <a:pt x="3755932" y="124220"/>
                </a:lnTo>
                <a:lnTo>
                  <a:pt x="3783961" y="122063"/>
                </a:lnTo>
                <a:lnTo>
                  <a:pt x="3811991" y="119910"/>
                </a:lnTo>
                <a:lnTo>
                  <a:pt x="3840020" y="117763"/>
                </a:lnTo>
                <a:lnTo>
                  <a:pt x="3868049" y="115622"/>
                </a:lnTo>
                <a:lnTo>
                  <a:pt x="3896079" y="113486"/>
                </a:lnTo>
                <a:lnTo>
                  <a:pt x="3924108" y="111355"/>
                </a:lnTo>
                <a:lnTo>
                  <a:pt x="3952137" y="109231"/>
                </a:lnTo>
                <a:lnTo>
                  <a:pt x="3980167" y="107113"/>
                </a:lnTo>
                <a:lnTo>
                  <a:pt x="4008196" y="105001"/>
                </a:lnTo>
                <a:lnTo>
                  <a:pt x="4036225" y="102895"/>
                </a:lnTo>
                <a:lnTo>
                  <a:pt x="4064255" y="100796"/>
                </a:lnTo>
                <a:lnTo>
                  <a:pt x="4092284" y="98703"/>
                </a:lnTo>
                <a:lnTo>
                  <a:pt x="4120313" y="96618"/>
                </a:lnTo>
                <a:lnTo>
                  <a:pt x="4148343" y="94539"/>
                </a:lnTo>
                <a:lnTo>
                  <a:pt x="4176372" y="92467"/>
                </a:lnTo>
                <a:lnTo>
                  <a:pt x="4204402" y="90403"/>
                </a:lnTo>
                <a:lnTo>
                  <a:pt x="4232431" y="88346"/>
                </a:lnTo>
                <a:lnTo>
                  <a:pt x="4260460" y="86296"/>
                </a:lnTo>
                <a:lnTo>
                  <a:pt x="4288490" y="84254"/>
                </a:lnTo>
                <a:lnTo>
                  <a:pt x="4316519" y="82220"/>
                </a:lnTo>
                <a:lnTo>
                  <a:pt x="4344548" y="80193"/>
                </a:lnTo>
                <a:lnTo>
                  <a:pt x="4372578" y="78175"/>
                </a:lnTo>
                <a:lnTo>
                  <a:pt x="4400607" y="76164"/>
                </a:lnTo>
                <a:lnTo>
                  <a:pt x="4428636" y="74162"/>
                </a:lnTo>
                <a:lnTo>
                  <a:pt x="4456666" y="72168"/>
                </a:lnTo>
                <a:lnTo>
                  <a:pt x="4484695" y="70182"/>
                </a:lnTo>
                <a:lnTo>
                  <a:pt x="4512724" y="68205"/>
                </a:lnTo>
                <a:lnTo>
                  <a:pt x="4540754" y="66236"/>
                </a:lnTo>
                <a:lnTo>
                  <a:pt x="4568783" y="64276"/>
                </a:lnTo>
                <a:lnTo>
                  <a:pt x="4596812" y="62325"/>
                </a:lnTo>
                <a:lnTo>
                  <a:pt x="4624842" y="60382"/>
                </a:lnTo>
                <a:lnTo>
                  <a:pt x="4652871" y="58449"/>
                </a:lnTo>
                <a:lnTo>
                  <a:pt x="4680900" y="56524"/>
                </a:lnTo>
                <a:lnTo>
                  <a:pt x="4708930" y="54608"/>
                </a:lnTo>
                <a:lnTo>
                  <a:pt x="4736959" y="52702"/>
                </a:lnTo>
                <a:lnTo>
                  <a:pt x="4764988" y="50804"/>
                </a:lnTo>
                <a:lnTo>
                  <a:pt x="4793018" y="48916"/>
                </a:lnTo>
                <a:lnTo>
                  <a:pt x="4821047" y="47038"/>
                </a:lnTo>
                <a:lnTo>
                  <a:pt x="4849076" y="45168"/>
                </a:lnTo>
                <a:lnTo>
                  <a:pt x="4877106" y="43308"/>
                </a:lnTo>
                <a:lnTo>
                  <a:pt x="4905135" y="41458"/>
                </a:lnTo>
                <a:lnTo>
                  <a:pt x="4933165" y="39617"/>
                </a:lnTo>
                <a:lnTo>
                  <a:pt x="4961194" y="37786"/>
                </a:lnTo>
                <a:lnTo>
                  <a:pt x="4989223" y="35964"/>
                </a:lnTo>
                <a:lnTo>
                  <a:pt x="5017253" y="34152"/>
                </a:lnTo>
                <a:lnTo>
                  <a:pt x="5045282" y="32350"/>
                </a:lnTo>
                <a:lnTo>
                  <a:pt x="5073311" y="30558"/>
                </a:lnTo>
                <a:lnTo>
                  <a:pt x="5101341" y="28775"/>
                </a:lnTo>
                <a:lnTo>
                  <a:pt x="5129370" y="27002"/>
                </a:lnTo>
                <a:lnTo>
                  <a:pt x="5157399" y="25239"/>
                </a:lnTo>
                <a:lnTo>
                  <a:pt x="5185429" y="23487"/>
                </a:lnTo>
                <a:lnTo>
                  <a:pt x="5213458" y="21744"/>
                </a:lnTo>
                <a:lnTo>
                  <a:pt x="5241487" y="20011"/>
                </a:lnTo>
                <a:lnTo>
                  <a:pt x="5269517" y="18288"/>
                </a:lnTo>
                <a:lnTo>
                  <a:pt x="5297546" y="16575"/>
                </a:lnTo>
                <a:lnTo>
                  <a:pt x="5325575" y="14872"/>
                </a:lnTo>
                <a:lnTo>
                  <a:pt x="5353605" y="13179"/>
                </a:lnTo>
                <a:lnTo>
                  <a:pt x="5381634" y="11496"/>
                </a:lnTo>
                <a:lnTo>
                  <a:pt x="5409663" y="9823"/>
                </a:lnTo>
                <a:lnTo>
                  <a:pt x="5437693" y="8161"/>
                </a:lnTo>
                <a:lnTo>
                  <a:pt x="5465722" y="6508"/>
                </a:lnTo>
                <a:lnTo>
                  <a:pt x="5493751" y="4866"/>
                </a:lnTo>
                <a:lnTo>
                  <a:pt x="5521781" y="3234"/>
                </a:lnTo>
                <a:lnTo>
                  <a:pt x="5549810" y="1612"/>
                </a:lnTo>
                <a:lnTo>
                  <a:pt x="5577840" y="0"/>
                </a:lnTo>
              </a:path>
            </a:pathLst>
          </a:custGeom>
          <a:noFill/>
          <a:ln w="381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A-E01 polygon 59" descr="sci-ppt:o059"/>
          <p:cNvSpPr/>
          <p:nvPr/>
        </p:nvSpPr>
        <p:spPr>
          <a:xfrm>
            <a:off x="6126480" y="4419600"/>
            <a:ext cx="5577840" cy="0"/>
          </a:xfrm>
          <a:custGeom>
            <a:avLst/>
            <a:gdLst/>
            <a:ahLst/>
            <a:cxnLst/>
            <a:rect l="l" t="t" r="r" b="b"/>
            <a:pathLst>
              <a:path w="5577840" h="0">
                <a:moveTo>
                  <a:pt x="0" y="0"/>
                </a:moveTo>
                <a:lnTo>
                  <a:pt x="28029" y="0"/>
                </a:lnTo>
                <a:lnTo>
                  <a:pt x="56058" y="0"/>
                </a:lnTo>
                <a:lnTo>
                  <a:pt x="84088" y="0"/>
                </a:lnTo>
                <a:lnTo>
                  <a:pt x="112117" y="0"/>
                </a:lnTo>
                <a:lnTo>
                  <a:pt x="140146" y="0"/>
                </a:lnTo>
                <a:lnTo>
                  <a:pt x="168176" y="0"/>
                </a:lnTo>
                <a:lnTo>
                  <a:pt x="196205" y="0"/>
                </a:lnTo>
                <a:lnTo>
                  <a:pt x="224234" y="0"/>
                </a:lnTo>
                <a:lnTo>
                  <a:pt x="252264" y="0"/>
                </a:lnTo>
                <a:lnTo>
                  <a:pt x="280293" y="0"/>
                </a:lnTo>
                <a:lnTo>
                  <a:pt x="308322" y="0"/>
                </a:lnTo>
                <a:lnTo>
                  <a:pt x="336352" y="0"/>
                </a:lnTo>
                <a:lnTo>
                  <a:pt x="364381" y="0"/>
                </a:lnTo>
                <a:lnTo>
                  <a:pt x="392410" y="0"/>
                </a:lnTo>
                <a:lnTo>
                  <a:pt x="420440" y="0"/>
                </a:lnTo>
                <a:lnTo>
                  <a:pt x="448469" y="0"/>
                </a:lnTo>
                <a:lnTo>
                  <a:pt x="476498" y="0"/>
                </a:lnTo>
                <a:lnTo>
                  <a:pt x="504528" y="0"/>
                </a:lnTo>
                <a:lnTo>
                  <a:pt x="532557" y="0"/>
                </a:lnTo>
                <a:lnTo>
                  <a:pt x="560586" y="0"/>
                </a:lnTo>
                <a:lnTo>
                  <a:pt x="588616" y="0"/>
                </a:lnTo>
                <a:lnTo>
                  <a:pt x="616645" y="0"/>
                </a:lnTo>
                <a:lnTo>
                  <a:pt x="644674" y="0"/>
                </a:lnTo>
                <a:lnTo>
                  <a:pt x="672704" y="0"/>
                </a:lnTo>
                <a:lnTo>
                  <a:pt x="700733" y="0"/>
                </a:lnTo>
                <a:lnTo>
                  <a:pt x="728763" y="0"/>
                </a:lnTo>
                <a:lnTo>
                  <a:pt x="756792" y="0"/>
                </a:lnTo>
                <a:lnTo>
                  <a:pt x="784821" y="0"/>
                </a:lnTo>
                <a:lnTo>
                  <a:pt x="812851" y="0"/>
                </a:lnTo>
                <a:lnTo>
                  <a:pt x="840880" y="0"/>
                </a:lnTo>
                <a:lnTo>
                  <a:pt x="868909" y="0"/>
                </a:lnTo>
                <a:lnTo>
                  <a:pt x="896939" y="0"/>
                </a:lnTo>
                <a:lnTo>
                  <a:pt x="924968" y="0"/>
                </a:lnTo>
                <a:lnTo>
                  <a:pt x="952997" y="0"/>
                </a:lnTo>
                <a:lnTo>
                  <a:pt x="981027" y="0"/>
                </a:lnTo>
                <a:lnTo>
                  <a:pt x="1009056" y="0"/>
                </a:lnTo>
                <a:lnTo>
                  <a:pt x="1037085" y="0"/>
                </a:lnTo>
                <a:lnTo>
                  <a:pt x="1065115" y="0"/>
                </a:lnTo>
                <a:lnTo>
                  <a:pt x="1093144" y="0"/>
                </a:lnTo>
                <a:lnTo>
                  <a:pt x="1121173" y="0"/>
                </a:lnTo>
                <a:lnTo>
                  <a:pt x="1149203" y="0"/>
                </a:lnTo>
                <a:lnTo>
                  <a:pt x="1177232" y="0"/>
                </a:lnTo>
                <a:lnTo>
                  <a:pt x="1205261" y="0"/>
                </a:lnTo>
                <a:lnTo>
                  <a:pt x="1233291" y="0"/>
                </a:lnTo>
                <a:lnTo>
                  <a:pt x="1261320" y="0"/>
                </a:lnTo>
                <a:lnTo>
                  <a:pt x="1289349" y="0"/>
                </a:lnTo>
                <a:lnTo>
                  <a:pt x="1317379" y="0"/>
                </a:lnTo>
                <a:lnTo>
                  <a:pt x="1345408" y="0"/>
                </a:lnTo>
                <a:lnTo>
                  <a:pt x="1373437" y="0"/>
                </a:lnTo>
                <a:lnTo>
                  <a:pt x="1401467" y="0"/>
                </a:lnTo>
                <a:lnTo>
                  <a:pt x="1429496" y="0"/>
                </a:lnTo>
                <a:lnTo>
                  <a:pt x="1457526" y="0"/>
                </a:lnTo>
                <a:lnTo>
                  <a:pt x="1485555" y="0"/>
                </a:lnTo>
                <a:lnTo>
                  <a:pt x="1513584" y="0"/>
                </a:lnTo>
                <a:lnTo>
                  <a:pt x="1541614" y="0"/>
                </a:lnTo>
                <a:lnTo>
                  <a:pt x="1569643" y="0"/>
                </a:lnTo>
                <a:lnTo>
                  <a:pt x="1597672" y="0"/>
                </a:lnTo>
                <a:lnTo>
                  <a:pt x="1625702" y="0"/>
                </a:lnTo>
                <a:lnTo>
                  <a:pt x="1653731" y="0"/>
                </a:lnTo>
                <a:lnTo>
                  <a:pt x="1681760" y="0"/>
                </a:lnTo>
                <a:lnTo>
                  <a:pt x="1709790" y="0"/>
                </a:lnTo>
                <a:lnTo>
                  <a:pt x="1737819" y="0"/>
                </a:lnTo>
                <a:lnTo>
                  <a:pt x="1765848" y="0"/>
                </a:lnTo>
                <a:lnTo>
                  <a:pt x="1793878" y="0"/>
                </a:lnTo>
                <a:lnTo>
                  <a:pt x="1821907" y="0"/>
                </a:lnTo>
                <a:lnTo>
                  <a:pt x="1849936" y="0"/>
                </a:lnTo>
                <a:lnTo>
                  <a:pt x="1877966" y="0"/>
                </a:lnTo>
                <a:lnTo>
                  <a:pt x="1905995" y="0"/>
                </a:lnTo>
                <a:lnTo>
                  <a:pt x="1934024" y="0"/>
                </a:lnTo>
                <a:lnTo>
                  <a:pt x="1962054" y="0"/>
                </a:lnTo>
                <a:lnTo>
                  <a:pt x="1990083" y="0"/>
                </a:lnTo>
                <a:lnTo>
                  <a:pt x="2018112" y="0"/>
                </a:lnTo>
                <a:lnTo>
                  <a:pt x="2046142" y="0"/>
                </a:lnTo>
                <a:lnTo>
                  <a:pt x="2074171" y="0"/>
                </a:lnTo>
                <a:lnTo>
                  <a:pt x="2102201" y="0"/>
                </a:lnTo>
                <a:lnTo>
                  <a:pt x="2130230" y="0"/>
                </a:lnTo>
                <a:lnTo>
                  <a:pt x="2158259" y="0"/>
                </a:lnTo>
                <a:lnTo>
                  <a:pt x="2186289" y="0"/>
                </a:lnTo>
                <a:lnTo>
                  <a:pt x="2214318" y="0"/>
                </a:lnTo>
                <a:lnTo>
                  <a:pt x="2242347" y="0"/>
                </a:lnTo>
                <a:lnTo>
                  <a:pt x="2270377" y="0"/>
                </a:lnTo>
                <a:lnTo>
                  <a:pt x="2298406" y="0"/>
                </a:lnTo>
                <a:lnTo>
                  <a:pt x="2326435" y="0"/>
                </a:lnTo>
                <a:lnTo>
                  <a:pt x="2354465" y="0"/>
                </a:lnTo>
                <a:lnTo>
                  <a:pt x="2382494" y="0"/>
                </a:lnTo>
                <a:lnTo>
                  <a:pt x="2410523" y="0"/>
                </a:lnTo>
                <a:lnTo>
                  <a:pt x="2438553" y="0"/>
                </a:lnTo>
                <a:lnTo>
                  <a:pt x="2466582" y="0"/>
                </a:lnTo>
                <a:lnTo>
                  <a:pt x="2494611" y="0"/>
                </a:lnTo>
                <a:lnTo>
                  <a:pt x="2522641" y="0"/>
                </a:lnTo>
                <a:lnTo>
                  <a:pt x="2550670" y="0"/>
                </a:lnTo>
                <a:lnTo>
                  <a:pt x="2578699" y="0"/>
                </a:lnTo>
                <a:lnTo>
                  <a:pt x="2606729" y="0"/>
                </a:lnTo>
                <a:lnTo>
                  <a:pt x="2634758" y="0"/>
                </a:lnTo>
                <a:lnTo>
                  <a:pt x="2662787" y="0"/>
                </a:lnTo>
                <a:lnTo>
                  <a:pt x="2690817" y="0"/>
                </a:lnTo>
                <a:lnTo>
                  <a:pt x="2718846" y="0"/>
                </a:lnTo>
                <a:lnTo>
                  <a:pt x="2746875" y="0"/>
                </a:lnTo>
                <a:lnTo>
                  <a:pt x="2774905" y="0"/>
                </a:lnTo>
                <a:lnTo>
                  <a:pt x="2802934" y="0"/>
                </a:lnTo>
                <a:lnTo>
                  <a:pt x="2830964" y="0"/>
                </a:lnTo>
                <a:lnTo>
                  <a:pt x="2858993" y="0"/>
                </a:lnTo>
                <a:lnTo>
                  <a:pt x="2887022" y="0"/>
                </a:lnTo>
                <a:lnTo>
                  <a:pt x="2915052" y="0"/>
                </a:lnTo>
                <a:lnTo>
                  <a:pt x="2943081" y="0"/>
                </a:lnTo>
                <a:lnTo>
                  <a:pt x="2971110" y="0"/>
                </a:lnTo>
                <a:lnTo>
                  <a:pt x="2999140" y="0"/>
                </a:lnTo>
                <a:lnTo>
                  <a:pt x="3027169" y="0"/>
                </a:lnTo>
                <a:lnTo>
                  <a:pt x="3055198" y="0"/>
                </a:lnTo>
                <a:lnTo>
                  <a:pt x="3083228" y="0"/>
                </a:lnTo>
                <a:lnTo>
                  <a:pt x="3111257" y="0"/>
                </a:lnTo>
                <a:lnTo>
                  <a:pt x="3139286" y="0"/>
                </a:lnTo>
                <a:lnTo>
                  <a:pt x="3167316" y="0"/>
                </a:lnTo>
                <a:lnTo>
                  <a:pt x="3195345" y="0"/>
                </a:lnTo>
                <a:lnTo>
                  <a:pt x="3223374" y="0"/>
                </a:lnTo>
                <a:lnTo>
                  <a:pt x="3251404" y="0"/>
                </a:lnTo>
                <a:lnTo>
                  <a:pt x="3279433" y="0"/>
                </a:lnTo>
                <a:lnTo>
                  <a:pt x="3307462" y="0"/>
                </a:lnTo>
                <a:lnTo>
                  <a:pt x="3335492" y="0"/>
                </a:lnTo>
                <a:lnTo>
                  <a:pt x="3363521" y="0"/>
                </a:lnTo>
                <a:lnTo>
                  <a:pt x="3391550" y="0"/>
                </a:lnTo>
                <a:lnTo>
                  <a:pt x="3419580" y="0"/>
                </a:lnTo>
                <a:lnTo>
                  <a:pt x="3447609" y="0"/>
                </a:lnTo>
                <a:lnTo>
                  <a:pt x="3475638" y="0"/>
                </a:lnTo>
                <a:lnTo>
                  <a:pt x="3503668" y="0"/>
                </a:lnTo>
                <a:lnTo>
                  <a:pt x="3531697" y="0"/>
                </a:lnTo>
                <a:lnTo>
                  <a:pt x="3559727" y="0"/>
                </a:lnTo>
                <a:lnTo>
                  <a:pt x="3587756" y="0"/>
                </a:lnTo>
                <a:lnTo>
                  <a:pt x="3615785" y="0"/>
                </a:lnTo>
                <a:lnTo>
                  <a:pt x="3643815" y="0"/>
                </a:lnTo>
                <a:lnTo>
                  <a:pt x="3671844" y="0"/>
                </a:lnTo>
                <a:lnTo>
                  <a:pt x="3699873" y="0"/>
                </a:lnTo>
                <a:lnTo>
                  <a:pt x="3727903" y="0"/>
                </a:lnTo>
                <a:lnTo>
                  <a:pt x="3755932" y="0"/>
                </a:lnTo>
                <a:lnTo>
                  <a:pt x="3783961" y="0"/>
                </a:lnTo>
                <a:lnTo>
                  <a:pt x="3811991" y="0"/>
                </a:lnTo>
                <a:lnTo>
                  <a:pt x="3840020" y="0"/>
                </a:lnTo>
                <a:lnTo>
                  <a:pt x="3868049" y="0"/>
                </a:lnTo>
                <a:lnTo>
                  <a:pt x="3896079" y="0"/>
                </a:lnTo>
                <a:lnTo>
                  <a:pt x="3924108" y="0"/>
                </a:lnTo>
                <a:lnTo>
                  <a:pt x="3952137" y="0"/>
                </a:lnTo>
                <a:lnTo>
                  <a:pt x="3980167" y="0"/>
                </a:lnTo>
                <a:lnTo>
                  <a:pt x="4008196" y="0"/>
                </a:lnTo>
                <a:lnTo>
                  <a:pt x="4036225" y="0"/>
                </a:lnTo>
                <a:lnTo>
                  <a:pt x="4064255" y="0"/>
                </a:lnTo>
                <a:lnTo>
                  <a:pt x="4092284" y="0"/>
                </a:lnTo>
                <a:lnTo>
                  <a:pt x="4120313" y="0"/>
                </a:lnTo>
                <a:lnTo>
                  <a:pt x="4148343" y="0"/>
                </a:lnTo>
                <a:lnTo>
                  <a:pt x="4176372" y="0"/>
                </a:lnTo>
                <a:lnTo>
                  <a:pt x="4204402" y="0"/>
                </a:lnTo>
                <a:lnTo>
                  <a:pt x="4232431" y="0"/>
                </a:lnTo>
                <a:lnTo>
                  <a:pt x="4260460" y="0"/>
                </a:lnTo>
                <a:lnTo>
                  <a:pt x="4288490" y="0"/>
                </a:lnTo>
                <a:lnTo>
                  <a:pt x="4316519" y="0"/>
                </a:lnTo>
                <a:lnTo>
                  <a:pt x="4344548" y="0"/>
                </a:lnTo>
                <a:lnTo>
                  <a:pt x="4372578" y="0"/>
                </a:lnTo>
                <a:lnTo>
                  <a:pt x="4400607" y="0"/>
                </a:lnTo>
                <a:lnTo>
                  <a:pt x="4428636" y="0"/>
                </a:lnTo>
                <a:lnTo>
                  <a:pt x="4456666" y="0"/>
                </a:lnTo>
                <a:lnTo>
                  <a:pt x="4484695" y="0"/>
                </a:lnTo>
                <a:lnTo>
                  <a:pt x="4512724" y="0"/>
                </a:lnTo>
                <a:lnTo>
                  <a:pt x="4540754" y="0"/>
                </a:lnTo>
                <a:lnTo>
                  <a:pt x="4568783" y="0"/>
                </a:lnTo>
                <a:lnTo>
                  <a:pt x="4596812" y="0"/>
                </a:lnTo>
                <a:lnTo>
                  <a:pt x="4624842" y="0"/>
                </a:lnTo>
                <a:lnTo>
                  <a:pt x="4652871" y="0"/>
                </a:lnTo>
                <a:lnTo>
                  <a:pt x="4680900" y="0"/>
                </a:lnTo>
                <a:lnTo>
                  <a:pt x="4708930" y="0"/>
                </a:lnTo>
                <a:lnTo>
                  <a:pt x="4736959" y="0"/>
                </a:lnTo>
                <a:lnTo>
                  <a:pt x="4764988" y="0"/>
                </a:lnTo>
                <a:lnTo>
                  <a:pt x="4793018" y="0"/>
                </a:lnTo>
                <a:lnTo>
                  <a:pt x="4821047" y="0"/>
                </a:lnTo>
                <a:lnTo>
                  <a:pt x="4849076" y="0"/>
                </a:lnTo>
                <a:lnTo>
                  <a:pt x="4877106" y="0"/>
                </a:lnTo>
                <a:lnTo>
                  <a:pt x="4905135" y="0"/>
                </a:lnTo>
                <a:lnTo>
                  <a:pt x="4933165" y="0"/>
                </a:lnTo>
                <a:lnTo>
                  <a:pt x="4961194" y="0"/>
                </a:lnTo>
                <a:lnTo>
                  <a:pt x="4989223" y="0"/>
                </a:lnTo>
                <a:lnTo>
                  <a:pt x="5017253" y="0"/>
                </a:lnTo>
                <a:lnTo>
                  <a:pt x="5045282" y="0"/>
                </a:lnTo>
                <a:lnTo>
                  <a:pt x="5073311" y="0"/>
                </a:lnTo>
                <a:lnTo>
                  <a:pt x="5101341" y="0"/>
                </a:lnTo>
                <a:lnTo>
                  <a:pt x="5129370" y="0"/>
                </a:lnTo>
                <a:lnTo>
                  <a:pt x="5157399" y="0"/>
                </a:lnTo>
                <a:lnTo>
                  <a:pt x="5185429" y="0"/>
                </a:lnTo>
                <a:lnTo>
                  <a:pt x="5213458" y="0"/>
                </a:lnTo>
                <a:lnTo>
                  <a:pt x="5241487" y="0"/>
                </a:lnTo>
                <a:lnTo>
                  <a:pt x="5269517" y="0"/>
                </a:lnTo>
                <a:lnTo>
                  <a:pt x="5297546" y="0"/>
                </a:lnTo>
                <a:lnTo>
                  <a:pt x="5325575" y="0"/>
                </a:lnTo>
                <a:lnTo>
                  <a:pt x="5353605" y="0"/>
                </a:lnTo>
                <a:lnTo>
                  <a:pt x="5381634" y="0"/>
                </a:lnTo>
                <a:lnTo>
                  <a:pt x="5409663" y="0"/>
                </a:lnTo>
                <a:lnTo>
                  <a:pt x="5437693" y="0"/>
                </a:lnTo>
                <a:lnTo>
                  <a:pt x="5465722" y="0"/>
                </a:lnTo>
                <a:lnTo>
                  <a:pt x="5493751" y="0"/>
                </a:lnTo>
                <a:lnTo>
                  <a:pt x="5521781" y="0"/>
                </a:lnTo>
                <a:lnTo>
                  <a:pt x="5549810" y="0"/>
                </a:lnTo>
                <a:lnTo>
                  <a:pt x="5577840" y="0"/>
                </a:lnTo>
              </a:path>
            </a:pathLst>
          </a:custGeom>
          <a:noFill/>
          <a:ln w="25400">
            <a:solidFill>
              <a:srgbClr val="E7F0F3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A-E01 text 60" descr="sci-ppt:o060"/>
          <p:cNvSpPr txBox="1"/>
          <p:nvPr/>
        </p:nvSpPr>
        <p:spPr>
          <a:xfrm>
            <a:off x="7538313" y="1981199"/>
            <a:ext cx="3108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λ_θ = λᵩ (tangential): stretched</a:t>
            </a:r>
          </a:p>
        </p:txBody>
      </p:sp>
      <p:sp>
        <p:nvSpPr>
          <p:cNvPr id="63" name="A-E01 text 61" descr="sci-ppt:o061"/>
          <p:cNvSpPr txBox="1"/>
          <p:nvPr/>
        </p:nvSpPr>
        <p:spPr>
          <a:xfrm>
            <a:off x="8653881" y="368808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FC8F8"/>
                </a:solidFill>
                <a:latin typeface="Arial"/>
              </a:rPr>
              <a:t>λᵣ (radial): thinned</a:t>
            </a:r>
          </a:p>
        </p:txBody>
      </p:sp>
      <p:sp>
        <p:nvSpPr>
          <p:cNvPr id="64" name="A-E01 text 62" descr="sci-ppt:o062"/>
          <p:cNvSpPr txBox="1"/>
          <p:nvPr/>
        </p:nvSpPr>
        <p:spPr>
          <a:xfrm>
            <a:off x="8430768" y="4572000"/>
            <a:ext cx="27432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product = 1 (incompressible)</a:t>
            </a:r>
          </a:p>
        </p:txBody>
      </p:sp>
      <p:sp>
        <p:nvSpPr>
          <p:cNvPr id="65" name="A-E01 text 63" descr="sci-ppt:o063"/>
          <p:cNvSpPr txBox="1"/>
          <p:nvPr/>
        </p:nvSpPr>
        <p:spPr>
          <a:xfrm>
            <a:off x="6126480" y="5852160"/>
            <a:ext cx="5577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Check: λ_rλ_θ² = 1.000000 … 1.000000.   Cavity grown from 5 to 30 µm.</a:t>
            </a:r>
          </a:p>
        </p:txBody>
      </p:sp>
      <p:sp>
        <p:nvSpPr>
          <p:cNvPr id="66" name="A-E01 text 64" descr="sci-ppt:o06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Exact incompressible kinematics of Eq. A-E01 for R_ref = 5 µm, R = 30 µm.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A-E02 · Constitutive assumption and exact subtraction</a:t>
            </a:r>
          </a:p>
        </p:txBody>
      </p:sp>
      <p:cxnSp>
        <p:nvCxnSpPr>
          <p:cNvPr id="3" name="A-E02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2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2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2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2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2 line 6" descr="sci-ppt:o006"/>
          <p:cNvCxnSpPr/>
          <p:nvPr/>
        </p:nvCxnSpPr>
        <p:spPr>
          <a:xfrm>
            <a:off x="2865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2 line 7" descr="sci-ppt:o007"/>
          <p:cNvCxnSpPr/>
          <p:nvPr/>
        </p:nvCxnSpPr>
        <p:spPr>
          <a:xfrm>
            <a:off x="2865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2 text 8" descr="sci-ppt:o008"/>
          <p:cNvSpPr txBox="1"/>
          <p:nvPr/>
        </p:nvSpPr>
        <p:spPr>
          <a:xfrm>
            <a:off x="2407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2 line 9" descr="sci-ppt:o009"/>
          <p:cNvCxnSpPr/>
          <p:nvPr/>
        </p:nvCxnSpPr>
        <p:spPr>
          <a:xfrm>
            <a:off x="48158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2 line 10" descr="sci-ppt:o010"/>
          <p:cNvCxnSpPr/>
          <p:nvPr/>
        </p:nvCxnSpPr>
        <p:spPr>
          <a:xfrm>
            <a:off x="48158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2 text 11" descr="sci-ppt:o011"/>
          <p:cNvSpPr txBox="1"/>
          <p:nvPr/>
        </p:nvSpPr>
        <p:spPr>
          <a:xfrm>
            <a:off x="43586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A-E02 line 12" descr="sci-ppt:o012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2 line 13" descr="sci-ppt:o013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2 text 14" descr="sci-ppt:o014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A-E02 line 15" descr="sci-ppt:o015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2 line 16" descr="sci-ppt:o016"/>
          <p:cNvCxnSpPr/>
          <p:nvPr/>
        </p:nvCxnSpPr>
        <p:spPr>
          <a:xfrm>
            <a:off x="850392" y="406110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02 line 17" descr="sci-ppt:o017"/>
          <p:cNvCxnSpPr/>
          <p:nvPr/>
        </p:nvCxnSpPr>
        <p:spPr>
          <a:xfrm>
            <a:off x="914400" y="4061107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02 text 18" descr="sci-ppt:o018"/>
          <p:cNvSpPr txBox="1"/>
          <p:nvPr/>
        </p:nvSpPr>
        <p:spPr>
          <a:xfrm>
            <a:off x="45720" y="397881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21" name="A-E02 line 19" descr="sci-ppt:o019"/>
          <p:cNvCxnSpPr/>
          <p:nvPr/>
        </p:nvCxnSpPr>
        <p:spPr>
          <a:xfrm>
            <a:off x="850392" y="309301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02 line 20" descr="sci-ppt:o020"/>
          <p:cNvCxnSpPr/>
          <p:nvPr/>
        </p:nvCxnSpPr>
        <p:spPr>
          <a:xfrm>
            <a:off x="914400" y="3093014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02 text 21" descr="sci-ppt:o021"/>
          <p:cNvSpPr txBox="1"/>
          <p:nvPr/>
        </p:nvSpPr>
        <p:spPr>
          <a:xfrm>
            <a:off x="45720" y="30107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4" name="A-E02 line 22" descr="sci-ppt:o022"/>
          <p:cNvCxnSpPr/>
          <p:nvPr/>
        </p:nvCxnSpPr>
        <p:spPr>
          <a:xfrm>
            <a:off x="850392" y="212492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2 line 23" descr="sci-ppt:o023"/>
          <p:cNvCxnSpPr/>
          <p:nvPr/>
        </p:nvCxnSpPr>
        <p:spPr>
          <a:xfrm>
            <a:off x="914400" y="212492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2 text 24" descr="sci-ppt:o024"/>
          <p:cNvSpPr txBox="1"/>
          <p:nvPr/>
        </p:nvSpPr>
        <p:spPr>
          <a:xfrm>
            <a:off x="45720" y="204262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sp>
        <p:nvSpPr>
          <p:cNvPr id="27" name="A-E02 text 25" descr="sci-ppt:o025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distance from the wall r / R</a:t>
            </a:r>
          </a:p>
        </p:txBody>
      </p:sp>
      <p:sp>
        <p:nvSpPr>
          <p:cNvPr id="28" name="A-E02 text 26" descr="sci-ppt:o026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(T_θθ − Tᵣᵣ) / G_g</a:t>
            </a:r>
          </a:p>
        </p:txBody>
      </p:sp>
      <p:sp>
        <p:nvSpPr>
          <p:cNvPr id="29" name="A-E02 polygon 27" descr="sci-ppt:o027"/>
          <p:cNvSpPr/>
          <p:nvPr/>
        </p:nvSpPr>
        <p:spPr>
          <a:xfrm>
            <a:off x="914400" y="1586379"/>
            <a:ext cx="5852160" cy="3442821"/>
          </a:xfrm>
          <a:custGeom>
            <a:avLst/>
            <a:gdLst/>
            <a:ahLst/>
            <a:cxnLst/>
            <a:rect l="l" t="t" r="r" b="b"/>
            <a:pathLst>
              <a:path w="5852160" h="3442821">
                <a:moveTo>
                  <a:pt x="0" y="0"/>
                </a:moveTo>
                <a:lnTo>
                  <a:pt x="19572" y="559340"/>
                </a:lnTo>
                <a:lnTo>
                  <a:pt x="39144" y="729896"/>
                </a:lnTo>
                <a:lnTo>
                  <a:pt x="58717" y="833083"/>
                </a:lnTo>
                <a:lnTo>
                  <a:pt x="78289" y="907178"/>
                </a:lnTo>
                <a:lnTo>
                  <a:pt x="97862" y="965086"/>
                </a:lnTo>
                <a:lnTo>
                  <a:pt x="117434" y="1012734"/>
                </a:lnTo>
                <a:lnTo>
                  <a:pt x="137007" y="1053333"/>
                </a:lnTo>
                <a:lnTo>
                  <a:pt x="156579" y="1088814"/>
                </a:lnTo>
                <a:lnTo>
                  <a:pt x="176151" y="1120425"/>
                </a:lnTo>
                <a:lnTo>
                  <a:pt x="195724" y="1149017"/>
                </a:lnTo>
                <a:lnTo>
                  <a:pt x="215296" y="1175196"/>
                </a:lnTo>
                <a:lnTo>
                  <a:pt x="234869" y="1199405"/>
                </a:lnTo>
                <a:lnTo>
                  <a:pt x="254441" y="1221979"/>
                </a:lnTo>
                <a:lnTo>
                  <a:pt x="274014" y="1243178"/>
                </a:lnTo>
                <a:lnTo>
                  <a:pt x="293586" y="1263205"/>
                </a:lnTo>
                <a:lnTo>
                  <a:pt x="313159" y="1282222"/>
                </a:lnTo>
                <a:lnTo>
                  <a:pt x="332731" y="1300359"/>
                </a:lnTo>
                <a:lnTo>
                  <a:pt x="352303" y="1317726"/>
                </a:lnTo>
                <a:lnTo>
                  <a:pt x="371876" y="1334410"/>
                </a:lnTo>
                <a:lnTo>
                  <a:pt x="391448" y="1350488"/>
                </a:lnTo>
                <a:lnTo>
                  <a:pt x="411021" y="1366021"/>
                </a:lnTo>
                <a:lnTo>
                  <a:pt x="430593" y="1381064"/>
                </a:lnTo>
                <a:lnTo>
                  <a:pt x="450166" y="1395663"/>
                </a:lnTo>
                <a:lnTo>
                  <a:pt x="469738" y="1409856"/>
                </a:lnTo>
                <a:lnTo>
                  <a:pt x="489311" y="1423680"/>
                </a:lnTo>
                <a:lnTo>
                  <a:pt x="508883" y="1437163"/>
                </a:lnTo>
                <a:lnTo>
                  <a:pt x="528455" y="1450332"/>
                </a:lnTo>
                <a:lnTo>
                  <a:pt x="548028" y="1463210"/>
                </a:lnTo>
                <a:lnTo>
                  <a:pt x="567600" y="1475818"/>
                </a:lnTo>
                <a:lnTo>
                  <a:pt x="587173" y="1488174"/>
                </a:lnTo>
                <a:lnTo>
                  <a:pt x="606745" y="1500295"/>
                </a:lnTo>
                <a:lnTo>
                  <a:pt x="626318" y="1512195"/>
                </a:lnTo>
                <a:lnTo>
                  <a:pt x="645890" y="1523888"/>
                </a:lnTo>
                <a:lnTo>
                  <a:pt x="665463" y="1535385"/>
                </a:lnTo>
                <a:lnTo>
                  <a:pt x="685035" y="1546697"/>
                </a:lnTo>
                <a:lnTo>
                  <a:pt x="704607" y="1557834"/>
                </a:lnTo>
                <a:lnTo>
                  <a:pt x="724180" y="1568804"/>
                </a:lnTo>
                <a:lnTo>
                  <a:pt x="743752" y="1579617"/>
                </a:lnTo>
                <a:lnTo>
                  <a:pt x="763325" y="1590279"/>
                </a:lnTo>
                <a:lnTo>
                  <a:pt x="782897" y="1600798"/>
                </a:lnTo>
                <a:lnTo>
                  <a:pt x="802470" y="1611179"/>
                </a:lnTo>
                <a:lnTo>
                  <a:pt x="822042" y="1621428"/>
                </a:lnTo>
                <a:lnTo>
                  <a:pt x="841614" y="1631552"/>
                </a:lnTo>
                <a:lnTo>
                  <a:pt x="861187" y="1641554"/>
                </a:lnTo>
                <a:lnTo>
                  <a:pt x="880759" y="1651439"/>
                </a:lnTo>
                <a:lnTo>
                  <a:pt x="900332" y="1661213"/>
                </a:lnTo>
                <a:lnTo>
                  <a:pt x="919904" y="1670878"/>
                </a:lnTo>
                <a:lnTo>
                  <a:pt x="939477" y="1680439"/>
                </a:lnTo>
                <a:lnTo>
                  <a:pt x="959049" y="1689899"/>
                </a:lnTo>
                <a:lnTo>
                  <a:pt x="978622" y="1699261"/>
                </a:lnTo>
                <a:lnTo>
                  <a:pt x="998194" y="1708528"/>
                </a:lnTo>
                <a:lnTo>
                  <a:pt x="1017766" y="1717705"/>
                </a:lnTo>
                <a:lnTo>
                  <a:pt x="1037339" y="1726792"/>
                </a:lnTo>
                <a:lnTo>
                  <a:pt x="1056911" y="1735793"/>
                </a:lnTo>
                <a:lnTo>
                  <a:pt x="1076484" y="1744710"/>
                </a:lnTo>
                <a:lnTo>
                  <a:pt x="1096056" y="1753545"/>
                </a:lnTo>
                <a:lnTo>
                  <a:pt x="1115629" y="1762301"/>
                </a:lnTo>
                <a:lnTo>
                  <a:pt x="1135201" y="1770980"/>
                </a:lnTo>
                <a:lnTo>
                  <a:pt x="1154774" y="1779584"/>
                </a:lnTo>
                <a:lnTo>
                  <a:pt x="1174346" y="1788114"/>
                </a:lnTo>
                <a:lnTo>
                  <a:pt x="1193918" y="1796572"/>
                </a:lnTo>
                <a:lnTo>
                  <a:pt x="1213491" y="1804961"/>
                </a:lnTo>
                <a:lnTo>
                  <a:pt x="1233063" y="1813281"/>
                </a:lnTo>
                <a:lnTo>
                  <a:pt x="1252636" y="1821534"/>
                </a:lnTo>
                <a:lnTo>
                  <a:pt x="1272208" y="1829722"/>
                </a:lnTo>
                <a:lnTo>
                  <a:pt x="1291781" y="1837847"/>
                </a:lnTo>
                <a:lnTo>
                  <a:pt x="1311353" y="1845908"/>
                </a:lnTo>
                <a:lnTo>
                  <a:pt x="1330926" y="1853909"/>
                </a:lnTo>
                <a:lnTo>
                  <a:pt x="1350498" y="1861849"/>
                </a:lnTo>
                <a:lnTo>
                  <a:pt x="1370070" y="1869731"/>
                </a:lnTo>
                <a:lnTo>
                  <a:pt x="1389643" y="1877555"/>
                </a:lnTo>
                <a:lnTo>
                  <a:pt x="1409215" y="1885322"/>
                </a:lnTo>
                <a:lnTo>
                  <a:pt x="1428788" y="1893034"/>
                </a:lnTo>
                <a:lnTo>
                  <a:pt x="1448360" y="1900692"/>
                </a:lnTo>
                <a:lnTo>
                  <a:pt x="1467933" y="1908296"/>
                </a:lnTo>
                <a:lnTo>
                  <a:pt x="1487505" y="1915848"/>
                </a:lnTo>
                <a:lnTo>
                  <a:pt x="1507077" y="1923348"/>
                </a:lnTo>
                <a:lnTo>
                  <a:pt x="1526650" y="1930797"/>
                </a:lnTo>
                <a:lnTo>
                  <a:pt x="1546222" y="1938197"/>
                </a:lnTo>
                <a:lnTo>
                  <a:pt x="1565795" y="1945548"/>
                </a:lnTo>
                <a:lnTo>
                  <a:pt x="1585367" y="1952850"/>
                </a:lnTo>
                <a:lnTo>
                  <a:pt x="1604940" y="1960105"/>
                </a:lnTo>
                <a:lnTo>
                  <a:pt x="1624512" y="1967314"/>
                </a:lnTo>
                <a:lnTo>
                  <a:pt x="1644085" y="1974477"/>
                </a:lnTo>
                <a:lnTo>
                  <a:pt x="1663657" y="1981594"/>
                </a:lnTo>
                <a:lnTo>
                  <a:pt x="1683229" y="1988667"/>
                </a:lnTo>
                <a:lnTo>
                  <a:pt x="1702802" y="1995697"/>
                </a:lnTo>
                <a:lnTo>
                  <a:pt x="1722374" y="2002683"/>
                </a:lnTo>
                <a:lnTo>
                  <a:pt x="1741947" y="2009626"/>
                </a:lnTo>
                <a:lnTo>
                  <a:pt x="1761519" y="2016528"/>
                </a:lnTo>
                <a:lnTo>
                  <a:pt x="1781092" y="2023388"/>
                </a:lnTo>
                <a:lnTo>
                  <a:pt x="1800664" y="2030208"/>
                </a:lnTo>
                <a:lnTo>
                  <a:pt x="1820237" y="2036988"/>
                </a:lnTo>
                <a:lnTo>
                  <a:pt x="1839809" y="2043728"/>
                </a:lnTo>
                <a:lnTo>
                  <a:pt x="1859381" y="2050428"/>
                </a:lnTo>
                <a:lnTo>
                  <a:pt x="1878954" y="2057091"/>
                </a:lnTo>
                <a:lnTo>
                  <a:pt x="1898526" y="2063715"/>
                </a:lnTo>
                <a:lnTo>
                  <a:pt x="1918099" y="2070302"/>
                </a:lnTo>
                <a:lnTo>
                  <a:pt x="1937671" y="2076852"/>
                </a:lnTo>
                <a:lnTo>
                  <a:pt x="1957244" y="2083366"/>
                </a:lnTo>
                <a:lnTo>
                  <a:pt x="1976816" y="2089843"/>
                </a:lnTo>
                <a:lnTo>
                  <a:pt x="1996389" y="2096285"/>
                </a:lnTo>
                <a:lnTo>
                  <a:pt x="2015961" y="2102691"/>
                </a:lnTo>
                <a:lnTo>
                  <a:pt x="2035533" y="2109063"/>
                </a:lnTo>
                <a:lnTo>
                  <a:pt x="2055106" y="2115401"/>
                </a:lnTo>
                <a:lnTo>
                  <a:pt x="2074678" y="2121704"/>
                </a:lnTo>
                <a:lnTo>
                  <a:pt x="2094251" y="2127975"/>
                </a:lnTo>
                <a:lnTo>
                  <a:pt x="2113823" y="2134212"/>
                </a:lnTo>
                <a:lnTo>
                  <a:pt x="2133396" y="2140416"/>
                </a:lnTo>
                <a:lnTo>
                  <a:pt x="2152968" y="2146588"/>
                </a:lnTo>
                <a:lnTo>
                  <a:pt x="2172541" y="2152729"/>
                </a:lnTo>
                <a:lnTo>
                  <a:pt x="2192113" y="2158837"/>
                </a:lnTo>
                <a:lnTo>
                  <a:pt x="2211685" y="2164915"/>
                </a:lnTo>
                <a:lnTo>
                  <a:pt x="2231258" y="2170962"/>
                </a:lnTo>
                <a:lnTo>
                  <a:pt x="2250830" y="2176978"/>
                </a:lnTo>
                <a:lnTo>
                  <a:pt x="2270403" y="2182964"/>
                </a:lnTo>
                <a:lnTo>
                  <a:pt x="2289975" y="2188920"/>
                </a:lnTo>
                <a:lnTo>
                  <a:pt x="2309548" y="2194847"/>
                </a:lnTo>
                <a:lnTo>
                  <a:pt x="2329120" y="2200744"/>
                </a:lnTo>
                <a:lnTo>
                  <a:pt x="2348692" y="2206613"/>
                </a:lnTo>
                <a:lnTo>
                  <a:pt x="2368265" y="2212453"/>
                </a:lnTo>
                <a:lnTo>
                  <a:pt x="2387837" y="2218265"/>
                </a:lnTo>
                <a:lnTo>
                  <a:pt x="2407410" y="2224049"/>
                </a:lnTo>
                <a:lnTo>
                  <a:pt x="2426982" y="2229805"/>
                </a:lnTo>
                <a:lnTo>
                  <a:pt x="2446555" y="2235534"/>
                </a:lnTo>
                <a:lnTo>
                  <a:pt x="2466127" y="2241236"/>
                </a:lnTo>
                <a:lnTo>
                  <a:pt x="2485700" y="2246911"/>
                </a:lnTo>
                <a:lnTo>
                  <a:pt x="2505272" y="2252560"/>
                </a:lnTo>
                <a:lnTo>
                  <a:pt x="2524844" y="2258182"/>
                </a:lnTo>
                <a:lnTo>
                  <a:pt x="2544417" y="2263778"/>
                </a:lnTo>
                <a:lnTo>
                  <a:pt x="2563989" y="2269348"/>
                </a:lnTo>
                <a:lnTo>
                  <a:pt x="2583562" y="2274893"/>
                </a:lnTo>
                <a:lnTo>
                  <a:pt x="2603134" y="2280413"/>
                </a:lnTo>
                <a:lnTo>
                  <a:pt x="2622707" y="2285908"/>
                </a:lnTo>
                <a:lnTo>
                  <a:pt x="2642279" y="2291378"/>
                </a:lnTo>
                <a:lnTo>
                  <a:pt x="2661852" y="2296823"/>
                </a:lnTo>
                <a:lnTo>
                  <a:pt x="2681424" y="2302244"/>
                </a:lnTo>
                <a:lnTo>
                  <a:pt x="2700996" y="2307641"/>
                </a:lnTo>
                <a:lnTo>
                  <a:pt x="2720569" y="2313015"/>
                </a:lnTo>
                <a:lnTo>
                  <a:pt x="2740141" y="2318364"/>
                </a:lnTo>
                <a:lnTo>
                  <a:pt x="2759714" y="2323691"/>
                </a:lnTo>
                <a:lnTo>
                  <a:pt x="2779286" y="2328994"/>
                </a:lnTo>
                <a:lnTo>
                  <a:pt x="2798859" y="2334274"/>
                </a:lnTo>
                <a:lnTo>
                  <a:pt x="2818431" y="2339531"/>
                </a:lnTo>
                <a:lnTo>
                  <a:pt x="2838004" y="2344766"/>
                </a:lnTo>
                <a:lnTo>
                  <a:pt x="2857576" y="2349979"/>
                </a:lnTo>
                <a:lnTo>
                  <a:pt x="2877148" y="2355169"/>
                </a:lnTo>
                <a:lnTo>
                  <a:pt x="2896721" y="2360338"/>
                </a:lnTo>
                <a:lnTo>
                  <a:pt x="2916293" y="2365484"/>
                </a:lnTo>
                <a:lnTo>
                  <a:pt x="2935866" y="2370610"/>
                </a:lnTo>
                <a:lnTo>
                  <a:pt x="2955438" y="2375713"/>
                </a:lnTo>
                <a:lnTo>
                  <a:pt x="2975011" y="2380796"/>
                </a:lnTo>
                <a:lnTo>
                  <a:pt x="2994583" y="2385858"/>
                </a:lnTo>
                <a:lnTo>
                  <a:pt x="3014155" y="2390899"/>
                </a:lnTo>
                <a:lnTo>
                  <a:pt x="3033728" y="2395919"/>
                </a:lnTo>
                <a:lnTo>
                  <a:pt x="3053300" y="2400919"/>
                </a:lnTo>
                <a:lnTo>
                  <a:pt x="3072873" y="2405898"/>
                </a:lnTo>
                <a:lnTo>
                  <a:pt x="3092445" y="2410858"/>
                </a:lnTo>
                <a:lnTo>
                  <a:pt x="3112018" y="2415797"/>
                </a:lnTo>
                <a:lnTo>
                  <a:pt x="3131590" y="2420717"/>
                </a:lnTo>
                <a:lnTo>
                  <a:pt x="3151163" y="2425617"/>
                </a:lnTo>
                <a:lnTo>
                  <a:pt x="3170735" y="2430498"/>
                </a:lnTo>
                <a:lnTo>
                  <a:pt x="3190307" y="2435359"/>
                </a:lnTo>
                <a:lnTo>
                  <a:pt x="3209880" y="2440201"/>
                </a:lnTo>
                <a:lnTo>
                  <a:pt x="3229452" y="2445025"/>
                </a:lnTo>
                <a:lnTo>
                  <a:pt x="3249025" y="2449829"/>
                </a:lnTo>
                <a:lnTo>
                  <a:pt x="3268597" y="2454615"/>
                </a:lnTo>
                <a:lnTo>
                  <a:pt x="3288170" y="2459383"/>
                </a:lnTo>
                <a:lnTo>
                  <a:pt x="3307742" y="2464132"/>
                </a:lnTo>
                <a:lnTo>
                  <a:pt x="3327315" y="2468862"/>
                </a:lnTo>
                <a:lnTo>
                  <a:pt x="3346887" y="2473575"/>
                </a:lnTo>
                <a:lnTo>
                  <a:pt x="3366459" y="2478270"/>
                </a:lnTo>
                <a:lnTo>
                  <a:pt x="3386032" y="2482947"/>
                </a:lnTo>
                <a:lnTo>
                  <a:pt x="3405604" y="2487606"/>
                </a:lnTo>
                <a:lnTo>
                  <a:pt x="3425177" y="2492248"/>
                </a:lnTo>
                <a:lnTo>
                  <a:pt x="3444749" y="2496873"/>
                </a:lnTo>
                <a:lnTo>
                  <a:pt x="3464322" y="2501480"/>
                </a:lnTo>
                <a:lnTo>
                  <a:pt x="3483894" y="2506070"/>
                </a:lnTo>
                <a:lnTo>
                  <a:pt x="3503467" y="2510643"/>
                </a:lnTo>
                <a:lnTo>
                  <a:pt x="3523039" y="2515200"/>
                </a:lnTo>
                <a:lnTo>
                  <a:pt x="3542611" y="2519739"/>
                </a:lnTo>
                <a:lnTo>
                  <a:pt x="3562184" y="2524262"/>
                </a:lnTo>
                <a:lnTo>
                  <a:pt x="3581756" y="2528769"/>
                </a:lnTo>
                <a:lnTo>
                  <a:pt x="3601329" y="2533259"/>
                </a:lnTo>
                <a:lnTo>
                  <a:pt x="3620901" y="2537733"/>
                </a:lnTo>
                <a:lnTo>
                  <a:pt x="3640474" y="2542191"/>
                </a:lnTo>
                <a:lnTo>
                  <a:pt x="3660046" y="2546633"/>
                </a:lnTo>
                <a:lnTo>
                  <a:pt x="3679618" y="2551059"/>
                </a:lnTo>
                <a:lnTo>
                  <a:pt x="3699191" y="2555469"/>
                </a:lnTo>
                <a:lnTo>
                  <a:pt x="3718763" y="2559864"/>
                </a:lnTo>
                <a:lnTo>
                  <a:pt x="3738336" y="2564243"/>
                </a:lnTo>
                <a:lnTo>
                  <a:pt x="3757908" y="2568607"/>
                </a:lnTo>
                <a:lnTo>
                  <a:pt x="3777481" y="2572956"/>
                </a:lnTo>
                <a:lnTo>
                  <a:pt x="3797053" y="2577289"/>
                </a:lnTo>
                <a:lnTo>
                  <a:pt x="3816626" y="2581607"/>
                </a:lnTo>
                <a:lnTo>
                  <a:pt x="3836198" y="2585910"/>
                </a:lnTo>
                <a:lnTo>
                  <a:pt x="3855770" y="2590199"/>
                </a:lnTo>
                <a:lnTo>
                  <a:pt x="3875343" y="2594472"/>
                </a:lnTo>
                <a:lnTo>
                  <a:pt x="3894915" y="2598731"/>
                </a:lnTo>
                <a:lnTo>
                  <a:pt x="3914488" y="2602976"/>
                </a:lnTo>
                <a:lnTo>
                  <a:pt x="3934060" y="2607206"/>
                </a:lnTo>
                <a:lnTo>
                  <a:pt x="3953633" y="2611422"/>
                </a:lnTo>
                <a:lnTo>
                  <a:pt x="3973205" y="2615623"/>
                </a:lnTo>
                <a:lnTo>
                  <a:pt x="3992778" y="2619810"/>
                </a:lnTo>
                <a:lnTo>
                  <a:pt x="4012350" y="2623983"/>
                </a:lnTo>
                <a:lnTo>
                  <a:pt x="4031922" y="2628143"/>
                </a:lnTo>
                <a:lnTo>
                  <a:pt x="4051495" y="2632288"/>
                </a:lnTo>
                <a:lnTo>
                  <a:pt x="4071067" y="2636420"/>
                </a:lnTo>
                <a:lnTo>
                  <a:pt x="4090640" y="2640538"/>
                </a:lnTo>
                <a:lnTo>
                  <a:pt x="4110212" y="2644642"/>
                </a:lnTo>
                <a:lnTo>
                  <a:pt x="4129785" y="2648733"/>
                </a:lnTo>
                <a:lnTo>
                  <a:pt x="4149357" y="2652810"/>
                </a:lnTo>
                <a:lnTo>
                  <a:pt x="4168930" y="2656875"/>
                </a:lnTo>
                <a:lnTo>
                  <a:pt x="4188502" y="2660925"/>
                </a:lnTo>
                <a:lnTo>
                  <a:pt x="4208074" y="2664963"/>
                </a:lnTo>
                <a:lnTo>
                  <a:pt x="4227647" y="2668988"/>
                </a:lnTo>
                <a:lnTo>
                  <a:pt x="4247219" y="2673000"/>
                </a:lnTo>
                <a:lnTo>
                  <a:pt x="4266792" y="2676999"/>
                </a:lnTo>
                <a:lnTo>
                  <a:pt x="4286364" y="2680985"/>
                </a:lnTo>
                <a:lnTo>
                  <a:pt x="4305937" y="2684958"/>
                </a:lnTo>
                <a:lnTo>
                  <a:pt x="4325509" y="2688919"/>
                </a:lnTo>
                <a:lnTo>
                  <a:pt x="4345082" y="2692867"/>
                </a:lnTo>
                <a:lnTo>
                  <a:pt x="4364654" y="2696803"/>
                </a:lnTo>
                <a:lnTo>
                  <a:pt x="4384226" y="2700727"/>
                </a:lnTo>
                <a:lnTo>
                  <a:pt x="4403799" y="2704638"/>
                </a:lnTo>
                <a:lnTo>
                  <a:pt x="4423371" y="2708537"/>
                </a:lnTo>
                <a:lnTo>
                  <a:pt x="4442944" y="2712423"/>
                </a:lnTo>
                <a:lnTo>
                  <a:pt x="4462516" y="2716298"/>
                </a:lnTo>
                <a:lnTo>
                  <a:pt x="4482089" y="2720161"/>
                </a:lnTo>
                <a:lnTo>
                  <a:pt x="4501661" y="2724011"/>
                </a:lnTo>
                <a:lnTo>
                  <a:pt x="4521233" y="2727850"/>
                </a:lnTo>
                <a:lnTo>
                  <a:pt x="4540806" y="2731677"/>
                </a:lnTo>
                <a:lnTo>
                  <a:pt x="4560378" y="2735493"/>
                </a:lnTo>
                <a:lnTo>
                  <a:pt x="4579951" y="2739297"/>
                </a:lnTo>
                <a:lnTo>
                  <a:pt x="4599523" y="2743089"/>
                </a:lnTo>
                <a:lnTo>
                  <a:pt x="4619096" y="2746870"/>
                </a:lnTo>
                <a:lnTo>
                  <a:pt x="4638668" y="2750639"/>
                </a:lnTo>
                <a:lnTo>
                  <a:pt x="4658241" y="2754397"/>
                </a:lnTo>
                <a:lnTo>
                  <a:pt x="4677813" y="2758144"/>
                </a:lnTo>
                <a:lnTo>
                  <a:pt x="4697385" y="2761879"/>
                </a:lnTo>
                <a:lnTo>
                  <a:pt x="4716958" y="2765604"/>
                </a:lnTo>
                <a:lnTo>
                  <a:pt x="4736530" y="2769317"/>
                </a:lnTo>
                <a:lnTo>
                  <a:pt x="4756103" y="2773019"/>
                </a:lnTo>
                <a:lnTo>
                  <a:pt x="4775675" y="2776711"/>
                </a:lnTo>
                <a:lnTo>
                  <a:pt x="4795248" y="2780391"/>
                </a:lnTo>
                <a:lnTo>
                  <a:pt x="4814820" y="2784061"/>
                </a:lnTo>
                <a:lnTo>
                  <a:pt x="4834393" y="2787720"/>
                </a:lnTo>
                <a:lnTo>
                  <a:pt x="4853965" y="2791368"/>
                </a:lnTo>
                <a:lnTo>
                  <a:pt x="4873537" y="2795006"/>
                </a:lnTo>
                <a:lnTo>
                  <a:pt x="4893110" y="2798633"/>
                </a:lnTo>
                <a:lnTo>
                  <a:pt x="4912682" y="2802250"/>
                </a:lnTo>
                <a:lnTo>
                  <a:pt x="4932255" y="2805856"/>
                </a:lnTo>
                <a:lnTo>
                  <a:pt x="4951827" y="2809452"/>
                </a:lnTo>
                <a:lnTo>
                  <a:pt x="4971400" y="2813037"/>
                </a:lnTo>
                <a:lnTo>
                  <a:pt x="4990972" y="2816613"/>
                </a:lnTo>
                <a:lnTo>
                  <a:pt x="5010545" y="2820178"/>
                </a:lnTo>
                <a:lnTo>
                  <a:pt x="5030117" y="2823733"/>
                </a:lnTo>
                <a:lnTo>
                  <a:pt x="5049689" y="2827277"/>
                </a:lnTo>
                <a:lnTo>
                  <a:pt x="5069262" y="2830812"/>
                </a:lnTo>
                <a:lnTo>
                  <a:pt x="5088834" y="2834337"/>
                </a:lnTo>
                <a:lnTo>
                  <a:pt x="5108407" y="2837852"/>
                </a:lnTo>
                <a:lnTo>
                  <a:pt x="5127979" y="2841357"/>
                </a:lnTo>
                <a:lnTo>
                  <a:pt x="5147552" y="2844853"/>
                </a:lnTo>
                <a:lnTo>
                  <a:pt x="5167124" y="2848338"/>
                </a:lnTo>
                <a:lnTo>
                  <a:pt x="5186696" y="2851814"/>
                </a:lnTo>
                <a:lnTo>
                  <a:pt x="5206269" y="2855281"/>
                </a:lnTo>
                <a:lnTo>
                  <a:pt x="5225841" y="2858737"/>
                </a:lnTo>
                <a:lnTo>
                  <a:pt x="5245414" y="2862185"/>
                </a:lnTo>
                <a:lnTo>
                  <a:pt x="5264986" y="2865622"/>
                </a:lnTo>
                <a:lnTo>
                  <a:pt x="5284559" y="2869051"/>
                </a:lnTo>
                <a:lnTo>
                  <a:pt x="5304131" y="2872470"/>
                </a:lnTo>
                <a:lnTo>
                  <a:pt x="5323704" y="2875879"/>
                </a:lnTo>
                <a:lnTo>
                  <a:pt x="5343276" y="2879280"/>
                </a:lnTo>
                <a:lnTo>
                  <a:pt x="5362848" y="2882671"/>
                </a:lnTo>
                <a:lnTo>
                  <a:pt x="5382421" y="2886053"/>
                </a:lnTo>
                <a:lnTo>
                  <a:pt x="5401993" y="2889426"/>
                </a:lnTo>
                <a:lnTo>
                  <a:pt x="5421566" y="2892790"/>
                </a:lnTo>
                <a:lnTo>
                  <a:pt x="5441138" y="2896145"/>
                </a:lnTo>
                <a:lnTo>
                  <a:pt x="5460711" y="2899491"/>
                </a:lnTo>
                <a:lnTo>
                  <a:pt x="5480283" y="2902828"/>
                </a:lnTo>
                <a:lnTo>
                  <a:pt x="5499856" y="2906156"/>
                </a:lnTo>
                <a:lnTo>
                  <a:pt x="5519428" y="2909475"/>
                </a:lnTo>
                <a:lnTo>
                  <a:pt x="5539000" y="2912786"/>
                </a:lnTo>
                <a:lnTo>
                  <a:pt x="5558573" y="2916088"/>
                </a:lnTo>
                <a:lnTo>
                  <a:pt x="5578145" y="2919381"/>
                </a:lnTo>
                <a:lnTo>
                  <a:pt x="5597718" y="2922666"/>
                </a:lnTo>
                <a:lnTo>
                  <a:pt x="5617290" y="2925942"/>
                </a:lnTo>
                <a:lnTo>
                  <a:pt x="5636863" y="2929209"/>
                </a:lnTo>
                <a:lnTo>
                  <a:pt x="5656435" y="2932468"/>
                </a:lnTo>
                <a:lnTo>
                  <a:pt x="5676008" y="2935718"/>
                </a:lnTo>
                <a:lnTo>
                  <a:pt x="5695580" y="2938960"/>
                </a:lnTo>
                <a:lnTo>
                  <a:pt x="5715152" y="2942194"/>
                </a:lnTo>
                <a:lnTo>
                  <a:pt x="5734725" y="2945420"/>
                </a:lnTo>
                <a:lnTo>
                  <a:pt x="5754297" y="2948637"/>
                </a:lnTo>
                <a:lnTo>
                  <a:pt x="5773870" y="2951846"/>
                </a:lnTo>
                <a:lnTo>
                  <a:pt x="5793442" y="2955046"/>
                </a:lnTo>
                <a:lnTo>
                  <a:pt x="5813015" y="2958239"/>
                </a:lnTo>
                <a:lnTo>
                  <a:pt x="5832587" y="2961423"/>
                </a:lnTo>
                <a:lnTo>
                  <a:pt x="5852160" y="2964600"/>
                </a:lnTo>
                <a:lnTo>
                  <a:pt x="5852160" y="3442821"/>
                </a:lnTo>
                <a:lnTo>
                  <a:pt x="5832587" y="3442821"/>
                </a:lnTo>
                <a:lnTo>
                  <a:pt x="5813015" y="3442821"/>
                </a:lnTo>
                <a:lnTo>
                  <a:pt x="5793442" y="3442821"/>
                </a:lnTo>
                <a:lnTo>
                  <a:pt x="5773870" y="3442821"/>
                </a:lnTo>
                <a:lnTo>
                  <a:pt x="5754297" y="3442821"/>
                </a:lnTo>
                <a:lnTo>
                  <a:pt x="5734725" y="3442821"/>
                </a:lnTo>
                <a:lnTo>
                  <a:pt x="5715152" y="3442821"/>
                </a:lnTo>
                <a:lnTo>
                  <a:pt x="5695580" y="3442821"/>
                </a:lnTo>
                <a:lnTo>
                  <a:pt x="5676008" y="3442821"/>
                </a:lnTo>
                <a:lnTo>
                  <a:pt x="5656435" y="3442821"/>
                </a:lnTo>
                <a:lnTo>
                  <a:pt x="5636863" y="3442821"/>
                </a:lnTo>
                <a:lnTo>
                  <a:pt x="5617290" y="3442821"/>
                </a:lnTo>
                <a:lnTo>
                  <a:pt x="5597718" y="3442821"/>
                </a:lnTo>
                <a:lnTo>
                  <a:pt x="5578145" y="3442821"/>
                </a:lnTo>
                <a:lnTo>
                  <a:pt x="5558573" y="3442821"/>
                </a:lnTo>
                <a:lnTo>
                  <a:pt x="5539000" y="3442821"/>
                </a:lnTo>
                <a:lnTo>
                  <a:pt x="5519428" y="3442821"/>
                </a:lnTo>
                <a:lnTo>
                  <a:pt x="5499856" y="3442821"/>
                </a:lnTo>
                <a:lnTo>
                  <a:pt x="5480283" y="3442821"/>
                </a:lnTo>
                <a:lnTo>
                  <a:pt x="5460711" y="3442821"/>
                </a:lnTo>
                <a:lnTo>
                  <a:pt x="5441138" y="3442821"/>
                </a:lnTo>
                <a:lnTo>
                  <a:pt x="5421566" y="3442821"/>
                </a:lnTo>
                <a:lnTo>
                  <a:pt x="5401993" y="3442821"/>
                </a:lnTo>
                <a:lnTo>
                  <a:pt x="5382421" y="3442821"/>
                </a:lnTo>
                <a:lnTo>
                  <a:pt x="5362848" y="3442821"/>
                </a:lnTo>
                <a:lnTo>
                  <a:pt x="5343276" y="3442821"/>
                </a:lnTo>
                <a:lnTo>
                  <a:pt x="5323704" y="3442821"/>
                </a:lnTo>
                <a:lnTo>
                  <a:pt x="5304131" y="3442821"/>
                </a:lnTo>
                <a:lnTo>
                  <a:pt x="5284559" y="3442821"/>
                </a:lnTo>
                <a:lnTo>
                  <a:pt x="5264986" y="3442821"/>
                </a:lnTo>
                <a:lnTo>
                  <a:pt x="5245414" y="3442821"/>
                </a:lnTo>
                <a:lnTo>
                  <a:pt x="5225841" y="3442821"/>
                </a:lnTo>
                <a:lnTo>
                  <a:pt x="5206269" y="3442821"/>
                </a:lnTo>
                <a:lnTo>
                  <a:pt x="5186696" y="3442821"/>
                </a:lnTo>
                <a:lnTo>
                  <a:pt x="5167124" y="3442821"/>
                </a:lnTo>
                <a:lnTo>
                  <a:pt x="5147552" y="3442821"/>
                </a:lnTo>
                <a:lnTo>
                  <a:pt x="5127979" y="3442821"/>
                </a:lnTo>
                <a:lnTo>
                  <a:pt x="5108407" y="3442821"/>
                </a:lnTo>
                <a:lnTo>
                  <a:pt x="5088834" y="3442821"/>
                </a:lnTo>
                <a:lnTo>
                  <a:pt x="5069262" y="3442821"/>
                </a:lnTo>
                <a:lnTo>
                  <a:pt x="5049689" y="3442821"/>
                </a:lnTo>
                <a:lnTo>
                  <a:pt x="5030117" y="3442821"/>
                </a:lnTo>
                <a:lnTo>
                  <a:pt x="5010545" y="3442821"/>
                </a:lnTo>
                <a:lnTo>
                  <a:pt x="4990972" y="3442821"/>
                </a:lnTo>
                <a:lnTo>
                  <a:pt x="4971400" y="3442821"/>
                </a:lnTo>
                <a:lnTo>
                  <a:pt x="4951827" y="3442821"/>
                </a:lnTo>
                <a:lnTo>
                  <a:pt x="4932255" y="3442821"/>
                </a:lnTo>
                <a:lnTo>
                  <a:pt x="4912682" y="3442821"/>
                </a:lnTo>
                <a:lnTo>
                  <a:pt x="4893110" y="3442821"/>
                </a:lnTo>
                <a:lnTo>
                  <a:pt x="4873537" y="3442821"/>
                </a:lnTo>
                <a:lnTo>
                  <a:pt x="4853965" y="3442821"/>
                </a:lnTo>
                <a:lnTo>
                  <a:pt x="4834393" y="3442821"/>
                </a:lnTo>
                <a:lnTo>
                  <a:pt x="4814820" y="3442821"/>
                </a:lnTo>
                <a:lnTo>
                  <a:pt x="4795248" y="3442821"/>
                </a:lnTo>
                <a:lnTo>
                  <a:pt x="4775675" y="3442821"/>
                </a:lnTo>
                <a:lnTo>
                  <a:pt x="4756103" y="3442821"/>
                </a:lnTo>
                <a:lnTo>
                  <a:pt x="4736530" y="3442821"/>
                </a:lnTo>
                <a:lnTo>
                  <a:pt x="4716958" y="3442821"/>
                </a:lnTo>
                <a:lnTo>
                  <a:pt x="4697385" y="3442821"/>
                </a:lnTo>
                <a:lnTo>
                  <a:pt x="4677813" y="3442821"/>
                </a:lnTo>
                <a:lnTo>
                  <a:pt x="4658241" y="3442821"/>
                </a:lnTo>
                <a:lnTo>
                  <a:pt x="4638668" y="3442821"/>
                </a:lnTo>
                <a:lnTo>
                  <a:pt x="4619096" y="3442821"/>
                </a:lnTo>
                <a:lnTo>
                  <a:pt x="4599523" y="3442821"/>
                </a:lnTo>
                <a:lnTo>
                  <a:pt x="4579951" y="3442821"/>
                </a:lnTo>
                <a:lnTo>
                  <a:pt x="4560378" y="3442821"/>
                </a:lnTo>
                <a:lnTo>
                  <a:pt x="4540806" y="3442821"/>
                </a:lnTo>
                <a:lnTo>
                  <a:pt x="4521233" y="3442821"/>
                </a:lnTo>
                <a:lnTo>
                  <a:pt x="4501661" y="3442821"/>
                </a:lnTo>
                <a:lnTo>
                  <a:pt x="4482089" y="3442821"/>
                </a:lnTo>
                <a:lnTo>
                  <a:pt x="4462516" y="3442821"/>
                </a:lnTo>
                <a:lnTo>
                  <a:pt x="4442944" y="3442821"/>
                </a:lnTo>
                <a:lnTo>
                  <a:pt x="4423371" y="3442821"/>
                </a:lnTo>
                <a:lnTo>
                  <a:pt x="4403799" y="3442821"/>
                </a:lnTo>
                <a:lnTo>
                  <a:pt x="4384226" y="3442821"/>
                </a:lnTo>
                <a:lnTo>
                  <a:pt x="4364654" y="3442821"/>
                </a:lnTo>
                <a:lnTo>
                  <a:pt x="4345082" y="3442821"/>
                </a:lnTo>
                <a:lnTo>
                  <a:pt x="4325509" y="3442821"/>
                </a:lnTo>
                <a:lnTo>
                  <a:pt x="4305937" y="3442821"/>
                </a:lnTo>
                <a:lnTo>
                  <a:pt x="4286364" y="3442821"/>
                </a:lnTo>
                <a:lnTo>
                  <a:pt x="4266792" y="3442821"/>
                </a:lnTo>
                <a:lnTo>
                  <a:pt x="4247219" y="3442821"/>
                </a:lnTo>
                <a:lnTo>
                  <a:pt x="4227647" y="3442821"/>
                </a:lnTo>
                <a:lnTo>
                  <a:pt x="4208074" y="3442821"/>
                </a:lnTo>
                <a:lnTo>
                  <a:pt x="4188502" y="3442821"/>
                </a:lnTo>
                <a:lnTo>
                  <a:pt x="4168930" y="3442821"/>
                </a:lnTo>
                <a:lnTo>
                  <a:pt x="4149357" y="3442821"/>
                </a:lnTo>
                <a:lnTo>
                  <a:pt x="4129785" y="3442821"/>
                </a:lnTo>
                <a:lnTo>
                  <a:pt x="4110212" y="3442821"/>
                </a:lnTo>
                <a:lnTo>
                  <a:pt x="4090640" y="3442821"/>
                </a:lnTo>
                <a:lnTo>
                  <a:pt x="4071067" y="3442821"/>
                </a:lnTo>
                <a:lnTo>
                  <a:pt x="4051495" y="3442821"/>
                </a:lnTo>
                <a:lnTo>
                  <a:pt x="4031922" y="3442821"/>
                </a:lnTo>
                <a:lnTo>
                  <a:pt x="4012350" y="3442821"/>
                </a:lnTo>
                <a:lnTo>
                  <a:pt x="3992778" y="3442821"/>
                </a:lnTo>
                <a:lnTo>
                  <a:pt x="3973205" y="3442821"/>
                </a:lnTo>
                <a:lnTo>
                  <a:pt x="3953633" y="3442821"/>
                </a:lnTo>
                <a:lnTo>
                  <a:pt x="3934060" y="3442821"/>
                </a:lnTo>
                <a:lnTo>
                  <a:pt x="3914488" y="3442821"/>
                </a:lnTo>
                <a:lnTo>
                  <a:pt x="3894915" y="3442821"/>
                </a:lnTo>
                <a:lnTo>
                  <a:pt x="3875343" y="3442821"/>
                </a:lnTo>
                <a:lnTo>
                  <a:pt x="3855770" y="3442821"/>
                </a:lnTo>
                <a:lnTo>
                  <a:pt x="3836198" y="3442821"/>
                </a:lnTo>
                <a:lnTo>
                  <a:pt x="3816626" y="3442821"/>
                </a:lnTo>
                <a:lnTo>
                  <a:pt x="3797053" y="3442821"/>
                </a:lnTo>
                <a:lnTo>
                  <a:pt x="3777481" y="3442821"/>
                </a:lnTo>
                <a:lnTo>
                  <a:pt x="3757908" y="3442821"/>
                </a:lnTo>
                <a:lnTo>
                  <a:pt x="3738336" y="3442821"/>
                </a:lnTo>
                <a:lnTo>
                  <a:pt x="3718763" y="3442821"/>
                </a:lnTo>
                <a:lnTo>
                  <a:pt x="3699191" y="3442821"/>
                </a:lnTo>
                <a:lnTo>
                  <a:pt x="3679618" y="3442821"/>
                </a:lnTo>
                <a:lnTo>
                  <a:pt x="3660046" y="3442821"/>
                </a:lnTo>
                <a:lnTo>
                  <a:pt x="3640474" y="3442821"/>
                </a:lnTo>
                <a:lnTo>
                  <a:pt x="3620901" y="3442821"/>
                </a:lnTo>
                <a:lnTo>
                  <a:pt x="3601329" y="3442821"/>
                </a:lnTo>
                <a:lnTo>
                  <a:pt x="3581756" y="3442821"/>
                </a:lnTo>
                <a:lnTo>
                  <a:pt x="3562184" y="3442821"/>
                </a:lnTo>
                <a:lnTo>
                  <a:pt x="3542611" y="3442821"/>
                </a:lnTo>
                <a:lnTo>
                  <a:pt x="3523039" y="3442821"/>
                </a:lnTo>
                <a:lnTo>
                  <a:pt x="3503467" y="3442821"/>
                </a:lnTo>
                <a:lnTo>
                  <a:pt x="3483894" y="3442821"/>
                </a:lnTo>
                <a:lnTo>
                  <a:pt x="3464322" y="3442821"/>
                </a:lnTo>
                <a:lnTo>
                  <a:pt x="3444749" y="3442821"/>
                </a:lnTo>
                <a:lnTo>
                  <a:pt x="3425177" y="3442821"/>
                </a:lnTo>
                <a:lnTo>
                  <a:pt x="3405604" y="3442821"/>
                </a:lnTo>
                <a:lnTo>
                  <a:pt x="3386032" y="3442821"/>
                </a:lnTo>
                <a:lnTo>
                  <a:pt x="3366459" y="3442821"/>
                </a:lnTo>
                <a:lnTo>
                  <a:pt x="3346887" y="3442821"/>
                </a:lnTo>
                <a:lnTo>
                  <a:pt x="3327315" y="3442821"/>
                </a:lnTo>
                <a:lnTo>
                  <a:pt x="3307742" y="3442821"/>
                </a:lnTo>
                <a:lnTo>
                  <a:pt x="3288170" y="3442821"/>
                </a:lnTo>
                <a:lnTo>
                  <a:pt x="3268597" y="3442821"/>
                </a:lnTo>
                <a:lnTo>
                  <a:pt x="3249025" y="3442821"/>
                </a:lnTo>
                <a:lnTo>
                  <a:pt x="3229452" y="3442821"/>
                </a:lnTo>
                <a:lnTo>
                  <a:pt x="3209880" y="3442821"/>
                </a:lnTo>
                <a:lnTo>
                  <a:pt x="3190307" y="3442821"/>
                </a:lnTo>
                <a:lnTo>
                  <a:pt x="3170735" y="3442821"/>
                </a:lnTo>
                <a:lnTo>
                  <a:pt x="3151163" y="3442821"/>
                </a:lnTo>
                <a:lnTo>
                  <a:pt x="3131590" y="3442821"/>
                </a:lnTo>
                <a:lnTo>
                  <a:pt x="3112018" y="3442821"/>
                </a:lnTo>
                <a:lnTo>
                  <a:pt x="3092445" y="3442821"/>
                </a:lnTo>
                <a:lnTo>
                  <a:pt x="3072873" y="3442821"/>
                </a:lnTo>
                <a:lnTo>
                  <a:pt x="3053300" y="3442821"/>
                </a:lnTo>
                <a:lnTo>
                  <a:pt x="3033728" y="3442821"/>
                </a:lnTo>
                <a:lnTo>
                  <a:pt x="3014155" y="3442821"/>
                </a:lnTo>
                <a:lnTo>
                  <a:pt x="2994583" y="3442821"/>
                </a:lnTo>
                <a:lnTo>
                  <a:pt x="2975011" y="3442821"/>
                </a:lnTo>
                <a:lnTo>
                  <a:pt x="2955438" y="3442821"/>
                </a:lnTo>
                <a:lnTo>
                  <a:pt x="2935866" y="3442821"/>
                </a:lnTo>
                <a:lnTo>
                  <a:pt x="2916293" y="3442821"/>
                </a:lnTo>
                <a:lnTo>
                  <a:pt x="2896721" y="3442821"/>
                </a:lnTo>
                <a:lnTo>
                  <a:pt x="2877148" y="3442821"/>
                </a:lnTo>
                <a:lnTo>
                  <a:pt x="2857576" y="3442821"/>
                </a:lnTo>
                <a:lnTo>
                  <a:pt x="2838004" y="3442821"/>
                </a:lnTo>
                <a:lnTo>
                  <a:pt x="2818431" y="3442821"/>
                </a:lnTo>
                <a:lnTo>
                  <a:pt x="2798859" y="3442821"/>
                </a:lnTo>
                <a:lnTo>
                  <a:pt x="2779286" y="3442821"/>
                </a:lnTo>
                <a:lnTo>
                  <a:pt x="2759714" y="3442821"/>
                </a:lnTo>
                <a:lnTo>
                  <a:pt x="2740141" y="3442821"/>
                </a:lnTo>
                <a:lnTo>
                  <a:pt x="2720569" y="3442821"/>
                </a:lnTo>
                <a:lnTo>
                  <a:pt x="2700996" y="3442821"/>
                </a:lnTo>
                <a:lnTo>
                  <a:pt x="2681424" y="3442821"/>
                </a:lnTo>
                <a:lnTo>
                  <a:pt x="2661852" y="3442821"/>
                </a:lnTo>
                <a:lnTo>
                  <a:pt x="2642279" y="3442821"/>
                </a:lnTo>
                <a:lnTo>
                  <a:pt x="2622707" y="3442821"/>
                </a:lnTo>
                <a:lnTo>
                  <a:pt x="2603134" y="3442821"/>
                </a:lnTo>
                <a:lnTo>
                  <a:pt x="2583562" y="3442821"/>
                </a:lnTo>
                <a:lnTo>
                  <a:pt x="2563989" y="3442821"/>
                </a:lnTo>
                <a:lnTo>
                  <a:pt x="2544417" y="3442821"/>
                </a:lnTo>
                <a:lnTo>
                  <a:pt x="2524844" y="3442821"/>
                </a:lnTo>
                <a:lnTo>
                  <a:pt x="2505272" y="3442821"/>
                </a:lnTo>
                <a:lnTo>
                  <a:pt x="2485700" y="3442821"/>
                </a:lnTo>
                <a:lnTo>
                  <a:pt x="2466127" y="3442821"/>
                </a:lnTo>
                <a:lnTo>
                  <a:pt x="2446555" y="3442821"/>
                </a:lnTo>
                <a:lnTo>
                  <a:pt x="2426982" y="3442821"/>
                </a:lnTo>
                <a:lnTo>
                  <a:pt x="2407410" y="3442821"/>
                </a:lnTo>
                <a:lnTo>
                  <a:pt x="2387837" y="3442821"/>
                </a:lnTo>
                <a:lnTo>
                  <a:pt x="2368265" y="3442821"/>
                </a:lnTo>
                <a:lnTo>
                  <a:pt x="2348692" y="3442821"/>
                </a:lnTo>
                <a:lnTo>
                  <a:pt x="2329120" y="3442821"/>
                </a:lnTo>
                <a:lnTo>
                  <a:pt x="2309548" y="3442821"/>
                </a:lnTo>
                <a:lnTo>
                  <a:pt x="2289975" y="3442821"/>
                </a:lnTo>
                <a:lnTo>
                  <a:pt x="2270403" y="3442821"/>
                </a:lnTo>
                <a:lnTo>
                  <a:pt x="2250830" y="3442821"/>
                </a:lnTo>
                <a:lnTo>
                  <a:pt x="2231258" y="3442821"/>
                </a:lnTo>
                <a:lnTo>
                  <a:pt x="2211685" y="3442821"/>
                </a:lnTo>
                <a:lnTo>
                  <a:pt x="2192113" y="3442821"/>
                </a:lnTo>
                <a:lnTo>
                  <a:pt x="2172541" y="3442821"/>
                </a:lnTo>
                <a:lnTo>
                  <a:pt x="2152968" y="3442821"/>
                </a:lnTo>
                <a:lnTo>
                  <a:pt x="2133396" y="3442821"/>
                </a:lnTo>
                <a:lnTo>
                  <a:pt x="2113823" y="3442821"/>
                </a:lnTo>
                <a:lnTo>
                  <a:pt x="2094251" y="3442821"/>
                </a:lnTo>
                <a:lnTo>
                  <a:pt x="2074678" y="3442821"/>
                </a:lnTo>
                <a:lnTo>
                  <a:pt x="2055106" y="3442821"/>
                </a:lnTo>
                <a:lnTo>
                  <a:pt x="2035533" y="3442821"/>
                </a:lnTo>
                <a:lnTo>
                  <a:pt x="2015961" y="3442821"/>
                </a:lnTo>
                <a:lnTo>
                  <a:pt x="1996389" y="3442821"/>
                </a:lnTo>
                <a:lnTo>
                  <a:pt x="1976816" y="3442821"/>
                </a:lnTo>
                <a:lnTo>
                  <a:pt x="1957244" y="3442821"/>
                </a:lnTo>
                <a:lnTo>
                  <a:pt x="1937671" y="3442821"/>
                </a:lnTo>
                <a:lnTo>
                  <a:pt x="1918099" y="3442821"/>
                </a:lnTo>
                <a:lnTo>
                  <a:pt x="1898526" y="3442821"/>
                </a:lnTo>
                <a:lnTo>
                  <a:pt x="1878954" y="3442821"/>
                </a:lnTo>
                <a:lnTo>
                  <a:pt x="1859381" y="3442821"/>
                </a:lnTo>
                <a:lnTo>
                  <a:pt x="1839809" y="3442821"/>
                </a:lnTo>
                <a:lnTo>
                  <a:pt x="1820237" y="3442821"/>
                </a:lnTo>
                <a:lnTo>
                  <a:pt x="1800664" y="3442821"/>
                </a:lnTo>
                <a:lnTo>
                  <a:pt x="1781092" y="3442821"/>
                </a:lnTo>
                <a:lnTo>
                  <a:pt x="1761519" y="3442821"/>
                </a:lnTo>
                <a:lnTo>
                  <a:pt x="1741947" y="3442821"/>
                </a:lnTo>
                <a:lnTo>
                  <a:pt x="1722374" y="3442821"/>
                </a:lnTo>
                <a:lnTo>
                  <a:pt x="1702802" y="3442821"/>
                </a:lnTo>
                <a:lnTo>
                  <a:pt x="1683229" y="3442821"/>
                </a:lnTo>
                <a:lnTo>
                  <a:pt x="1663657" y="3442821"/>
                </a:lnTo>
                <a:lnTo>
                  <a:pt x="1644085" y="3442821"/>
                </a:lnTo>
                <a:lnTo>
                  <a:pt x="1624512" y="3442821"/>
                </a:lnTo>
                <a:lnTo>
                  <a:pt x="1604940" y="3442821"/>
                </a:lnTo>
                <a:lnTo>
                  <a:pt x="1585367" y="3442821"/>
                </a:lnTo>
                <a:lnTo>
                  <a:pt x="1565795" y="3442821"/>
                </a:lnTo>
                <a:lnTo>
                  <a:pt x="1546222" y="3442821"/>
                </a:lnTo>
                <a:lnTo>
                  <a:pt x="1526650" y="3442821"/>
                </a:lnTo>
                <a:lnTo>
                  <a:pt x="1507077" y="3442821"/>
                </a:lnTo>
                <a:lnTo>
                  <a:pt x="1487505" y="3442821"/>
                </a:lnTo>
                <a:lnTo>
                  <a:pt x="1467933" y="3442821"/>
                </a:lnTo>
                <a:lnTo>
                  <a:pt x="1448360" y="3442821"/>
                </a:lnTo>
                <a:lnTo>
                  <a:pt x="1428788" y="3442821"/>
                </a:lnTo>
                <a:lnTo>
                  <a:pt x="1409215" y="3442821"/>
                </a:lnTo>
                <a:lnTo>
                  <a:pt x="1389643" y="3442821"/>
                </a:lnTo>
                <a:lnTo>
                  <a:pt x="1370070" y="3442821"/>
                </a:lnTo>
                <a:lnTo>
                  <a:pt x="1350498" y="3442821"/>
                </a:lnTo>
                <a:lnTo>
                  <a:pt x="1330926" y="3442821"/>
                </a:lnTo>
                <a:lnTo>
                  <a:pt x="1311353" y="3442821"/>
                </a:lnTo>
                <a:lnTo>
                  <a:pt x="1291781" y="3442821"/>
                </a:lnTo>
                <a:lnTo>
                  <a:pt x="1272208" y="3442821"/>
                </a:lnTo>
                <a:lnTo>
                  <a:pt x="1252636" y="3442821"/>
                </a:lnTo>
                <a:lnTo>
                  <a:pt x="1233063" y="3442821"/>
                </a:lnTo>
                <a:lnTo>
                  <a:pt x="1213491" y="3442821"/>
                </a:lnTo>
                <a:lnTo>
                  <a:pt x="1193918" y="3442821"/>
                </a:lnTo>
                <a:lnTo>
                  <a:pt x="1174346" y="3442821"/>
                </a:lnTo>
                <a:lnTo>
                  <a:pt x="1154774" y="3442821"/>
                </a:lnTo>
                <a:lnTo>
                  <a:pt x="1135201" y="3442821"/>
                </a:lnTo>
                <a:lnTo>
                  <a:pt x="1115629" y="3442821"/>
                </a:lnTo>
                <a:lnTo>
                  <a:pt x="1096056" y="3442821"/>
                </a:lnTo>
                <a:lnTo>
                  <a:pt x="1076484" y="3442821"/>
                </a:lnTo>
                <a:lnTo>
                  <a:pt x="1056911" y="3442821"/>
                </a:lnTo>
                <a:lnTo>
                  <a:pt x="1037339" y="3442821"/>
                </a:lnTo>
                <a:lnTo>
                  <a:pt x="1017766" y="3442821"/>
                </a:lnTo>
                <a:lnTo>
                  <a:pt x="998194" y="3442821"/>
                </a:lnTo>
                <a:lnTo>
                  <a:pt x="978622" y="3442821"/>
                </a:lnTo>
                <a:lnTo>
                  <a:pt x="959049" y="3442821"/>
                </a:lnTo>
                <a:lnTo>
                  <a:pt x="939477" y="3442821"/>
                </a:lnTo>
                <a:lnTo>
                  <a:pt x="919904" y="3442821"/>
                </a:lnTo>
                <a:lnTo>
                  <a:pt x="900332" y="3442821"/>
                </a:lnTo>
                <a:lnTo>
                  <a:pt x="880759" y="3442821"/>
                </a:lnTo>
                <a:lnTo>
                  <a:pt x="861187" y="3442821"/>
                </a:lnTo>
                <a:lnTo>
                  <a:pt x="841614" y="3442821"/>
                </a:lnTo>
                <a:lnTo>
                  <a:pt x="822042" y="3442821"/>
                </a:lnTo>
                <a:lnTo>
                  <a:pt x="802470" y="3442821"/>
                </a:lnTo>
                <a:lnTo>
                  <a:pt x="782897" y="3442821"/>
                </a:lnTo>
                <a:lnTo>
                  <a:pt x="763325" y="3442821"/>
                </a:lnTo>
                <a:lnTo>
                  <a:pt x="743752" y="3442821"/>
                </a:lnTo>
                <a:lnTo>
                  <a:pt x="724180" y="3442821"/>
                </a:lnTo>
                <a:lnTo>
                  <a:pt x="704607" y="3442821"/>
                </a:lnTo>
                <a:lnTo>
                  <a:pt x="685035" y="3442821"/>
                </a:lnTo>
                <a:lnTo>
                  <a:pt x="665463" y="3442821"/>
                </a:lnTo>
                <a:lnTo>
                  <a:pt x="645890" y="3442821"/>
                </a:lnTo>
                <a:lnTo>
                  <a:pt x="626318" y="3442821"/>
                </a:lnTo>
                <a:lnTo>
                  <a:pt x="606745" y="3442821"/>
                </a:lnTo>
                <a:lnTo>
                  <a:pt x="587173" y="3442821"/>
                </a:lnTo>
                <a:lnTo>
                  <a:pt x="567600" y="3442821"/>
                </a:lnTo>
                <a:lnTo>
                  <a:pt x="548028" y="3442821"/>
                </a:lnTo>
                <a:lnTo>
                  <a:pt x="528455" y="3442821"/>
                </a:lnTo>
                <a:lnTo>
                  <a:pt x="508883" y="3442821"/>
                </a:lnTo>
                <a:lnTo>
                  <a:pt x="489311" y="3442821"/>
                </a:lnTo>
                <a:lnTo>
                  <a:pt x="469738" y="3442821"/>
                </a:lnTo>
                <a:lnTo>
                  <a:pt x="450166" y="3442821"/>
                </a:lnTo>
                <a:lnTo>
                  <a:pt x="430593" y="3442821"/>
                </a:lnTo>
                <a:lnTo>
                  <a:pt x="411021" y="3442821"/>
                </a:lnTo>
                <a:lnTo>
                  <a:pt x="391448" y="3442821"/>
                </a:lnTo>
                <a:lnTo>
                  <a:pt x="371876" y="3442821"/>
                </a:lnTo>
                <a:lnTo>
                  <a:pt x="352303" y="3442821"/>
                </a:lnTo>
                <a:lnTo>
                  <a:pt x="332731" y="3442821"/>
                </a:lnTo>
                <a:lnTo>
                  <a:pt x="313159" y="3442821"/>
                </a:lnTo>
                <a:lnTo>
                  <a:pt x="293586" y="3442821"/>
                </a:lnTo>
                <a:lnTo>
                  <a:pt x="274014" y="3442821"/>
                </a:lnTo>
                <a:lnTo>
                  <a:pt x="254441" y="3442821"/>
                </a:lnTo>
                <a:lnTo>
                  <a:pt x="234869" y="3442821"/>
                </a:lnTo>
                <a:lnTo>
                  <a:pt x="215296" y="3442821"/>
                </a:lnTo>
                <a:lnTo>
                  <a:pt x="195724" y="3442821"/>
                </a:lnTo>
                <a:lnTo>
                  <a:pt x="176151" y="3442821"/>
                </a:lnTo>
                <a:lnTo>
                  <a:pt x="156579" y="3442821"/>
                </a:lnTo>
                <a:lnTo>
                  <a:pt x="137007" y="3442821"/>
                </a:lnTo>
                <a:lnTo>
                  <a:pt x="117434" y="3442821"/>
                </a:lnTo>
                <a:lnTo>
                  <a:pt x="97862" y="3442821"/>
                </a:lnTo>
                <a:lnTo>
                  <a:pt x="78289" y="3442821"/>
                </a:lnTo>
                <a:lnTo>
                  <a:pt x="58717" y="3442821"/>
                </a:lnTo>
                <a:lnTo>
                  <a:pt x="39144" y="3442821"/>
                </a:lnTo>
                <a:lnTo>
                  <a:pt x="19572" y="3442821"/>
                </a:lnTo>
                <a:lnTo>
                  <a:pt x="0" y="3442821"/>
                </a:lnTo>
                <a:close/>
              </a:path>
            </a:pathLst>
          </a:custGeom>
          <a:solidFill>
            <a:srgbClr val="8EDBD4">
              <a:alpha val="22000"/>
            </a:srgbClr>
          </a:solidFill>
          <a:ln w="10160">
            <a:solidFill>
              <a:srgbClr val="8EDBD4">
                <a:alpha val="2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-E02 polygon 28" descr="sci-ppt:o028"/>
          <p:cNvSpPr/>
          <p:nvPr/>
        </p:nvSpPr>
        <p:spPr>
          <a:xfrm>
            <a:off x="914400" y="1586379"/>
            <a:ext cx="5852160" cy="2964600"/>
          </a:xfrm>
          <a:custGeom>
            <a:avLst/>
            <a:gdLst/>
            <a:ahLst/>
            <a:cxnLst/>
            <a:rect l="l" t="t" r="r" b="b"/>
            <a:pathLst>
              <a:path w="5852160" h="2964600">
                <a:moveTo>
                  <a:pt x="0" y="0"/>
                </a:moveTo>
                <a:lnTo>
                  <a:pt x="39144" y="729896"/>
                </a:lnTo>
                <a:lnTo>
                  <a:pt x="78289" y="907178"/>
                </a:lnTo>
                <a:lnTo>
                  <a:pt x="117434" y="1012734"/>
                </a:lnTo>
                <a:lnTo>
                  <a:pt x="156579" y="1088814"/>
                </a:lnTo>
                <a:lnTo>
                  <a:pt x="195724" y="1149017"/>
                </a:lnTo>
                <a:lnTo>
                  <a:pt x="234869" y="1199405"/>
                </a:lnTo>
                <a:lnTo>
                  <a:pt x="274014" y="1243178"/>
                </a:lnTo>
                <a:lnTo>
                  <a:pt x="313159" y="1282222"/>
                </a:lnTo>
                <a:lnTo>
                  <a:pt x="352303" y="1317726"/>
                </a:lnTo>
                <a:lnTo>
                  <a:pt x="391448" y="1350488"/>
                </a:lnTo>
                <a:lnTo>
                  <a:pt x="430593" y="1381064"/>
                </a:lnTo>
                <a:lnTo>
                  <a:pt x="469738" y="1409856"/>
                </a:lnTo>
                <a:lnTo>
                  <a:pt x="508883" y="1437163"/>
                </a:lnTo>
                <a:lnTo>
                  <a:pt x="548028" y="1463210"/>
                </a:lnTo>
                <a:lnTo>
                  <a:pt x="587173" y="1488174"/>
                </a:lnTo>
                <a:lnTo>
                  <a:pt x="626318" y="1512195"/>
                </a:lnTo>
                <a:lnTo>
                  <a:pt x="665463" y="1535385"/>
                </a:lnTo>
                <a:lnTo>
                  <a:pt x="704607" y="1557834"/>
                </a:lnTo>
                <a:lnTo>
                  <a:pt x="743752" y="1579617"/>
                </a:lnTo>
                <a:lnTo>
                  <a:pt x="782897" y="1600798"/>
                </a:lnTo>
                <a:lnTo>
                  <a:pt x="822042" y="1621428"/>
                </a:lnTo>
                <a:lnTo>
                  <a:pt x="861187" y="1641554"/>
                </a:lnTo>
                <a:lnTo>
                  <a:pt x="900332" y="1661213"/>
                </a:lnTo>
                <a:lnTo>
                  <a:pt x="939477" y="1680439"/>
                </a:lnTo>
                <a:lnTo>
                  <a:pt x="978622" y="1699261"/>
                </a:lnTo>
                <a:lnTo>
                  <a:pt x="1017766" y="1717705"/>
                </a:lnTo>
                <a:lnTo>
                  <a:pt x="1056911" y="1735793"/>
                </a:lnTo>
                <a:lnTo>
                  <a:pt x="1096056" y="1753545"/>
                </a:lnTo>
                <a:lnTo>
                  <a:pt x="1135201" y="1770980"/>
                </a:lnTo>
                <a:lnTo>
                  <a:pt x="1174346" y="1788114"/>
                </a:lnTo>
                <a:lnTo>
                  <a:pt x="1213491" y="1804961"/>
                </a:lnTo>
                <a:lnTo>
                  <a:pt x="1252636" y="1821534"/>
                </a:lnTo>
                <a:lnTo>
                  <a:pt x="1291781" y="1837847"/>
                </a:lnTo>
                <a:lnTo>
                  <a:pt x="1330926" y="1853909"/>
                </a:lnTo>
                <a:lnTo>
                  <a:pt x="1370070" y="1869731"/>
                </a:lnTo>
                <a:lnTo>
                  <a:pt x="1409215" y="1885322"/>
                </a:lnTo>
                <a:lnTo>
                  <a:pt x="1448360" y="1900692"/>
                </a:lnTo>
                <a:lnTo>
                  <a:pt x="1487505" y="1915848"/>
                </a:lnTo>
                <a:lnTo>
                  <a:pt x="1526650" y="1930797"/>
                </a:lnTo>
                <a:lnTo>
                  <a:pt x="1565795" y="1945548"/>
                </a:lnTo>
                <a:lnTo>
                  <a:pt x="1604940" y="1960105"/>
                </a:lnTo>
                <a:lnTo>
                  <a:pt x="1644085" y="1974477"/>
                </a:lnTo>
                <a:lnTo>
                  <a:pt x="1683229" y="1988667"/>
                </a:lnTo>
                <a:lnTo>
                  <a:pt x="1722374" y="2002683"/>
                </a:lnTo>
                <a:lnTo>
                  <a:pt x="1761519" y="2016528"/>
                </a:lnTo>
                <a:lnTo>
                  <a:pt x="1800664" y="2030208"/>
                </a:lnTo>
                <a:lnTo>
                  <a:pt x="1839809" y="2043728"/>
                </a:lnTo>
                <a:lnTo>
                  <a:pt x="1878954" y="2057091"/>
                </a:lnTo>
                <a:lnTo>
                  <a:pt x="1918099" y="2070302"/>
                </a:lnTo>
                <a:lnTo>
                  <a:pt x="1957244" y="2083366"/>
                </a:lnTo>
                <a:lnTo>
                  <a:pt x="1996389" y="2096285"/>
                </a:lnTo>
                <a:lnTo>
                  <a:pt x="2035533" y="2109063"/>
                </a:lnTo>
                <a:lnTo>
                  <a:pt x="2074678" y="2121704"/>
                </a:lnTo>
                <a:lnTo>
                  <a:pt x="2113823" y="2134212"/>
                </a:lnTo>
                <a:lnTo>
                  <a:pt x="2152968" y="2146588"/>
                </a:lnTo>
                <a:lnTo>
                  <a:pt x="2192113" y="2158837"/>
                </a:lnTo>
                <a:lnTo>
                  <a:pt x="2231258" y="2170962"/>
                </a:lnTo>
                <a:lnTo>
                  <a:pt x="2270403" y="2182964"/>
                </a:lnTo>
                <a:lnTo>
                  <a:pt x="2309548" y="2194847"/>
                </a:lnTo>
                <a:lnTo>
                  <a:pt x="2348692" y="2206613"/>
                </a:lnTo>
                <a:lnTo>
                  <a:pt x="2387837" y="2218265"/>
                </a:lnTo>
                <a:lnTo>
                  <a:pt x="2426982" y="2229805"/>
                </a:lnTo>
                <a:lnTo>
                  <a:pt x="2466127" y="2241236"/>
                </a:lnTo>
                <a:lnTo>
                  <a:pt x="2505272" y="2252560"/>
                </a:lnTo>
                <a:lnTo>
                  <a:pt x="2544417" y="2263778"/>
                </a:lnTo>
                <a:lnTo>
                  <a:pt x="2583562" y="2274893"/>
                </a:lnTo>
                <a:lnTo>
                  <a:pt x="2622707" y="2285908"/>
                </a:lnTo>
                <a:lnTo>
                  <a:pt x="2661852" y="2296823"/>
                </a:lnTo>
                <a:lnTo>
                  <a:pt x="2700996" y="2307641"/>
                </a:lnTo>
                <a:lnTo>
                  <a:pt x="2740141" y="2318364"/>
                </a:lnTo>
                <a:lnTo>
                  <a:pt x="2779286" y="2328994"/>
                </a:lnTo>
                <a:lnTo>
                  <a:pt x="2818431" y="2339531"/>
                </a:lnTo>
                <a:lnTo>
                  <a:pt x="2857576" y="2349979"/>
                </a:lnTo>
                <a:lnTo>
                  <a:pt x="2896721" y="2360338"/>
                </a:lnTo>
                <a:lnTo>
                  <a:pt x="2935866" y="2370610"/>
                </a:lnTo>
                <a:lnTo>
                  <a:pt x="2975011" y="2380796"/>
                </a:lnTo>
                <a:lnTo>
                  <a:pt x="3014155" y="2390899"/>
                </a:lnTo>
                <a:lnTo>
                  <a:pt x="3053300" y="2400919"/>
                </a:lnTo>
                <a:lnTo>
                  <a:pt x="3092445" y="2410858"/>
                </a:lnTo>
                <a:lnTo>
                  <a:pt x="3131590" y="2420717"/>
                </a:lnTo>
                <a:lnTo>
                  <a:pt x="3170735" y="2430498"/>
                </a:lnTo>
                <a:lnTo>
                  <a:pt x="3209880" y="2440201"/>
                </a:lnTo>
                <a:lnTo>
                  <a:pt x="3249025" y="2449829"/>
                </a:lnTo>
                <a:lnTo>
                  <a:pt x="3288170" y="2459383"/>
                </a:lnTo>
                <a:lnTo>
                  <a:pt x="3327315" y="2468862"/>
                </a:lnTo>
                <a:lnTo>
                  <a:pt x="3366459" y="2478270"/>
                </a:lnTo>
                <a:lnTo>
                  <a:pt x="3405604" y="2487606"/>
                </a:lnTo>
                <a:lnTo>
                  <a:pt x="3444749" y="2496873"/>
                </a:lnTo>
                <a:lnTo>
                  <a:pt x="3483894" y="2506070"/>
                </a:lnTo>
                <a:lnTo>
                  <a:pt x="3523039" y="2515200"/>
                </a:lnTo>
                <a:lnTo>
                  <a:pt x="3562184" y="2524262"/>
                </a:lnTo>
                <a:lnTo>
                  <a:pt x="3601329" y="2533259"/>
                </a:lnTo>
                <a:lnTo>
                  <a:pt x="3640474" y="2542191"/>
                </a:lnTo>
                <a:lnTo>
                  <a:pt x="3679618" y="2551059"/>
                </a:lnTo>
                <a:lnTo>
                  <a:pt x="3718763" y="2559864"/>
                </a:lnTo>
                <a:lnTo>
                  <a:pt x="3757908" y="2568607"/>
                </a:lnTo>
                <a:lnTo>
                  <a:pt x="3797053" y="2577289"/>
                </a:lnTo>
                <a:lnTo>
                  <a:pt x="3836198" y="2585910"/>
                </a:lnTo>
                <a:lnTo>
                  <a:pt x="3875343" y="2594472"/>
                </a:lnTo>
                <a:lnTo>
                  <a:pt x="3914488" y="2602976"/>
                </a:lnTo>
                <a:lnTo>
                  <a:pt x="3953633" y="2611422"/>
                </a:lnTo>
                <a:lnTo>
                  <a:pt x="3992778" y="2619810"/>
                </a:lnTo>
                <a:lnTo>
                  <a:pt x="4031922" y="2628143"/>
                </a:lnTo>
                <a:lnTo>
                  <a:pt x="4071067" y="2636420"/>
                </a:lnTo>
                <a:lnTo>
                  <a:pt x="4110212" y="2644642"/>
                </a:lnTo>
                <a:lnTo>
                  <a:pt x="4149357" y="2652810"/>
                </a:lnTo>
                <a:lnTo>
                  <a:pt x="4188502" y="2660925"/>
                </a:lnTo>
                <a:lnTo>
                  <a:pt x="4227647" y="2668988"/>
                </a:lnTo>
                <a:lnTo>
                  <a:pt x="4266792" y="2676999"/>
                </a:lnTo>
                <a:lnTo>
                  <a:pt x="4305937" y="2684958"/>
                </a:lnTo>
                <a:lnTo>
                  <a:pt x="4345082" y="2692867"/>
                </a:lnTo>
                <a:lnTo>
                  <a:pt x="4384226" y="2700727"/>
                </a:lnTo>
                <a:lnTo>
                  <a:pt x="4423371" y="2708537"/>
                </a:lnTo>
                <a:lnTo>
                  <a:pt x="4462516" y="2716298"/>
                </a:lnTo>
                <a:lnTo>
                  <a:pt x="4501661" y="2724011"/>
                </a:lnTo>
                <a:lnTo>
                  <a:pt x="4540806" y="2731677"/>
                </a:lnTo>
                <a:lnTo>
                  <a:pt x="4579951" y="2739297"/>
                </a:lnTo>
                <a:lnTo>
                  <a:pt x="4619096" y="2746870"/>
                </a:lnTo>
                <a:lnTo>
                  <a:pt x="4658241" y="2754397"/>
                </a:lnTo>
                <a:lnTo>
                  <a:pt x="4697385" y="2761879"/>
                </a:lnTo>
                <a:lnTo>
                  <a:pt x="4736530" y="2769317"/>
                </a:lnTo>
                <a:lnTo>
                  <a:pt x="4775675" y="2776711"/>
                </a:lnTo>
                <a:lnTo>
                  <a:pt x="4814820" y="2784061"/>
                </a:lnTo>
                <a:lnTo>
                  <a:pt x="4853965" y="2791368"/>
                </a:lnTo>
                <a:lnTo>
                  <a:pt x="4893110" y="2798633"/>
                </a:lnTo>
                <a:lnTo>
                  <a:pt x="4932255" y="2805856"/>
                </a:lnTo>
                <a:lnTo>
                  <a:pt x="4971400" y="2813037"/>
                </a:lnTo>
                <a:lnTo>
                  <a:pt x="5010545" y="2820178"/>
                </a:lnTo>
                <a:lnTo>
                  <a:pt x="5049689" y="2827277"/>
                </a:lnTo>
                <a:lnTo>
                  <a:pt x="5088834" y="2834337"/>
                </a:lnTo>
                <a:lnTo>
                  <a:pt x="5127979" y="2841357"/>
                </a:lnTo>
                <a:lnTo>
                  <a:pt x="5167124" y="2848338"/>
                </a:lnTo>
                <a:lnTo>
                  <a:pt x="5206269" y="2855281"/>
                </a:lnTo>
                <a:lnTo>
                  <a:pt x="5245414" y="2862185"/>
                </a:lnTo>
                <a:lnTo>
                  <a:pt x="5284559" y="2869051"/>
                </a:lnTo>
                <a:lnTo>
                  <a:pt x="5323704" y="2875879"/>
                </a:lnTo>
                <a:lnTo>
                  <a:pt x="5362848" y="2882671"/>
                </a:lnTo>
                <a:lnTo>
                  <a:pt x="5401993" y="2889426"/>
                </a:lnTo>
                <a:lnTo>
                  <a:pt x="5441138" y="2896145"/>
                </a:lnTo>
                <a:lnTo>
                  <a:pt x="5480283" y="2902828"/>
                </a:lnTo>
                <a:lnTo>
                  <a:pt x="5519428" y="2909475"/>
                </a:lnTo>
                <a:lnTo>
                  <a:pt x="5558573" y="2916088"/>
                </a:lnTo>
                <a:lnTo>
                  <a:pt x="5597718" y="2922666"/>
                </a:lnTo>
                <a:lnTo>
                  <a:pt x="5636863" y="2929209"/>
                </a:lnTo>
                <a:lnTo>
                  <a:pt x="5676008" y="2935718"/>
                </a:lnTo>
                <a:lnTo>
                  <a:pt x="5715152" y="2942194"/>
                </a:lnTo>
                <a:lnTo>
                  <a:pt x="5754297" y="2948637"/>
                </a:lnTo>
                <a:lnTo>
                  <a:pt x="5793442" y="2955046"/>
                </a:lnTo>
                <a:lnTo>
                  <a:pt x="5832587" y="2961423"/>
                </a:lnTo>
                <a:lnTo>
                  <a:pt x="5852160" y="296460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-E02 ellipse 29" descr="sci-ppt:o029"/>
          <p:cNvSpPr/>
          <p:nvPr/>
        </p:nvSpPr>
        <p:spPr>
          <a:xfrm>
            <a:off x="841248" y="1513227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A-E02 text 30" descr="sci-ppt:o030"/>
          <p:cNvSpPr txBox="1"/>
          <p:nvPr/>
        </p:nvSpPr>
        <p:spPr>
          <a:xfrm>
            <a:off x="1051560" y="1860699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at the wall: 36.00 G_g</a:t>
            </a:r>
          </a:p>
        </p:txBody>
      </p:sp>
      <p:sp>
        <p:nvSpPr>
          <p:cNvPr id="33" name="A-E02 text 31" descr="sci-ppt:o031"/>
          <p:cNvSpPr txBox="1"/>
          <p:nvPr/>
        </p:nvSpPr>
        <p:spPr>
          <a:xfrm>
            <a:off x="2938272" y="2418725"/>
            <a:ext cx="3657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stress difference dies off outward (log axis)</a:t>
            </a:r>
          </a:p>
        </p:txBody>
      </p:sp>
      <p:sp>
        <p:nvSpPr>
          <p:cNvPr id="34" name="A-E02 round_rect 32" descr="sci-ppt:o032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-E02 text 33" descr="sci-ppt:o033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Neo-Hookean network</a:t>
            </a:r>
          </a:p>
        </p:txBody>
      </p:sp>
      <p:sp>
        <p:nvSpPr>
          <p:cNvPr id="36" name="A-E02 text 34" descr="sci-ppt:o034"/>
          <p:cNvSpPr txBox="1"/>
          <p:nvPr/>
        </p:nvSpPr>
        <p:spPr>
          <a:xfrm>
            <a:off x="7178040" y="182880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T^e = −χI + G_g B,   B = F Fᵀ</a:t>
            </a:r>
          </a:p>
        </p:txBody>
      </p:sp>
      <p:sp>
        <p:nvSpPr>
          <p:cNvPr id="37" name="A-E02 text 35" descr="sci-ppt:o035"/>
          <p:cNvSpPr txBox="1"/>
          <p:nvPr/>
        </p:nvSpPr>
        <p:spPr>
          <a:xfrm>
            <a:off x="7178040" y="233172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Tᵣᵣ = −χ + G_g λᵣ²,   T_θθ = −χ + G_g λ_θ²</a:t>
            </a:r>
          </a:p>
        </p:txBody>
      </p:sp>
      <p:sp>
        <p:nvSpPr>
          <p:cNvPr id="38" name="A-E02 text 36" descr="sci-ppt:o036"/>
          <p:cNvSpPr txBox="1"/>
          <p:nvPr/>
        </p:nvSpPr>
        <p:spPr>
          <a:xfrm>
            <a:off x="7178040" y="283464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T_θθ − Tᵣᵣ = G_g[(r/r₀)² − (r₀/r)⁴]</a:t>
            </a:r>
          </a:p>
        </p:txBody>
      </p:sp>
      <p:sp>
        <p:nvSpPr>
          <p:cNvPr id="39" name="A-E02 text 37" descr="sci-ppt:o037"/>
          <p:cNvSpPr txBox="1"/>
          <p:nvPr/>
        </p:nvSpPr>
        <p:spPr>
          <a:xfrm>
            <a:off x="7178040" y="342900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unknown pressure χ cancels in the difference.</a:t>
            </a:r>
          </a:p>
        </p:txBody>
      </p:sp>
      <p:sp>
        <p:nvSpPr>
          <p:cNvPr id="40" name="A-E02 text 38" descr="sci-ppt:o038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Only the difference of normal stresses enters the force balance, so χ never has to be found.</a:t>
            </a:r>
          </a:p>
        </p:txBody>
      </p:sp>
      <p:sp>
        <p:nvSpPr>
          <p:cNvPr id="41" name="A-E02 text 39" descr="sci-ppt:o03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Exact subtraction of Eq. A-E02 (R_ref = 5 µm, R = 30 µm).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A-E03 · Static balance defining the elastic resistance</a:t>
            </a:r>
          </a:p>
        </p:txBody>
      </p:sp>
      <p:cxnSp>
        <p:nvCxnSpPr>
          <p:cNvPr id="3" name="A-E03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3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3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3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3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3 line 6" descr="sci-ppt:o006"/>
          <p:cNvCxnSpPr/>
          <p:nvPr/>
        </p:nvCxnSpPr>
        <p:spPr>
          <a:xfrm>
            <a:off x="208483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3 line 7" descr="sci-ppt:o007"/>
          <p:cNvCxnSpPr/>
          <p:nvPr/>
        </p:nvCxnSpPr>
        <p:spPr>
          <a:xfrm>
            <a:off x="208483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3 text 8" descr="sci-ppt:o008"/>
          <p:cNvSpPr txBox="1"/>
          <p:nvPr/>
        </p:nvSpPr>
        <p:spPr>
          <a:xfrm>
            <a:off x="162763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3 line 9" descr="sci-ppt:o009"/>
          <p:cNvCxnSpPr/>
          <p:nvPr/>
        </p:nvCxnSpPr>
        <p:spPr>
          <a:xfrm>
            <a:off x="325526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3 line 10" descr="sci-ppt:o010"/>
          <p:cNvCxnSpPr/>
          <p:nvPr/>
        </p:nvCxnSpPr>
        <p:spPr>
          <a:xfrm>
            <a:off x="325526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3 text 11" descr="sci-ppt:o011"/>
          <p:cNvSpPr txBox="1"/>
          <p:nvPr/>
        </p:nvSpPr>
        <p:spPr>
          <a:xfrm>
            <a:off x="279806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A-E03 line 12" descr="sci-ppt:o012"/>
          <p:cNvCxnSpPr/>
          <p:nvPr/>
        </p:nvCxnSpPr>
        <p:spPr>
          <a:xfrm>
            <a:off x="442569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3 line 13" descr="sci-ppt:o013"/>
          <p:cNvCxnSpPr/>
          <p:nvPr/>
        </p:nvCxnSpPr>
        <p:spPr>
          <a:xfrm>
            <a:off x="442569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3 text 14" descr="sci-ppt:o014"/>
          <p:cNvSpPr txBox="1"/>
          <p:nvPr/>
        </p:nvSpPr>
        <p:spPr>
          <a:xfrm>
            <a:off x="396849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A-E03 line 15" descr="sci-ppt:o015"/>
          <p:cNvCxnSpPr/>
          <p:nvPr/>
        </p:nvCxnSpPr>
        <p:spPr>
          <a:xfrm>
            <a:off x="559612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3 line 16" descr="sci-ppt:o016"/>
          <p:cNvCxnSpPr/>
          <p:nvPr/>
        </p:nvCxnSpPr>
        <p:spPr>
          <a:xfrm>
            <a:off x="559612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3 text 17" descr="sci-ppt:o017"/>
          <p:cNvSpPr txBox="1"/>
          <p:nvPr/>
        </p:nvSpPr>
        <p:spPr>
          <a:xfrm>
            <a:off x="513892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A-E03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3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3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23" name="A-E03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3 line 22" descr="sci-ppt:o022"/>
          <p:cNvCxnSpPr/>
          <p:nvPr/>
        </p:nvCxnSpPr>
        <p:spPr>
          <a:xfrm>
            <a:off x="850392" y="426371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3 line 23" descr="sci-ppt:o023"/>
          <p:cNvCxnSpPr/>
          <p:nvPr/>
        </p:nvCxnSpPr>
        <p:spPr>
          <a:xfrm>
            <a:off x="914400" y="426371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3 text 24" descr="sci-ppt:o024"/>
          <p:cNvSpPr txBox="1"/>
          <p:nvPr/>
        </p:nvSpPr>
        <p:spPr>
          <a:xfrm>
            <a:off x="45720" y="418141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27" name="A-E03 line 25" descr="sci-ppt:o025"/>
          <p:cNvCxnSpPr/>
          <p:nvPr/>
        </p:nvCxnSpPr>
        <p:spPr>
          <a:xfrm>
            <a:off x="850392" y="349823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03 line 26" descr="sci-ppt:o026"/>
          <p:cNvCxnSpPr/>
          <p:nvPr/>
        </p:nvCxnSpPr>
        <p:spPr>
          <a:xfrm>
            <a:off x="914400" y="349823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03 text 27" descr="sci-ppt:o027"/>
          <p:cNvSpPr txBox="1"/>
          <p:nvPr/>
        </p:nvSpPr>
        <p:spPr>
          <a:xfrm>
            <a:off x="45720" y="341593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30" name="A-E03 line 28" descr="sci-ppt:o028"/>
          <p:cNvCxnSpPr/>
          <p:nvPr/>
        </p:nvCxnSpPr>
        <p:spPr>
          <a:xfrm>
            <a:off x="850392" y="273274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03 line 29" descr="sci-ppt:o029"/>
          <p:cNvCxnSpPr/>
          <p:nvPr/>
        </p:nvCxnSpPr>
        <p:spPr>
          <a:xfrm>
            <a:off x="914400" y="2732746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03 text 30" descr="sci-ppt:o030"/>
          <p:cNvSpPr txBox="1"/>
          <p:nvPr/>
        </p:nvSpPr>
        <p:spPr>
          <a:xfrm>
            <a:off x="45720" y="265045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33" name="A-E03 line 31" descr="sci-ppt:o031"/>
          <p:cNvCxnSpPr/>
          <p:nvPr/>
        </p:nvCxnSpPr>
        <p:spPr>
          <a:xfrm>
            <a:off x="850392" y="196726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03 line 32" descr="sci-ppt:o032"/>
          <p:cNvCxnSpPr/>
          <p:nvPr/>
        </p:nvCxnSpPr>
        <p:spPr>
          <a:xfrm>
            <a:off x="914400" y="196726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03 text 33" descr="sci-ppt:o033"/>
          <p:cNvSpPr txBox="1"/>
          <p:nvPr/>
        </p:nvSpPr>
        <p:spPr>
          <a:xfrm>
            <a:off x="45720" y="188496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sp>
        <p:nvSpPr>
          <p:cNvPr id="36" name="A-E03 text 34" descr="sci-ppt:o034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7" name="A-E03 text 35" descr="sci-ppt:o035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integrand × R  (log axis)</a:t>
            </a:r>
          </a:p>
        </p:txBody>
      </p:sp>
      <p:sp>
        <p:nvSpPr>
          <p:cNvPr id="38" name="A-E03 polygon 36" descr="sci-ppt:o036"/>
          <p:cNvSpPr/>
          <p:nvPr/>
        </p:nvSpPr>
        <p:spPr>
          <a:xfrm>
            <a:off x="914400" y="1541428"/>
            <a:ext cx="5852160" cy="3487772"/>
          </a:xfrm>
          <a:custGeom>
            <a:avLst/>
            <a:gdLst/>
            <a:ahLst/>
            <a:cxnLst/>
            <a:rect l="l" t="t" r="r" b="b"/>
            <a:pathLst>
              <a:path w="5852160" h="3487772">
                <a:moveTo>
                  <a:pt x="0" y="0"/>
                </a:moveTo>
                <a:lnTo>
                  <a:pt x="29407" y="630464"/>
                </a:lnTo>
                <a:lnTo>
                  <a:pt x="58815" y="779752"/>
                </a:lnTo>
                <a:lnTo>
                  <a:pt x="88223" y="871860"/>
                </a:lnTo>
                <a:lnTo>
                  <a:pt x="117631" y="940743"/>
                </a:lnTo>
                <a:lnTo>
                  <a:pt x="147039" y="997175"/>
                </a:lnTo>
                <a:lnTo>
                  <a:pt x="176447" y="1045903"/>
                </a:lnTo>
                <a:lnTo>
                  <a:pt x="205854" y="1089414"/>
                </a:lnTo>
                <a:lnTo>
                  <a:pt x="235262" y="1129159"/>
                </a:lnTo>
                <a:lnTo>
                  <a:pt x="264670" y="1166049"/>
                </a:lnTo>
                <a:lnTo>
                  <a:pt x="294078" y="1200693"/>
                </a:lnTo>
                <a:lnTo>
                  <a:pt x="323486" y="1233513"/>
                </a:lnTo>
                <a:lnTo>
                  <a:pt x="352894" y="1264814"/>
                </a:lnTo>
                <a:lnTo>
                  <a:pt x="382301" y="1294824"/>
                </a:lnTo>
                <a:lnTo>
                  <a:pt x="411709" y="1323717"/>
                </a:lnTo>
                <a:lnTo>
                  <a:pt x="441117" y="1351627"/>
                </a:lnTo>
                <a:lnTo>
                  <a:pt x="470525" y="1378663"/>
                </a:lnTo>
                <a:lnTo>
                  <a:pt x="499933" y="1404912"/>
                </a:lnTo>
                <a:lnTo>
                  <a:pt x="529341" y="1430445"/>
                </a:lnTo>
                <a:lnTo>
                  <a:pt x="558748" y="1455324"/>
                </a:lnTo>
                <a:lnTo>
                  <a:pt x="588156" y="1479598"/>
                </a:lnTo>
                <a:lnTo>
                  <a:pt x="617564" y="1503312"/>
                </a:lnTo>
                <a:lnTo>
                  <a:pt x="646972" y="1526502"/>
                </a:lnTo>
                <a:lnTo>
                  <a:pt x="676380" y="1549201"/>
                </a:lnTo>
                <a:lnTo>
                  <a:pt x="705788" y="1571439"/>
                </a:lnTo>
                <a:lnTo>
                  <a:pt x="735195" y="1593240"/>
                </a:lnTo>
                <a:lnTo>
                  <a:pt x="764603" y="1614628"/>
                </a:lnTo>
                <a:lnTo>
                  <a:pt x="794011" y="1635622"/>
                </a:lnTo>
                <a:lnTo>
                  <a:pt x="823419" y="1656243"/>
                </a:lnTo>
                <a:lnTo>
                  <a:pt x="852827" y="1676506"/>
                </a:lnTo>
                <a:lnTo>
                  <a:pt x="882235" y="1696427"/>
                </a:lnTo>
                <a:lnTo>
                  <a:pt x="911643" y="1716019"/>
                </a:lnTo>
                <a:lnTo>
                  <a:pt x="941050" y="1735297"/>
                </a:lnTo>
                <a:lnTo>
                  <a:pt x="970458" y="1754272"/>
                </a:lnTo>
                <a:lnTo>
                  <a:pt x="999866" y="1772956"/>
                </a:lnTo>
                <a:lnTo>
                  <a:pt x="1029274" y="1791358"/>
                </a:lnTo>
                <a:lnTo>
                  <a:pt x="1058682" y="1809489"/>
                </a:lnTo>
                <a:lnTo>
                  <a:pt x="1088090" y="1827358"/>
                </a:lnTo>
                <a:lnTo>
                  <a:pt x="1117497" y="1844973"/>
                </a:lnTo>
                <a:lnTo>
                  <a:pt x="1146905" y="1862343"/>
                </a:lnTo>
                <a:lnTo>
                  <a:pt x="1176313" y="1879475"/>
                </a:lnTo>
                <a:lnTo>
                  <a:pt x="1205721" y="1896376"/>
                </a:lnTo>
                <a:lnTo>
                  <a:pt x="1235129" y="1913054"/>
                </a:lnTo>
                <a:lnTo>
                  <a:pt x="1264537" y="1929514"/>
                </a:lnTo>
                <a:lnTo>
                  <a:pt x="1293944" y="1945762"/>
                </a:lnTo>
                <a:lnTo>
                  <a:pt x="1323352" y="1961806"/>
                </a:lnTo>
                <a:lnTo>
                  <a:pt x="1352760" y="1977650"/>
                </a:lnTo>
                <a:lnTo>
                  <a:pt x="1382168" y="1993300"/>
                </a:lnTo>
                <a:lnTo>
                  <a:pt x="1411576" y="2008760"/>
                </a:lnTo>
                <a:lnTo>
                  <a:pt x="1440984" y="2024036"/>
                </a:lnTo>
                <a:lnTo>
                  <a:pt x="1470391" y="2039132"/>
                </a:lnTo>
                <a:lnTo>
                  <a:pt x="1499799" y="2054053"/>
                </a:lnTo>
                <a:lnTo>
                  <a:pt x="1529207" y="2068802"/>
                </a:lnTo>
                <a:lnTo>
                  <a:pt x="1558615" y="2083385"/>
                </a:lnTo>
                <a:lnTo>
                  <a:pt x="1588023" y="2097806"/>
                </a:lnTo>
                <a:lnTo>
                  <a:pt x="1617431" y="2112067"/>
                </a:lnTo>
                <a:lnTo>
                  <a:pt x="1646838" y="2126172"/>
                </a:lnTo>
                <a:lnTo>
                  <a:pt x="1676246" y="2140126"/>
                </a:lnTo>
                <a:lnTo>
                  <a:pt x="1705654" y="2153931"/>
                </a:lnTo>
                <a:lnTo>
                  <a:pt x="1735062" y="2167591"/>
                </a:lnTo>
                <a:lnTo>
                  <a:pt x="1764470" y="2181108"/>
                </a:lnTo>
                <a:lnTo>
                  <a:pt x="1793878" y="2194487"/>
                </a:lnTo>
                <a:lnTo>
                  <a:pt x="1823286" y="2207729"/>
                </a:lnTo>
                <a:lnTo>
                  <a:pt x="1852693" y="2220839"/>
                </a:lnTo>
                <a:lnTo>
                  <a:pt x="1882101" y="2233818"/>
                </a:lnTo>
                <a:lnTo>
                  <a:pt x="1911509" y="2246668"/>
                </a:lnTo>
                <a:lnTo>
                  <a:pt x="1940917" y="2259394"/>
                </a:lnTo>
                <a:lnTo>
                  <a:pt x="1970325" y="2271997"/>
                </a:lnTo>
                <a:lnTo>
                  <a:pt x="1999733" y="2284480"/>
                </a:lnTo>
                <a:lnTo>
                  <a:pt x="2029140" y="2296844"/>
                </a:lnTo>
                <a:lnTo>
                  <a:pt x="2058548" y="2309093"/>
                </a:lnTo>
                <a:lnTo>
                  <a:pt x="2087956" y="2321229"/>
                </a:lnTo>
                <a:lnTo>
                  <a:pt x="2117364" y="2333253"/>
                </a:lnTo>
                <a:lnTo>
                  <a:pt x="2146772" y="2345167"/>
                </a:lnTo>
                <a:lnTo>
                  <a:pt x="2176180" y="2356975"/>
                </a:lnTo>
                <a:lnTo>
                  <a:pt x="2205587" y="2368677"/>
                </a:lnTo>
                <a:lnTo>
                  <a:pt x="2234995" y="2380276"/>
                </a:lnTo>
                <a:lnTo>
                  <a:pt x="2264403" y="2391773"/>
                </a:lnTo>
                <a:lnTo>
                  <a:pt x="2293811" y="2403170"/>
                </a:lnTo>
                <a:lnTo>
                  <a:pt x="2323219" y="2414470"/>
                </a:lnTo>
                <a:lnTo>
                  <a:pt x="2352627" y="2425673"/>
                </a:lnTo>
                <a:lnTo>
                  <a:pt x="2382034" y="2436781"/>
                </a:lnTo>
                <a:lnTo>
                  <a:pt x="2411442" y="2447797"/>
                </a:lnTo>
                <a:lnTo>
                  <a:pt x="2440850" y="2458721"/>
                </a:lnTo>
                <a:lnTo>
                  <a:pt x="2470258" y="2469555"/>
                </a:lnTo>
                <a:lnTo>
                  <a:pt x="2499666" y="2480300"/>
                </a:lnTo>
                <a:lnTo>
                  <a:pt x="2529074" y="2490959"/>
                </a:lnTo>
                <a:lnTo>
                  <a:pt x="2558482" y="2501532"/>
                </a:lnTo>
                <a:lnTo>
                  <a:pt x="2587889" y="2512021"/>
                </a:lnTo>
                <a:lnTo>
                  <a:pt x="2617297" y="2522427"/>
                </a:lnTo>
                <a:lnTo>
                  <a:pt x="2646705" y="2532752"/>
                </a:lnTo>
                <a:lnTo>
                  <a:pt x="2676113" y="2542996"/>
                </a:lnTo>
                <a:lnTo>
                  <a:pt x="2705521" y="2553162"/>
                </a:lnTo>
                <a:lnTo>
                  <a:pt x="2734929" y="2563250"/>
                </a:lnTo>
                <a:lnTo>
                  <a:pt x="2764336" y="2573261"/>
                </a:lnTo>
                <a:lnTo>
                  <a:pt x="2793744" y="2583197"/>
                </a:lnTo>
                <a:lnTo>
                  <a:pt x="2823152" y="2593058"/>
                </a:lnTo>
                <a:lnTo>
                  <a:pt x="2852560" y="2602847"/>
                </a:lnTo>
                <a:lnTo>
                  <a:pt x="2881968" y="2612563"/>
                </a:lnTo>
                <a:lnTo>
                  <a:pt x="2911376" y="2622209"/>
                </a:lnTo>
                <a:lnTo>
                  <a:pt x="2940783" y="2631784"/>
                </a:lnTo>
                <a:lnTo>
                  <a:pt x="2970191" y="2641291"/>
                </a:lnTo>
                <a:lnTo>
                  <a:pt x="2999599" y="2650730"/>
                </a:lnTo>
                <a:lnTo>
                  <a:pt x="3029007" y="2660102"/>
                </a:lnTo>
                <a:lnTo>
                  <a:pt x="3058415" y="2669407"/>
                </a:lnTo>
                <a:lnTo>
                  <a:pt x="3087823" y="2678648"/>
                </a:lnTo>
                <a:lnTo>
                  <a:pt x="3117230" y="2687825"/>
                </a:lnTo>
                <a:lnTo>
                  <a:pt x="3146638" y="2696938"/>
                </a:lnTo>
                <a:lnTo>
                  <a:pt x="3176046" y="2705989"/>
                </a:lnTo>
                <a:lnTo>
                  <a:pt x="3205454" y="2714979"/>
                </a:lnTo>
                <a:lnTo>
                  <a:pt x="3234862" y="2723908"/>
                </a:lnTo>
                <a:lnTo>
                  <a:pt x="3264270" y="2732777"/>
                </a:lnTo>
                <a:lnTo>
                  <a:pt x="3293677" y="2741587"/>
                </a:lnTo>
                <a:lnTo>
                  <a:pt x="3323085" y="2750338"/>
                </a:lnTo>
                <a:lnTo>
                  <a:pt x="3352493" y="2759032"/>
                </a:lnTo>
                <a:lnTo>
                  <a:pt x="3381901" y="2767670"/>
                </a:lnTo>
                <a:lnTo>
                  <a:pt x="3411309" y="2776251"/>
                </a:lnTo>
                <a:lnTo>
                  <a:pt x="3440717" y="2784777"/>
                </a:lnTo>
                <a:lnTo>
                  <a:pt x="3470125" y="2793249"/>
                </a:lnTo>
                <a:lnTo>
                  <a:pt x="3499532" y="2801667"/>
                </a:lnTo>
                <a:lnTo>
                  <a:pt x="3528940" y="2810031"/>
                </a:lnTo>
                <a:lnTo>
                  <a:pt x="3558348" y="2818343"/>
                </a:lnTo>
                <a:lnTo>
                  <a:pt x="3587756" y="2826603"/>
                </a:lnTo>
                <a:lnTo>
                  <a:pt x="3617164" y="2834812"/>
                </a:lnTo>
                <a:lnTo>
                  <a:pt x="3646572" y="2842971"/>
                </a:lnTo>
                <a:lnTo>
                  <a:pt x="3675979" y="2851079"/>
                </a:lnTo>
                <a:lnTo>
                  <a:pt x="3705387" y="2859138"/>
                </a:lnTo>
                <a:lnTo>
                  <a:pt x="3734795" y="2867149"/>
                </a:lnTo>
                <a:lnTo>
                  <a:pt x="3764203" y="2875111"/>
                </a:lnTo>
                <a:lnTo>
                  <a:pt x="3793611" y="2883026"/>
                </a:lnTo>
                <a:lnTo>
                  <a:pt x="3823019" y="2890893"/>
                </a:lnTo>
                <a:lnTo>
                  <a:pt x="3852426" y="2898715"/>
                </a:lnTo>
                <a:lnTo>
                  <a:pt x="3881834" y="2906490"/>
                </a:lnTo>
                <a:lnTo>
                  <a:pt x="3911242" y="2914220"/>
                </a:lnTo>
                <a:lnTo>
                  <a:pt x="3940650" y="2921905"/>
                </a:lnTo>
                <a:lnTo>
                  <a:pt x="3970058" y="2929546"/>
                </a:lnTo>
                <a:lnTo>
                  <a:pt x="3999466" y="2937144"/>
                </a:lnTo>
                <a:lnTo>
                  <a:pt x="4028873" y="2944697"/>
                </a:lnTo>
                <a:lnTo>
                  <a:pt x="4058281" y="2952208"/>
                </a:lnTo>
                <a:lnTo>
                  <a:pt x="4087689" y="2959677"/>
                </a:lnTo>
                <a:lnTo>
                  <a:pt x="4117097" y="2967104"/>
                </a:lnTo>
                <a:lnTo>
                  <a:pt x="4146505" y="2974490"/>
                </a:lnTo>
                <a:lnTo>
                  <a:pt x="4175913" y="2981834"/>
                </a:lnTo>
                <a:lnTo>
                  <a:pt x="4205321" y="2989138"/>
                </a:lnTo>
                <a:lnTo>
                  <a:pt x="4234728" y="2996403"/>
                </a:lnTo>
                <a:lnTo>
                  <a:pt x="4264136" y="3003627"/>
                </a:lnTo>
                <a:lnTo>
                  <a:pt x="4293544" y="3010813"/>
                </a:lnTo>
                <a:lnTo>
                  <a:pt x="4322952" y="3017959"/>
                </a:lnTo>
                <a:lnTo>
                  <a:pt x="4352360" y="3025068"/>
                </a:lnTo>
                <a:lnTo>
                  <a:pt x="4381768" y="3032138"/>
                </a:lnTo>
                <a:lnTo>
                  <a:pt x="4411175" y="3039172"/>
                </a:lnTo>
                <a:lnTo>
                  <a:pt x="4440583" y="3046167"/>
                </a:lnTo>
                <a:lnTo>
                  <a:pt x="4469991" y="3053127"/>
                </a:lnTo>
                <a:lnTo>
                  <a:pt x="4499399" y="3060050"/>
                </a:lnTo>
                <a:lnTo>
                  <a:pt x="4528807" y="3066937"/>
                </a:lnTo>
                <a:lnTo>
                  <a:pt x="4558215" y="3073788"/>
                </a:lnTo>
                <a:lnTo>
                  <a:pt x="4587622" y="3080604"/>
                </a:lnTo>
                <a:lnTo>
                  <a:pt x="4617030" y="3087386"/>
                </a:lnTo>
                <a:lnTo>
                  <a:pt x="4646438" y="3094133"/>
                </a:lnTo>
                <a:lnTo>
                  <a:pt x="4675846" y="3100846"/>
                </a:lnTo>
                <a:lnTo>
                  <a:pt x="4705254" y="3107525"/>
                </a:lnTo>
                <a:lnTo>
                  <a:pt x="4734662" y="3114170"/>
                </a:lnTo>
                <a:lnTo>
                  <a:pt x="4764069" y="3120783"/>
                </a:lnTo>
                <a:lnTo>
                  <a:pt x="4793477" y="3127362"/>
                </a:lnTo>
                <a:lnTo>
                  <a:pt x="4822885" y="3133910"/>
                </a:lnTo>
                <a:lnTo>
                  <a:pt x="4852293" y="3140425"/>
                </a:lnTo>
                <a:lnTo>
                  <a:pt x="4881701" y="3146908"/>
                </a:lnTo>
                <a:lnTo>
                  <a:pt x="4911109" y="3153360"/>
                </a:lnTo>
                <a:lnTo>
                  <a:pt x="4940516" y="3159780"/>
                </a:lnTo>
                <a:lnTo>
                  <a:pt x="4969924" y="3166170"/>
                </a:lnTo>
                <a:lnTo>
                  <a:pt x="4999332" y="3172529"/>
                </a:lnTo>
                <a:lnTo>
                  <a:pt x="5028740" y="3178858"/>
                </a:lnTo>
                <a:lnTo>
                  <a:pt x="5058148" y="3185156"/>
                </a:lnTo>
                <a:lnTo>
                  <a:pt x="5087556" y="3191425"/>
                </a:lnTo>
                <a:lnTo>
                  <a:pt x="5116964" y="3197665"/>
                </a:lnTo>
                <a:lnTo>
                  <a:pt x="5146371" y="3203875"/>
                </a:lnTo>
                <a:lnTo>
                  <a:pt x="5175779" y="3210056"/>
                </a:lnTo>
                <a:lnTo>
                  <a:pt x="5205187" y="3216209"/>
                </a:lnTo>
                <a:lnTo>
                  <a:pt x="5234595" y="3222333"/>
                </a:lnTo>
                <a:lnTo>
                  <a:pt x="5264003" y="3228430"/>
                </a:lnTo>
                <a:lnTo>
                  <a:pt x="5293411" y="3234498"/>
                </a:lnTo>
                <a:lnTo>
                  <a:pt x="5322818" y="3240539"/>
                </a:lnTo>
                <a:lnTo>
                  <a:pt x="5352226" y="3246552"/>
                </a:lnTo>
                <a:lnTo>
                  <a:pt x="5381634" y="3252538"/>
                </a:lnTo>
                <a:lnTo>
                  <a:pt x="5411042" y="3258498"/>
                </a:lnTo>
                <a:lnTo>
                  <a:pt x="5440450" y="3264430"/>
                </a:lnTo>
                <a:lnTo>
                  <a:pt x="5469858" y="3270337"/>
                </a:lnTo>
                <a:lnTo>
                  <a:pt x="5499265" y="3276217"/>
                </a:lnTo>
                <a:lnTo>
                  <a:pt x="5528673" y="3282071"/>
                </a:lnTo>
                <a:lnTo>
                  <a:pt x="5558081" y="3287900"/>
                </a:lnTo>
                <a:lnTo>
                  <a:pt x="5587489" y="3293703"/>
                </a:lnTo>
                <a:lnTo>
                  <a:pt x="5616897" y="3299481"/>
                </a:lnTo>
                <a:lnTo>
                  <a:pt x="5646305" y="3305234"/>
                </a:lnTo>
                <a:lnTo>
                  <a:pt x="5675712" y="3310962"/>
                </a:lnTo>
                <a:lnTo>
                  <a:pt x="5705120" y="3316665"/>
                </a:lnTo>
                <a:lnTo>
                  <a:pt x="5734528" y="3322344"/>
                </a:lnTo>
                <a:lnTo>
                  <a:pt x="5763936" y="3327999"/>
                </a:lnTo>
                <a:lnTo>
                  <a:pt x="5793344" y="3333630"/>
                </a:lnTo>
                <a:lnTo>
                  <a:pt x="5822752" y="3339237"/>
                </a:lnTo>
                <a:lnTo>
                  <a:pt x="5852160" y="3344821"/>
                </a:lnTo>
                <a:lnTo>
                  <a:pt x="5852160" y="3487772"/>
                </a:lnTo>
                <a:lnTo>
                  <a:pt x="5822752" y="3487772"/>
                </a:lnTo>
                <a:lnTo>
                  <a:pt x="5793344" y="3487772"/>
                </a:lnTo>
                <a:lnTo>
                  <a:pt x="5763936" y="3487772"/>
                </a:lnTo>
                <a:lnTo>
                  <a:pt x="5734528" y="3487772"/>
                </a:lnTo>
                <a:lnTo>
                  <a:pt x="5705120" y="3487772"/>
                </a:lnTo>
                <a:lnTo>
                  <a:pt x="5675712" y="3487772"/>
                </a:lnTo>
                <a:lnTo>
                  <a:pt x="5646305" y="3487772"/>
                </a:lnTo>
                <a:lnTo>
                  <a:pt x="5616897" y="3487772"/>
                </a:lnTo>
                <a:lnTo>
                  <a:pt x="5587489" y="3487772"/>
                </a:lnTo>
                <a:lnTo>
                  <a:pt x="5558081" y="3487772"/>
                </a:lnTo>
                <a:lnTo>
                  <a:pt x="5528673" y="3487772"/>
                </a:lnTo>
                <a:lnTo>
                  <a:pt x="5499265" y="3487772"/>
                </a:lnTo>
                <a:lnTo>
                  <a:pt x="5469858" y="3487772"/>
                </a:lnTo>
                <a:lnTo>
                  <a:pt x="5440450" y="3487772"/>
                </a:lnTo>
                <a:lnTo>
                  <a:pt x="5411042" y="3487772"/>
                </a:lnTo>
                <a:lnTo>
                  <a:pt x="5381634" y="3487772"/>
                </a:lnTo>
                <a:lnTo>
                  <a:pt x="5352226" y="3487772"/>
                </a:lnTo>
                <a:lnTo>
                  <a:pt x="5322818" y="3487772"/>
                </a:lnTo>
                <a:lnTo>
                  <a:pt x="5293411" y="3487772"/>
                </a:lnTo>
                <a:lnTo>
                  <a:pt x="5264003" y="3487772"/>
                </a:lnTo>
                <a:lnTo>
                  <a:pt x="5234595" y="3487772"/>
                </a:lnTo>
                <a:lnTo>
                  <a:pt x="5205187" y="3487772"/>
                </a:lnTo>
                <a:lnTo>
                  <a:pt x="5175779" y="3487772"/>
                </a:lnTo>
                <a:lnTo>
                  <a:pt x="5146371" y="3487772"/>
                </a:lnTo>
                <a:lnTo>
                  <a:pt x="5116964" y="3487772"/>
                </a:lnTo>
                <a:lnTo>
                  <a:pt x="5087556" y="3487772"/>
                </a:lnTo>
                <a:lnTo>
                  <a:pt x="5058148" y="3487772"/>
                </a:lnTo>
                <a:lnTo>
                  <a:pt x="5028740" y="3487772"/>
                </a:lnTo>
                <a:lnTo>
                  <a:pt x="4999332" y="3487772"/>
                </a:lnTo>
                <a:lnTo>
                  <a:pt x="4969924" y="3487772"/>
                </a:lnTo>
                <a:lnTo>
                  <a:pt x="4940516" y="3487772"/>
                </a:lnTo>
                <a:lnTo>
                  <a:pt x="4911109" y="3487772"/>
                </a:lnTo>
                <a:lnTo>
                  <a:pt x="4881701" y="3487772"/>
                </a:lnTo>
                <a:lnTo>
                  <a:pt x="4852293" y="3487772"/>
                </a:lnTo>
                <a:lnTo>
                  <a:pt x="4822885" y="3487772"/>
                </a:lnTo>
                <a:lnTo>
                  <a:pt x="4793477" y="3487772"/>
                </a:lnTo>
                <a:lnTo>
                  <a:pt x="4764069" y="3487772"/>
                </a:lnTo>
                <a:lnTo>
                  <a:pt x="4734662" y="3487772"/>
                </a:lnTo>
                <a:lnTo>
                  <a:pt x="4705254" y="3487772"/>
                </a:lnTo>
                <a:lnTo>
                  <a:pt x="4675846" y="3487772"/>
                </a:lnTo>
                <a:lnTo>
                  <a:pt x="4646438" y="3487772"/>
                </a:lnTo>
                <a:lnTo>
                  <a:pt x="4617030" y="3487772"/>
                </a:lnTo>
                <a:lnTo>
                  <a:pt x="4587622" y="3487772"/>
                </a:lnTo>
                <a:lnTo>
                  <a:pt x="4558215" y="3487772"/>
                </a:lnTo>
                <a:lnTo>
                  <a:pt x="4528807" y="3487772"/>
                </a:lnTo>
                <a:lnTo>
                  <a:pt x="4499399" y="3487772"/>
                </a:lnTo>
                <a:lnTo>
                  <a:pt x="4469991" y="3487772"/>
                </a:lnTo>
                <a:lnTo>
                  <a:pt x="4440583" y="3487772"/>
                </a:lnTo>
                <a:lnTo>
                  <a:pt x="4411175" y="3487772"/>
                </a:lnTo>
                <a:lnTo>
                  <a:pt x="4381768" y="3487772"/>
                </a:lnTo>
                <a:lnTo>
                  <a:pt x="4352360" y="3487772"/>
                </a:lnTo>
                <a:lnTo>
                  <a:pt x="4322952" y="3487772"/>
                </a:lnTo>
                <a:lnTo>
                  <a:pt x="4293544" y="3487772"/>
                </a:lnTo>
                <a:lnTo>
                  <a:pt x="4264136" y="3487772"/>
                </a:lnTo>
                <a:lnTo>
                  <a:pt x="4234728" y="3487772"/>
                </a:lnTo>
                <a:lnTo>
                  <a:pt x="4205321" y="3487772"/>
                </a:lnTo>
                <a:lnTo>
                  <a:pt x="4175913" y="3487772"/>
                </a:lnTo>
                <a:lnTo>
                  <a:pt x="4146505" y="3487772"/>
                </a:lnTo>
                <a:lnTo>
                  <a:pt x="4117097" y="3487772"/>
                </a:lnTo>
                <a:lnTo>
                  <a:pt x="4087689" y="3487772"/>
                </a:lnTo>
                <a:lnTo>
                  <a:pt x="4058281" y="3487772"/>
                </a:lnTo>
                <a:lnTo>
                  <a:pt x="4028873" y="3487772"/>
                </a:lnTo>
                <a:lnTo>
                  <a:pt x="3999466" y="3487772"/>
                </a:lnTo>
                <a:lnTo>
                  <a:pt x="3970058" y="3487772"/>
                </a:lnTo>
                <a:lnTo>
                  <a:pt x="3940650" y="3487772"/>
                </a:lnTo>
                <a:lnTo>
                  <a:pt x="3911242" y="3487772"/>
                </a:lnTo>
                <a:lnTo>
                  <a:pt x="3881834" y="3487772"/>
                </a:lnTo>
                <a:lnTo>
                  <a:pt x="3852426" y="3487772"/>
                </a:lnTo>
                <a:lnTo>
                  <a:pt x="3823019" y="3487772"/>
                </a:lnTo>
                <a:lnTo>
                  <a:pt x="3793611" y="3487772"/>
                </a:lnTo>
                <a:lnTo>
                  <a:pt x="3764203" y="3487772"/>
                </a:lnTo>
                <a:lnTo>
                  <a:pt x="3734795" y="3487772"/>
                </a:lnTo>
                <a:lnTo>
                  <a:pt x="3705387" y="3487772"/>
                </a:lnTo>
                <a:lnTo>
                  <a:pt x="3675979" y="3487772"/>
                </a:lnTo>
                <a:lnTo>
                  <a:pt x="3646572" y="3487772"/>
                </a:lnTo>
                <a:lnTo>
                  <a:pt x="3617164" y="3487772"/>
                </a:lnTo>
                <a:lnTo>
                  <a:pt x="3587756" y="3487772"/>
                </a:lnTo>
                <a:lnTo>
                  <a:pt x="3558348" y="3487772"/>
                </a:lnTo>
                <a:lnTo>
                  <a:pt x="3528940" y="3487772"/>
                </a:lnTo>
                <a:lnTo>
                  <a:pt x="3499532" y="3487772"/>
                </a:lnTo>
                <a:lnTo>
                  <a:pt x="3470125" y="3487772"/>
                </a:lnTo>
                <a:lnTo>
                  <a:pt x="3440717" y="3487772"/>
                </a:lnTo>
                <a:lnTo>
                  <a:pt x="3411309" y="3487772"/>
                </a:lnTo>
                <a:lnTo>
                  <a:pt x="3381901" y="3487772"/>
                </a:lnTo>
                <a:lnTo>
                  <a:pt x="3352493" y="3487772"/>
                </a:lnTo>
                <a:lnTo>
                  <a:pt x="3323085" y="3487772"/>
                </a:lnTo>
                <a:lnTo>
                  <a:pt x="3293677" y="3487772"/>
                </a:lnTo>
                <a:lnTo>
                  <a:pt x="3264270" y="3487772"/>
                </a:lnTo>
                <a:lnTo>
                  <a:pt x="3234862" y="3487772"/>
                </a:lnTo>
                <a:lnTo>
                  <a:pt x="3205454" y="3487772"/>
                </a:lnTo>
                <a:lnTo>
                  <a:pt x="3176046" y="3487772"/>
                </a:lnTo>
                <a:lnTo>
                  <a:pt x="3146638" y="3487772"/>
                </a:lnTo>
                <a:lnTo>
                  <a:pt x="3117230" y="3487772"/>
                </a:lnTo>
                <a:lnTo>
                  <a:pt x="3087823" y="3487772"/>
                </a:lnTo>
                <a:lnTo>
                  <a:pt x="3058415" y="3487772"/>
                </a:lnTo>
                <a:lnTo>
                  <a:pt x="3029007" y="3487772"/>
                </a:lnTo>
                <a:lnTo>
                  <a:pt x="2999599" y="3487772"/>
                </a:lnTo>
                <a:lnTo>
                  <a:pt x="2970191" y="3487772"/>
                </a:lnTo>
                <a:lnTo>
                  <a:pt x="2940783" y="3487772"/>
                </a:lnTo>
                <a:lnTo>
                  <a:pt x="2911376" y="3487772"/>
                </a:lnTo>
                <a:lnTo>
                  <a:pt x="2881968" y="3487772"/>
                </a:lnTo>
                <a:lnTo>
                  <a:pt x="2852560" y="3487772"/>
                </a:lnTo>
                <a:lnTo>
                  <a:pt x="2823152" y="3487772"/>
                </a:lnTo>
                <a:lnTo>
                  <a:pt x="2793744" y="3487772"/>
                </a:lnTo>
                <a:lnTo>
                  <a:pt x="2764336" y="3487772"/>
                </a:lnTo>
                <a:lnTo>
                  <a:pt x="2734929" y="3487772"/>
                </a:lnTo>
                <a:lnTo>
                  <a:pt x="2705521" y="3487772"/>
                </a:lnTo>
                <a:lnTo>
                  <a:pt x="2676113" y="3487772"/>
                </a:lnTo>
                <a:lnTo>
                  <a:pt x="2646705" y="3487772"/>
                </a:lnTo>
                <a:lnTo>
                  <a:pt x="2617297" y="3487772"/>
                </a:lnTo>
                <a:lnTo>
                  <a:pt x="2587889" y="3487772"/>
                </a:lnTo>
                <a:lnTo>
                  <a:pt x="2558482" y="3487772"/>
                </a:lnTo>
                <a:lnTo>
                  <a:pt x="2529074" y="3487772"/>
                </a:lnTo>
                <a:lnTo>
                  <a:pt x="2499666" y="3487772"/>
                </a:lnTo>
                <a:lnTo>
                  <a:pt x="2470258" y="3487772"/>
                </a:lnTo>
                <a:lnTo>
                  <a:pt x="2440850" y="3487772"/>
                </a:lnTo>
                <a:lnTo>
                  <a:pt x="2411442" y="3487772"/>
                </a:lnTo>
                <a:lnTo>
                  <a:pt x="2382034" y="3487772"/>
                </a:lnTo>
                <a:lnTo>
                  <a:pt x="2352627" y="3487772"/>
                </a:lnTo>
                <a:lnTo>
                  <a:pt x="2323219" y="3487772"/>
                </a:lnTo>
                <a:lnTo>
                  <a:pt x="2293811" y="3487772"/>
                </a:lnTo>
                <a:lnTo>
                  <a:pt x="2264403" y="3487772"/>
                </a:lnTo>
                <a:lnTo>
                  <a:pt x="2234995" y="3487772"/>
                </a:lnTo>
                <a:lnTo>
                  <a:pt x="2205587" y="3487772"/>
                </a:lnTo>
                <a:lnTo>
                  <a:pt x="2176180" y="3487772"/>
                </a:lnTo>
                <a:lnTo>
                  <a:pt x="2146772" y="3487772"/>
                </a:lnTo>
                <a:lnTo>
                  <a:pt x="2117364" y="3487772"/>
                </a:lnTo>
                <a:lnTo>
                  <a:pt x="2087956" y="3487772"/>
                </a:lnTo>
                <a:lnTo>
                  <a:pt x="2058548" y="3487772"/>
                </a:lnTo>
                <a:lnTo>
                  <a:pt x="2029140" y="3487772"/>
                </a:lnTo>
                <a:lnTo>
                  <a:pt x="1999733" y="3487772"/>
                </a:lnTo>
                <a:lnTo>
                  <a:pt x="1970325" y="3487772"/>
                </a:lnTo>
                <a:lnTo>
                  <a:pt x="1940917" y="3487772"/>
                </a:lnTo>
                <a:lnTo>
                  <a:pt x="1911509" y="3487772"/>
                </a:lnTo>
                <a:lnTo>
                  <a:pt x="1882101" y="3487772"/>
                </a:lnTo>
                <a:lnTo>
                  <a:pt x="1852693" y="3487772"/>
                </a:lnTo>
                <a:lnTo>
                  <a:pt x="1823286" y="3487772"/>
                </a:lnTo>
                <a:lnTo>
                  <a:pt x="1793878" y="3487772"/>
                </a:lnTo>
                <a:lnTo>
                  <a:pt x="1764470" y="3487772"/>
                </a:lnTo>
                <a:lnTo>
                  <a:pt x="1735062" y="3487772"/>
                </a:lnTo>
                <a:lnTo>
                  <a:pt x="1705654" y="3487772"/>
                </a:lnTo>
                <a:lnTo>
                  <a:pt x="1676246" y="3487772"/>
                </a:lnTo>
                <a:lnTo>
                  <a:pt x="1646838" y="3487772"/>
                </a:lnTo>
                <a:lnTo>
                  <a:pt x="1617431" y="3487772"/>
                </a:lnTo>
                <a:lnTo>
                  <a:pt x="1588023" y="3487772"/>
                </a:lnTo>
                <a:lnTo>
                  <a:pt x="1558615" y="3487772"/>
                </a:lnTo>
                <a:lnTo>
                  <a:pt x="1529207" y="3487772"/>
                </a:lnTo>
                <a:lnTo>
                  <a:pt x="1499799" y="3487772"/>
                </a:lnTo>
                <a:lnTo>
                  <a:pt x="1470391" y="3487772"/>
                </a:lnTo>
                <a:lnTo>
                  <a:pt x="1440984" y="3487772"/>
                </a:lnTo>
                <a:lnTo>
                  <a:pt x="1411576" y="3487772"/>
                </a:lnTo>
                <a:lnTo>
                  <a:pt x="1382168" y="3487772"/>
                </a:lnTo>
                <a:lnTo>
                  <a:pt x="1352760" y="3487772"/>
                </a:lnTo>
                <a:lnTo>
                  <a:pt x="1323352" y="3487772"/>
                </a:lnTo>
                <a:lnTo>
                  <a:pt x="1293944" y="3487772"/>
                </a:lnTo>
                <a:lnTo>
                  <a:pt x="1264537" y="3487772"/>
                </a:lnTo>
                <a:lnTo>
                  <a:pt x="1235129" y="3487772"/>
                </a:lnTo>
                <a:lnTo>
                  <a:pt x="1205721" y="3487772"/>
                </a:lnTo>
                <a:lnTo>
                  <a:pt x="1176313" y="3487772"/>
                </a:lnTo>
                <a:lnTo>
                  <a:pt x="1146905" y="3487772"/>
                </a:lnTo>
                <a:lnTo>
                  <a:pt x="1117497" y="3487772"/>
                </a:lnTo>
                <a:lnTo>
                  <a:pt x="1088090" y="3487772"/>
                </a:lnTo>
                <a:lnTo>
                  <a:pt x="1058682" y="3487772"/>
                </a:lnTo>
                <a:lnTo>
                  <a:pt x="1029274" y="3487772"/>
                </a:lnTo>
                <a:lnTo>
                  <a:pt x="999866" y="3487772"/>
                </a:lnTo>
                <a:lnTo>
                  <a:pt x="970458" y="3487772"/>
                </a:lnTo>
                <a:lnTo>
                  <a:pt x="941050" y="3487772"/>
                </a:lnTo>
                <a:lnTo>
                  <a:pt x="911643" y="3487772"/>
                </a:lnTo>
                <a:lnTo>
                  <a:pt x="882235" y="3487772"/>
                </a:lnTo>
                <a:lnTo>
                  <a:pt x="852827" y="3487772"/>
                </a:lnTo>
                <a:lnTo>
                  <a:pt x="823419" y="3487772"/>
                </a:lnTo>
                <a:lnTo>
                  <a:pt x="794011" y="3487772"/>
                </a:lnTo>
                <a:lnTo>
                  <a:pt x="764603" y="3487772"/>
                </a:lnTo>
                <a:lnTo>
                  <a:pt x="735195" y="3487772"/>
                </a:lnTo>
                <a:lnTo>
                  <a:pt x="705788" y="3487772"/>
                </a:lnTo>
                <a:lnTo>
                  <a:pt x="676380" y="3487772"/>
                </a:lnTo>
                <a:lnTo>
                  <a:pt x="646972" y="3487772"/>
                </a:lnTo>
                <a:lnTo>
                  <a:pt x="617564" y="3487772"/>
                </a:lnTo>
                <a:lnTo>
                  <a:pt x="588156" y="3487772"/>
                </a:lnTo>
                <a:lnTo>
                  <a:pt x="558748" y="3487772"/>
                </a:lnTo>
                <a:lnTo>
                  <a:pt x="529341" y="3487772"/>
                </a:lnTo>
                <a:lnTo>
                  <a:pt x="499933" y="3487772"/>
                </a:lnTo>
                <a:lnTo>
                  <a:pt x="470525" y="3487772"/>
                </a:lnTo>
                <a:lnTo>
                  <a:pt x="441117" y="3487772"/>
                </a:lnTo>
                <a:lnTo>
                  <a:pt x="411709" y="3487772"/>
                </a:lnTo>
                <a:lnTo>
                  <a:pt x="382301" y="3487772"/>
                </a:lnTo>
                <a:lnTo>
                  <a:pt x="352894" y="3487772"/>
                </a:lnTo>
                <a:lnTo>
                  <a:pt x="323486" y="3487772"/>
                </a:lnTo>
                <a:lnTo>
                  <a:pt x="294078" y="3487772"/>
                </a:lnTo>
                <a:lnTo>
                  <a:pt x="264670" y="3487772"/>
                </a:lnTo>
                <a:lnTo>
                  <a:pt x="235262" y="3487772"/>
                </a:lnTo>
                <a:lnTo>
                  <a:pt x="205854" y="3487772"/>
                </a:lnTo>
                <a:lnTo>
                  <a:pt x="176447" y="3487772"/>
                </a:lnTo>
                <a:lnTo>
                  <a:pt x="147039" y="3487772"/>
                </a:lnTo>
                <a:lnTo>
                  <a:pt x="117631" y="3487772"/>
                </a:lnTo>
                <a:lnTo>
                  <a:pt x="88223" y="3487772"/>
                </a:lnTo>
                <a:lnTo>
                  <a:pt x="58815" y="3487772"/>
                </a:lnTo>
                <a:lnTo>
                  <a:pt x="29407" y="3487772"/>
                </a:lnTo>
                <a:lnTo>
                  <a:pt x="0" y="3487772"/>
                </a:lnTo>
                <a:close/>
              </a:path>
            </a:pathLst>
          </a:custGeom>
          <a:solidFill>
            <a:srgbClr val="8EDBD4">
              <a:alpha val="25000"/>
            </a:srgbClr>
          </a:solidFill>
          <a:ln w="10160">
            <a:solidFill>
              <a:srgbClr val="8EDBD4">
                <a:alpha val="2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-E03 polygon 37" descr="sci-ppt:o037"/>
          <p:cNvSpPr/>
          <p:nvPr/>
        </p:nvSpPr>
        <p:spPr>
          <a:xfrm>
            <a:off x="914400" y="1541428"/>
            <a:ext cx="5852160" cy="3344821"/>
          </a:xfrm>
          <a:custGeom>
            <a:avLst/>
            <a:gdLst/>
            <a:ahLst/>
            <a:cxnLst/>
            <a:rect l="l" t="t" r="r" b="b"/>
            <a:pathLst>
              <a:path w="5852160" h="3344821">
                <a:moveTo>
                  <a:pt x="0" y="0"/>
                </a:moveTo>
                <a:lnTo>
                  <a:pt x="29407" y="630464"/>
                </a:lnTo>
                <a:lnTo>
                  <a:pt x="58815" y="779752"/>
                </a:lnTo>
                <a:lnTo>
                  <a:pt x="88223" y="871860"/>
                </a:lnTo>
                <a:lnTo>
                  <a:pt x="117631" y="940743"/>
                </a:lnTo>
                <a:lnTo>
                  <a:pt x="147039" y="997175"/>
                </a:lnTo>
                <a:lnTo>
                  <a:pt x="176447" y="1045903"/>
                </a:lnTo>
                <a:lnTo>
                  <a:pt x="205854" y="1089414"/>
                </a:lnTo>
                <a:lnTo>
                  <a:pt x="235262" y="1129159"/>
                </a:lnTo>
                <a:lnTo>
                  <a:pt x="264670" y="1166049"/>
                </a:lnTo>
                <a:lnTo>
                  <a:pt x="294078" y="1200693"/>
                </a:lnTo>
                <a:lnTo>
                  <a:pt x="323486" y="1233513"/>
                </a:lnTo>
                <a:lnTo>
                  <a:pt x="352894" y="1264814"/>
                </a:lnTo>
                <a:lnTo>
                  <a:pt x="382301" y="1294824"/>
                </a:lnTo>
                <a:lnTo>
                  <a:pt x="411709" y="1323717"/>
                </a:lnTo>
                <a:lnTo>
                  <a:pt x="441117" y="1351627"/>
                </a:lnTo>
                <a:lnTo>
                  <a:pt x="470525" y="1378663"/>
                </a:lnTo>
                <a:lnTo>
                  <a:pt x="499933" y="1404912"/>
                </a:lnTo>
                <a:lnTo>
                  <a:pt x="529341" y="1430445"/>
                </a:lnTo>
                <a:lnTo>
                  <a:pt x="558748" y="1455324"/>
                </a:lnTo>
                <a:lnTo>
                  <a:pt x="588156" y="1479598"/>
                </a:lnTo>
                <a:lnTo>
                  <a:pt x="617564" y="1503312"/>
                </a:lnTo>
                <a:lnTo>
                  <a:pt x="646972" y="1526502"/>
                </a:lnTo>
                <a:lnTo>
                  <a:pt x="676380" y="1549201"/>
                </a:lnTo>
                <a:lnTo>
                  <a:pt x="705788" y="1571439"/>
                </a:lnTo>
                <a:lnTo>
                  <a:pt x="735195" y="1593240"/>
                </a:lnTo>
                <a:lnTo>
                  <a:pt x="764603" y="1614628"/>
                </a:lnTo>
                <a:lnTo>
                  <a:pt x="794011" y="1635622"/>
                </a:lnTo>
                <a:lnTo>
                  <a:pt x="823419" y="1656243"/>
                </a:lnTo>
                <a:lnTo>
                  <a:pt x="852827" y="1676506"/>
                </a:lnTo>
                <a:lnTo>
                  <a:pt x="882235" y="1696427"/>
                </a:lnTo>
                <a:lnTo>
                  <a:pt x="911643" y="1716019"/>
                </a:lnTo>
                <a:lnTo>
                  <a:pt x="941050" y="1735297"/>
                </a:lnTo>
                <a:lnTo>
                  <a:pt x="970458" y="1754272"/>
                </a:lnTo>
                <a:lnTo>
                  <a:pt x="999866" y="1772956"/>
                </a:lnTo>
                <a:lnTo>
                  <a:pt x="1029274" y="1791358"/>
                </a:lnTo>
                <a:lnTo>
                  <a:pt x="1058682" y="1809489"/>
                </a:lnTo>
                <a:lnTo>
                  <a:pt x="1088090" y="1827358"/>
                </a:lnTo>
                <a:lnTo>
                  <a:pt x="1117497" y="1844973"/>
                </a:lnTo>
                <a:lnTo>
                  <a:pt x="1146905" y="1862343"/>
                </a:lnTo>
                <a:lnTo>
                  <a:pt x="1176313" y="1879475"/>
                </a:lnTo>
                <a:lnTo>
                  <a:pt x="1205721" y="1896376"/>
                </a:lnTo>
                <a:lnTo>
                  <a:pt x="1235129" y="1913054"/>
                </a:lnTo>
                <a:lnTo>
                  <a:pt x="1264537" y="1929514"/>
                </a:lnTo>
                <a:lnTo>
                  <a:pt x="1293944" y="1945762"/>
                </a:lnTo>
                <a:lnTo>
                  <a:pt x="1323352" y="1961806"/>
                </a:lnTo>
                <a:lnTo>
                  <a:pt x="1352760" y="1977650"/>
                </a:lnTo>
                <a:lnTo>
                  <a:pt x="1382168" y="1993300"/>
                </a:lnTo>
                <a:lnTo>
                  <a:pt x="1411576" y="2008760"/>
                </a:lnTo>
                <a:lnTo>
                  <a:pt x="1440984" y="2024036"/>
                </a:lnTo>
                <a:lnTo>
                  <a:pt x="1470391" y="2039132"/>
                </a:lnTo>
                <a:lnTo>
                  <a:pt x="1499799" y="2054053"/>
                </a:lnTo>
                <a:lnTo>
                  <a:pt x="1529207" y="2068802"/>
                </a:lnTo>
                <a:lnTo>
                  <a:pt x="1558615" y="2083385"/>
                </a:lnTo>
                <a:lnTo>
                  <a:pt x="1588023" y="2097806"/>
                </a:lnTo>
                <a:lnTo>
                  <a:pt x="1617431" y="2112067"/>
                </a:lnTo>
                <a:lnTo>
                  <a:pt x="1646838" y="2126172"/>
                </a:lnTo>
                <a:lnTo>
                  <a:pt x="1676246" y="2140126"/>
                </a:lnTo>
                <a:lnTo>
                  <a:pt x="1705654" y="2153931"/>
                </a:lnTo>
                <a:lnTo>
                  <a:pt x="1735062" y="2167591"/>
                </a:lnTo>
                <a:lnTo>
                  <a:pt x="1764470" y="2181108"/>
                </a:lnTo>
                <a:lnTo>
                  <a:pt x="1793878" y="2194487"/>
                </a:lnTo>
                <a:lnTo>
                  <a:pt x="1823286" y="2207729"/>
                </a:lnTo>
                <a:lnTo>
                  <a:pt x="1852693" y="2220839"/>
                </a:lnTo>
                <a:lnTo>
                  <a:pt x="1882101" y="2233818"/>
                </a:lnTo>
                <a:lnTo>
                  <a:pt x="1911509" y="2246668"/>
                </a:lnTo>
                <a:lnTo>
                  <a:pt x="1940917" y="2259394"/>
                </a:lnTo>
                <a:lnTo>
                  <a:pt x="1970325" y="2271997"/>
                </a:lnTo>
                <a:lnTo>
                  <a:pt x="1999733" y="2284480"/>
                </a:lnTo>
                <a:lnTo>
                  <a:pt x="2029140" y="2296844"/>
                </a:lnTo>
                <a:lnTo>
                  <a:pt x="2058548" y="2309093"/>
                </a:lnTo>
                <a:lnTo>
                  <a:pt x="2087956" y="2321229"/>
                </a:lnTo>
                <a:lnTo>
                  <a:pt x="2117364" y="2333253"/>
                </a:lnTo>
                <a:lnTo>
                  <a:pt x="2146772" y="2345167"/>
                </a:lnTo>
                <a:lnTo>
                  <a:pt x="2176180" y="2356975"/>
                </a:lnTo>
                <a:lnTo>
                  <a:pt x="2205587" y="2368677"/>
                </a:lnTo>
                <a:lnTo>
                  <a:pt x="2234995" y="2380276"/>
                </a:lnTo>
                <a:lnTo>
                  <a:pt x="2264403" y="2391773"/>
                </a:lnTo>
                <a:lnTo>
                  <a:pt x="2293811" y="2403170"/>
                </a:lnTo>
                <a:lnTo>
                  <a:pt x="2323219" y="2414470"/>
                </a:lnTo>
                <a:lnTo>
                  <a:pt x="2352627" y="2425673"/>
                </a:lnTo>
                <a:lnTo>
                  <a:pt x="2382034" y="2436781"/>
                </a:lnTo>
                <a:lnTo>
                  <a:pt x="2411442" y="2447797"/>
                </a:lnTo>
                <a:lnTo>
                  <a:pt x="2440850" y="2458721"/>
                </a:lnTo>
                <a:lnTo>
                  <a:pt x="2470258" y="2469555"/>
                </a:lnTo>
                <a:lnTo>
                  <a:pt x="2499666" y="2480300"/>
                </a:lnTo>
                <a:lnTo>
                  <a:pt x="2529074" y="2490959"/>
                </a:lnTo>
                <a:lnTo>
                  <a:pt x="2558482" y="2501532"/>
                </a:lnTo>
                <a:lnTo>
                  <a:pt x="2587889" y="2512021"/>
                </a:lnTo>
                <a:lnTo>
                  <a:pt x="2617297" y="2522427"/>
                </a:lnTo>
                <a:lnTo>
                  <a:pt x="2646705" y="2532752"/>
                </a:lnTo>
                <a:lnTo>
                  <a:pt x="2676113" y="2542996"/>
                </a:lnTo>
                <a:lnTo>
                  <a:pt x="2705521" y="2553162"/>
                </a:lnTo>
                <a:lnTo>
                  <a:pt x="2734929" y="2563250"/>
                </a:lnTo>
                <a:lnTo>
                  <a:pt x="2764336" y="2573261"/>
                </a:lnTo>
                <a:lnTo>
                  <a:pt x="2793744" y="2583197"/>
                </a:lnTo>
                <a:lnTo>
                  <a:pt x="2823152" y="2593058"/>
                </a:lnTo>
                <a:lnTo>
                  <a:pt x="2852560" y="2602847"/>
                </a:lnTo>
                <a:lnTo>
                  <a:pt x="2881968" y="2612563"/>
                </a:lnTo>
                <a:lnTo>
                  <a:pt x="2911376" y="2622209"/>
                </a:lnTo>
                <a:lnTo>
                  <a:pt x="2940783" y="2631784"/>
                </a:lnTo>
                <a:lnTo>
                  <a:pt x="2970191" y="2641291"/>
                </a:lnTo>
                <a:lnTo>
                  <a:pt x="2999599" y="2650730"/>
                </a:lnTo>
                <a:lnTo>
                  <a:pt x="3029007" y="2660102"/>
                </a:lnTo>
                <a:lnTo>
                  <a:pt x="3058415" y="2669407"/>
                </a:lnTo>
                <a:lnTo>
                  <a:pt x="3087823" y="2678648"/>
                </a:lnTo>
                <a:lnTo>
                  <a:pt x="3117230" y="2687825"/>
                </a:lnTo>
                <a:lnTo>
                  <a:pt x="3146638" y="2696938"/>
                </a:lnTo>
                <a:lnTo>
                  <a:pt x="3176046" y="2705989"/>
                </a:lnTo>
                <a:lnTo>
                  <a:pt x="3205454" y="2714979"/>
                </a:lnTo>
                <a:lnTo>
                  <a:pt x="3234862" y="2723908"/>
                </a:lnTo>
                <a:lnTo>
                  <a:pt x="3264270" y="2732777"/>
                </a:lnTo>
                <a:lnTo>
                  <a:pt x="3293677" y="2741587"/>
                </a:lnTo>
                <a:lnTo>
                  <a:pt x="3323085" y="2750338"/>
                </a:lnTo>
                <a:lnTo>
                  <a:pt x="3352493" y="2759032"/>
                </a:lnTo>
                <a:lnTo>
                  <a:pt x="3381901" y="2767670"/>
                </a:lnTo>
                <a:lnTo>
                  <a:pt x="3411309" y="2776251"/>
                </a:lnTo>
                <a:lnTo>
                  <a:pt x="3440717" y="2784777"/>
                </a:lnTo>
                <a:lnTo>
                  <a:pt x="3470125" y="2793249"/>
                </a:lnTo>
                <a:lnTo>
                  <a:pt x="3499532" y="2801667"/>
                </a:lnTo>
                <a:lnTo>
                  <a:pt x="3528940" y="2810031"/>
                </a:lnTo>
                <a:lnTo>
                  <a:pt x="3558348" y="2818343"/>
                </a:lnTo>
                <a:lnTo>
                  <a:pt x="3587756" y="2826603"/>
                </a:lnTo>
                <a:lnTo>
                  <a:pt x="3617164" y="2834812"/>
                </a:lnTo>
                <a:lnTo>
                  <a:pt x="3646572" y="2842971"/>
                </a:lnTo>
                <a:lnTo>
                  <a:pt x="3675979" y="2851079"/>
                </a:lnTo>
                <a:lnTo>
                  <a:pt x="3705387" y="2859138"/>
                </a:lnTo>
                <a:lnTo>
                  <a:pt x="3734795" y="2867149"/>
                </a:lnTo>
                <a:lnTo>
                  <a:pt x="3764203" y="2875111"/>
                </a:lnTo>
                <a:lnTo>
                  <a:pt x="3793611" y="2883026"/>
                </a:lnTo>
                <a:lnTo>
                  <a:pt x="3823019" y="2890893"/>
                </a:lnTo>
                <a:lnTo>
                  <a:pt x="3852426" y="2898715"/>
                </a:lnTo>
                <a:lnTo>
                  <a:pt x="3881834" y="2906490"/>
                </a:lnTo>
                <a:lnTo>
                  <a:pt x="3911242" y="2914220"/>
                </a:lnTo>
                <a:lnTo>
                  <a:pt x="3940650" y="2921905"/>
                </a:lnTo>
                <a:lnTo>
                  <a:pt x="3970058" y="2929546"/>
                </a:lnTo>
                <a:lnTo>
                  <a:pt x="3999466" y="2937144"/>
                </a:lnTo>
                <a:lnTo>
                  <a:pt x="4028873" y="2944697"/>
                </a:lnTo>
                <a:lnTo>
                  <a:pt x="4058281" y="2952208"/>
                </a:lnTo>
                <a:lnTo>
                  <a:pt x="4087689" y="2959677"/>
                </a:lnTo>
                <a:lnTo>
                  <a:pt x="4117097" y="2967104"/>
                </a:lnTo>
                <a:lnTo>
                  <a:pt x="4146505" y="2974490"/>
                </a:lnTo>
                <a:lnTo>
                  <a:pt x="4175913" y="2981834"/>
                </a:lnTo>
                <a:lnTo>
                  <a:pt x="4205321" y="2989138"/>
                </a:lnTo>
                <a:lnTo>
                  <a:pt x="4234728" y="2996403"/>
                </a:lnTo>
                <a:lnTo>
                  <a:pt x="4264136" y="3003627"/>
                </a:lnTo>
                <a:lnTo>
                  <a:pt x="4293544" y="3010813"/>
                </a:lnTo>
                <a:lnTo>
                  <a:pt x="4322952" y="3017959"/>
                </a:lnTo>
                <a:lnTo>
                  <a:pt x="4352360" y="3025068"/>
                </a:lnTo>
                <a:lnTo>
                  <a:pt x="4381768" y="3032138"/>
                </a:lnTo>
                <a:lnTo>
                  <a:pt x="4411175" y="3039172"/>
                </a:lnTo>
                <a:lnTo>
                  <a:pt x="4440583" y="3046167"/>
                </a:lnTo>
                <a:lnTo>
                  <a:pt x="4469991" y="3053127"/>
                </a:lnTo>
                <a:lnTo>
                  <a:pt x="4499399" y="3060050"/>
                </a:lnTo>
                <a:lnTo>
                  <a:pt x="4528807" y="3066937"/>
                </a:lnTo>
                <a:lnTo>
                  <a:pt x="4558215" y="3073788"/>
                </a:lnTo>
                <a:lnTo>
                  <a:pt x="4587622" y="3080604"/>
                </a:lnTo>
                <a:lnTo>
                  <a:pt x="4617030" y="3087386"/>
                </a:lnTo>
                <a:lnTo>
                  <a:pt x="4646438" y="3094133"/>
                </a:lnTo>
                <a:lnTo>
                  <a:pt x="4675846" y="3100846"/>
                </a:lnTo>
                <a:lnTo>
                  <a:pt x="4705254" y="3107525"/>
                </a:lnTo>
                <a:lnTo>
                  <a:pt x="4734662" y="3114170"/>
                </a:lnTo>
                <a:lnTo>
                  <a:pt x="4764069" y="3120783"/>
                </a:lnTo>
                <a:lnTo>
                  <a:pt x="4793477" y="3127362"/>
                </a:lnTo>
                <a:lnTo>
                  <a:pt x="4822885" y="3133910"/>
                </a:lnTo>
                <a:lnTo>
                  <a:pt x="4852293" y="3140425"/>
                </a:lnTo>
                <a:lnTo>
                  <a:pt x="4881701" y="3146908"/>
                </a:lnTo>
                <a:lnTo>
                  <a:pt x="4911109" y="3153360"/>
                </a:lnTo>
                <a:lnTo>
                  <a:pt x="4940516" y="3159780"/>
                </a:lnTo>
                <a:lnTo>
                  <a:pt x="4969924" y="3166170"/>
                </a:lnTo>
                <a:lnTo>
                  <a:pt x="4999332" y="3172529"/>
                </a:lnTo>
                <a:lnTo>
                  <a:pt x="5028740" y="3178858"/>
                </a:lnTo>
                <a:lnTo>
                  <a:pt x="5058148" y="3185156"/>
                </a:lnTo>
                <a:lnTo>
                  <a:pt x="5087556" y="3191425"/>
                </a:lnTo>
                <a:lnTo>
                  <a:pt x="5116964" y="3197665"/>
                </a:lnTo>
                <a:lnTo>
                  <a:pt x="5146371" y="3203875"/>
                </a:lnTo>
                <a:lnTo>
                  <a:pt x="5175779" y="3210056"/>
                </a:lnTo>
                <a:lnTo>
                  <a:pt x="5205187" y="3216209"/>
                </a:lnTo>
                <a:lnTo>
                  <a:pt x="5234595" y="3222333"/>
                </a:lnTo>
                <a:lnTo>
                  <a:pt x="5264003" y="3228430"/>
                </a:lnTo>
                <a:lnTo>
                  <a:pt x="5293411" y="3234498"/>
                </a:lnTo>
                <a:lnTo>
                  <a:pt x="5322818" y="3240539"/>
                </a:lnTo>
                <a:lnTo>
                  <a:pt x="5352226" y="3246552"/>
                </a:lnTo>
                <a:lnTo>
                  <a:pt x="5381634" y="3252538"/>
                </a:lnTo>
                <a:lnTo>
                  <a:pt x="5411042" y="3258498"/>
                </a:lnTo>
                <a:lnTo>
                  <a:pt x="5440450" y="3264430"/>
                </a:lnTo>
                <a:lnTo>
                  <a:pt x="5469858" y="3270337"/>
                </a:lnTo>
                <a:lnTo>
                  <a:pt x="5499265" y="3276217"/>
                </a:lnTo>
                <a:lnTo>
                  <a:pt x="5528673" y="3282071"/>
                </a:lnTo>
                <a:lnTo>
                  <a:pt x="5558081" y="3287900"/>
                </a:lnTo>
                <a:lnTo>
                  <a:pt x="5587489" y="3293703"/>
                </a:lnTo>
                <a:lnTo>
                  <a:pt x="5616897" y="3299481"/>
                </a:lnTo>
                <a:lnTo>
                  <a:pt x="5646305" y="3305234"/>
                </a:lnTo>
                <a:lnTo>
                  <a:pt x="5675712" y="3310962"/>
                </a:lnTo>
                <a:lnTo>
                  <a:pt x="5705120" y="3316665"/>
                </a:lnTo>
                <a:lnTo>
                  <a:pt x="5734528" y="3322344"/>
                </a:lnTo>
                <a:lnTo>
                  <a:pt x="5763936" y="3327999"/>
                </a:lnTo>
                <a:lnTo>
                  <a:pt x="5793344" y="3333630"/>
                </a:lnTo>
                <a:lnTo>
                  <a:pt x="5822752" y="3339237"/>
                </a:lnTo>
                <a:lnTo>
                  <a:pt x="5852160" y="3344821"/>
                </a:lnTo>
              </a:path>
            </a:pathLst>
          </a:custGeom>
          <a:noFill/>
          <a:ln w="406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03 text 38" descr="sci-ppt:o038"/>
          <p:cNvSpPr txBox="1"/>
          <p:nvPr/>
        </p:nvSpPr>
        <p:spPr>
          <a:xfrm>
            <a:off x="2157984" y="1736828"/>
            <a:ext cx="4023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area to ∞ = 1.0831  ⇒  pₑₗ = 2G_g·area = 43.326 kPa</a:t>
            </a:r>
          </a:p>
        </p:txBody>
      </p:sp>
      <p:sp>
        <p:nvSpPr>
          <p:cNvPr id="41" name="A-E03 round_rect 39" descr="sci-ppt:o039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-E03 text 40" descr="sci-ppt:o040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Radial force balance</a:t>
            </a:r>
          </a:p>
        </p:txBody>
      </p:sp>
      <p:sp>
        <p:nvSpPr>
          <p:cNvPr id="43" name="A-E03 text 41" descr="sci-ppt:o041"/>
          <p:cNvSpPr txBox="1"/>
          <p:nvPr/>
        </p:nvSpPr>
        <p:spPr>
          <a:xfrm>
            <a:off x="7178040" y="182880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dTᵣᵣ/dr = (2/r)(T_θθ − Tᵣᵣ)</a:t>
            </a:r>
          </a:p>
        </p:txBody>
      </p:sp>
      <p:sp>
        <p:nvSpPr>
          <p:cNvPr id="44" name="A-E03 text 42" descr="sci-ppt:o042"/>
          <p:cNvSpPr txBox="1"/>
          <p:nvPr/>
        </p:nvSpPr>
        <p:spPr>
          <a:xfrm>
            <a:off x="7178040" y="233172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Tᵣᵣ(∞) = −p_∞,   Tᵣᵣ(R) = −p_b + 2σ/R</a:t>
            </a:r>
          </a:p>
        </p:txBody>
      </p:sp>
      <p:sp>
        <p:nvSpPr>
          <p:cNvPr id="45" name="A-E03 text 43" descr="sci-ppt:o043"/>
          <p:cNvSpPr txBox="1"/>
          <p:nvPr/>
        </p:nvSpPr>
        <p:spPr>
          <a:xfrm>
            <a:off x="7178040" y="283464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pₑₗ = p_b − p_∞ − 2σ/R = 2G_g ∫_R^∞ [...] dr/r</a:t>
            </a:r>
          </a:p>
        </p:txBody>
      </p:sp>
      <p:sp>
        <p:nvSpPr>
          <p:cNvPr id="46" name="A-E03 text 44" descr="sci-ppt:o044"/>
          <p:cNvSpPr txBox="1"/>
          <p:nvPr/>
        </p:nvSpPr>
        <p:spPr>
          <a:xfrm>
            <a:off x="7178040" y="352044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Integrating the balance from the wall to infinity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collects all the elastic resistance.</a:t>
            </a:r>
          </a:p>
        </p:txBody>
      </p:sp>
      <p:sp>
        <p:nvSpPr>
          <p:cNvPr id="47" name="A-E03 text 45" descr="sci-ppt:o045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shaded area is the accumulated resistance; later figures evaluate it in closed form.</a:t>
            </a:r>
          </a:p>
        </p:txBody>
      </p:sp>
      <p:sp>
        <p:nvSpPr>
          <p:cNvPr id="48" name="A-E03 text 46" descr="sci-ppt:o04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Static balance of Eq. A-E03, integral evaluated numerically to 400R; closed form 43.326 kPa.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A-E04 · Exact change of variable for expansion</a:t>
            </a:r>
          </a:p>
        </p:txBody>
      </p:sp>
      <p:cxnSp>
        <p:nvCxnSpPr>
          <p:cNvPr id="3" name="A-E04 line 1" descr="sci-ppt:o001"/>
          <p:cNvCxnSpPr/>
          <p:nvPr/>
        </p:nvCxnSpPr>
        <p:spPr>
          <a:xfrm>
            <a:off x="914400" y="4846320"/>
            <a:ext cx="31089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4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4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4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4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4 line 6" descr="sci-ppt:o006"/>
          <p:cNvCxnSpPr/>
          <p:nvPr/>
        </p:nvCxnSpPr>
        <p:spPr>
          <a:xfrm>
            <a:off x="2246811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4 line 7" descr="sci-ppt:o007"/>
          <p:cNvCxnSpPr/>
          <p:nvPr/>
        </p:nvCxnSpPr>
        <p:spPr>
          <a:xfrm>
            <a:off x="2246811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4 text 8" descr="sci-ppt:o008"/>
          <p:cNvSpPr txBox="1"/>
          <p:nvPr/>
        </p:nvSpPr>
        <p:spPr>
          <a:xfrm>
            <a:off x="1789611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1" name="A-E04 line 9" descr="sci-ppt:o009"/>
          <p:cNvCxnSpPr/>
          <p:nvPr/>
        </p:nvCxnSpPr>
        <p:spPr>
          <a:xfrm>
            <a:off x="402336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4 line 10" descr="sci-ppt:o010"/>
          <p:cNvCxnSpPr/>
          <p:nvPr/>
        </p:nvCxnSpPr>
        <p:spPr>
          <a:xfrm>
            <a:off x="402336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4 text 11" descr="sci-ppt:o011"/>
          <p:cNvSpPr txBox="1"/>
          <p:nvPr/>
        </p:nvSpPr>
        <p:spPr>
          <a:xfrm>
            <a:off x="356616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</a:t>
            </a:r>
          </a:p>
        </p:txBody>
      </p:sp>
      <p:cxnSp>
        <p:nvCxnSpPr>
          <p:cNvPr id="14" name="A-E04 line 12" descr="sci-ppt:o012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4 line 13" descr="sci-ppt:o013"/>
          <p:cNvCxnSpPr/>
          <p:nvPr/>
        </p:nvCxnSpPr>
        <p:spPr>
          <a:xfrm>
            <a:off x="850392" y="319169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04 line 14" descr="sci-ppt:o014"/>
          <p:cNvCxnSpPr/>
          <p:nvPr/>
        </p:nvCxnSpPr>
        <p:spPr>
          <a:xfrm>
            <a:off x="914400" y="3191691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04 text 15" descr="sci-ppt:o015"/>
          <p:cNvSpPr txBox="1"/>
          <p:nvPr/>
        </p:nvSpPr>
        <p:spPr>
          <a:xfrm>
            <a:off x="45720" y="310939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8" name="A-E04 line 16" descr="sci-ppt:o016"/>
          <p:cNvCxnSpPr/>
          <p:nvPr/>
        </p:nvCxnSpPr>
        <p:spPr>
          <a:xfrm>
            <a:off x="850392" y="153706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04 line 17" descr="sci-ppt:o017"/>
          <p:cNvCxnSpPr/>
          <p:nvPr/>
        </p:nvCxnSpPr>
        <p:spPr>
          <a:xfrm>
            <a:off x="914400" y="1537062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04 text 18" descr="sci-ppt:o018"/>
          <p:cNvSpPr txBox="1"/>
          <p:nvPr/>
        </p:nvSpPr>
        <p:spPr>
          <a:xfrm>
            <a:off x="45720" y="145476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21" name="A-E04 text 19" descr="sci-ppt:o019"/>
          <p:cNvSpPr txBox="1"/>
          <p:nvPr/>
        </p:nvSpPr>
        <p:spPr>
          <a:xfrm>
            <a:off x="914400" y="5129783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22" name="A-E04 text 20" descr="sci-ppt:o020"/>
          <p:cNvSpPr txBox="1"/>
          <p:nvPr/>
        </p:nvSpPr>
        <p:spPr>
          <a:xfrm>
            <a:off x="365760" y="1024128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</a:t>
            </a:r>
          </a:p>
        </p:txBody>
      </p:sp>
      <p:sp>
        <p:nvSpPr>
          <p:cNvPr id="23" name="A-E04 polygon 21" descr="sci-ppt:o021"/>
          <p:cNvSpPr/>
          <p:nvPr/>
        </p:nvSpPr>
        <p:spPr>
          <a:xfrm>
            <a:off x="914400" y="1539208"/>
            <a:ext cx="3108960" cy="2755569"/>
          </a:xfrm>
          <a:custGeom>
            <a:avLst/>
            <a:gdLst/>
            <a:ahLst/>
            <a:cxnLst/>
            <a:rect l="l" t="t" r="r" b="b"/>
            <a:pathLst>
              <a:path w="3108960" h="2755569">
                <a:moveTo>
                  <a:pt x="0" y="2755569"/>
                </a:moveTo>
                <a:lnTo>
                  <a:pt x="20795" y="1620843"/>
                </a:lnTo>
                <a:lnTo>
                  <a:pt x="41591" y="1253297"/>
                </a:lnTo>
                <a:lnTo>
                  <a:pt x="62387" y="1022632"/>
                </a:lnTo>
                <a:lnTo>
                  <a:pt x="83182" y="858150"/>
                </a:lnTo>
                <a:lnTo>
                  <a:pt x="103978" y="733377"/>
                </a:lnTo>
                <a:lnTo>
                  <a:pt x="124774" y="635097"/>
                </a:lnTo>
                <a:lnTo>
                  <a:pt x="145570" y="555664"/>
                </a:lnTo>
                <a:lnTo>
                  <a:pt x="166365" y="490228"/>
                </a:lnTo>
                <a:lnTo>
                  <a:pt x="187161" y="435517"/>
                </a:lnTo>
                <a:lnTo>
                  <a:pt x="207957" y="389222"/>
                </a:lnTo>
                <a:lnTo>
                  <a:pt x="228752" y="349656"/>
                </a:lnTo>
                <a:lnTo>
                  <a:pt x="249548" y="315554"/>
                </a:lnTo>
                <a:lnTo>
                  <a:pt x="270344" y="285944"/>
                </a:lnTo>
                <a:lnTo>
                  <a:pt x="291140" y="260070"/>
                </a:lnTo>
                <a:lnTo>
                  <a:pt x="311935" y="237330"/>
                </a:lnTo>
                <a:lnTo>
                  <a:pt x="332731" y="217242"/>
                </a:lnTo>
                <a:lnTo>
                  <a:pt x="353527" y="199415"/>
                </a:lnTo>
                <a:lnTo>
                  <a:pt x="374322" y="183527"/>
                </a:lnTo>
                <a:lnTo>
                  <a:pt x="395118" y="169312"/>
                </a:lnTo>
                <a:lnTo>
                  <a:pt x="415914" y="156550"/>
                </a:lnTo>
                <a:lnTo>
                  <a:pt x="436710" y="145053"/>
                </a:lnTo>
                <a:lnTo>
                  <a:pt x="457505" y="134665"/>
                </a:lnTo>
                <a:lnTo>
                  <a:pt x="478301" y="125251"/>
                </a:lnTo>
                <a:lnTo>
                  <a:pt x="499097" y="116698"/>
                </a:lnTo>
                <a:lnTo>
                  <a:pt x="519892" y="108907"/>
                </a:lnTo>
                <a:lnTo>
                  <a:pt x="540688" y="101793"/>
                </a:lnTo>
                <a:lnTo>
                  <a:pt x="561484" y="95284"/>
                </a:lnTo>
                <a:lnTo>
                  <a:pt x="582280" y="89314"/>
                </a:lnTo>
                <a:lnTo>
                  <a:pt x="603075" y="83829"/>
                </a:lnTo>
                <a:lnTo>
                  <a:pt x="623871" y="78780"/>
                </a:lnTo>
                <a:lnTo>
                  <a:pt x="644667" y="74123"/>
                </a:lnTo>
                <a:lnTo>
                  <a:pt x="665463" y="69820"/>
                </a:lnTo>
                <a:lnTo>
                  <a:pt x="686258" y="65838"/>
                </a:lnTo>
                <a:lnTo>
                  <a:pt x="707054" y="62148"/>
                </a:lnTo>
                <a:lnTo>
                  <a:pt x="727850" y="58722"/>
                </a:lnTo>
                <a:lnTo>
                  <a:pt x="748645" y="55538"/>
                </a:lnTo>
                <a:lnTo>
                  <a:pt x="769441" y="52574"/>
                </a:lnTo>
                <a:lnTo>
                  <a:pt x="790237" y="49811"/>
                </a:lnTo>
                <a:lnTo>
                  <a:pt x="811033" y="47232"/>
                </a:lnTo>
                <a:lnTo>
                  <a:pt x="831828" y="44823"/>
                </a:lnTo>
                <a:lnTo>
                  <a:pt x="852624" y="42569"/>
                </a:lnTo>
                <a:lnTo>
                  <a:pt x="873420" y="40457"/>
                </a:lnTo>
                <a:lnTo>
                  <a:pt x="894215" y="38478"/>
                </a:lnTo>
                <a:lnTo>
                  <a:pt x="915011" y="36620"/>
                </a:lnTo>
                <a:lnTo>
                  <a:pt x="935807" y="34874"/>
                </a:lnTo>
                <a:lnTo>
                  <a:pt x="956603" y="33232"/>
                </a:lnTo>
                <a:lnTo>
                  <a:pt x="977398" y="31686"/>
                </a:lnTo>
                <a:lnTo>
                  <a:pt x="998194" y="30229"/>
                </a:lnTo>
                <a:lnTo>
                  <a:pt x="1018990" y="28855"/>
                </a:lnTo>
                <a:lnTo>
                  <a:pt x="1039785" y="27558"/>
                </a:lnTo>
                <a:lnTo>
                  <a:pt x="1060581" y="26333"/>
                </a:lnTo>
                <a:lnTo>
                  <a:pt x="1081377" y="25175"/>
                </a:lnTo>
                <a:lnTo>
                  <a:pt x="1102173" y="24079"/>
                </a:lnTo>
                <a:lnTo>
                  <a:pt x="1122968" y="23040"/>
                </a:lnTo>
                <a:lnTo>
                  <a:pt x="1143764" y="22057"/>
                </a:lnTo>
                <a:lnTo>
                  <a:pt x="1164560" y="21123"/>
                </a:lnTo>
                <a:lnTo>
                  <a:pt x="1185355" y="20238"/>
                </a:lnTo>
                <a:lnTo>
                  <a:pt x="1206151" y="19397"/>
                </a:lnTo>
                <a:lnTo>
                  <a:pt x="1226947" y="18598"/>
                </a:lnTo>
                <a:lnTo>
                  <a:pt x="1247743" y="17837"/>
                </a:lnTo>
                <a:lnTo>
                  <a:pt x="1268538" y="17114"/>
                </a:lnTo>
                <a:lnTo>
                  <a:pt x="1289334" y="16425"/>
                </a:lnTo>
                <a:lnTo>
                  <a:pt x="1310130" y="15769"/>
                </a:lnTo>
                <a:lnTo>
                  <a:pt x="1330926" y="15144"/>
                </a:lnTo>
                <a:lnTo>
                  <a:pt x="1351721" y="14547"/>
                </a:lnTo>
                <a:lnTo>
                  <a:pt x="1372517" y="13977"/>
                </a:lnTo>
                <a:lnTo>
                  <a:pt x="1393313" y="13434"/>
                </a:lnTo>
                <a:lnTo>
                  <a:pt x="1414108" y="12914"/>
                </a:lnTo>
                <a:lnTo>
                  <a:pt x="1434904" y="12417"/>
                </a:lnTo>
                <a:lnTo>
                  <a:pt x="1455700" y="11942"/>
                </a:lnTo>
                <a:lnTo>
                  <a:pt x="1476496" y="11488"/>
                </a:lnTo>
                <a:lnTo>
                  <a:pt x="1497291" y="11053"/>
                </a:lnTo>
                <a:lnTo>
                  <a:pt x="1518087" y="10636"/>
                </a:lnTo>
                <a:lnTo>
                  <a:pt x="1538883" y="10236"/>
                </a:lnTo>
                <a:lnTo>
                  <a:pt x="1559678" y="9853"/>
                </a:lnTo>
                <a:lnTo>
                  <a:pt x="1580474" y="9486"/>
                </a:lnTo>
                <a:lnTo>
                  <a:pt x="1601270" y="9134"/>
                </a:lnTo>
                <a:lnTo>
                  <a:pt x="1622066" y="8796"/>
                </a:lnTo>
                <a:lnTo>
                  <a:pt x="1642861" y="8471"/>
                </a:lnTo>
                <a:lnTo>
                  <a:pt x="1663657" y="8159"/>
                </a:lnTo>
                <a:lnTo>
                  <a:pt x="1684453" y="7859"/>
                </a:lnTo>
                <a:lnTo>
                  <a:pt x="1705248" y="7570"/>
                </a:lnTo>
                <a:lnTo>
                  <a:pt x="1726044" y="7293"/>
                </a:lnTo>
                <a:lnTo>
                  <a:pt x="1746840" y="7026"/>
                </a:lnTo>
                <a:lnTo>
                  <a:pt x="1767636" y="6769"/>
                </a:lnTo>
                <a:lnTo>
                  <a:pt x="1788431" y="6521"/>
                </a:lnTo>
                <a:lnTo>
                  <a:pt x="1809227" y="6283"/>
                </a:lnTo>
                <a:lnTo>
                  <a:pt x="1830023" y="6053"/>
                </a:lnTo>
                <a:lnTo>
                  <a:pt x="1850818" y="5832"/>
                </a:lnTo>
                <a:lnTo>
                  <a:pt x="1871614" y="5618"/>
                </a:lnTo>
                <a:lnTo>
                  <a:pt x="1892410" y="5412"/>
                </a:lnTo>
                <a:lnTo>
                  <a:pt x="1913206" y="5214"/>
                </a:lnTo>
                <a:lnTo>
                  <a:pt x="1934001" y="5022"/>
                </a:lnTo>
                <a:lnTo>
                  <a:pt x="1954797" y="4837"/>
                </a:lnTo>
                <a:lnTo>
                  <a:pt x="1975593" y="4658"/>
                </a:lnTo>
                <a:lnTo>
                  <a:pt x="1996389" y="4485"/>
                </a:lnTo>
                <a:lnTo>
                  <a:pt x="2017184" y="4318"/>
                </a:lnTo>
                <a:lnTo>
                  <a:pt x="2037980" y="4157"/>
                </a:lnTo>
                <a:lnTo>
                  <a:pt x="2058776" y="4001"/>
                </a:lnTo>
                <a:lnTo>
                  <a:pt x="2079571" y="3850"/>
                </a:lnTo>
                <a:lnTo>
                  <a:pt x="2100367" y="3704"/>
                </a:lnTo>
                <a:lnTo>
                  <a:pt x="2121163" y="3562"/>
                </a:lnTo>
                <a:lnTo>
                  <a:pt x="2141959" y="3425"/>
                </a:lnTo>
                <a:lnTo>
                  <a:pt x="2162754" y="3293"/>
                </a:lnTo>
                <a:lnTo>
                  <a:pt x="2183550" y="3165"/>
                </a:lnTo>
                <a:lnTo>
                  <a:pt x="2204346" y="3040"/>
                </a:lnTo>
                <a:lnTo>
                  <a:pt x="2225141" y="2920"/>
                </a:lnTo>
                <a:lnTo>
                  <a:pt x="2245937" y="2803"/>
                </a:lnTo>
                <a:lnTo>
                  <a:pt x="2266733" y="2690"/>
                </a:lnTo>
                <a:lnTo>
                  <a:pt x="2287529" y="2580"/>
                </a:lnTo>
                <a:lnTo>
                  <a:pt x="2308324" y="2474"/>
                </a:lnTo>
                <a:lnTo>
                  <a:pt x="2329120" y="2370"/>
                </a:lnTo>
                <a:lnTo>
                  <a:pt x="2349916" y="2270"/>
                </a:lnTo>
                <a:lnTo>
                  <a:pt x="2370711" y="2173"/>
                </a:lnTo>
                <a:lnTo>
                  <a:pt x="2391507" y="2079"/>
                </a:lnTo>
                <a:lnTo>
                  <a:pt x="2412303" y="1987"/>
                </a:lnTo>
                <a:lnTo>
                  <a:pt x="2433099" y="1898"/>
                </a:lnTo>
                <a:lnTo>
                  <a:pt x="2453894" y="1811"/>
                </a:lnTo>
                <a:lnTo>
                  <a:pt x="2474690" y="1727"/>
                </a:lnTo>
                <a:lnTo>
                  <a:pt x="2495486" y="1645"/>
                </a:lnTo>
                <a:lnTo>
                  <a:pt x="2516282" y="1566"/>
                </a:lnTo>
                <a:lnTo>
                  <a:pt x="2537077" y="1489"/>
                </a:lnTo>
                <a:lnTo>
                  <a:pt x="2557873" y="1414"/>
                </a:lnTo>
                <a:lnTo>
                  <a:pt x="2578669" y="1341"/>
                </a:lnTo>
                <a:lnTo>
                  <a:pt x="2599464" y="1270"/>
                </a:lnTo>
                <a:lnTo>
                  <a:pt x="2620260" y="1201"/>
                </a:lnTo>
                <a:lnTo>
                  <a:pt x="2641056" y="1133"/>
                </a:lnTo>
                <a:lnTo>
                  <a:pt x="2661852" y="1068"/>
                </a:lnTo>
                <a:lnTo>
                  <a:pt x="2682647" y="1004"/>
                </a:lnTo>
                <a:lnTo>
                  <a:pt x="2703443" y="942"/>
                </a:lnTo>
                <a:lnTo>
                  <a:pt x="2724239" y="881"/>
                </a:lnTo>
                <a:lnTo>
                  <a:pt x="2745034" y="823"/>
                </a:lnTo>
                <a:lnTo>
                  <a:pt x="2765830" y="765"/>
                </a:lnTo>
                <a:lnTo>
                  <a:pt x="2786626" y="709"/>
                </a:lnTo>
                <a:lnTo>
                  <a:pt x="2807422" y="655"/>
                </a:lnTo>
                <a:lnTo>
                  <a:pt x="2828217" y="602"/>
                </a:lnTo>
                <a:lnTo>
                  <a:pt x="2849013" y="550"/>
                </a:lnTo>
                <a:lnTo>
                  <a:pt x="2869809" y="500"/>
                </a:lnTo>
                <a:lnTo>
                  <a:pt x="2890604" y="450"/>
                </a:lnTo>
                <a:lnTo>
                  <a:pt x="2911400" y="402"/>
                </a:lnTo>
                <a:lnTo>
                  <a:pt x="2932196" y="355"/>
                </a:lnTo>
                <a:lnTo>
                  <a:pt x="2952992" y="310"/>
                </a:lnTo>
                <a:lnTo>
                  <a:pt x="2973787" y="265"/>
                </a:lnTo>
                <a:lnTo>
                  <a:pt x="2994583" y="222"/>
                </a:lnTo>
                <a:lnTo>
                  <a:pt x="3015379" y="179"/>
                </a:lnTo>
                <a:lnTo>
                  <a:pt x="3036174" y="138"/>
                </a:lnTo>
                <a:lnTo>
                  <a:pt x="3056970" y="97"/>
                </a:lnTo>
                <a:lnTo>
                  <a:pt x="3077766" y="58"/>
                </a:lnTo>
                <a:lnTo>
                  <a:pt x="3098562" y="19"/>
                </a:lnTo>
                <a:lnTo>
                  <a:pt x="310896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-E04 ellipse 22" descr="sci-ppt:o022"/>
          <p:cNvSpPr/>
          <p:nvPr/>
        </p:nvSpPr>
        <p:spPr>
          <a:xfrm>
            <a:off x="841248" y="422162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-E04 text 23" descr="sci-ppt:o023"/>
          <p:cNvSpPr txBox="1"/>
          <p:nvPr/>
        </p:nvSpPr>
        <p:spPr>
          <a:xfrm>
            <a:off x="1097280" y="4020457"/>
            <a:ext cx="164592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q(R) = R_ref/R</a:t>
            </a:r>
          </a:p>
        </p:txBody>
      </p:sp>
      <p:cxnSp>
        <p:nvCxnSpPr>
          <p:cNvPr id="26" name="A-E04 line 24" descr="sci-ppt:o024"/>
          <p:cNvCxnSpPr/>
          <p:nvPr/>
        </p:nvCxnSpPr>
        <p:spPr>
          <a:xfrm>
            <a:off x="914400" y="1537062"/>
            <a:ext cx="3108960" cy="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cxnSp>
        <p:nvCxnSpPr>
          <p:cNvPr id="27" name="A-E04 line 25" descr="sci-ppt:o025"/>
          <p:cNvCxnSpPr/>
          <p:nvPr/>
        </p:nvCxnSpPr>
        <p:spPr>
          <a:xfrm>
            <a:off x="4937760" y="4846320"/>
            <a:ext cx="29260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8" name="A-E04 line 26" descr="sci-ppt:o026"/>
          <p:cNvCxnSpPr/>
          <p:nvPr/>
        </p:nvCxnSpPr>
        <p:spPr>
          <a:xfrm>
            <a:off x="493776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9" name="A-E04 line 27" descr="sci-ppt:o027"/>
          <p:cNvCxnSpPr/>
          <p:nvPr/>
        </p:nvCxnSpPr>
        <p:spPr>
          <a:xfrm>
            <a:off x="493776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A-E04 line 28" descr="sci-ppt:o028"/>
          <p:cNvCxnSpPr/>
          <p:nvPr/>
        </p:nvCxnSpPr>
        <p:spPr>
          <a:xfrm>
            <a:off x="493776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A-E04 text 29" descr="sci-ppt:o029"/>
          <p:cNvSpPr txBox="1"/>
          <p:nvPr/>
        </p:nvSpPr>
        <p:spPr>
          <a:xfrm>
            <a:off x="448056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2" name="A-E04 line 30" descr="sci-ppt:o030"/>
          <p:cNvCxnSpPr/>
          <p:nvPr/>
        </p:nvCxnSpPr>
        <p:spPr>
          <a:xfrm>
            <a:off x="64008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A-E04 line 31" descr="sci-ppt:o031"/>
          <p:cNvCxnSpPr/>
          <p:nvPr/>
        </p:nvCxnSpPr>
        <p:spPr>
          <a:xfrm>
            <a:off x="64008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A-E04 text 32" descr="sci-ppt:o032"/>
          <p:cNvSpPr txBox="1"/>
          <p:nvPr/>
        </p:nvSpPr>
        <p:spPr>
          <a:xfrm>
            <a:off x="59436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35" name="A-E04 line 33" descr="sci-ppt:o033"/>
          <p:cNvCxnSpPr/>
          <p:nvPr/>
        </p:nvCxnSpPr>
        <p:spPr>
          <a:xfrm>
            <a:off x="78638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A-E04 line 34" descr="sci-ppt:o034"/>
          <p:cNvCxnSpPr/>
          <p:nvPr/>
        </p:nvCxnSpPr>
        <p:spPr>
          <a:xfrm>
            <a:off x="78638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A-E04 text 35" descr="sci-ppt:o035"/>
          <p:cNvSpPr txBox="1"/>
          <p:nvPr/>
        </p:nvSpPr>
        <p:spPr>
          <a:xfrm>
            <a:off x="74066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38" name="A-E04 line 36" descr="sci-ppt:o036"/>
          <p:cNvCxnSpPr/>
          <p:nvPr/>
        </p:nvCxnSpPr>
        <p:spPr>
          <a:xfrm>
            <a:off x="487375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A-E04 line 37" descr="sci-ppt:o037"/>
          <p:cNvCxnSpPr/>
          <p:nvPr/>
        </p:nvCxnSpPr>
        <p:spPr>
          <a:xfrm>
            <a:off x="4873752" y="319169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A-E04 line 38" descr="sci-ppt:o038"/>
          <p:cNvCxnSpPr/>
          <p:nvPr/>
        </p:nvCxnSpPr>
        <p:spPr>
          <a:xfrm>
            <a:off x="4937760" y="3191691"/>
            <a:ext cx="29260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A-E04 text 39" descr="sci-ppt:o039"/>
          <p:cNvSpPr txBox="1"/>
          <p:nvPr/>
        </p:nvSpPr>
        <p:spPr>
          <a:xfrm>
            <a:off x="4069080" y="310939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2" name="A-E04 line 40" descr="sci-ppt:o040"/>
          <p:cNvCxnSpPr/>
          <p:nvPr/>
        </p:nvCxnSpPr>
        <p:spPr>
          <a:xfrm>
            <a:off x="4873752" y="153706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A-E04 line 41" descr="sci-ppt:o041"/>
          <p:cNvCxnSpPr/>
          <p:nvPr/>
        </p:nvCxnSpPr>
        <p:spPr>
          <a:xfrm>
            <a:off x="4937760" y="1537062"/>
            <a:ext cx="29260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A-E04 text 42" descr="sci-ppt:o042"/>
          <p:cNvSpPr txBox="1"/>
          <p:nvPr/>
        </p:nvSpPr>
        <p:spPr>
          <a:xfrm>
            <a:off x="4069080" y="145476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sp>
        <p:nvSpPr>
          <p:cNvPr id="45" name="A-E04 text 43" descr="sci-ppt:o043"/>
          <p:cNvSpPr txBox="1"/>
          <p:nvPr/>
        </p:nvSpPr>
        <p:spPr>
          <a:xfrm>
            <a:off x="4937760" y="5129783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</a:t>
            </a:r>
          </a:p>
        </p:txBody>
      </p:sp>
      <p:sp>
        <p:nvSpPr>
          <p:cNvPr id="46" name="A-E04 text 44" descr="sci-ppt:o044"/>
          <p:cNvSpPr txBox="1"/>
          <p:nvPr/>
        </p:nvSpPr>
        <p:spPr>
          <a:xfrm>
            <a:off x="4389120" y="1024128"/>
            <a:ext cx="2926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integrand</a:t>
            </a:r>
          </a:p>
        </p:txBody>
      </p:sp>
      <p:sp>
        <p:nvSpPr>
          <p:cNvPr id="47" name="A-E04 polygon 45" descr="sci-ppt:o045"/>
          <p:cNvSpPr/>
          <p:nvPr/>
        </p:nvSpPr>
        <p:spPr>
          <a:xfrm>
            <a:off x="5425440" y="1542021"/>
            <a:ext cx="2435473" cy="3304299"/>
          </a:xfrm>
          <a:custGeom>
            <a:avLst/>
            <a:gdLst/>
            <a:ahLst/>
            <a:cxnLst/>
            <a:rect l="l" t="t" r="r" b="b"/>
            <a:pathLst>
              <a:path w="2435473" h="3304299">
                <a:moveTo>
                  <a:pt x="0" y="1642010"/>
                </a:moveTo>
                <a:lnTo>
                  <a:pt x="24600" y="1640791"/>
                </a:lnTo>
                <a:lnTo>
                  <a:pt x="49201" y="1639449"/>
                </a:lnTo>
                <a:lnTo>
                  <a:pt x="73802" y="1637979"/>
                </a:lnTo>
                <a:lnTo>
                  <a:pt x="98402" y="1636374"/>
                </a:lnTo>
                <a:lnTo>
                  <a:pt x="123003" y="1634628"/>
                </a:lnTo>
                <a:lnTo>
                  <a:pt x="147604" y="1632736"/>
                </a:lnTo>
                <a:lnTo>
                  <a:pt x="172205" y="1630692"/>
                </a:lnTo>
                <a:lnTo>
                  <a:pt x="196805" y="1628489"/>
                </a:lnTo>
                <a:lnTo>
                  <a:pt x="221406" y="1626123"/>
                </a:lnTo>
                <a:lnTo>
                  <a:pt x="246007" y="1623586"/>
                </a:lnTo>
                <a:lnTo>
                  <a:pt x="270608" y="1620873"/>
                </a:lnTo>
                <a:lnTo>
                  <a:pt x="295208" y="1617978"/>
                </a:lnTo>
                <a:lnTo>
                  <a:pt x="319809" y="1614896"/>
                </a:lnTo>
                <a:lnTo>
                  <a:pt x="344410" y="1611620"/>
                </a:lnTo>
                <a:lnTo>
                  <a:pt x="369011" y="1608144"/>
                </a:lnTo>
                <a:lnTo>
                  <a:pt x="393611" y="1604463"/>
                </a:lnTo>
                <a:lnTo>
                  <a:pt x="418212" y="1600571"/>
                </a:lnTo>
                <a:lnTo>
                  <a:pt x="442813" y="1596461"/>
                </a:lnTo>
                <a:lnTo>
                  <a:pt x="467414" y="1592129"/>
                </a:lnTo>
                <a:lnTo>
                  <a:pt x="492014" y="1587567"/>
                </a:lnTo>
                <a:lnTo>
                  <a:pt x="516615" y="1582770"/>
                </a:lnTo>
                <a:lnTo>
                  <a:pt x="541216" y="1577732"/>
                </a:lnTo>
                <a:lnTo>
                  <a:pt x="565817" y="1572448"/>
                </a:lnTo>
                <a:lnTo>
                  <a:pt x="590417" y="1566911"/>
                </a:lnTo>
                <a:lnTo>
                  <a:pt x="615018" y="1561115"/>
                </a:lnTo>
                <a:lnTo>
                  <a:pt x="639619" y="1555055"/>
                </a:lnTo>
                <a:lnTo>
                  <a:pt x="664220" y="1548725"/>
                </a:lnTo>
                <a:lnTo>
                  <a:pt x="688820" y="1542118"/>
                </a:lnTo>
                <a:lnTo>
                  <a:pt x="713421" y="1535229"/>
                </a:lnTo>
                <a:lnTo>
                  <a:pt x="738022" y="1528052"/>
                </a:lnTo>
                <a:lnTo>
                  <a:pt x="762623" y="1520581"/>
                </a:lnTo>
                <a:lnTo>
                  <a:pt x="787223" y="1512811"/>
                </a:lnTo>
                <a:lnTo>
                  <a:pt x="811824" y="1504734"/>
                </a:lnTo>
                <a:lnTo>
                  <a:pt x="836425" y="1496346"/>
                </a:lnTo>
                <a:lnTo>
                  <a:pt x="861026" y="1487640"/>
                </a:lnTo>
                <a:lnTo>
                  <a:pt x="885626" y="1478611"/>
                </a:lnTo>
                <a:lnTo>
                  <a:pt x="910227" y="1469253"/>
                </a:lnTo>
                <a:lnTo>
                  <a:pt x="934828" y="1459559"/>
                </a:lnTo>
                <a:lnTo>
                  <a:pt x="959429" y="1449524"/>
                </a:lnTo>
                <a:lnTo>
                  <a:pt x="984029" y="1439143"/>
                </a:lnTo>
                <a:lnTo>
                  <a:pt x="1008630" y="1428408"/>
                </a:lnTo>
                <a:lnTo>
                  <a:pt x="1033231" y="1417314"/>
                </a:lnTo>
                <a:lnTo>
                  <a:pt x="1057832" y="1405856"/>
                </a:lnTo>
                <a:lnTo>
                  <a:pt x="1082432" y="1394027"/>
                </a:lnTo>
                <a:lnTo>
                  <a:pt x="1107033" y="1381821"/>
                </a:lnTo>
                <a:lnTo>
                  <a:pt x="1131634" y="1369233"/>
                </a:lnTo>
                <a:lnTo>
                  <a:pt x="1156235" y="1356256"/>
                </a:lnTo>
                <a:lnTo>
                  <a:pt x="1180835" y="1342886"/>
                </a:lnTo>
                <a:lnTo>
                  <a:pt x="1205436" y="1329115"/>
                </a:lnTo>
                <a:lnTo>
                  <a:pt x="1230037" y="1314938"/>
                </a:lnTo>
                <a:lnTo>
                  <a:pt x="1254638" y="1300349"/>
                </a:lnTo>
                <a:lnTo>
                  <a:pt x="1279238" y="1285343"/>
                </a:lnTo>
                <a:lnTo>
                  <a:pt x="1303839" y="1269912"/>
                </a:lnTo>
                <a:lnTo>
                  <a:pt x="1328440" y="1254052"/>
                </a:lnTo>
                <a:lnTo>
                  <a:pt x="1353041" y="1237757"/>
                </a:lnTo>
                <a:lnTo>
                  <a:pt x="1377641" y="1221020"/>
                </a:lnTo>
                <a:lnTo>
                  <a:pt x="1402242" y="1203835"/>
                </a:lnTo>
                <a:lnTo>
                  <a:pt x="1426843" y="1186197"/>
                </a:lnTo>
                <a:lnTo>
                  <a:pt x="1451444" y="1168101"/>
                </a:lnTo>
                <a:lnTo>
                  <a:pt x="1476044" y="1149539"/>
                </a:lnTo>
                <a:lnTo>
                  <a:pt x="1500645" y="1130506"/>
                </a:lnTo>
                <a:lnTo>
                  <a:pt x="1525246" y="1110997"/>
                </a:lnTo>
                <a:lnTo>
                  <a:pt x="1549847" y="1091004"/>
                </a:lnTo>
                <a:lnTo>
                  <a:pt x="1574447" y="1070523"/>
                </a:lnTo>
                <a:lnTo>
                  <a:pt x="1599048" y="1049548"/>
                </a:lnTo>
                <a:lnTo>
                  <a:pt x="1623649" y="1028072"/>
                </a:lnTo>
                <a:lnTo>
                  <a:pt x="1648250" y="1006089"/>
                </a:lnTo>
                <a:lnTo>
                  <a:pt x="1672850" y="983595"/>
                </a:lnTo>
                <a:lnTo>
                  <a:pt x="1697451" y="960582"/>
                </a:lnTo>
                <a:lnTo>
                  <a:pt x="1722052" y="937045"/>
                </a:lnTo>
                <a:lnTo>
                  <a:pt x="1746653" y="912978"/>
                </a:lnTo>
                <a:lnTo>
                  <a:pt x="1771253" y="888376"/>
                </a:lnTo>
                <a:lnTo>
                  <a:pt x="1795854" y="863232"/>
                </a:lnTo>
                <a:lnTo>
                  <a:pt x="1820455" y="837540"/>
                </a:lnTo>
                <a:lnTo>
                  <a:pt x="1845056" y="811294"/>
                </a:lnTo>
                <a:lnTo>
                  <a:pt x="1869656" y="784489"/>
                </a:lnTo>
                <a:lnTo>
                  <a:pt x="1894257" y="757119"/>
                </a:lnTo>
                <a:lnTo>
                  <a:pt x="1918858" y="729177"/>
                </a:lnTo>
                <a:lnTo>
                  <a:pt x="1943458" y="700659"/>
                </a:lnTo>
                <a:lnTo>
                  <a:pt x="1968059" y="671557"/>
                </a:lnTo>
                <a:lnTo>
                  <a:pt x="1992660" y="641866"/>
                </a:lnTo>
                <a:lnTo>
                  <a:pt x="2017261" y="611581"/>
                </a:lnTo>
                <a:lnTo>
                  <a:pt x="2041861" y="580695"/>
                </a:lnTo>
                <a:lnTo>
                  <a:pt x="2066462" y="549202"/>
                </a:lnTo>
                <a:lnTo>
                  <a:pt x="2091063" y="517097"/>
                </a:lnTo>
                <a:lnTo>
                  <a:pt x="2115664" y="484373"/>
                </a:lnTo>
                <a:lnTo>
                  <a:pt x="2140264" y="451025"/>
                </a:lnTo>
                <a:lnTo>
                  <a:pt x="2164865" y="417046"/>
                </a:lnTo>
                <a:lnTo>
                  <a:pt x="2189466" y="382432"/>
                </a:lnTo>
                <a:lnTo>
                  <a:pt x="2214067" y="347175"/>
                </a:lnTo>
                <a:lnTo>
                  <a:pt x="2238667" y="311270"/>
                </a:lnTo>
                <a:lnTo>
                  <a:pt x="2263268" y="274712"/>
                </a:lnTo>
                <a:lnTo>
                  <a:pt x="2287869" y="237494"/>
                </a:lnTo>
                <a:lnTo>
                  <a:pt x="2312470" y="199610"/>
                </a:lnTo>
                <a:lnTo>
                  <a:pt x="2337070" y="161055"/>
                </a:lnTo>
                <a:lnTo>
                  <a:pt x="2361671" y="121822"/>
                </a:lnTo>
                <a:lnTo>
                  <a:pt x="2386272" y="81906"/>
                </a:lnTo>
                <a:lnTo>
                  <a:pt x="2410873" y="41301"/>
                </a:lnTo>
                <a:lnTo>
                  <a:pt x="2435473" y="0"/>
                </a:lnTo>
                <a:lnTo>
                  <a:pt x="2435473" y="3304299"/>
                </a:lnTo>
                <a:lnTo>
                  <a:pt x="2410873" y="3304299"/>
                </a:lnTo>
                <a:lnTo>
                  <a:pt x="2386272" y="3304299"/>
                </a:lnTo>
                <a:lnTo>
                  <a:pt x="2361671" y="3304299"/>
                </a:lnTo>
                <a:lnTo>
                  <a:pt x="2337070" y="3304299"/>
                </a:lnTo>
                <a:lnTo>
                  <a:pt x="2312470" y="3304299"/>
                </a:lnTo>
                <a:lnTo>
                  <a:pt x="2287869" y="3304299"/>
                </a:lnTo>
                <a:lnTo>
                  <a:pt x="2263268" y="3304299"/>
                </a:lnTo>
                <a:lnTo>
                  <a:pt x="2238667" y="3304299"/>
                </a:lnTo>
                <a:lnTo>
                  <a:pt x="2214067" y="3304299"/>
                </a:lnTo>
                <a:lnTo>
                  <a:pt x="2189466" y="3304299"/>
                </a:lnTo>
                <a:lnTo>
                  <a:pt x="2164865" y="3304299"/>
                </a:lnTo>
                <a:lnTo>
                  <a:pt x="2140264" y="3304299"/>
                </a:lnTo>
                <a:lnTo>
                  <a:pt x="2115664" y="3304299"/>
                </a:lnTo>
                <a:lnTo>
                  <a:pt x="2091063" y="3304299"/>
                </a:lnTo>
                <a:lnTo>
                  <a:pt x="2066462" y="3304299"/>
                </a:lnTo>
                <a:lnTo>
                  <a:pt x="2041861" y="3304299"/>
                </a:lnTo>
                <a:lnTo>
                  <a:pt x="2017261" y="3304299"/>
                </a:lnTo>
                <a:lnTo>
                  <a:pt x="1992660" y="3304299"/>
                </a:lnTo>
                <a:lnTo>
                  <a:pt x="1968059" y="3304299"/>
                </a:lnTo>
                <a:lnTo>
                  <a:pt x="1943458" y="3304299"/>
                </a:lnTo>
                <a:lnTo>
                  <a:pt x="1918858" y="3304299"/>
                </a:lnTo>
                <a:lnTo>
                  <a:pt x="1894257" y="3304299"/>
                </a:lnTo>
                <a:lnTo>
                  <a:pt x="1869656" y="3304299"/>
                </a:lnTo>
                <a:lnTo>
                  <a:pt x="1845056" y="3304299"/>
                </a:lnTo>
                <a:lnTo>
                  <a:pt x="1820455" y="3304299"/>
                </a:lnTo>
                <a:lnTo>
                  <a:pt x="1795854" y="3304299"/>
                </a:lnTo>
                <a:lnTo>
                  <a:pt x="1771253" y="3304299"/>
                </a:lnTo>
                <a:lnTo>
                  <a:pt x="1746653" y="3304299"/>
                </a:lnTo>
                <a:lnTo>
                  <a:pt x="1722052" y="3304299"/>
                </a:lnTo>
                <a:lnTo>
                  <a:pt x="1697451" y="3304299"/>
                </a:lnTo>
                <a:lnTo>
                  <a:pt x="1672850" y="3304299"/>
                </a:lnTo>
                <a:lnTo>
                  <a:pt x="1648250" y="3304299"/>
                </a:lnTo>
                <a:lnTo>
                  <a:pt x="1623649" y="3304299"/>
                </a:lnTo>
                <a:lnTo>
                  <a:pt x="1599048" y="3304299"/>
                </a:lnTo>
                <a:lnTo>
                  <a:pt x="1574447" y="3304299"/>
                </a:lnTo>
                <a:lnTo>
                  <a:pt x="1549847" y="3304299"/>
                </a:lnTo>
                <a:lnTo>
                  <a:pt x="1525246" y="3304299"/>
                </a:lnTo>
                <a:lnTo>
                  <a:pt x="1500645" y="3304299"/>
                </a:lnTo>
                <a:lnTo>
                  <a:pt x="1476044" y="3304299"/>
                </a:lnTo>
                <a:lnTo>
                  <a:pt x="1451444" y="3304299"/>
                </a:lnTo>
                <a:lnTo>
                  <a:pt x="1426843" y="3304299"/>
                </a:lnTo>
                <a:lnTo>
                  <a:pt x="1402242" y="3304299"/>
                </a:lnTo>
                <a:lnTo>
                  <a:pt x="1377641" y="3304299"/>
                </a:lnTo>
                <a:lnTo>
                  <a:pt x="1353041" y="3304299"/>
                </a:lnTo>
                <a:lnTo>
                  <a:pt x="1328440" y="3304299"/>
                </a:lnTo>
                <a:lnTo>
                  <a:pt x="1303839" y="3304299"/>
                </a:lnTo>
                <a:lnTo>
                  <a:pt x="1279238" y="3304299"/>
                </a:lnTo>
                <a:lnTo>
                  <a:pt x="1254638" y="3304299"/>
                </a:lnTo>
                <a:lnTo>
                  <a:pt x="1230037" y="3304299"/>
                </a:lnTo>
                <a:lnTo>
                  <a:pt x="1205436" y="3304299"/>
                </a:lnTo>
                <a:lnTo>
                  <a:pt x="1180835" y="3304299"/>
                </a:lnTo>
                <a:lnTo>
                  <a:pt x="1156235" y="3304299"/>
                </a:lnTo>
                <a:lnTo>
                  <a:pt x="1131634" y="3304299"/>
                </a:lnTo>
                <a:lnTo>
                  <a:pt x="1107033" y="3304299"/>
                </a:lnTo>
                <a:lnTo>
                  <a:pt x="1082432" y="3304299"/>
                </a:lnTo>
                <a:lnTo>
                  <a:pt x="1057832" y="3304299"/>
                </a:lnTo>
                <a:lnTo>
                  <a:pt x="1033231" y="3304299"/>
                </a:lnTo>
                <a:lnTo>
                  <a:pt x="1008630" y="3304299"/>
                </a:lnTo>
                <a:lnTo>
                  <a:pt x="984029" y="3304299"/>
                </a:lnTo>
                <a:lnTo>
                  <a:pt x="959429" y="3304299"/>
                </a:lnTo>
                <a:lnTo>
                  <a:pt x="934828" y="3304299"/>
                </a:lnTo>
                <a:lnTo>
                  <a:pt x="910227" y="3304299"/>
                </a:lnTo>
                <a:lnTo>
                  <a:pt x="885626" y="3304299"/>
                </a:lnTo>
                <a:lnTo>
                  <a:pt x="861026" y="3304299"/>
                </a:lnTo>
                <a:lnTo>
                  <a:pt x="836425" y="3304299"/>
                </a:lnTo>
                <a:lnTo>
                  <a:pt x="811824" y="3304299"/>
                </a:lnTo>
                <a:lnTo>
                  <a:pt x="787223" y="3304299"/>
                </a:lnTo>
                <a:lnTo>
                  <a:pt x="762623" y="3304299"/>
                </a:lnTo>
                <a:lnTo>
                  <a:pt x="738022" y="3304299"/>
                </a:lnTo>
                <a:lnTo>
                  <a:pt x="713421" y="3304299"/>
                </a:lnTo>
                <a:lnTo>
                  <a:pt x="688820" y="3304299"/>
                </a:lnTo>
                <a:lnTo>
                  <a:pt x="664220" y="3304299"/>
                </a:lnTo>
                <a:lnTo>
                  <a:pt x="639619" y="3304299"/>
                </a:lnTo>
                <a:lnTo>
                  <a:pt x="615018" y="3304299"/>
                </a:lnTo>
                <a:lnTo>
                  <a:pt x="590417" y="3304299"/>
                </a:lnTo>
                <a:lnTo>
                  <a:pt x="565817" y="3304299"/>
                </a:lnTo>
                <a:lnTo>
                  <a:pt x="541216" y="3304299"/>
                </a:lnTo>
                <a:lnTo>
                  <a:pt x="516615" y="3304299"/>
                </a:lnTo>
                <a:lnTo>
                  <a:pt x="492014" y="3304299"/>
                </a:lnTo>
                <a:lnTo>
                  <a:pt x="467414" y="3304299"/>
                </a:lnTo>
                <a:lnTo>
                  <a:pt x="442813" y="3304299"/>
                </a:lnTo>
                <a:lnTo>
                  <a:pt x="418212" y="3304299"/>
                </a:lnTo>
                <a:lnTo>
                  <a:pt x="393611" y="3304299"/>
                </a:lnTo>
                <a:lnTo>
                  <a:pt x="369011" y="3304299"/>
                </a:lnTo>
                <a:lnTo>
                  <a:pt x="344410" y="3304299"/>
                </a:lnTo>
                <a:lnTo>
                  <a:pt x="319809" y="3304299"/>
                </a:lnTo>
                <a:lnTo>
                  <a:pt x="295208" y="3304299"/>
                </a:lnTo>
                <a:lnTo>
                  <a:pt x="270608" y="3304299"/>
                </a:lnTo>
                <a:lnTo>
                  <a:pt x="246007" y="3304299"/>
                </a:lnTo>
                <a:lnTo>
                  <a:pt x="221406" y="3304299"/>
                </a:lnTo>
                <a:lnTo>
                  <a:pt x="196805" y="3304299"/>
                </a:lnTo>
                <a:lnTo>
                  <a:pt x="172205" y="3304299"/>
                </a:lnTo>
                <a:lnTo>
                  <a:pt x="147604" y="3304299"/>
                </a:lnTo>
                <a:lnTo>
                  <a:pt x="123003" y="3304299"/>
                </a:lnTo>
                <a:lnTo>
                  <a:pt x="98402" y="3304299"/>
                </a:lnTo>
                <a:lnTo>
                  <a:pt x="73802" y="3304299"/>
                </a:lnTo>
                <a:lnTo>
                  <a:pt x="49201" y="3304299"/>
                </a:lnTo>
                <a:lnTo>
                  <a:pt x="24600" y="3304299"/>
                </a:lnTo>
                <a:lnTo>
                  <a:pt x="0" y="3304299"/>
                </a:lnTo>
                <a:close/>
              </a:path>
            </a:pathLst>
          </a:custGeom>
          <a:solidFill>
            <a:srgbClr val="8EDBD4">
              <a:alpha val="25000"/>
            </a:srgbClr>
          </a:solidFill>
          <a:ln w="10160">
            <a:solidFill>
              <a:srgbClr val="8EDBD4">
                <a:alpha val="2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A-E04 polygon 46" descr="sci-ppt:o046"/>
          <p:cNvSpPr/>
          <p:nvPr/>
        </p:nvSpPr>
        <p:spPr>
          <a:xfrm>
            <a:off x="4937760" y="1537062"/>
            <a:ext cx="2926080" cy="1654629"/>
          </a:xfrm>
          <a:custGeom>
            <a:avLst/>
            <a:gdLst/>
            <a:ahLst/>
            <a:cxnLst/>
            <a:rect l="l" t="t" r="r" b="b"/>
            <a:pathLst>
              <a:path w="2926080" h="1654629">
                <a:moveTo>
                  <a:pt x="0" y="1654629"/>
                </a:moveTo>
                <a:lnTo>
                  <a:pt x="29556" y="1654627"/>
                </a:lnTo>
                <a:lnTo>
                  <a:pt x="59112" y="1654615"/>
                </a:lnTo>
                <a:lnTo>
                  <a:pt x="88669" y="1654583"/>
                </a:lnTo>
                <a:lnTo>
                  <a:pt x="118225" y="1654520"/>
                </a:lnTo>
                <a:lnTo>
                  <a:pt x="147781" y="1654416"/>
                </a:lnTo>
                <a:lnTo>
                  <a:pt x="177338" y="1654261"/>
                </a:lnTo>
                <a:lnTo>
                  <a:pt x="206894" y="1654044"/>
                </a:lnTo>
                <a:lnTo>
                  <a:pt x="236450" y="1653756"/>
                </a:lnTo>
                <a:lnTo>
                  <a:pt x="266007" y="1653386"/>
                </a:lnTo>
                <a:lnTo>
                  <a:pt x="295563" y="1652924"/>
                </a:lnTo>
                <a:lnTo>
                  <a:pt x="325120" y="1652359"/>
                </a:lnTo>
                <a:lnTo>
                  <a:pt x="354676" y="1651682"/>
                </a:lnTo>
                <a:lnTo>
                  <a:pt x="384232" y="1650882"/>
                </a:lnTo>
                <a:lnTo>
                  <a:pt x="413789" y="1649950"/>
                </a:lnTo>
                <a:lnTo>
                  <a:pt x="443345" y="1648874"/>
                </a:lnTo>
                <a:lnTo>
                  <a:pt x="472901" y="1647644"/>
                </a:lnTo>
                <a:lnTo>
                  <a:pt x="502458" y="1646251"/>
                </a:lnTo>
                <a:lnTo>
                  <a:pt x="532014" y="1644684"/>
                </a:lnTo>
                <a:lnTo>
                  <a:pt x="561570" y="1642932"/>
                </a:lnTo>
                <a:lnTo>
                  <a:pt x="591127" y="1640987"/>
                </a:lnTo>
                <a:lnTo>
                  <a:pt x="620683" y="1638836"/>
                </a:lnTo>
                <a:lnTo>
                  <a:pt x="650240" y="1636471"/>
                </a:lnTo>
                <a:lnTo>
                  <a:pt x="679796" y="1633881"/>
                </a:lnTo>
                <a:lnTo>
                  <a:pt x="709352" y="1631055"/>
                </a:lnTo>
                <a:lnTo>
                  <a:pt x="738909" y="1627984"/>
                </a:lnTo>
                <a:lnTo>
                  <a:pt x="768465" y="1624657"/>
                </a:lnTo>
                <a:lnTo>
                  <a:pt x="798021" y="1621064"/>
                </a:lnTo>
                <a:lnTo>
                  <a:pt x="827578" y="1617195"/>
                </a:lnTo>
                <a:lnTo>
                  <a:pt x="857134" y="1613039"/>
                </a:lnTo>
                <a:lnTo>
                  <a:pt x="886690" y="1608586"/>
                </a:lnTo>
                <a:lnTo>
                  <a:pt x="916247" y="1603827"/>
                </a:lnTo>
                <a:lnTo>
                  <a:pt x="945803" y="1598750"/>
                </a:lnTo>
                <a:lnTo>
                  <a:pt x="975360" y="1593346"/>
                </a:lnTo>
                <a:lnTo>
                  <a:pt x="1004916" y="1587605"/>
                </a:lnTo>
                <a:lnTo>
                  <a:pt x="1034472" y="1581515"/>
                </a:lnTo>
                <a:lnTo>
                  <a:pt x="1064029" y="1575068"/>
                </a:lnTo>
                <a:lnTo>
                  <a:pt x="1093585" y="1568252"/>
                </a:lnTo>
                <a:lnTo>
                  <a:pt x="1123141" y="1561057"/>
                </a:lnTo>
                <a:lnTo>
                  <a:pt x="1152698" y="1553474"/>
                </a:lnTo>
                <a:lnTo>
                  <a:pt x="1182254" y="1545491"/>
                </a:lnTo>
                <a:lnTo>
                  <a:pt x="1211810" y="1537100"/>
                </a:lnTo>
                <a:lnTo>
                  <a:pt x="1241367" y="1528288"/>
                </a:lnTo>
                <a:lnTo>
                  <a:pt x="1270923" y="1519047"/>
                </a:lnTo>
                <a:lnTo>
                  <a:pt x="1300480" y="1509367"/>
                </a:lnTo>
                <a:lnTo>
                  <a:pt x="1330036" y="1499236"/>
                </a:lnTo>
                <a:lnTo>
                  <a:pt x="1359592" y="1488644"/>
                </a:lnTo>
                <a:lnTo>
                  <a:pt x="1389149" y="1477582"/>
                </a:lnTo>
                <a:lnTo>
                  <a:pt x="1418705" y="1466039"/>
                </a:lnTo>
                <a:lnTo>
                  <a:pt x="1448261" y="1454005"/>
                </a:lnTo>
                <a:lnTo>
                  <a:pt x="1477818" y="1441469"/>
                </a:lnTo>
                <a:lnTo>
                  <a:pt x="1507374" y="1428422"/>
                </a:lnTo>
                <a:lnTo>
                  <a:pt x="1536930" y="1414853"/>
                </a:lnTo>
                <a:lnTo>
                  <a:pt x="1566487" y="1400752"/>
                </a:lnTo>
                <a:lnTo>
                  <a:pt x="1596043" y="1386109"/>
                </a:lnTo>
                <a:lnTo>
                  <a:pt x="1625600" y="1370913"/>
                </a:lnTo>
                <a:lnTo>
                  <a:pt x="1655156" y="1355155"/>
                </a:lnTo>
                <a:lnTo>
                  <a:pt x="1684712" y="1338824"/>
                </a:lnTo>
                <a:lnTo>
                  <a:pt x="1714269" y="1321909"/>
                </a:lnTo>
                <a:lnTo>
                  <a:pt x="1743825" y="1304401"/>
                </a:lnTo>
                <a:lnTo>
                  <a:pt x="1773381" y="1286289"/>
                </a:lnTo>
                <a:lnTo>
                  <a:pt x="1802938" y="1267563"/>
                </a:lnTo>
                <a:lnTo>
                  <a:pt x="1832494" y="1248214"/>
                </a:lnTo>
                <a:lnTo>
                  <a:pt x="1862050" y="1228230"/>
                </a:lnTo>
                <a:lnTo>
                  <a:pt x="1891607" y="1207601"/>
                </a:lnTo>
                <a:lnTo>
                  <a:pt x="1921163" y="1186317"/>
                </a:lnTo>
                <a:lnTo>
                  <a:pt x="1950720" y="1164369"/>
                </a:lnTo>
                <a:lnTo>
                  <a:pt x="1980276" y="1141745"/>
                </a:lnTo>
                <a:lnTo>
                  <a:pt x="2009832" y="1118435"/>
                </a:lnTo>
                <a:lnTo>
                  <a:pt x="2039389" y="1094430"/>
                </a:lnTo>
                <a:lnTo>
                  <a:pt x="2068945" y="1069719"/>
                </a:lnTo>
                <a:lnTo>
                  <a:pt x="2098501" y="1044292"/>
                </a:lnTo>
                <a:lnTo>
                  <a:pt x="2128058" y="1018138"/>
                </a:lnTo>
                <a:lnTo>
                  <a:pt x="2157614" y="991247"/>
                </a:lnTo>
                <a:lnTo>
                  <a:pt x="2187170" y="963610"/>
                </a:lnTo>
                <a:lnTo>
                  <a:pt x="2216727" y="935215"/>
                </a:lnTo>
                <a:lnTo>
                  <a:pt x="2246283" y="906053"/>
                </a:lnTo>
                <a:lnTo>
                  <a:pt x="2275840" y="876114"/>
                </a:lnTo>
                <a:lnTo>
                  <a:pt x="2305396" y="845386"/>
                </a:lnTo>
                <a:lnTo>
                  <a:pt x="2334952" y="813861"/>
                </a:lnTo>
                <a:lnTo>
                  <a:pt x="2364509" y="781527"/>
                </a:lnTo>
                <a:lnTo>
                  <a:pt x="2394065" y="748375"/>
                </a:lnTo>
                <a:lnTo>
                  <a:pt x="2423621" y="714394"/>
                </a:lnTo>
                <a:lnTo>
                  <a:pt x="2453178" y="679574"/>
                </a:lnTo>
                <a:lnTo>
                  <a:pt x="2482734" y="643904"/>
                </a:lnTo>
                <a:lnTo>
                  <a:pt x="2512290" y="607376"/>
                </a:lnTo>
                <a:lnTo>
                  <a:pt x="2541847" y="569977"/>
                </a:lnTo>
                <a:lnTo>
                  <a:pt x="2571403" y="531699"/>
                </a:lnTo>
                <a:lnTo>
                  <a:pt x="2600960" y="492530"/>
                </a:lnTo>
                <a:lnTo>
                  <a:pt x="2630516" y="452462"/>
                </a:lnTo>
                <a:lnTo>
                  <a:pt x="2660072" y="411482"/>
                </a:lnTo>
                <a:lnTo>
                  <a:pt x="2689629" y="369582"/>
                </a:lnTo>
                <a:lnTo>
                  <a:pt x="2719185" y="326750"/>
                </a:lnTo>
                <a:lnTo>
                  <a:pt x="2748741" y="282977"/>
                </a:lnTo>
                <a:lnTo>
                  <a:pt x="2778298" y="238253"/>
                </a:lnTo>
                <a:lnTo>
                  <a:pt x="2807854" y="192567"/>
                </a:lnTo>
                <a:lnTo>
                  <a:pt x="2837410" y="145909"/>
                </a:lnTo>
                <a:lnTo>
                  <a:pt x="2866967" y="98269"/>
                </a:lnTo>
                <a:lnTo>
                  <a:pt x="2896523" y="49636"/>
                </a:lnTo>
                <a:lnTo>
                  <a:pt x="292608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A-E04 text 47" descr="sci-ppt:o047"/>
          <p:cNvSpPr txBox="1"/>
          <p:nvPr/>
        </p:nvSpPr>
        <p:spPr>
          <a:xfrm>
            <a:off x="5157216" y="1776548"/>
            <a:ext cx="1097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(1 + q³)</a:t>
            </a:r>
          </a:p>
        </p:txBody>
      </p:sp>
      <p:sp>
        <p:nvSpPr>
          <p:cNvPr id="50" name="A-E04 round_rect 48" descr="sci-ppt:o048"/>
          <p:cNvSpPr/>
          <p:nvPr/>
        </p:nvSpPr>
        <p:spPr>
          <a:xfrm>
            <a:off x="8229600" y="1371600"/>
            <a:ext cx="3611880" cy="34747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-E04 text 49" descr="sci-ppt:o049"/>
          <p:cNvSpPr txBox="1"/>
          <p:nvPr/>
        </p:nvSpPr>
        <p:spPr>
          <a:xfrm>
            <a:off x="8339327" y="1426464"/>
            <a:ext cx="33924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Change of variable</a:t>
            </a:r>
          </a:p>
        </p:txBody>
      </p:sp>
      <p:sp>
        <p:nvSpPr>
          <p:cNvPr id="52" name="A-E04 text 50" descr="sci-ppt:o050"/>
          <p:cNvSpPr txBox="1"/>
          <p:nvPr/>
        </p:nvSpPr>
        <p:spPr>
          <a:xfrm>
            <a:off x="8321040" y="1828800"/>
            <a:ext cx="34290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F0F3"/>
                </a:solidFill>
                <a:latin typeface="Arial"/>
              </a:rPr>
              <a:t>q³ = 1 − (R³ − R_ref³)/r³</a:t>
            </a:r>
          </a:p>
        </p:txBody>
      </p:sp>
      <p:sp>
        <p:nvSpPr>
          <p:cNvPr id="53" name="A-E04 text 51" descr="sci-ppt:o051"/>
          <p:cNvSpPr txBox="1"/>
          <p:nvPr/>
        </p:nvSpPr>
        <p:spPr>
          <a:xfrm>
            <a:off x="8321040" y="2377440"/>
            <a:ext cx="3429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dr/r = q² dq / (1 − q³)</a:t>
            </a:r>
          </a:p>
        </p:txBody>
      </p:sp>
      <p:sp>
        <p:nvSpPr>
          <p:cNvPr id="54" name="A-E04 text 52" descr="sci-ppt:o052"/>
          <p:cNvSpPr txBox="1"/>
          <p:nvPr/>
        </p:nvSpPr>
        <p:spPr>
          <a:xfrm>
            <a:off x="8321040" y="292608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(q⁻² − q⁴) dr/r = (1 + q³) dq</a:t>
            </a:r>
          </a:p>
        </p:txBody>
      </p:sp>
      <p:sp>
        <p:nvSpPr>
          <p:cNvPr id="55" name="A-E04 text 53" descr="sci-ppt:o053"/>
          <p:cNvSpPr txBox="1"/>
          <p:nvPr/>
        </p:nvSpPr>
        <p:spPr>
          <a:xfrm>
            <a:off x="8321040" y="3657600"/>
            <a:ext cx="3429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A messy spatial integral becomes 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polynomial.</a:t>
            </a:r>
          </a:p>
        </p:txBody>
      </p:sp>
      <p:sp>
        <p:nvSpPr>
          <p:cNvPr id="56" name="A-E04 text 54" descr="sci-ppt:o054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Check: (q⁻² − q⁴) q²/(1 − q³) = 1 + q³ on the whole range (max difference 1.3e-14).</a:t>
            </a:r>
          </a:p>
        </p:txBody>
      </p:sp>
      <p:sp>
        <p:nvSpPr>
          <p:cNvPr id="57" name="A-E04 text 55" descr="sci-ppt:o055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Exact change of variable of Eq. A-E04.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A-E05 · Derived neo-Hookean elastic resistance</a:t>
            </a:r>
          </a:p>
        </p:txBody>
      </p:sp>
      <p:cxnSp>
        <p:nvCxnSpPr>
          <p:cNvPr id="3" name="A-E05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5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5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5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5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5 line 6" descr="sci-ppt:o006"/>
          <p:cNvCxnSpPr/>
          <p:nvPr/>
        </p:nvCxnSpPr>
        <p:spPr>
          <a:xfrm>
            <a:off x="15646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5 line 7" descr="sci-ppt:o007"/>
          <p:cNvCxnSpPr/>
          <p:nvPr/>
        </p:nvCxnSpPr>
        <p:spPr>
          <a:xfrm>
            <a:off x="15646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5 text 8" descr="sci-ppt:o008"/>
          <p:cNvSpPr txBox="1"/>
          <p:nvPr/>
        </p:nvSpPr>
        <p:spPr>
          <a:xfrm>
            <a:off x="11074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5 line 9" descr="sci-ppt:o009"/>
          <p:cNvCxnSpPr/>
          <p:nvPr/>
        </p:nvCxnSpPr>
        <p:spPr>
          <a:xfrm>
            <a:off x="2865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5 line 10" descr="sci-ppt:o010"/>
          <p:cNvCxnSpPr/>
          <p:nvPr/>
        </p:nvCxnSpPr>
        <p:spPr>
          <a:xfrm>
            <a:off x="2865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5 text 11" descr="sci-ppt:o011"/>
          <p:cNvSpPr txBox="1"/>
          <p:nvPr/>
        </p:nvSpPr>
        <p:spPr>
          <a:xfrm>
            <a:off x="2407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4" name="A-E05 line 12" descr="sci-ppt:o012"/>
          <p:cNvCxnSpPr/>
          <p:nvPr/>
        </p:nvCxnSpPr>
        <p:spPr>
          <a:xfrm>
            <a:off x="4165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5 line 13" descr="sci-ppt:o013"/>
          <p:cNvCxnSpPr/>
          <p:nvPr/>
        </p:nvCxnSpPr>
        <p:spPr>
          <a:xfrm>
            <a:off x="4165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5 text 14" descr="sci-ppt:o014"/>
          <p:cNvSpPr txBox="1"/>
          <p:nvPr/>
        </p:nvSpPr>
        <p:spPr>
          <a:xfrm>
            <a:off x="3708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17" name="A-E05 line 15" descr="sci-ppt:o015"/>
          <p:cNvCxnSpPr/>
          <p:nvPr/>
        </p:nvCxnSpPr>
        <p:spPr>
          <a:xfrm>
            <a:off x="54660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5 line 16" descr="sci-ppt:o016"/>
          <p:cNvCxnSpPr/>
          <p:nvPr/>
        </p:nvCxnSpPr>
        <p:spPr>
          <a:xfrm>
            <a:off x="54660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5 text 17" descr="sci-ppt:o017"/>
          <p:cNvSpPr txBox="1"/>
          <p:nvPr/>
        </p:nvSpPr>
        <p:spPr>
          <a:xfrm>
            <a:off x="50088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</a:t>
            </a:r>
          </a:p>
        </p:txBody>
      </p:sp>
      <p:cxnSp>
        <p:nvCxnSpPr>
          <p:cNvPr id="20" name="A-E05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5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5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3" name="A-E05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5 line 22" descr="sci-ppt:o022"/>
          <p:cNvCxnSpPr/>
          <p:nvPr/>
        </p:nvCxnSpPr>
        <p:spPr>
          <a:xfrm>
            <a:off x="850392" y="437605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5 line 23" descr="sci-ppt:o023"/>
          <p:cNvCxnSpPr/>
          <p:nvPr/>
        </p:nvCxnSpPr>
        <p:spPr>
          <a:xfrm>
            <a:off x="914400" y="4376057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5 text 24" descr="sci-ppt:o024"/>
          <p:cNvSpPr txBox="1"/>
          <p:nvPr/>
        </p:nvSpPr>
        <p:spPr>
          <a:xfrm>
            <a:off x="45720" y="429376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7" name="A-E05 line 25" descr="sci-ppt:o025"/>
          <p:cNvCxnSpPr/>
          <p:nvPr/>
        </p:nvCxnSpPr>
        <p:spPr>
          <a:xfrm>
            <a:off x="850392" y="372291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05 line 26" descr="sci-ppt:o026"/>
          <p:cNvCxnSpPr/>
          <p:nvPr/>
        </p:nvCxnSpPr>
        <p:spPr>
          <a:xfrm>
            <a:off x="914400" y="3722914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05 text 27" descr="sci-ppt:o027"/>
          <p:cNvSpPr txBox="1"/>
          <p:nvPr/>
        </p:nvSpPr>
        <p:spPr>
          <a:xfrm>
            <a:off x="45720" y="36406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30" name="A-E05 line 28" descr="sci-ppt:o028"/>
          <p:cNvCxnSpPr/>
          <p:nvPr/>
        </p:nvCxnSpPr>
        <p:spPr>
          <a:xfrm>
            <a:off x="850392" y="3069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05 line 29" descr="sci-ppt:o029"/>
          <p:cNvCxnSpPr/>
          <p:nvPr/>
        </p:nvCxnSpPr>
        <p:spPr>
          <a:xfrm>
            <a:off x="914400" y="306977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05 text 30" descr="sci-ppt:o030"/>
          <p:cNvSpPr txBox="1"/>
          <p:nvPr/>
        </p:nvSpPr>
        <p:spPr>
          <a:xfrm>
            <a:off x="45720" y="2987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33" name="A-E05 line 31" descr="sci-ppt:o031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05 line 32" descr="sci-ppt:o032"/>
          <p:cNvCxnSpPr/>
          <p:nvPr/>
        </p:nvCxnSpPr>
        <p:spPr>
          <a:xfrm>
            <a:off x="914400" y="241662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05 text 33" descr="sci-ppt:o033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2.0</a:t>
            </a:r>
          </a:p>
        </p:txBody>
      </p:sp>
      <p:cxnSp>
        <p:nvCxnSpPr>
          <p:cNvPr id="36" name="A-E05 line 34" descr="sci-ppt:o034"/>
          <p:cNvCxnSpPr/>
          <p:nvPr/>
        </p:nvCxnSpPr>
        <p:spPr>
          <a:xfrm>
            <a:off x="850392" y="1763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A-E05 line 35" descr="sci-ppt:o035"/>
          <p:cNvCxnSpPr/>
          <p:nvPr/>
        </p:nvCxnSpPr>
        <p:spPr>
          <a:xfrm>
            <a:off x="914400" y="176348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A-E05 text 36" descr="sci-ppt:o036"/>
          <p:cNvSpPr txBox="1"/>
          <p:nvPr/>
        </p:nvSpPr>
        <p:spPr>
          <a:xfrm>
            <a:off x="45720" y="1681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2.5</a:t>
            </a:r>
          </a:p>
        </p:txBody>
      </p:sp>
      <p:sp>
        <p:nvSpPr>
          <p:cNvPr id="39" name="A-E05 text 37" descr="sci-ppt:o037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R_ref</a:t>
            </a:r>
          </a:p>
        </p:txBody>
      </p:sp>
      <p:sp>
        <p:nvSpPr>
          <p:cNvPr id="40" name="A-E05 text 38" descr="sci-ppt:o038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pₑₗ / G_g</a:t>
            </a:r>
          </a:p>
        </p:txBody>
      </p:sp>
      <p:sp>
        <p:nvSpPr>
          <p:cNvPr id="41" name="A-E05 polygon 39" descr="sci-ppt:o039"/>
          <p:cNvSpPr/>
          <p:nvPr/>
        </p:nvSpPr>
        <p:spPr>
          <a:xfrm>
            <a:off x="914400" y="2024808"/>
            <a:ext cx="5852160" cy="3004392"/>
          </a:xfrm>
          <a:custGeom>
            <a:avLst/>
            <a:gdLst/>
            <a:ahLst/>
            <a:cxnLst/>
            <a:rect l="l" t="t" r="r" b="b"/>
            <a:pathLst>
              <a:path w="5852160" h="3004392">
                <a:moveTo>
                  <a:pt x="0" y="3004392"/>
                </a:moveTo>
                <a:lnTo>
                  <a:pt x="39144" y="2719859"/>
                </a:lnTo>
                <a:lnTo>
                  <a:pt x="78289" y="2484984"/>
                </a:lnTo>
                <a:lnTo>
                  <a:pt x="117434" y="2287789"/>
                </a:lnTo>
                <a:lnTo>
                  <a:pt x="156579" y="2119775"/>
                </a:lnTo>
                <a:lnTo>
                  <a:pt x="195724" y="1974777"/>
                </a:lnTo>
                <a:lnTo>
                  <a:pt x="234869" y="1848232"/>
                </a:lnTo>
                <a:lnTo>
                  <a:pt x="274014" y="1736704"/>
                </a:lnTo>
                <a:lnTo>
                  <a:pt x="313159" y="1637559"/>
                </a:lnTo>
                <a:lnTo>
                  <a:pt x="352303" y="1548747"/>
                </a:lnTo>
                <a:lnTo>
                  <a:pt x="391448" y="1468652"/>
                </a:lnTo>
                <a:lnTo>
                  <a:pt x="430593" y="1395985"/>
                </a:lnTo>
                <a:lnTo>
                  <a:pt x="469738" y="1329701"/>
                </a:lnTo>
                <a:lnTo>
                  <a:pt x="508883" y="1268948"/>
                </a:lnTo>
                <a:lnTo>
                  <a:pt x="548028" y="1213024"/>
                </a:lnTo>
                <a:lnTo>
                  <a:pt x="587173" y="1161342"/>
                </a:lnTo>
                <a:lnTo>
                  <a:pt x="626318" y="1113410"/>
                </a:lnTo>
                <a:lnTo>
                  <a:pt x="665463" y="1068814"/>
                </a:lnTo>
                <a:lnTo>
                  <a:pt x="704607" y="1027197"/>
                </a:lnTo>
                <a:lnTo>
                  <a:pt x="743752" y="988255"/>
                </a:lnTo>
                <a:lnTo>
                  <a:pt x="782897" y="951726"/>
                </a:lnTo>
                <a:lnTo>
                  <a:pt x="822042" y="917381"/>
                </a:lnTo>
                <a:lnTo>
                  <a:pt x="861187" y="885021"/>
                </a:lnTo>
                <a:lnTo>
                  <a:pt x="900332" y="854471"/>
                </a:lnTo>
                <a:lnTo>
                  <a:pt x="939477" y="825576"/>
                </a:lnTo>
                <a:lnTo>
                  <a:pt x="978622" y="798200"/>
                </a:lnTo>
                <a:lnTo>
                  <a:pt x="1017766" y="772221"/>
                </a:lnTo>
                <a:lnTo>
                  <a:pt x="1056911" y="747531"/>
                </a:lnTo>
                <a:lnTo>
                  <a:pt x="1096056" y="724033"/>
                </a:lnTo>
                <a:lnTo>
                  <a:pt x="1135201" y="701640"/>
                </a:lnTo>
                <a:lnTo>
                  <a:pt x="1174346" y="680272"/>
                </a:lnTo>
                <a:lnTo>
                  <a:pt x="1213491" y="659859"/>
                </a:lnTo>
                <a:lnTo>
                  <a:pt x="1252636" y="640336"/>
                </a:lnTo>
                <a:lnTo>
                  <a:pt x="1291781" y="621644"/>
                </a:lnTo>
                <a:lnTo>
                  <a:pt x="1330926" y="603730"/>
                </a:lnTo>
                <a:lnTo>
                  <a:pt x="1370070" y="586546"/>
                </a:lnTo>
                <a:lnTo>
                  <a:pt x="1409215" y="570045"/>
                </a:lnTo>
                <a:lnTo>
                  <a:pt x="1448360" y="554188"/>
                </a:lnTo>
                <a:lnTo>
                  <a:pt x="1487505" y="538936"/>
                </a:lnTo>
                <a:lnTo>
                  <a:pt x="1526650" y="524255"/>
                </a:lnTo>
                <a:lnTo>
                  <a:pt x="1565795" y="510112"/>
                </a:lnTo>
                <a:lnTo>
                  <a:pt x="1604940" y="496479"/>
                </a:lnTo>
                <a:lnTo>
                  <a:pt x="1644085" y="483326"/>
                </a:lnTo>
                <a:lnTo>
                  <a:pt x="1683229" y="470629"/>
                </a:lnTo>
                <a:lnTo>
                  <a:pt x="1722374" y="458364"/>
                </a:lnTo>
                <a:lnTo>
                  <a:pt x="1761519" y="446510"/>
                </a:lnTo>
                <a:lnTo>
                  <a:pt x="1800664" y="435044"/>
                </a:lnTo>
                <a:lnTo>
                  <a:pt x="1839809" y="423949"/>
                </a:lnTo>
                <a:lnTo>
                  <a:pt x="1878954" y="413206"/>
                </a:lnTo>
                <a:lnTo>
                  <a:pt x="1918099" y="402799"/>
                </a:lnTo>
                <a:lnTo>
                  <a:pt x="1957244" y="392712"/>
                </a:lnTo>
                <a:lnTo>
                  <a:pt x="1996389" y="382929"/>
                </a:lnTo>
                <a:lnTo>
                  <a:pt x="2035533" y="373439"/>
                </a:lnTo>
                <a:lnTo>
                  <a:pt x="2074678" y="364226"/>
                </a:lnTo>
                <a:lnTo>
                  <a:pt x="2113823" y="355279"/>
                </a:lnTo>
                <a:lnTo>
                  <a:pt x="2152968" y="346587"/>
                </a:lnTo>
                <a:lnTo>
                  <a:pt x="2192113" y="338139"/>
                </a:lnTo>
                <a:lnTo>
                  <a:pt x="2231258" y="329925"/>
                </a:lnTo>
                <a:lnTo>
                  <a:pt x="2270403" y="321934"/>
                </a:lnTo>
                <a:lnTo>
                  <a:pt x="2309548" y="314158"/>
                </a:lnTo>
                <a:lnTo>
                  <a:pt x="2348692" y="306588"/>
                </a:lnTo>
                <a:lnTo>
                  <a:pt x="2387837" y="299217"/>
                </a:lnTo>
                <a:lnTo>
                  <a:pt x="2426982" y="292035"/>
                </a:lnTo>
                <a:lnTo>
                  <a:pt x="2466127" y="285037"/>
                </a:lnTo>
                <a:lnTo>
                  <a:pt x="2505272" y="278214"/>
                </a:lnTo>
                <a:lnTo>
                  <a:pt x="2544417" y="271561"/>
                </a:lnTo>
                <a:lnTo>
                  <a:pt x="2583562" y="265070"/>
                </a:lnTo>
                <a:lnTo>
                  <a:pt x="2622707" y="258737"/>
                </a:lnTo>
                <a:lnTo>
                  <a:pt x="2661852" y="252555"/>
                </a:lnTo>
                <a:lnTo>
                  <a:pt x="2700996" y="246520"/>
                </a:lnTo>
                <a:lnTo>
                  <a:pt x="2740141" y="240625"/>
                </a:lnTo>
                <a:lnTo>
                  <a:pt x="2779286" y="234866"/>
                </a:lnTo>
                <a:lnTo>
                  <a:pt x="2818431" y="229239"/>
                </a:lnTo>
                <a:lnTo>
                  <a:pt x="2857576" y="223738"/>
                </a:lnTo>
                <a:lnTo>
                  <a:pt x="2896721" y="218360"/>
                </a:lnTo>
                <a:lnTo>
                  <a:pt x="2935866" y="213100"/>
                </a:lnTo>
                <a:lnTo>
                  <a:pt x="2975011" y="207955"/>
                </a:lnTo>
                <a:lnTo>
                  <a:pt x="3014155" y="202921"/>
                </a:lnTo>
                <a:lnTo>
                  <a:pt x="3053300" y="197994"/>
                </a:lnTo>
                <a:lnTo>
                  <a:pt x="3092445" y="193171"/>
                </a:lnTo>
                <a:lnTo>
                  <a:pt x="3131590" y="188448"/>
                </a:lnTo>
                <a:lnTo>
                  <a:pt x="3170735" y="183823"/>
                </a:lnTo>
                <a:lnTo>
                  <a:pt x="3209880" y="179293"/>
                </a:lnTo>
                <a:lnTo>
                  <a:pt x="3249025" y="174854"/>
                </a:lnTo>
                <a:lnTo>
                  <a:pt x="3288170" y="170504"/>
                </a:lnTo>
                <a:lnTo>
                  <a:pt x="3327315" y="166240"/>
                </a:lnTo>
                <a:lnTo>
                  <a:pt x="3366459" y="162060"/>
                </a:lnTo>
                <a:lnTo>
                  <a:pt x="3405604" y="157961"/>
                </a:lnTo>
                <a:lnTo>
                  <a:pt x="3444749" y="153940"/>
                </a:lnTo>
                <a:lnTo>
                  <a:pt x="3483894" y="149997"/>
                </a:lnTo>
                <a:lnTo>
                  <a:pt x="3523039" y="146128"/>
                </a:lnTo>
                <a:lnTo>
                  <a:pt x="3562184" y="142331"/>
                </a:lnTo>
                <a:lnTo>
                  <a:pt x="3601329" y="138604"/>
                </a:lnTo>
                <a:lnTo>
                  <a:pt x="3640474" y="134946"/>
                </a:lnTo>
                <a:lnTo>
                  <a:pt x="3679618" y="131354"/>
                </a:lnTo>
                <a:lnTo>
                  <a:pt x="3718763" y="127827"/>
                </a:lnTo>
                <a:lnTo>
                  <a:pt x="3757908" y="124363"/>
                </a:lnTo>
                <a:lnTo>
                  <a:pt x="3797053" y="120960"/>
                </a:lnTo>
                <a:lnTo>
                  <a:pt x="3836198" y="117617"/>
                </a:lnTo>
                <a:lnTo>
                  <a:pt x="3875343" y="114332"/>
                </a:lnTo>
                <a:lnTo>
                  <a:pt x="3914488" y="111104"/>
                </a:lnTo>
                <a:lnTo>
                  <a:pt x="3953633" y="107930"/>
                </a:lnTo>
                <a:lnTo>
                  <a:pt x="3992778" y="104811"/>
                </a:lnTo>
                <a:lnTo>
                  <a:pt x="4031922" y="101744"/>
                </a:lnTo>
                <a:lnTo>
                  <a:pt x="4071067" y="98727"/>
                </a:lnTo>
                <a:lnTo>
                  <a:pt x="4110212" y="95761"/>
                </a:lnTo>
                <a:lnTo>
                  <a:pt x="4149357" y="92843"/>
                </a:lnTo>
                <a:lnTo>
                  <a:pt x="4188502" y="89973"/>
                </a:lnTo>
                <a:lnTo>
                  <a:pt x="4227647" y="87149"/>
                </a:lnTo>
                <a:lnTo>
                  <a:pt x="4266792" y="84370"/>
                </a:lnTo>
                <a:lnTo>
                  <a:pt x="4305937" y="81635"/>
                </a:lnTo>
                <a:lnTo>
                  <a:pt x="4345082" y="78943"/>
                </a:lnTo>
                <a:lnTo>
                  <a:pt x="4384226" y="76293"/>
                </a:lnTo>
                <a:lnTo>
                  <a:pt x="4423371" y="73684"/>
                </a:lnTo>
                <a:lnTo>
                  <a:pt x="4462516" y="71115"/>
                </a:lnTo>
                <a:lnTo>
                  <a:pt x="4501661" y="68585"/>
                </a:lnTo>
                <a:lnTo>
                  <a:pt x="4540806" y="66094"/>
                </a:lnTo>
                <a:lnTo>
                  <a:pt x="4579951" y="63639"/>
                </a:lnTo>
                <a:lnTo>
                  <a:pt x="4619096" y="61222"/>
                </a:lnTo>
                <a:lnTo>
                  <a:pt x="4658241" y="58840"/>
                </a:lnTo>
                <a:lnTo>
                  <a:pt x="4697385" y="56493"/>
                </a:lnTo>
                <a:lnTo>
                  <a:pt x="4736530" y="54181"/>
                </a:lnTo>
                <a:lnTo>
                  <a:pt x="4775675" y="51902"/>
                </a:lnTo>
                <a:lnTo>
                  <a:pt x="4814820" y="49655"/>
                </a:lnTo>
                <a:lnTo>
                  <a:pt x="4853965" y="47441"/>
                </a:lnTo>
                <a:lnTo>
                  <a:pt x="4893110" y="45258"/>
                </a:lnTo>
                <a:lnTo>
                  <a:pt x="4932255" y="43106"/>
                </a:lnTo>
                <a:lnTo>
                  <a:pt x="4971400" y="40983"/>
                </a:lnTo>
                <a:lnTo>
                  <a:pt x="5010545" y="38890"/>
                </a:lnTo>
                <a:lnTo>
                  <a:pt x="5049689" y="36826"/>
                </a:lnTo>
                <a:lnTo>
                  <a:pt x="5088834" y="34790"/>
                </a:lnTo>
                <a:lnTo>
                  <a:pt x="5127979" y="32782"/>
                </a:lnTo>
                <a:lnTo>
                  <a:pt x="5167124" y="30801"/>
                </a:lnTo>
                <a:lnTo>
                  <a:pt x="5206269" y="28847"/>
                </a:lnTo>
                <a:lnTo>
                  <a:pt x="5245414" y="26918"/>
                </a:lnTo>
                <a:lnTo>
                  <a:pt x="5284559" y="25015"/>
                </a:lnTo>
                <a:lnTo>
                  <a:pt x="5323704" y="23137"/>
                </a:lnTo>
                <a:lnTo>
                  <a:pt x="5362848" y="21283"/>
                </a:lnTo>
                <a:lnTo>
                  <a:pt x="5401993" y="19454"/>
                </a:lnTo>
                <a:lnTo>
                  <a:pt x="5441138" y="17648"/>
                </a:lnTo>
                <a:lnTo>
                  <a:pt x="5480283" y="15865"/>
                </a:lnTo>
                <a:lnTo>
                  <a:pt x="5519428" y="14105"/>
                </a:lnTo>
                <a:lnTo>
                  <a:pt x="5558573" y="12367"/>
                </a:lnTo>
                <a:lnTo>
                  <a:pt x="5597718" y="10650"/>
                </a:lnTo>
                <a:lnTo>
                  <a:pt x="5636863" y="8956"/>
                </a:lnTo>
                <a:lnTo>
                  <a:pt x="5676008" y="7282"/>
                </a:lnTo>
                <a:lnTo>
                  <a:pt x="5715152" y="5629"/>
                </a:lnTo>
                <a:lnTo>
                  <a:pt x="5754297" y="3996"/>
                </a:lnTo>
                <a:lnTo>
                  <a:pt x="5793442" y="2383"/>
                </a:lnTo>
                <a:lnTo>
                  <a:pt x="5832587" y="789"/>
                </a:lnTo>
                <a:lnTo>
                  <a:pt x="5852160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A-E05 line 40" descr="sci-ppt:o040"/>
          <p:cNvCxnSpPr/>
          <p:nvPr/>
        </p:nvCxnSpPr>
        <p:spPr>
          <a:xfrm>
            <a:off x="914400" y="1763485"/>
            <a:ext cx="5852160" cy="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sp>
        <p:nvSpPr>
          <p:cNvPr id="43" name="A-E05 text 41" descr="sci-ppt:o041"/>
          <p:cNvSpPr txBox="1"/>
          <p:nvPr/>
        </p:nvSpPr>
        <p:spPr>
          <a:xfrm>
            <a:off x="3588512" y="1698171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limit 5/2</a:t>
            </a:r>
          </a:p>
        </p:txBody>
      </p:sp>
      <p:sp>
        <p:nvSpPr>
          <p:cNvPr id="44" name="A-E05 ellipse 42" descr="sci-ppt:o042"/>
          <p:cNvSpPr/>
          <p:nvPr/>
        </p:nvSpPr>
        <p:spPr>
          <a:xfrm>
            <a:off x="4092447" y="212626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A-E05 text 43" descr="sci-ppt:o043"/>
          <p:cNvSpPr txBox="1"/>
          <p:nvPr/>
        </p:nvSpPr>
        <p:spPr>
          <a:xfrm>
            <a:off x="4165600" y="2519458"/>
            <a:ext cx="237744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R/R_ref = 6: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2.1663 G_g = 43325.6 Pa</a:t>
            </a:r>
          </a:p>
        </p:txBody>
      </p:sp>
      <p:sp>
        <p:nvSpPr>
          <p:cNvPr id="46" name="A-E05 round_rect 44" descr="sci-ppt:o044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A-E05 text 45" descr="sci-ppt:o045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Closed form</a:t>
            </a:r>
          </a:p>
        </p:txBody>
      </p:sp>
      <p:sp>
        <p:nvSpPr>
          <p:cNvPr id="48" name="A-E05 text 46" descr="sci-ppt:o046"/>
          <p:cNvSpPr txBox="1"/>
          <p:nvPr/>
        </p:nvSpPr>
        <p:spPr>
          <a:xfrm>
            <a:off x="7178040" y="1828800"/>
            <a:ext cx="4572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pₑₗ = 2G_g ∫ (1 + q³) dq   (q: R_ref/R → 1)</a:t>
            </a:r>
          </a:p>
        </p:txBody>
      </p:sp>
      <p:sp>
        <p:nvSpPr>
          <p:cNvPr id="49" name="A-E05 text 47" descr="sci-ppt:o047"/>
          <p:cNvSpPr txBox="1"/>
          <p:nvPr/>
        </p:nvSpPr>
        <p:spPr>
          <a:xfrm>
            <a:off x="7178040" y="233172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= 2G_g [q + q⁴/4]</a:t>
            </a:r>
          </a:p>
        </p:txBody>
      </p:sp>
      <p:sp>
        <p:nvSpPr>
          <p:cNvPr id="50" name="A-E05 text 48" descr="sci-ppt:o048"/>
          <p:cNvSpPr txBox="1"/>
          <p:nvPr/>
        </p:nvSpPr>
        <p:spPr>
          <a:xfrm>
            <a:off x="7178040" y="283464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= (G_g/2)[5 − 4R_ref/R − (R_ref/R)⁴]</a:t>
            </a:r>
          </a:p>
        </p:txBody>
      </p:sp>
      <p:sp>
        <p:nvSpPr>
          <p:cNvPr id="51" name="A-E05 text 49" descr="sci-ppt:o049"/>
          <p:cNvSpPr txBox="1"/>
          <p:nvPr/>
        </p:nvSpPr>
        <p:spPr>
          <a:xfrm>
            <a:off x="7178040" y="347472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Obtained from the stretch field, not a guessed constant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pressure.</a:t>
            </a:r>
          </a:p>
        </p:txBody>
      </p:sp>
      <p:sp>
        <p:nvSpPr>
          <p:cNvPr id="52" name="A-E05 text 50" descr="sci-ppt:o050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Resistance rises steeply at first and saturates near 5G_g/2 when the cavity is many times its reference size.</a:t>
            </a:r>
          </a:p>
        </p:txBody>
      </p:sp>
      <p:sp>
        <p:nvSpPr>
          <p:cNvPr id="53" name="A-E05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Neo-Hookean elastic resistance of Eq. A-E05 (curve normalised by G_g).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A-E06 · Limiting-state and sign checks</a:t>
            </a:r>
          </a:p>
        </p:txBody>
      </p:sp>
      <p:cxnSp>
        <p:nvCxnSpPr>
          <p:cNvPr id="3" name="A-E06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6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6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6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6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6 line 6" descr="sci-ppt:o006"/>
          <p:cNvCxnSpPr/>
          <p:nvPr/>
        </p:nvCxnSpPr>
        <p:spPr>
          <a:xfrm>
            <a:off x="15646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6 line 7" descr="sci-ppt:o007"/>
          <p:cNvCxnSpPr/>
          <p:nvPr/>
        </p:nvCxnSpPr>
        <p:spPr>
          <a:xfrm>
            <a:off x="15646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6 text 8" descr="sci-ppt:o008"/>
          <p:cNvSpPr txBox="1"/>
          <p:nvPr/>
        </p:nvSpPr>
        <p:spPr>
          <a:xfrm>
            <a:off x="11074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6 line 9" descr="sci-ppt:o009"/>
          <p:cNvCxnSpPr/>
          <p:nvPr/>
        </p:nvCxnSpPr>
        <p:spPr>
          <a:xfrm>
            <a:off x="2865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6 line 10" descr="sci-ppt:o010"/>
          <p:cNvCxnSpPr/>
          <p:nvPr/>
        </p:nvCxnSpPr>
        <p:spPr>
          <a:xfrm>
            <a:off x="2865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6 text 11" descr="sci-ppt:o011"/>
          <p:cNvSpPr txBox="1"/>
          <p:nvPr/>
        </p:nvSpPr>
        <p:spPr>
          <a:xfrm>
            <a:off x="2407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4" name="A-E06 line 12" descr="sci-ppt:o012"/>
          <p:cNvCxnSpPr/>
          <p:nvPr/>
        </p:nvCxnSpPr>
        <p:spPr>
          <a:xfrm>
            <a:off x="4165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6 line 13" descr="sci-ppt:o013"/>
          <p:cNvCxnSpPr/>
          <p:nvPr/>
        </p:nvCxnSpPr>
        <p:spPr>
          <a:xfrm>
            <a:off x="4165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6 text 14" descr="sci-ppt:o014"/>
          <p:cNvSpPr txBox="1"/>
          <p:nvPr/>
        </p:nvSpPr>
        <p:spPr>
          <a:xfrm>
            <a:off x="3708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17" name="A-E06 line 15" descr="sci-ppt:o015"/>
          <p:cNvCxnSpPr/>
          <p:nvPr/>
        </p:nvCxnSpPr>
        <p:spPr>
          <a:xfrm>
            <a:off x="54660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6 line 16" descr="sci-ppt:o016"/>
          <p:cNvCxnSpPr/>
          <p:nvPr/>
        </p:nvCxnSpPr>
        <p:spPr>
          <a:xfrm>
            <a:off x="54660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6 text 17" descr="sci-ppt:o017"/>
          <p:cNvSpPr txBox="1"/>
          <p:nvPr/>
        </p:nvSpPr>
        <p:spPr>
          <a:xfrm>
            <a:off x="50088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</a:t>
            </a:r>
          </a:p>
        </p:txBody>
      </p:sp>
      <p:cxnSp>
        <p:nvCxnSpPr>
          <p:cNvPr id="20" name="A-E06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6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6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3" name="A-E06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6 line 22" descr="sci-ppt:o022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6 line 23" descr="sci-ppt:o023"/>
          <p:cNvCxnSpPr/>
          <p:nvPr/>
        </p:nvCxnSpPr>
        <p:spPr>
          <a:xfrm>
            <a:off x="914400" y="415834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6 text 24" descr="sci-ppt:o024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7" name="A-E06 line 25" descr="sci-ppt:o025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06 line 26" descr="sci-ppt:o026"/>
          <p:cNvCxnSpPr/>
          <p:nvPr/>
        </p:nvCxnSpPr>
        <p:spPr>
          <a:xfrm>
            <a:off x="914400" y="328748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06 text 27" descr="sci-ppt:o027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0" name="A-E06 line 28" descr="sci-ppt:o028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06 line 29" descr="sci-ppt:o029"/>
          <p:cNvCxnSpPr/>
          <p:nvPr/>
        </p:nvCxnSpPr>
        <p:spPr>
          <a:xfrm>
            <a:off x="914400" y="241662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06 text 30" descr="sci-ppt:o030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3" name="A-E06 line 31" descr="sci-ppt:o031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06 line 32" descr="sci-ppt:o032"/>
          <p:cNvCxnSpPr/>
          <p:nvPr/>
        </p:nvCxnSpPr>
        <p:spPr>
          <a:xfrm>
            <a:off x="914400" y="154577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06 text 33" descr="sci-ppt:o033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36" name="A-E06 text 34" descr="sci-ppt:o034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R_ref</a:t>
            </a:r>
          </a:p>
        </p:txBody>
      </p:sp>
      <p:sp>
        <p:nvSpPr>
          <p:cNvPr id="37" name="A-E06 text 35" descr="sci-ppt:o035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R_ref · dpₑₗ/dR / G_g</a:t>
            </a:r>
          </a:p>
        </p:txBody>
      </p:sp>
      <p:sp>
        <p:nvSpPr>
          <p:cNvPr id="38" name="A-E06 polygon 36" descr="sci-ppt:o036"/>
          <p:cNvSpPr/>
          <p:nvPr/>
        </p:nvSpPr>
        <p:spPr>
          <a:xfrm>
            <a:off x="914400" y="1545771"/>
            <a:ext cx="5852160" cy="3465994"/>
          </a:xfrm>
          <a:custGeom>
            <a:avLst/>
            <a:gdLst/>
            <a:ahLst/>
            <a:cxnLst/>
            <a:rect l="l" t="t" r="r" b="b"/>
            <a:pathLst>
              <a:path w="5852160" h="3465994">
                <a:moveTo>
                  <a:pt x="0" y="0"/>
                </a:moveTo>
                <a:lnTo>
                  <a:pt x="39144" y="633617"/>
                </a:lnTo>
                <a:lnTo>
                  <a:pt x="78289" y="1109412"/>
                </a:lnTo>
                <a:lnTo>
                  <a:pt x="117434" y="1474451"/>
                </a:lnTo>
                <a:lnTo>
                  <a:pt x="156579" y="1759952"/>
                </a:lnTo>
                <a:lnTo>
                  <a:pt x="195724" y="1987129"/>
                </a:lnTo>
                <a:lnTo>
                  <a:pt x="234869" y="2170722"/>
                </a:lnTo>
                <a:lnTo>
                  <a:pt x="274014" y="2321176"/>
                </a:lnTo>
                <a:lnTo>
                  <a:pt x="313159" y="2446035"/>
                </a:lnTo>
                <a:lnTo>
                  <a:pt x="352303" y="2550836"/>
                </a:lnTo>
                <a:lnTo>
                  <a:pt x="391448" y="2639710"/>
                </a:lnTo>
                <a:lnTo>
                  <a:pt x="430593" y="2715780"/>
                </a:lnTo>
                <a:lnTo>
                  <a:pt x="469738" y="2781444"/>
                </a:lnTo>
                <a:lnTo>
                  <a:pt x="508883" y="2838562"/>
                </a:lnTo>
                <a:lnTo>
                  <a:pt x="548028" y="2888593"/>
                </a:lnTo>
                <a:lnTo>
                  <a:pt x="587173" y="2932698"/>
                </a:lnTo>
                <a:lnTo>
                  <a:pt x="626318" y="2971805"/>
                </a:lnTo>
                <a:lnTo>
                  <a:pt x="665463" y="3006666"/>
                </a:lnTo>
                <a:lnTo>
                  <a:pt x="704607" y="3037895"/>
                </a:lnTo>
                <a:lnTo>
                  <a:pt x="743752" y="3065997"/>
                </a:lnTo>
                <a:lnTo>
                  <a:pt x="782897" y="3091390"/>
                </a:lnTo>
                <a:lnTo>
                  <a:pt x="822042" y="3114424"/>
                </a:lnTo>
                <a:lnTo>
                  <a:pt x="861187" y="3135393"/>
                </a:lnTo>
                <a:lnTo>
                  <a:pt x="900332" y="3154545"/>
                </a:lnTo>
                <a:lnTo>
                  <a:pt x="939477" y="3172091"/>
                </a:lnTo>
                <a:lnTo>
                  <a:pt x="978622" y="3188212"/>
                </a:lnTo>
                <a:lnTo>
                  <a:pt x="1017766" y="3203064"/>
                </a:lnTo>
                <a:lnTo>
                  <a:pt x="1056911" y="3216780"/>
                </a:lnTo>
                <a:lnTo>
                  <a:pt x="1096056" y="3229478"/>
                </a:lnTo>
                <a:lnTo>
                  <a:pt x="1135201" y="3241259"/>
                </a:lnTo>
                <a:lnTo>
                  <a:pt x="1174346" y="3252211"/>
                </a:lnTo>
                <a:lnTo>
                  <a:pt x="1213491" y="3262414"/>
                </a:lnTo>
                <a:lnTo>
                  <a:pt x="1252636" y="3271936"/>
                </a:lnTo>
                <a:lnTo>
                  <a:pt x="1291781" y="3280838"/>
                </a:lnTo>
                <a:lnTo>
                  <a:pt x="1330926" y="3289174"/>
                </a:lnTo>
                <a:lnTo>
                  <a:pt x="1370070" y="3296992"/>
                </a:lnTo>
                <a:lnTo>
                  <a:pt x="1409215" y="3304336"/>
                </a:lnTo>
                <a:lnTo>
                  <a:pt x="1448360" y="3311244"/>
                </a:lnTo>
                <a:lnTo>
                  <a:pt x="1487505" y="3317750"/>
                </a:lnTo>
                <a:lnTo>
                  <a:pt x="1526650" y="3323887"/>
                </a:lnTo>
                <a:lnTo>
                  <a:pt x="1565795" y="3329682"/>
                </a:lnTo>
                <a:lnTo>
                  <a:pt x="1604940" y="3335160"/>
                </a:lnTo>
                <a:lnTo>
                  <a:pt x="1644085" y="3340345"/>
                </a:lnTo>
                <a:lnTo>
                  <a:pt x="1683229" y="3345258"/>
                </a:lnTo>
                <a:lnTo>
                  <a:pt x="1722374" y="3349917"/>
                </a:lnTo>
                <a:lnTo>
                  <a:pt x="1761519" y="3354341"/>
                </a:lnTo>
                <a:lnTo>
                  <a:pt x="1800664" y="3358545"/>
                </a:lnTo>
                <a:lnTo>
                  <a:pt x="1839809" y="3362543"/>
                </a:lnTo>
                <a:lnTo>
                  <a:pt x="1878954" y="3366350"/>
                </a:lnTo>
                <a:lnTo>
                  <a:pt x="1918099" y="3369977"/>
                </a:lnTo>
                <a:lnTo>
                  <a:pt x="1957244" y="3373436"/>
                </a:lnTo>
                <a:lnTo>
                  <a:pt x="1996389" y="3376737"/>
                </a:lnTo>
                <a:lnTo>
                  <a:pt x="2035533" y="3379889"/>
                </a:lnTo>
                <a:lnTo>
                  <a:pt x="2074678" y="3382902"/>
                </a:lnTo>
                <a:lnTo>
                  <a:pt x="2113823" y="3385784"/>
                </a:lnTo>
                <a:lnTo>
                  <a:pt x="2152968" y="3388543"/>
                </a:lnTo>
                <a:lnTo>
                  <a:pt x="2192113" y="3391185"/>
                </a:lnTo>
                <a:lnTo>
                  <a:pt x="2231258" y="3393717"/>
                </a:lnTo>
                <a:lnTo>
                  <a:pt x="2270403" y="3396145"/>
                </a:lnTo>
                <a:lnTo>
                  <a:pt x="2309548" y="3398475"/>
                </a:lnTo>
                <a:lnTo>
                  <a:pt x="2348692" y="3400711"/>
                </a:lnTo>
                <a:lnTo>
                  <a:pt x="2387837" y="3402860"/>
                </a:lnTo>
                <a:lnTo>
                  <a:pt x="2426982" y="3404926"/>
                </a:lnTo>
                <a:lnTo>
                  <a:pt x="2466127" y="3406912"/>
                </a:lnTo>
                <a:lnTo>
                  <a:pt x="2505272" y="3408823"/>
                </a:lnTo>
                <a:lnTo>
                  <a:pt x="2544417" y="3410664"/>
                </a:lnTo>
                <a:lnTo>
                  <a:pt x="2583562" y="3412436"/>
                </a:lnTo>
                <a:lnTo>
                  <a:pt x="2622707" y="3414144"/>
                </a:lnTo>
                <a:lnTo>
                  <a:pt x="2661852" y="3415790"/>
                </a:lnTo>
                <a:lnTo>
                  <a:pt x="2700996" y="3417378"/>
                </a:lnTo>
                <a:lnTo>
                  <a:pt x="2740141" y="3418911"/>
                </a:lnTo>
                <a:lnTo>
                  <a:pt x="2779286" y="3420390"/>
                </a:lnTo>
                <a:lnTo>
                  <a:pt x="2818431" y="3421819"/>
                </a:lnTo>
                <a:lnTo>
                  <a:pt x="2857576" y="3423199"/>
                </a:lnTo>
                <a:lnTo>
                  <a:pt x="2896721" y="3424533"/>
                </a:lnTo>
                <a:lnTo>
                  <a:pt x="2935866" y="3425824"/>
                </a:lnTo>
                <a:lnTo>
                  <a:pt x="2975011" y="3427072"/>
                </a:lnTo>
                <a:lnTo>
                  <a:pt x="3014155" y="3428279"/>
                </a:lnTo>
                <a:lnTo>
                  <a:pt x="3053300" y="3429448"/>
                </a:lnTo>
                <a:lnTo>
                  <a:pt x="3092445" y="3430580"/>
                </a:lnTo>
                <a:lnTo>
                  <a:pt x="3131590" y="3431677"/>
                </a:lnTo>
                <a:lnTo>
                  <a:pt x="3170735" y="3432740"/>
                </a:lnTo>
                <a:lnTo>
                  <a:pt x="3209880" y="3433770"/>
                </a:lnTo>
                <a:lnTo>
                  <a:pt x="3249025" y="3434769"/>
                </a:lnTo>
                <a:lnTo>
                  <a:pt x="3288170" y="3435738"/>
                </a:lnTo>
                <a:lnTo>
                  <a:pt x="3327315" y="3436678"/>
                </a:lnTo>
                <a:lnTo>
                  <a:pt x="3366459" y="3437591"/>
                </a:lnTo>
                <a:lnTo>
                  <a:pt x="3405604" y="3438477"/>
                </a:lnTo>
                <a:lnTo>
                  <a:pt x="3444749" y="3439337"/>
                </a:lnTo>
                <a:lnTo>
                  <a:pt x="3483894" y="3440173"/>
                </a:lnTo>
                <a:lnTo>
                  <a:pt x="3523039" y="3440985"/>
                </a:lnTo>
                <a:lnTo>
                  <a:pt x="3562184" y="3441775"/>
                </a:lnTo>
                <a:lnTo>
                  <a:pt x="3601329" y="3442542"/>
                </a:lnTo>
                <a:lnTo>
                  <a:pt x="3640474" y="3443289"/>
                </a:lnTo>
                <a:lnTo>
                  <a:pt x="3679618" y="3444015"/>
                </a:lnTo>
                <a:lnTo>
                  <a:pt x="3718763" y="3444722"/>
                </a:lnTo>
                <a:lnTo>
                  <a:pt x="3757908" y="3445409"/>
                </a:lnTo>
                <a:lnTo>
                  <a:pt x="3797053" y="3446079"/>
                </a:lnTo>
                <a:lnTo>
                  <a:pt x="3836198" y="3446731"/>
                </a:lnTo>
                <a:lnTo>
                  <a:pt x="3875343" y="3447366"/>
                </a:lnTo>
                <a:lnTo>
                  <a:pt x="3914488" y="3447984"/>
                </a:lnTo>
                <a:lnTo>
                  <a:pt x="3953633" y="3448587"/>
                </a:lnTo>
                <a:lnTo>
                  <a:pt x="3992778" y="3449174"/>
                </a:lnTo>
                <a:lnTo>
                  <a:pt x="4031922" y="3449747"/>
                </a:lnTo>
                <a:lnTo>
                  <a:pt x="4071067" y="3450305"/>
                </a:lnTo>
                <a:lnTo>
                  <a:pt x="4110212" y="3450850"/>
                </a:lnTo>
                <a:lnTo>
                  <a:pt x="4149357" y="3451381"/>
                </a:lnTo>
                <a:lnTo>
                  <a:pt x="4188502" y="3451899"/>
                </a:lnTo>
                <a:lnTo>
                  <a:pt x="4227647" y="3452405"/>
                </a:lnTo>
                <a:lnTo>
                  <a:pt x="4266792" y="3452899"/>
                </a:lnTo>
                <a:lnTo>
                  <a:pt x="4305937" y="3453381"/>
                </a:lnTo>
                <a:lnTo>
                  <a:pt x="4345082" y="3453851"/>
                </a:lnTo>
                <a:lnTo>
                  <a:pt x="4384226" y="3454311"/>
                </a:lnTo>
                <a:lnTo>
                  <a:pt x="4423371" y="3454760"/>
                </a:lnTo>
                <a:lnTo>
                  <a:pt x="4462516" y="3455199"/>
                </a:lnTo>
                <a:lnTo>
                  <a:pt x="4501661" y="3455627"/>
                </a:lnTo>
                <a:lnTo>
                  <a:pt x="4540806" y="3456046"/>
                </a:lnTo>
                <a:lnTo>
                  <a:pt x="4579951" y="3456456"/>
                </a:lnTo>
                <a:lnTo>
                  <a:pt x="4619096" y="3456856"/>
                </a:lnTo>
                <a:lnTo>
                  <a:pt x="4658241" y="3457248"/>
                </a:lnTo>
                <a:lnTo>
                  <a:pt x="4697385" y="3457631"/>
                </a:lnTo>
                <a:lnTo>
                  <a:pt x="4736530" y="3458005"/>
                </a:lnTo>
                <a:lnTo>
                  <a:pt x="4775675" y="3458372"/>
                </a:lnTo>
                <a:lnTo>
                  <a:pt x="4814820" y="3458730"/>
                </a:lnTo>
                <a:lnTo>
                  <a:pt x="4853965" y="3459081"/>
                </a:lnTo>
                <a:lnTo>
                  <a:pt x="4893110" y="3459425"/>
                </a:lnTo>
                <a:lnTo>
                  <a:pt x="4932255" y="3459761"/>
                </a:lnTo>
                <a:lnTo>
                  <a:pt x="4971400" y="3460090"/>
                </a:lnTo>
                <a:lnTo>
                  <a:pt x="5010545" y="3460413"/>
                </a:lnTo>
                <a:lnTo>
                  <a:pt x="5049689" y="3460728"/>
                </a:lnTo>
                <a:lnTo>
                  <a:pt x="5088834" y="3461038"/>
                </a:lnTo>
                <a:lnTo>
                  <a:pt x="5127979" y="3461341"/>
                </a:lnTo>
                <a:lnTo>
                  <a:pt x="5167124" y="3461637"/>
                </a:lnTo>
                <a:lnTo>
                  <a:pt x="5206269" y="3461928"/>
                </a:lnTo>
                <a:lnTo>
                  <a:pt x="5245414" y="3462214"/>
                </a:lnTo>
                <a:lnTo>
                  <a:pt x="5284559" y="3462493"/>
                </a:lnTo>
                <a:lnTo>
                  <a:pt x="5323704" y="3462767"/>
                </a:lnTo>
                <a:lnTo>
                  <a:pt x="5362848" y="3463036"/>
                </a:lnTo>
                <a:lnTo>
                  <a:pt x="5401993" y="3463299"/>
                </a:lnTo>
                <a:lnTo>
                  <a:pt x="5441138" y="3463557"/>
                </a:lnTo>
                <a:lnTo>
                  <a:pt x="5480283" y="3463811"/>
                </a:lnTo>
                <a:lnTo>
                  <a:pt x="5519428" y="3464059"/>
                </a:lnTo>
                <a:lnTo>
                  <a:pt x="5558573" y="3464303"/>
                </a:lnTo>
                <a:lnTo>
                  <a:pt x="5597718" y="3464543"/>
                </a:lnTo>
                <a:lnTo>
                  <a:pt x="5636863" y="3464777"/>
                </a:lnTo>
                <a:lnTo>
                  <a:pt x="5676008" y="3465008"/>
                </a:lnTo>
                <a:lnTo>
                  <a:pt x="5715152" y="3465234"/>
                </a:lnTo>
                <a:lnTo>
                  <a:pt x="5754297" y="3465456"/>
                </a:lnTo>
                <a:lnTo>
                  <a:pt x="5793442" y="3465674"/>
                </a:lnTo>
                <a:lnTo>
                  <a:pt x="5832587" y="3465888"/>
                </a:lnTo>
                <a:lnTo>
                  <a:pt x="5852160" y="3465994"/>
                </a:lnTo>
              </a:path>
            </a:pathLst>
          </a:custGeom>
          <a:noFill/>
          <a:ln w="4318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-E06 ellipse 37" descr="sci-ppt:o037"/>
          <p:cNvSpPr/>
          <p:nvPr/>
        </p:nvSpPr>
        <p:spPr>
          <a:xfrm>
            <a:off x="841248" y="1472619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06 text 38" descr="sci-ppt:o038"/>
          <p:cNvSpPr txBox="1"/>
          <p:nvPr/>
        </p:nvSpPr>
        <p:spPr>
          <a:xfrm>
            <a:off x="1051560" y="1454331"/>
            <a:ext cx="1737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slope 4 at R_ref</a:t>
            </a:r>
          </a:p>
        </p:txBody>
      </p:sp>
      <p:sp>
        <p:nvSpPr>
          <p:cNvPr id="41" name="A-E06 text 39" descr="sci-ppt:o039"/>
          <p:cNvSpPr txBox="1"/>
          <p:nvPr/>
        </p:nvSpPr>
        <p:spPr>
          <a:xfrm>
            <a:off x="2938272" y="4506685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positive everywhere: pₑₗ always increases</a:t>
            </a:r>
          </a:p>
        </p:txBody>
      </p:sp>
      <p:sp>
        <p:nvSpPr>
          <p:cNvPr id="42" name="A-E06 round_rect 40" descr="sci-ppt:o040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A-E06 text 41" descr="sci-ppt:o041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Three checks</a:t>
            </a:r>
          </a:p>
        </p:txBody>
      </p:sp>
      <p:sp>
        <p:nvSpPr>
          <p:cNvPr id="44" name="A-E06 text 42" descr="sci-ppt:o042"/>
          <p:cNvSpPr txBox="1"/>
          <p:nvPr/>
        </p:nvSpPr>
        <p:spPr>
          <a:xfrm>
            <a:off x="7178040" y="182880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pₑₗ(R_ref) = (G_g/2)(5 − 4 − 1) = 0</a:t>
            </a:r>
          </a:p>
        </p:txBody>
      </p:sp>
      <p:sp>
        <p:nvSpPr>
          <p:cNvPr id="45" name="A-E06 text 43" descr="sci-ppt:o043"/>
          <p:cNvSpPr txBox="1"/>
          <p:nvPr/>
        </p:nvSpPr>
        <p:spPr>
          <a:xfrm>
            <a:off x="7178040" y="237744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dpₑₗ/dR = 2G_g (R_ref/R² + R_ref⁴/R⁵) &gt; 0</a:t>
            </a:r>
          </a:p>
        </p:txBody>
      </p:sp>
      <p:sp>
        <p:nvSpPr>
          <p:cNvPr id="46" name="A-E06 text 44" descr="sci-ppt:o044"/>
          <p:cNvSpPr txBox="1"/>
          <p:nvPr/>
        </p:nvSpPr>
        <p:spPr>
          <a:xfrm>
            <a:off x="7178040" y="292608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lim R/R_ref → ∞: pₑₗ → 5G_g/2</a:t>
            </a:r>
          </a:p>
        </p:txBody>
      </p:sp>
      <p:sp>
        <p:nvSpPr>
          <p:cNvPr id="47" name="A-E06 text 45" descr="sci-ppt:o045"/>
          <p:cNvSpPr txBox="1"/>
          <p:nvPr/>
        </p:nvSpPr>
        <p:spPr>
          <a:xfrm>
            <a:off x="7178040" y="356616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Zero strain, zero resistance; expansion raises it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monotonically and boundedly.</a:t>
            </a:r>
          </a:p>
        </p:txBody>
      </p:sp>
      <p:sp>
        <p:nvSpPr>
          <p:cNvPr id="48" name="A-E06 text 46" descr="sci-ppt:o046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These checks guard against sign errors: a negative slope or a non-zero value at R_ref would signal a mistake.</a:t>
            </a:r>
          </a:p>
        </p:txBody>
      </p:sp>
      <p:sp>
        <p:nvSpPr>
          <p:cNvPr id="49" name="A-E06 text 47" descr="sci-ppt:o04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Limiting-state and sign checks of Eq. A-E06.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A-E07 · Exact work integral within the elastic model</a:t>
            </a:r>
          </a:p>
        </p:txBody>
      </p:sp>
      <p:cxnSp>
        <p:nvCxnSpPr>
          <p:cNvPr id="3" name="A-E07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7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7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7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7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8" name="A-E07 line 6" descr="sci-ppt:o006"/>
          <p:cNvCxnSpPr/>
          <p:nvPr/>
        </p:nvCxnSpPr>
        <p:spPr>
          <a:xfrm>
            <a:off x="208483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7 line 7" descr="sci-ppt:o007"/>
          <p:cNvCxnSpPr/>
          <p:nvPr/>
        </p:nvCxnSpPr>
        <p:spPr>
          <a:xfrm>
            <a:off x="208483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7 text 8" descr="sci-ppt:o008"/>
          <p:cNvSpPr txBox="1"/>
          <p:nvPr/>
        </p:nvSpPr>
        <p:spPr>
          <a:xfrm>
            <a:off x="162763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1" name="A-E07 line 9" descr="sci-ppt:o009"/>
          <p:cNvCxnSpPr/>
          <p:nvPr/>
        </p:nvCxnSpPr>
        <p:spPr>
          <a:xfrm>
            <a:off x="325526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7 line 10" descr="sci-ppt:o010"/>
          <p:cNvCxnSpPr/>
          <p:nvPr/>
        </p:nvCxnSpPr>
        <p:spPr>
          <a:xfrm>
            <a:off x="325526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7 text 11" descr="sci-ppt:o011"/>
          <p:cNvSpPr txBox="1"/>
          <p:nvPr/>
        </p:nvSpPr>
        <p:spPr>
          <a:xfrm>
            <a:off x="279806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14" name="A-E07 line 12" descr="sci-ppt:o012"/>
          <p:cNvCxnSpPr/>
          <p:nvPr/>
        </p:nvCxnSpPr>
        <p:spPr>
          <a:xfrm>
            <a:off x="442569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7 line 13" descr="sci-ppt:o013"/>
          <p:cNvCxnSpPr/>
          <p:nvPr/>
        </p:nvCxnSpPr>
        <p:spPr>
          <a:xfrm>
            <a:off x="442569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7 text 14" descr="sci-ppt:o014"/>
          <p:cNvSpPr txBox="1"/>
          <p:nvPr/>
        </p:nvSpPr>
        <p:spPr>
          <a:xfrm>
            <a:off x="396849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17" name="A-E07 line 15" descr="sci-ppt:o015"/>
          <p:cNvCxnSpPr/>
          <p:nvPr/>
        </p:nvCxnSpPr>
        <p:spPr>
          <a:xfrm>
            <a:off x="559612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7 line 16" descr="sci-ppt:o016"/>
          <p:cNvCxnSpPr/>
          <p:nvPr/>
        </p:nvCxnSpPr>
        <p:spPr>
          <a:xfrm>
            <a:off x="559612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7 text 17" descr="sci-ppt:o017"/>
          <p:cNvSpPr txBox="1"/>
          <p:nvPr/>
        </p:nvSpPr>
        <p:spPr>
          <a:xfrm>
            <a:off x="513892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</a:t>
            </a:r>
          </a:p>
        </p:txBody>
      </p:sp>
      <p:cxnSp>
        <p:nvCxnSpPr>
          <p:cNvPr id="20" name="A-E07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7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7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cxnSp>
        <p:nvCxnSpPr>
          <p:cNvPr id="23" name="A-E07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7 line 22" descr="sci-ppt:o022"/>
          <p:cNvCxnSpPr/>
          <p:nvPr/>
        </p:nvCxnSpPr>
        <p:spPr>
          <a:xfrm>
            <a:off x="850392" y="432581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7 line 23" descr="sci-ppt:o023"/>
          <p:cNvCxnSpPr/>
          <p:nvPr/>
        </p:nvCxnSpPr>
        <p:spPr>
          <a:xfrm>
            <a:off x="914400" y="432581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7 text 24" descr="sci-ppt:o024"/>
          <p:cNvSpPr txBox="1"/>
          <p:nvPr/>
        </p:nvSpPr>
        <p:spPr>
          <a:xfrm>
            <a:off x="45720" y="424351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7" name="A-E07 line 25" descr="sci-ppt:o025"/>
          <p:cNvCxnSpPr/>
          <p:nvPr/>
        </p:nvCxnSpPr>
        <p:spPr>
          <a:xfrm>
            <a:off x="850392" y="362243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07 line 26" descr="sci-ppt:o026"/>
          <p:cNvCxnSpPr/>
          <p:nvPr/>
        </p:nvCxnSpPr>
        <p:spPr>
          <a:xfrm>
            <a:off x="914400" y="362243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07 text 27" descr="sci-ppt:o027"/>
          <p:cNvSpPr txBox="1"/>
          <p:nvPr/>
        </p:nvSpPr>
        <p:spPr>
          <a:xfrm>
            <a:off x="45720" y="354013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0" name="A-E07 line 28" descr="sci-ppt:o028"/>
          <p:cNvCxnSpPr/>
          <p:nvPr/>
        </p:nvCxnSpPr>
        <p:spPr>
          <a:xfrm>
            <a:off x="850392" y="291904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07 line 29" descr="sci-ppt:o029"/>
          <p:cNvCxnSpPr/>
          <p:nvPr/>
        </p:nvCxnSpPr>
        <p:spPr>
          <a:xfrm>
            <a:off x="914400" y="2919046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07 text 30" descr="sci-ppt:o030"/>
          <p:cNvSpPr txBox="1"/>
          <p:nvPr/>
        </p:nvSpPr>
        <p:spPr>
          <a:xfrm>
            <a:off x="45720" y="283675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3" name="A-E07 line 31" descr="sci-ppt:o031"/>
          <p:cNvCxnSpPr/>
          <p:nvPr/>
        </p:nvCxnSpPr>
        <p:spPr>
          <a:xfrm>
            <a:off x="850392" y="221566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07 line 32" descr="sci-ppt:o032"/>
          <p:cNvCxnSpPr/>
          <p:nvPr/>
        </p:nvCxnSpPr>
        <p:spPr>
          <a:xfrm>
            <a:off x="914400" y="221566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07 text 33" descr="sci-ppt:o033"/>
          <p:cNvSpPr txBox="1"/>
          <p:nvPr/>
        </p:nvSpPr>
        <p:spPr>
          <a:xfrm>
            <a:off x="45720" y="213336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36" name="A-E07 line 34" descr="sci-ppt:o034"/>
          <p:cNvCxnSpPr/>
          <p:nvPr/>
        </p:nvCxnSpPr>
        <p:spPr>
          <a:xfrm>
            <a:off x="850392" y="151227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A-E07 line 35" descr="sci-ppt:o035"/>
          <p:cNvCxnSpPr/>
          <p:nvPr/>
        </p:nvCxnSpPr>
        <p:spPr>
          <a:xfrm>
            <a:off x="914400" y="1512276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A-E07 text 36" descr="sci-ppt:o036"/>
          <p:cNvSpPr txBox="1"/>
          <p:nvPr/>
        </p:nvSpPr>
        <p:spPr>
          <a:xfrm>
            <a:off x="45720" y="142998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sp>
        <p:nvSpPr>
          <p:cNvPr id="39" name="A-E07 text 37" descr="sci-ppt:o037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cavity radius R  (µm)</a:t>
            </a:r>
          </a:p>
        </p:txBody>
      </p:sp>
      <p:sp>
        <p:nvSpPr>
          <p:cNvPr id="40" name="A-E07 text 38" descr="sci-ppt:o038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stored work W_g  (nJ)</a:t>
            </a:r>
          </a:p>
        </p:txBody>
      </p:sp>
      <p:sp>
        <p:nvSpPr>
          <p:cNvPr id="41" name="A-E07 polygon 39" descr="sci-ppt:o039"/>
          <p:cNvSpPr/>
          <p:nvPr/>
        </p:nvSpPr>
        <p:spPr>
          <a:xfrm>
            <a:off x="914400" y="1852687"/>
            <a:ext cx="5852160" cy="3176513"/>
          </a:xfrm>
          <a:custGeom>
            <a:avLst/>
            <a:gdLst/>
            <a:ahLst/>
            <a:cxnLst/>
            <a:rect l="l" t="t" r="r" b="b"/>
            <a:pathLst>
              <a:path w="5852160" h="3176513">
                <a:moveTo>
                  <a:pt x="0" y="3176513"/>
                </a:moveTo>
                <a:lnTo>
                  <a:pt x="49177" y="3176434"/>
                </a:lnTo>
                <a:lnTo>
                  <a:pt x="98355" y="3176196"/>
                </a:lnTo>
                <a:lnTo>
                  <a:pt x="147533" y="3175793"/>
                </a:lnTo>
                <a:lnTo>
                  <a:pt x="196711" y="3175222"/>
                </a:lnTo>
                <a:lnTo>
                  <a:pt x="245889" y="3174476"/>
                </a:lnTo>
                <a:lnTo>
                  <a:pt x="295066" y="3173550"/>
                </a:lnTo>
                <a:lnTo>
                  <a:pt x="344244" y="3172438"/>
                </a:lnTo>
                <a:lnTo>
                  <a:pt x="393422" y="3171134"/>
                </a:lnTo>
                <a:lnTo>
                  <a:pt x="442600" y="3169630"/>
                </a:lnTo>
                <a:lnTo>
                  <a:pt x="491778" y="3167921"/>
                </a:lnTo>
                <a:lnTo>
                  <a:pt x="540955" y="3166000"/>
                </a:lnTo>
                <a:lnTo>
                  <a:pt x="590133" y="3163858"/>
                </a:lnTo>
                <a:lnTo>
                  <a:pt x="639311" y="3161490"/>
                </a:lnTo>
                <a:lnTo>
                  <a:pt x="688489" y="3158888"/>
                </a:lnTo>
                <a:lnTo>
                  <a:pt x="737667" y="3156044"/>
                </a:lnTo>
                <a:lnTo>
                  <a:pt x="786845" y="3152951"/>
                </a:lnTo>
                <a:lnTo>
                  <a:pt x="836022" y="3149602"/>
                </a:lnTo>
                <a:lnTo>
                  <a:pt x="885200" y="3145989"/>
                </a:lnTo>
                <a:lnTo>
                  <a:pt x="934378" y="3142103"/>
                </a:lnTo>
                <a:lnTo>
                  <a:pt x="983556" y="3137939"/>
                </a:lnTo>
                <a:lnTo>
                  <a:pt x="1032734" y="3133487"/>
                </a:lnTo>
                <a:lnTo>
                  <a:pt x="1081911" y="3128740"/>
                </a:lnTo>
                <a:lnTo>
                  <a:pt x="1131089" y="3123690"/>
                </a:lnTo>
                <a:lnTo>
                  <a:pt x="1180267" y="3118330"/>
                </a:lnTo>
                <a:lnTo>
                  <a:pt x="1229445" y="3112651"/>
                </a:lnTo>
                <a:lnTo>
                  <a:pt x="1278623" y="3106646"/>
                </a:lnTo>
                <a:lnTo>
                  <a:pt x="1327801" y="3100306"/>
                </a:lnTo>
                <a:lnTo>
                  <a:pt x="1376978" y="3093624"/>
                </a:lnTo>
                <a:lnTo>
                  <a:pt x="1426156" y="3086592"/>
                </a:lnTo>
                <a:lnTo>
                  <a:pt x="1475334" y="3079201"/>
                </a:lnTo>
                <a:lnTo>
                  <a:pt x="1524512" y="3071444"/>
                </a:lnTo>
                <a:lnTo>
                  <a:pt x="1573690" y="3063313"/>
                </a:lnTo>
                <a:lnTo>
                  <a:pt x="1622867" y="3054800"/>
                </a:lnTo>
                <a:lnTo>
                  <a:pt x="1672045" y="3045896"/>
                </a:lnTo>
                <a:lnTo>
                  <a:pt x="1721223" y="3036593"/>
                </a:lnTo>
                <a:lnTo>
                  <a:pt x="1770401" y="3026885"/>
                </a:lnTo>
                <a:lnTo>
                  <a:pt x="1819579" y="3016761"/>
                </a:lnTo>
                <a:lnTo>
                  <a:pt x="1868756" y="3006216"/>
                </a:lnTo>
                <a:lnTo>
                  <a:pt x="1917934" y="2995239"/>
                </a:lnTo>
                <a:lnTo>
                  <a:pt x="1967112" y="2983824"/>
                </a:lnTo>
                <a:lnTo>
                  <a:pt x="2016290" y="2971961"/>
                </a:lnTo>
                <a:lnTo>
                  <a:pt x="2065468" y="2959644"/>
                </a:lnTo>
                <a:lnTo>
                  <a:pt x="2114646" y="2946864"/>
                </a:lnTo>
                <a:lnTo>
                  <a:pt x="2163823" y="2933612"/>
                </a:lnTo>
                <a:lnTo>
                  <a:pt x="2213001" y="2919881"/>
                </a:lnTo>
                <a:lnTo>
                  <a:pt x="2262179" y="2905663"/>
                </a:lnTo>
                <a:lnTo>
                  <a:pt x="2311357" y="2890949"/>
                </a:lnTo>
                <a:lnTo>
                  <a:pt x="2360535" y="2875731"/>
                </a:lnTo>
                <a:lnTo>
                  <a:pt x="2409712" y="2860002"/>
                </a:lnTo>
                <a:lnTo>
                  <a:pt x="2458890" y="2843753"/>
                </a:lnTo>
                <a:lnTo>
                  <a:pt x="2508068" y="2826975"/>
                </a:lnTo>
                <a:lnTo>
                  <a:pt x="2557246" y="2809661"/>
                </a:lnTo>
                <a:lnTo>
                  <a:pt x="2606424" y="2791803"/>
                </a:lnTo>
                <a:lnTo>
                  <a:pt x="2655602" y="2773392"/>
                </a:lnTo>
                <a:lnTo>
                  <a:pt x="2704779" y="2754421"/>
                </a:lnTo>
                <a:lnTo>
                  <a:pt x="2753957" y="2734880"/>
                </a:lnTo>
                <a:lnTo>
                  <a:pt x="2803135" y="2714763"/>
                </a:lnTo>
                <a:lnTo>
                  <a:pt x="2852313" y="2694060"/>
                </a:lnTo>
                <a:lnTo>
                  <a:pt x="2901491" y="2672764"/>
                </a:lnTo>
                <a:lnTo>
                  <a:pt x="2950668" y="2650867"/>
                </a:lnTo>
                <a:lnTo>
                  <a:pt x="2999846" y="2628360"/>
                </a:lnTo>
                <a:lnTo>
                  <a:pt x="3049024" y="2605235"/>
                </a:lnTo>
                <a:lnTo>
                  <a:pt x="3098202" y="2581484"/>
                </a:lnTo>
                <a:lnTo>
                  <a:pt x="3147380" y="2557099"/>
                </a:lnTo>
                <a:lnTo>
                  <a:pt x="3196557" y="2532071"/>
                </a:lnTo>
                <a:lnTo>
                  <a:pt x="3245735" y="2506393"/>
                </a:lnTo>
                <a:lnTo>
                  <a:pt x="3294913" y="2480057"/>
                </a:lnTo>
                <a:lnTo>
                  <a:pt x="3344091" y="2453053"/>
                </a:lnTo>
                <a:lnTo>
                  <a:pt x="3393269" y="2425375"/>
                </a:lnTo>
                <a:lnTo>
                  <a:pt x="3442447" y="2397013"/>
                </a:lnTo>
                <a:lnTo>
                  <a:pt x="3491624" y="2367960"/>
                </a:lnTo>
                <a:lnTo>
                  <a:pt x="3540802" y="2338208"/>
                </a:lnTo>
                <a:lnTo>
                  <a:pt x="3589980" y="2307747"/>
                </a:lnTo>
                <a:lnTo>
                  <a:pt x="3639158" y="2276571"/>
                </a:lnTo>
                <a:lnTo>
                  <a:pt x="3688336" y="2244671"/>
                </a:lnTo>
                <a:lnTo>
                  <a:pt x="3737513" y="2212039"/>
                </a:lnTo>
                <a:lnTo>
                  <a:pt x="3786691" y="2178666"/>
                </a:lnTo>
                <a:lnTo>
                  <a:pt x="3835869" y="2144544"/>
                </a:lnTo>
                <a:lnTo>
                  <a:pt x="3885047" y="2109666"/>
                </a:lnTo>
                <a:lnTo>
                  <a:pt x="3934225" y="2074023"/>
                </a:lnTo>
                <a:lnTo>
                  <a:pt x="3983403" y="2037606"/>
                </a:lnTo>
                <a:lnTo>
                  <a:pt x="4032580" y="2000408"/>
                </a:lnTo>
                <a:lnTo>
                  <a:pt x="4081758" y="1962421"/>
                </a:lnTo>
                <a:lnTo>
                  <a:pt x="4130936" y="1923636"/>
                </a:lnTo>
                <a:lnTo>
                  <a:pt x="4180114" y="1884045"/>
                </a:lnTo>
                <a:lnTo>
                  <a:pt x="4229292" y="1843640"/>
                </a:lnTo>
                <a:lnTo>
                  <a:pt x="4278469" y="1802413"/>
                </a:lnTo>
                <a:lnTo>
                  <a:pt x="4327647" y="1760355"/>
                </a:lnTo>
                <a:lnTo>
                  <a:pt x="4376825" y="1717459"/>
                </a:lnTo>
                <a:lnTo>
                  <a:pt x="4426003" y="1673716"/>
                </a:lnTo>
                <a:lnTo>
                  <a:pt x="4475181" y="1629118"/>
                </a:lnTo>
                <a:lnTo>
                  <a:pt x="4524358" y="1583657"/>
                </a:lnTo>
                <a:lnTo>
                  <a:pt x="4573536" y="1537324"/>
                </a:lnTo>
                <a:lnTo>
                  <a:pt x="4622714" y="1490112"/>
                </a:lnTo>
                <a:lnTo>
                  <a:pt x="4671892" y="1442012"/>
                </a:lnTo>
                <a:lnTo>
                  <a:pt x="4721070" y="1393016"/>
                </a:lnTo>
                <a:lnTo>
                  <a:pt x="4770248" y="1343116"/>
                </a:lnTo>
                <a:lnTo>
                  <a:pt x="4819425" y="1292304"/>
                </a:lnTo>
                <a:lnTo>
                  <a:pt x="4868603" y="1240571"/>
                </a:lnTo>
                <a:lnTo>
                  <a:pt x="4917781" y="1187910"/>
                </a:lnTo>
                <a:lnTo>
                  <a:pt x="4966959" y="1134311"/>
                </a:lnTo>
                <a:lnTo>
                  <a:pt x="5016137" y="1079768"/>
                </a:lnTo>
                <a:lnTo>
                  <a:pt x="5065314" y="1024271"/>
                </a:lnTo>
                <a:lnTo>
                  <a:pt x="5114492" y="967813"/>
                </a:lnTo>
                <a:lnTo>
                  <a:pt x="5163670" y="910386"/>
                </a:lnTo>
                <a:lnTo>
                  <a:pt x="5212848" y="851980"/>
                </a:lnTo>
                <a:lnTo>
                  <a:pt x="5262026" y="792588"/>
                </a:lnTo>
                <a:lnTo>
                  <a:pt x="5311204" y="732203"/>
                </a:lnTo>
                <a:lnTo>
                  <a:pt x="5360381" y="670815"/>
                </a:lnTo>
                <a:lnTo>
                  <a:pt x="5409559" y="608416"/>
                </a:lnTo>
                <a:lnTo>
                  <a:pt x="5458737" y="544998"/>
                </a:lnTo>
                <a:lnTo>
                  <a:pt x="5507915" y="480554"/>
                </a:lnTo>
                <a:lnTo>
                  <a:pt x="5557093" y="415074"/>
                </a:lnTo>
                <a:lnTo>
                  <a:pt x="5606270" y="348551"/>
                </a:lnTo>
                <a:lnTo>
                  <a:pt x="5655448" y="280977"/>
                </a:lnTo>
                <a:lnTo>
                  <a:pt x="5704626" y="212343"/>
                </a:lnTo>
                <a:lnTo>
                  <a:pt x="5753804" y="142641"/>
                </a:lnTo>
                <a:lnTo>
                  <a:pt x="5802982" y="71862"/>
                </a:lnTo>
                <a:lnTo>
                  <a:pt x="5852160" y="0"/>
                </a:lnTo>
                <a:lnTo>
                  <a:pt x="5852160" y="3176513"/>
                </a:lnTo>
                <a:lnTo>
                  <a:pt x="5802982" y="3176513"/>
                </a:lnTo>
                <a:lnTo>
                  <a:pt x="5753804" y="3176513"/>
                </a:lnTo>
                <a:lnTo>
                  <a:pt x="5704626" y="3176513"/>
                </a:lnTo>
                <a:lnTo>
                  <a:pt x="5655448" y="3176513"/>
                </a:lnTo>
                <a:lnTo>
                  <a:pt x="5606270" y="3176513"/>
                </a:lnTo>
                <a:lnTo>
                  <a:pt x="5557093" y="3176513"/>
                </a:lnTo>
                <a:lnTo>
                  <a:pt x="5507915" y="3176513"/>
                </a:lnTo>
                <a:lnTo>
                  <a:pt x="5458737" y="3176513"/>
                </a:lnTo>
                <a:lnTo>
                  <a:pt x="5409559" y="3176513"/>
                </a:lnTo>
                <a:lnTo>
                  <a:pt x="5360381" y="3176513"/>
                </a:lnTo>
                <a:lnTo>
                  <a:pt x="5311204" y="3176513"/>
                </a:lnTo>
                <a:lnTo>
                  <a:pt x="5262026" y="3176513"/>
                </a:lnTo>
                <a:lnTo>
                  <a:pt x="5212848" y="3176513"/>
                </a:lnTo>
                <a:lnTo>
                  <a:pt x="5163670" y="3176513"/>
                </a:lnTo>
                <a:lnTo>
                  <a:pt x="5114492" y="3176513"/>
                </a:lnTo>
                <a:lnTo>
                  <a:pt x="5065314" y="3176513"/>
                </a:lnTo>
                <a:lnTo>
                  <a:pt x="5016137" y="3176513"/>
                </a:lnTo>
                <a:lnTo>
                  <a:pt x="4966959" y="3176513"/>
                </a:lnTo>
                <a:lnTo>
                  <a:pt x="4917781" y="3176513"/>
                </a:lnTo>
                <a:lnTo>
                  <a:pt x="4868603" y="3176513"/>
                </a:lnTo>
                <a:lnTo>
                  <a:pt x="4819425" y="3176513"/>
                </a:lnTo>
                <a:lnTo>
                  <a:pt x="4770248" y="3176513"/>
                </a:lnTo>
                <a:lnTo>
                  <a:pt x="4721070" y="3176513"/>
                </a:lnTo>
                <a:lnTo>
                  <a:pt x="4671892" y="3176513"/>
                </a:lnTo>
                <a:lnTo>
                  <a:pt x="4622714" y="3176513"/>
                </a:lnTo>
                <a:lnTo>
                  <a:pt x="4573536" y="3176513"/>
                </a:lnTo>
                <a:lnTo>
                  <a:pt x="4524358" y="3176513"/>
                </a:lnTo>
                <a:lnTo>
                  <a:pt x="4475181" y="3176513"/>
                </a:lnTo>
                <a:lnTo>
                  <a:pt x="4426003" y="3176513"/>
                </a:lnTo>
                <a:lnTo>
                  <a:pt x="4376825" y="3176513"/>
                </a:lnTo>
                <a:lnTo>
                  <a:pt x="4327647" y="3176513"/>
                </a:lnTo>
                <a:lnTo>
                  <a:pt x="4278469" y="3176513"/>
                </a:lnTo>
                <a:lnTo>
                  <a:pt x="4229292" y="3176513"/>
                </a:lnTo>
                <a:lnTo>
                  <a:pt x="4180114" y="3176513"/>
                </a:lnTo>
                <a:lnTo>
                  <a:pt x="4130936" y="3176513"/>
                </a:lnTo>
                <a:lnTo>
                  <a:pt x="4081758" y="3176513"/>
                </a:lnTo>
                <a:lnTo>
                  <a:pt x="4032580" y="3176513"/>
                </a:lnTo>
                <a:lnTo>
                  <a:pt x="3983403" y="3176513"/>
                </a:lnTo>
                <a:lnTo>
                  <a:pt x="3934225" y="3176513"/>
                </a:lnTo>
                <a:lnTo>
                  <a:pt x="3885047" y="3176513"/>
                </a:lnTo>
                <a:lnTo>
                  <a:pt x="3835869" y="3176513"/>
                </a:lnTo>
                <a:lnTo>
                  <a:pt x="3786691" y="3176513"/>
                </a:lnTo>
                <a:lnTo>
                  <a:pt x="3737513" y="3176513"/>
                </a:lnTo>
                <a:lnTo>
                  <a:pt x="3688336" y="3176513"/>
                </a:lnTo>
                <a:lnTo>
                  <a:pt x="3639158" y="3176513"/>
                </a:lnTo>
                <a:lnTo>
                  <a:pt x="3589980" y="3176513"/>
                </a:lnTo>
                <a:lnTo>
                  <a:pt x="3540802" y="3176513"/>
                </a:lnTo>
                <a:lnTo>
                  <a:pt x="3491624" y="3176513"/>
                </a:lnTo>
                <a:lnTo>
                  <a:pt x="3442447" y="3176513"/>
                </a:lnTo>
                <a:lnTo>
                  <a:pt x="3393269" y="3176513"/>
                </a:lnTo>
                <a:lnTo>
                  <a:pt x="3344091" y="3176513"/>
                </a:lnTo>
                <a:lnTo>
                  <a:pt x="3294913" y="3176513"/>
                </a:lnTo>
                <a:lnTo>
                  <a:pt x="3245735" y="3176513"/>
                </a:lnTo>
                <a:lnTo>
                  <a:pt x="3196557" y="3176513"/>
                </a:lnTo>
                <a:lnTo>
                  <a:pt x="3147380" y="3176513"/>
                </a:lnTo>
                <a:lnTo>
                  <a:pt x="3098202" y="3176513"/>
                </a:lnTo>
                <a:lnTo>
                  <a:pt x="3049024" y="3176513"/>
                </a:lnTo>
                <a:lnTo>
                  <a:pt x="2999846" y="3176513"/>
                </a:lnTo>
                <a:lnTo>
                  <a:pt x="2950668" y="3176513"/>
                </a:lnTo>
                <a:lnTo>
                  <a:pt x="2901491" y="3176513"/>
                </a:lnTo>
                <a:lnTo>
                  <a:pt x="2852313" y="3176513"/>
                </a:lnTo>
                <a:lnTo>
                  <a:pt x="2803135" y="3176513"/>
                </a:lnTo>
                <a:lnTo>
                  <a:pt x="2753957" y="3176513"/>
                </a:lnTo>
                <a:lnTo>
                  <a:pt x="2704779" y="3176513"/>
                </a:lnTo>
                <a:lnTo>
                  <a:pt x="2655602" y="3176513"/>
                </a:lnTo>
                <a:lnTo>
                  <a:pt x="2606424" y="3176513"/>
                </a:lnTo>
                <a:lnTo>
                  <a:pt x="2557246" y="3176513"/>
                </a:lnTo>
                <a:lnTo>
                  <a:pt x="2508068" y="3176513"/>
                </a:lnTo>
                <a:lnTo>
                  <a:pt x="2458890" y="3176513"/>
                </a:lnTo>
                <a:lnTo>
                  <a:pt x="2409712" y="3176513"/>
                </a:lnTo>
                <a:lnTo>
                  <a:pt x="2360535" y="3176513"/>
                </a:lnTo>
                <a:lnTo>
                  <a:pt x="2311357" y="3176513"/>
                </a:lnTo>
                <a:lnTo>
                  <a:pt x="2262179" y="3176513"/>
                </a:lnTo>
                <a:lnTo>
                  <a:pt x="2213001" y="3176513"/>
                </a:lnTo>
                <a:lnTo>
                  <a:pt x="2163823" y="3176513"/>
                </a:lnTo>
                <a:lnTo>
                  <a:pt x="2114646" y="3176513"/>
                </a:lnTo>
                <a:lnTo>
                  <a:pt x="2065468" y="3176513"/>
                </a:lnTo>
                <a:lnTo>
                  <a:pt x="2016290" y="3176513"/>
                </a:lnTo>
                <a:lnTo>
                  <a:pt x="1967112" y="3176513"/>
                </a:lnTo>
                <a:lnTo>
                  <a:pt x="1917934" y="3176513"/>
                </a:lnTo>
                <a:lnTo>
                  <a:pt x="1868756" y="3176513"/>
                </a:lnTo>
                <a:lnTo>
                  <a:pt x="1819579" y="3176513"/>
                </a:lnTo>
                <a:lnTo>
                  <a:pt x="1770401" y="3176513"/>
                </a:lnTo>
                <a:lnTo>
                  <a:pt x="1721223" y="3176513"/>
                </a:lnTo>
                <a:lnTo>
                  <a:pt x="1672045" y="3176513"/>
                </a:lnTo>
                <a:lnTo>
                  <a:pt x="1622867" y="3176513"/>
                </a:lnTo>
                <a:lnTo>
                  <a:pt x="1573690" y="3176513"/>
                </a:lnTo>
                <a:lnTo>
                  <a:pt x="1524512" y="3176513"/>
                </a:lnTo>
                <a:lnTo>
                  <a:pt x="1475334" y="3176513"/>
                </a:lnTo>
                <a:lnTo>
                  <a:pt x="1426156" y="3176513"/>
                </a:lnTo>
                <a:lnTo>
                  <a:pt x="1376978" y="3176513"/>
                </a:lnTo>
                <a:lnTo>
                  <a:pt x="1327801" y="3176513"/>
                </a:lnTo>
                <a:lnTo>
                  <a:pt x="1278623" y="3176513"/>
                </a:lnTo>
                <a:lnTo>
                  <a:pt x="1229445" y="3176513"/>
                </a:lnTo>
                <a:lnTo>
                  <a:pt x="1180267" y="3176513"/>
                </a:lnTo>
                <a:lnTo>
                  <a:pt x="1131089" y="3176513"/>
                </a:lnTo>
                <a:lnTo>
                  <a:pt x="1081911" y="3176513"/>
                </a:lnTo>
                <a:lnTo>
                  <a:pt x="1032734" y="3176513"/>
                </a:lnTo>
                <a:lnTo>
                  <a:pt x="983556" y="3176513"/>
                </a:lnTo>
                <a:lnTo>
                  <a:pt x="934378" y="3176513"/>
                </a:lnTo>
                <a:lnTo>
                  <a:pt x="885200" y="3176513"/>
                </a:lnTo>
                <a:lnTo>
                  <a:pt x="836022" y="3176513"/>
                </a:lnTo>
                <a:lnTo>
                  <a:pt x="786845" y="3176513"/>
                </a:lnTo>
                <a:lnTo>
                  <a:pt x="737667" y="3176513"/>
                </a:lnTo>
                <a:lnTo>
                  <a:pt x="688489" y="3176513"/>
                </a:lnTo>
                <a:lnTo>
                  <a:pt x="639311" y="3176513"/>
                </a:lnTo>
                <a:lnTo>
                  <a:pt x="590133" y="3176513"/>
                </a:lnTo>
                <a:lnTo>
                  <a:pt x="540955" y="3176513"/>
                </a:lnTo>
                <a:lnTo>
                  <a:pt x="491778" y="3176513"/>
                </a:lnTo>
                <a:lnTo>
                  <a:pt x="442600" y="3176513"/>
                </a:lnTo>
                <a:lnTo>
                  <a:pt x="393422" y="3176513"/>
                </a:lnTo>
                <a:lnTo>
                  <a:pt x="344244" y="3176513"/>
                </a:lnTo>
                <a:lnTo>
                  <a:pt x="295066" y="3176513"/>
                </a:lnTo>
                <a:lnTo>
                  <a:pt x="245889" y="3176513"/>
                </a:lnTo>
                <a:lnTo>
                  <a:pt x="196711" y="3176513"/>
                </a:lnTo>
                <a:lnTo>
                  <a:pt x="147533" y="3176513"/>
                </a:lnTo>
                <a:lnTo>
                  <a:pt x="98355" y="3176513"/>
                </a:lnTo>
                <a:lnTo>
                  <a:pt x="49177" y="3176513"/>
                </a:lnTo>
                <a:lnTo>
                  <a:pt x="0" y="3176513"/>
                </a:lnTo>
                <a:close/>
              </a:path>
            </a:pathLst>
          </a:custGeom>
          <a:solidFill>
            <a:srgbClr val="8EDBD4">
              <a:alpha val="22000"/>
            </a:srgbClr>
          </a:solidFill>
          <a:ln w="10160">
            <a:solidFill>
              <a:srgbClr val="8EDBD4">
                <a:alpha val="2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-E07 polygon 40" descr="sci-ppt:o040"/>
          <p:cNvSpPr/>
          <p:nvPr/>
        </p:nvSpPr>
        <p:spPr>
          <a:xfrm>
            <a:off x="914400" y="1924549"/>
            <a:ext cx="5802982" cy="3104651"/>
          </a:xfrm>
          <a:custGeom>
            <a:avLst/>
            <a:gdLst/>
            <a:ahLst/>
            <a:cxnLst/>
            <a:rect l="l" t="t" r="r" b="b"/>
            <a:pathLst>
              <a:path w="5802982" h="3104651">
                <a:moveTo>
                  <a:pt x="0" y="3104651"/>
                </a:moveTo>
                <a:lnTo>
                  <a:pt x="49177" y="3104572"/>
                </a:lnTo>
                <a:lnTo>
                  <a:pt x="98355" y="3104334"/>
                </a:lnTo>
                <a:lnTo>
                  <a:pt x="147533" y="3103931"/>
                </a:lnTo>
                <a:lnTo>
                  <a:pt x="196711" y="3103360"/>
                </a:lnTo>
                <a:lnTo>
                  <a:pt x="245889" y="3102614"/>
                </a:lnTo>
                <a:lnTo>
                  <a:pt x="295066" y="3101688"/>
                </a:lnTo>
                <a:lnTo>
                  <a:pt x="344244" y="3100576"/>
                </a:lnTo>
                <a:lnTo>
                  <a:pt x="393422" y="3099272"/>
                </a:lnTo>
                <a:lnTo>
                  <a:pt x="442600" y="3097768"/>
                </a:lnTo>
                <a:lnTo>
                  <a:pt x="491778" y="3096059"/>
                </a:lnTo>
                <a:lnTo>
                  <a:pt x="540955" y="3094138"/>
                </a:lnTo>
                <a:lnTo>
                  <a:pt x="590133" y="3091996"/>
                </a:lnTo>
                <a:lnTo>
                  <a:pt x="639311" y="3089628"/>
                </a:lnTo>
                <a:lnTo>
                  <a:pt x="688489" y="3087026"/>
                </a:lnTo>
                <a:lnTo>
                  <a:pt x="737667" y="3084182"/>
                </a:lnTo>
                <a:lnTo>
                  <a:pt x="786845" y="3081089"/>
                </a:lnTo>
                <a:lnTo>
                  <a:pt x="836022" y="3077740"/>
                </a:lnTo>
                <a:lnTo>
                  <a:pt x="885200" y="3074127"/>
                </a:lnTo>
                <a:lnTo>
                  <a:pt x="934378" y="3070241"/>
                </a:lnTo>
                <a:lnTo>
                  <a:pt x="983556" y="3066077"/>
                </a:lnTo>
                <a:lnTo>
                  <a:pt x="1032734" y="3061625"/>
                </a:lnTo>
                <a:lnTo>
                  <a:pt x="1081911" y="3056878"/>
                </a:lnTo>
                <a:lnTo>
                  <a:pt x="1131089" y="3051828"/>
                </a:lnTo>
                <a:lnTo>
                  <a:pt x="1180267" y="3046468"/>
                </a:lnTo>
                <a:lnTo>
                  <a:pt x="1229445" y="3040789"/>
                </a:lnTo>
                <a:lnTo>
                  <a:pt x="1278623" y="3034784"/>
                </a:lnTo>
                <a:lnTo>
                  <a:pt x="1327801" y="3028444"/>
                </a:lnTo>
                <a:lnTo>
                  <a:pt x="1376978" y="3021762"/>
                </a:lnTo>
                <a:lnTo>
                  <a:pt x="1426156" y="3014730"/>
                </a:lnTo>
                <a:lnTo>
                  <a:pt x="1475334" y="3007339"/>
                </a:lnTo>
                <a:lnTo>
                  <a:pt x="1524512" y="2999582"/>
                </a:lnTo>
                <a:lnTo>
                  <a:pt x="1573690" y="2991451"/>
                </a:lnTo>
                <a:lnTo>
                  <a:pt x="1622867" y="2982938"/>
                </a:lnTo>
                <a:lnTo>
                  <a:pt x="1672045" y="2974034"/>
                </a:lnTo>
                <a:lnTo>
                  <a:pt x="1721223" y="2964731"/>
                </a:lnTo>
                <a:lnTo>
                  <a:pt x="1770401" y="2955023"/>
                </a:lnTo>
                <a:lnTo>
                  <a:pt x="1819579" y="2944899"/>
                </a:lnTo>
                <a:lnTo>
                  <a:pt x="1868756" y="2934354"/>
                </a:lnTo>
                <a:lnTo>
                  <a:pt x="1917934" y="2923377"/>
                </a:lnTo>
                <a:lnTo>
                  <a:pt x="1967112" y="2911962"/>
                </a:lnTo>
                <a:lnTo>
                  <a:pt x="2016290" y="2900099"/>
                </a:lnTo>
                <a:lnTo>
                  <a:pt x="2065468" y="2887782"/>
                </a:lnTo>
                <a:lnTo>
                  <a:pt x="2114646" y="2875002"/>
                </a:lnTo>
                <a:lnTo>
                  <a:pt x="2163823" y="2861750"/>
                </a:lnTo>
                <a:lnTo>
                  <a:pt x="2213001" y="2848019"/>
                </a:lnTo>
                <a:lnTo>
                  <a:pt x="2262179" y="2833801"/>
                </a:lnTo>
                <a:lnTo>
                  <a:pt x="2311357" y="2819087"/>
                </a:lnTo>
                <a:lnTo>
                  <a:pt x="2360535" y="2803869"/>
                </a:lnTo>
                <a:lnTo>
                  <a:pt x="2409712" y="2788140"/>
                </a:lnTo>
                <a:lnTo>
                  <a:pt x="2458890" y="2771891"/>
                </a:lnTo>
                <a:lnTo>
                  <a:pt x="2508068" y="2755113"/>
                </a:lnTo>
                <a:lnTo>
                  <a:pt x="2557246" y="2737799"/>
                </a:lnTo>
                <a:lnTo>
                  <a:pt x="2606424" y="2719941"/>
                </a:lnTo>
                <a:lnTo>
                  <a:pt x="2655602" y="2701530"/>
                </a:lnTo>
                <a:lnTo>
                  <a:pt x="2704779" y="2682559"/>
                </a:lnTo>
                <a:lnTo>
                  <a:pt x="2753957" y="2663018"/>
                </a:lnTo>
                <a:lnTo>
                  <a:pt x="2803135" y="2642901"/>
                </a:lnTo>
                <a:lnTo>
                  <a:pt x="2852313" y="2622198"/>
                </a:lnTo>
                <a:lnTo>
                  <a:pt x="2901491" y="2600902"/>
                </a:lnTo>
                <a:lnTo>
                  <a:pt x="2950668" y="2579005"/>
                </a:lnTo>
                <a:lnTo>
                  <a:pt x="2999846" y="2556498"/>
                </a:lnTo>
                <a:lnTo>
                  <a:pt x="3049024" y="2533373"/>
                </a:lnTo>
                <a:lnTo>
                  <a:pt x="3098202" y="2509622"/>
                </a:lnTo>
                <a:lnTo>
                  <a:pt x="3147380" y="2485237"/>
                </a:lnTo>
                <a:lnTo>
                  <a:pt x="3196557" y="2460209"/>
                </a:lnTo>
                <a:lnTo>
                  <a:pt x="3245735" y="2434531"/>
                </a:lnTo>
                <a:lnTo>
                  <a:pt x="3294913" y="2408195"/>
                </a:lnTo>
                <a:lnTo>
                  <a:pt x="3344091" y="2381191"/>
                </a:lnTo>
                <a:lnTo>
                  <a:pt x="3393269" y="2353513"/>
                </a:lnTo>
                <a:lnTo>
                  <a:pt x="3442447" y="2325151"/>
                </a:lnTo>
                <a:lnTo>
                  <a:pt x="3491624" y="2296098"/>
                </a:lnTo>
                <a:lnTo>
                  <a:pt x="3540802" y="2266346"/>
                </a:lnTo>
                <a:lnTo>
                  <a:pt x="3589980" y="2235885"/>
                </a:lnTo>
                <a:lnTo>
                  <a:pt x="3639158" y="2204709"/>
                </a:lnTo>
                <a:lnTo>
                  <a:pt x="3688336" y="2172809"/>
                </a:lnTo>
                <a:lnTo>
                  <a:pt x="3737513" y="2140177"/>
                </a:lnTo>
                <a:lnTo>
                  <a:pt x="3786691" y="2106804"/>
                </a:lnTo>
                <a:lnTo>
                  <a:pt x="3835869" y="2072682"/>
                </a:lnTo>
                <a:lnTo>
                  <a:pt x="3885047" y="2037804"/>
                </a:lnTo>
                <a:lnTo>
                  <a:pt x="3934225" y="2002161"/>
                </a:lnTo>
                <a:lnTo>
                  <a:pt x="3983403" y="1965744"/>
                </a:lnTo>
                <a:lnTo>
                  <a:pt x="4032580" y="1928546"/>
                </a:lnTo>
                <a:lnTo>
                  <a:pt x="4081758" y="1890559"/>
                </a:lnTo>
                <a:lnTo>
                  <a:pt x="4130936" y="1851774"/>
                </a:lnTo>
                <a:lnTo>
                  <a:pt x="4180114" y="1812183"/>
                </a:lnTo>
                <a:lnTo>
                  <a:pt x="4229292" y="1771778"/>
                </a:lnTo>
                <a:lnTo>
                  <a:pt x="4278469" y="1730551"/>
                </a:lnTo>
                <a:lnTo>
                  <a:pt x="4327647" y="1688493"/>
                </a:lnTo>
                <a:lnTo>
                  <a:pt x="4376825" y="1645597"/>
                </a:lnTo>
                <a:lnTo>
                  <a:pt x="4426003" y="1601854"/>
                </a:lnTo>
                <a:lnTo>
                  <a:pt x="4475181" y="1557256"/>
                </a:lnTo>
                <a:lnTo>
                  <a:pt x="4524358" y="1511795"/>
                </a:lnTo>
                <a:lnTo>
                  <a:pt x="4573536" y="1465462"/>
                </a:lnTo>
                <a:lnTo>
                  <a:pt x="4622714" y="1418250"/>
                </a:lnTo>
                <a:lnTo>
                  <a:pt x="4671892" y="1370150"/>
                </a:lnTo>
                <a:lnTo>
                  <a:pt x="4721070" y="1321154"/>
                </a:lnTo>
                <a:lnTo>
                  <a:pt x="4770248" y="1271254"/>
                </a:lnTo>
                <a:lnTo>
                  <a:pt x="4819425" y="1220442"/>
                </a:lnTo>
                <a:lnTo>
                  <a:pt x="4868603" y="1168709"/>
                </a:lnTo>
                <a:lnTo>
                  <a:pt x="4917781" y="1116048"/>
                </a:lnTo>
                <a:lnTo>
                  <a:pt x="4966959" y="1062449"/>
                </a:lnTo>
                <a:lnTo>
                  <a:pt x="5016137" y="1007906"/>
                </a:lnTo>
                <a:lnTo>
                  <a:pt x="5065314" y="952409"/>
                </a:lnTo>
                <a:lnTo>
                  <a:pt x="5114492" y="895951"/>
                </a:lnTo>
                <a:lnTo>
                  <a:pt x="5163670" y="838524"/>
                </a:lnTo>
                <a:lnTo>
                  <a:pt x="5212848" y="780118"/>
                </a:lnTo>
                <a:lnTo>
                  <a:pt x="5262026" y="720726"/>
                </a:lnTo>
                <a:lnTo>
                  <a:pt x="5311204" y="660341"/>
                </a:lnTo>
                <a:lnTo>
                  <a:pt x="5360381" y="598953"/>
                </a:lnTo>
                <a:lnTo>
                  <a:pt x="5409559" y="536554"/>
                </a:lnTo>
                <a:lnTo>
                  <a:pt x="5458737" y="473136"/>
                </a:lnTo>
                <a:lnTo>
                  <a:pt x="5507915" y="408692"/>
                </a:lnTo>
                <a:lnTo>
                  <a:pt x="5557093" y="343212"/>
                </a:lnTo>
                <a:lnTo>
                  <a:pt x="5606270" y="276689"/>
                </a:lnTo>
                <a:lnTo>
                  <a:pt x="5655448" y="209115"/>
                </a:lnTo>
                <a:lnTo>
                  <a:pt x="5704626" y="140481"/>
                </a:lnTo>
                <a:lnTo>
                  <a:pt x="5753804" y="70779"/>
                </a:lnTo>
                <a:lnTo>
                  <a:pt x="5802982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A-E07 ellipse 41" descr="sci-ppt:o041"/>
          <p:cNvSpPr/>
          <p:nvPr/>
        </p:nvSpPr>
        <p:spPr>
          <a:xfrm>
            <a:off x="6693408" y="177953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-E07 text 42" descr="sci-ppt:o042"/>
          <p:cNvSpPr txBox="1"/>
          <p:nvPr/>
        </p:nvSpPr>
        <p:spPr>
          <a:xfrm>
            <a:off x="4114800" y="1395487"/>
            <a:ext cx="2560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W_g(30 µm) = 4.5160 nJ</a:t>
            </a:r>
          </a:p>
        </p:txBody>
      </p:sp>
      <p:sp>
        <p:nvSpPr>
          <p:cNvPr id="45" name="A-E07 round_rect 43" descr="sci-ppt:o043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A-E07 text 44" descr="sci-ppt:o044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Integrate pressure over volume</a:t>
            </a:r>
          </a:p>
        </p:txBody>
      </p:sp>
      <p:sp>
        <p:nvSpPr>
          <p:cNvPr id="47" name="A-E07 text 45" descr="sci-ppt:o045"/>
          <p:cNvSpPr txBox="1"/>
          <p:nvPr/>
        </p:nvSpPr>
        <p:spPr>
          <a:xfrm>
            <a:off x="7178040" y="182880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W_g = 4π ∫ pₑₗ(ξ) ξ² dξ</a:t>
            </a:r>
          </a:p>
        </p:txBody>
      </p:sp>
      <p:sp>
        <p:nvSpPr>
          <p:cNvPr id="48" name="A-E07 text 46" descr="sci-ppt:o046"/>
          <p:cNvSpPr txBox="1"/>
          <p:nvPr/>
        </p:nvSpPr>
        <p:spPr>
          <a:xfrm>
            <a:off x="7178040" y="2331720"/>
            <a:ext cx="4572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= 2πG_g [5ξ³/3 − 2R_ref ξ² + R_ref⁴/ξ]</a:t>
            </a:r>
          </a:p>
        </p:txBody>
      </p:sp>
      <p:sp>
        <p:nvSpPr>
          <p:cNvPr id="49" name="A-E07 text 47" descr="sci-ppt:o047"/>
          <p:cNvSpPr txBox="1"/>
          <p:nvPr/>
        </p:nvSpPr>
        <p:spPr>
          <a:xfrm>
            <a:off x="7178040" y="2834640"/>
            <a:ext cx="45720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2B880"/>
                </a:solidFill>
                <a:latin typeface="Arial"/>
              </a:rPr>
              <a:t>W_g = 2πG_g[5R³/3 − 2R_ref R² + R_ref⁴/R − 2R_ref³/3]</a:t>
            </a:r>
          </a:p>
        </p:txBody>
      </p:sp>
      <p:sp>
        <p:nvSpPr>
          <p:cNvPr id="50" name="A-E07 text 48" descr="sci-ppt:o048"/>
          <p:cNvSpPr txBox="1"/>
          <p:nvPr/>
        </p:nvSpPr>
        <p:spPr>
          <a:xfrm>
            <a:off x="7178040" y="347472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Numerical quadrature: 4.516040 nJ;  closed form: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4.516039 nJ.</a:t>
            </a:r>
          </a:p>
        </p:txBody>
      </p:sp>
      <p:sp>
        <p:nvSpPr>
          <p:cNvPr id="51" name="A-E07 text 49" descr="sci-ppt:o049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4πξ² dξ is the cavity volume increment, so the integral is work done against the network.</a:t>
            </a:r>
          </a:p>
        </p:txBody>
      </p:sp>
      <p:sp>
        <p:nvSpPr>
          <p:cNvPr id="52" name="A-E07 text 50" descr="sci-ppt:o05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Elastic work of Eq. A-E07 (R_ref = 5 µm, G_g = 20 kPa).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A-E08 · Work-conjugacy and small-deformation checks</a:t>
            </a:r>
          </a:p>
        </p:txBody>
      </p:sp>
      <p:cxnSp>
        <p:nvCxnSpPr>
          <p:cNvPr id="3" name="A-E08 line 1" descr="sci-ppt:o001"/>
          <p:cNvCxnSpPr/>
          <p:nvPr/>
        </p:nvCxnSpPr>
        <p:spPr>
          <a:xfrm>
            <a:off x="914400" y="484632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8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8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8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8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A-E08 line 6" descr="sci-ppt:o006"/>
          <p:cNvCxnSpPr/>
          <p:nvPr/>
        </p:nvCxnSpPr>
        <p:spPr>
          <a:xfrm>
            <a:off x="25603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8 line 7" descr="sci-ppt:o007"/>
          <p:cNvCxnSpPr/>
          <p:nvPr/>
        </p:nvCxnSpPr>
        <p:spPr>
          <a:xfrm>
            <a:off x="25603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8 text 8" descr="sci-ppt:o008"/>
          <p:cNvSpPr txBox="1"/>
          <p:nvPr/>
        </p:nvSpPr>
        <p:spPr>
          <a:xfrm>
            <a:off x="21031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A-E08 line 9" descr="sci-ppt:o009"/>
          <p:cNvCxnSpPr/>
          <p:nvPr/>
        </p:nvCxnSpPr>
        <p:spPr>
          <a:xfrm>
            <a:off x="42062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8 line 10" descr="sci-ppt:o010"/>
          <p:cNvCxnSpPr/>
          <p:nvPr/>
        </p:nvCxnSpPr>
        <p:spPr>
          <a:xfrm>
            <a:off x="42062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8 text 11" descr="sci-ppt:o011"/>
          <p:cNvSpPr txBox="1"/>
          <p:nvPr/>
        </p:nvSpPr>
        <p:spPr>
          <a:xfrm>
            <a:off x="3749039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4" name="A-E08 line 12" descr="sci-ppt:o012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8 line 13" descr="sci-ppt:o013"/>
          <p:cNvCxnSpPr/>
          <p:nvPr/>
        </p:nvCxnSpPr>
        <p:spPr>
          <a:xfrm>
            <a:off x="850392" y="39776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08 line 14" descr="sci-ppt:o014"/>
          <p:cNvCxnSpPr/>
          <p:nvPr/>
        </p:nvCxnSpPr>
        <p:spPr>
          <a:xfrm>
            <a:off x="914400" y="3977639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08 text 15" descr="sci-ppt:o015"/>
          <p:cNvSpPr txBox="1"/>
          <p:nvPr/>
        </p:nvSpPr>
        <p:spPr>
          <a:xfrm>
            <a:off x="45720" y="3895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8" name="A-E08 line 16" descr="sci-ppt:o016"/>
          <p:cNvCxnSpPr/>
          <p:nvPr/>
        </p:nvCxnSpPr>
        <p:spPr>
          <a:xfrm>
            <a:off x="85039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08 line 17" descr="sci-ppt:o017"/>
          <p:cNvCxnSpPr/>
          <p:nvPr/>
        </p:nvCxnSpPr>
        <p:spPr>
          <a:xfrm>
            <a:off x="914400" y="310896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08 text 18" descr="sci-ppt:o018"/>
          <p:cNvSpPr txBox="1"/>
          <p:nvPr/>
        </p:nvSpPr>
        <p:spPr>
          <a:xfrm>
            <a:off x="45720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1" name="A-E08 line 19" descr="sci-ppt:o019"/>
          <p:cNvCxnSpPr/>
          <p:nvPr/>
        </p:nvCxnSpPr>
        <p:spPr>
          <a:xfrm>
            <a:off x="850392" y="2240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08 line 20" descr="sci-ppt:o020"/>
          <p:cNvCxnSpPr/>
          <p:nvPr/>
        </p:nvCxnSpPr>
        <p:spPr>
          <a:xfrm>
            <a:off x="914400" y="224028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08 text 21" descr="sci-ppt:o021"/>
          <p:cNvSpPr txBox="1"/>
          <p:nvPr/>
        </p:nvSpPr>
        <p:spPr>
          <a:xfrm>
            <a:off x="45720" y="2157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cxnSp>
        <p:nvCxnSpPr>
          <p:cNvPr id="24" name="A-E08 line 22" descr="sci-ppt:o022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8 line 23" descr="sci-ppt:o023"/>
          <p:cNvCxnSpPr/>
          <p:nvPr/>
        </p:nvCxnSpPr>
        <p:spPr>
          <a:xfrm>
            <a:off x="914400" y="137160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8 text 24" descr="sci-ppt:o024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sp>
        <p:nvSpPr>
          <p:cNvPr id="27" name="A-E08 text 25" descr="sci-ppt:o025"/>
          <p:cNvSpPr txBox="1"/>
          <p:nvPr/>
        </p:nvSpPr>
        <p:spPr>
          <a:xfrm>
            <a:off x="914400" y="5129783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δR / R_ref</a:t>
            </a:r>
          </a:p>
        </p:txBody>
      </p:sp>
      <p:sp>
        <p:nvSpPr>
          <p:cNvPr id="28" name="A-E08 text 26" descr="sci-ppt:o026"/>
          <p:cNvSpPr txBox="1"/>
          <p:nvPr/>
        </p:nvSpPr>
        <p:spPr>
          <a:xfrm>
            <a:off x="365760" y="1024128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pₑₗ  (kPa)</a:t>
            </a:r>
          </a:p>
        </p:txBody>
      </p:sp>
      <p:sp>
        <p:nvSpPr>
          <p:cNvPr id="29" name="A-E08 polygon 27" descr="sci-ppt:o027"/>
          <p:cNvSpPr/>
          <p:nvPr/>
        </p:nvSpPr>
        <p:spPr>
          <a:xfrm>
            <a:off x="914400" y="2990991"/>
            <a:ext cx="3291840" cy="1855329"/>
          </a:xfrm>
          <a:custGeom>
            <a:avLst/>
            <a:gdLst/>
            <a:ahLst/>
            <a:cxnLst/>
            <a:rect l="l" t="t" r="r" b="b"/>
            <a:pathLst>
              <a:path w="3291840" h="1855329">
                <a:moveTo>
                  <a:pt x="0" y="1855329"/>
                </a:moveTo>
                <a:lnTo>
                  <a:pt x="33250" y="1820538"/>
                </a:lnTo>
                <a:lnTo>
                  <a:pt x="66501" y="1786352"/>
                </a:lnTo>
                <a:lnTo>
                  <a:pt x="99752" y="1752755"/>
                </a:lnTo>
                <a:lnTo>
                  <a:pt x="133003" y="1719733"/>
                </a:lnTo>
                <a:lnTo>
                  <a:pt x="166254" y="1687270"/>
                </a:lnTo>
                <a:lnTo>
                  <a:pt x="199505" y="1655354"/>
                </a:lnTo>
                <a:lnTo>
                  <a:pt x="232756" y="1623971"/>
                </a:lnTo>
                <a:lnTo>
                  <a:pt x="266007" y="1593106"/>
                </a:lnTo>
                <a:lnTo>
                  <a:pt x="299258" y="1562749"/>
                </a:lnTo>
                <a:lnTo>
                  <a:pt x="332509" y="1532886"/>
                </a:lnTo>
                <a:lnTo>
                  <a:pt x="365760" y="1503506"/>
                </a:lnTo>
                <a:lnTo>
                  <a:pt x="399010" y="1474598"/>
                </a:lnTo>
                <a:lnTo>
                  <a:pt x="432261" y="1446149"/>
                </a:lnTo>
                <a:lnTo>
                  <a:pt x="465512" y="1418149"/>
                </a:lnTo>
                <a:lnTo>
                  <a:pt x="498763" y="1390588"/>
                </a:lnTo>
                <a:lnTo>
                  <a:pt x="532014" y="1363455"/>
                </a:lnTo>
                <a:lnTo>
                  <a:pt x="565265" y="1336740"/>
                </a:lnTo>
                <a:lnTo>
                  <a:pt x="598516" y="1310435"/>
                </a:lnTo>
                <a:lnTo>
                  <a:pt x="631767" y="1284528"/>
                </a:lnTo>
                <a:lnTo>
                  <a:pt x="665018" y="1259013"/>
                </a:lnTo>
                <a:lnTo>
                  <a:pt x="698269" y="1233879"/>
                </a:lnTo>
                <a:lnTo>
                  <a:pt x="731520" y="1209117"/>
                </a:lnTo>
                <a:lnTo>
                  <a:pt x="764770" y="1184721"/>
                </a:lnTo>
                <a:lnTo>
                  <a:pt x="798021" y="1160682"/>
                </a:lnTo>
                <a:lnTo>
                  <a:pt x="831272" y="1136991"/>
                </a:lnTo>
                <a:lnTo>
                  <a:pt x="864523" y="1113641"/>
                </a:lnTo>
                <a:lnTo>
                  <a:pt x="897774" y="1090625"/>
                </a:lnTo>
                <a:lnTo>
                  <a:pt x="931025" y="1067936"/>
                </a:lnTo>
                <a:lnTo>
                  <a:pt x="964276" y="1045567"/>
                </a:lnTo>
                <a:lnTo>
                  <a:pt x="997527" y="1023510"/>
                </a:lnTo>
                <a:lnTo>
                  <a:pt x="1030778" y="1001760"/>
                </a:lnTo>
                <a:lnTo>
                  <a:pt x="1064029" y="980309"/>
                </a:lnTo>
                <a:lnTo>
                  <a:pt x="1097280" y="959152"/>
                </a:lnTo>
                <a:lnTo>
                  <a:pt x="1130530" y="938282"/>
                </a:lnTo>
                <a:lnTo>
                  <a:pt x="1163781" y="917693"/>
                </a:lnTo>
                <a:lnTo>
                  <a:pt x="1197032" y="897381"/>
                </a:lnTo>
                <a:lnTo>
                  <a:pt x="1230283" y="877338"/>
                </a:lnTo>
                <a:lnTo>
                  <a:pt x="1263534" y="857560"/>
                </a:lnTo>
                <a:lnTo>
                  <a:pt x="1296785" y="838041"/>
                </a:lnTo>
                <a:lnTo>
                  <a:pt x="1330036" y="818776"/>
                </a:lnTo>
                <a:lnTo>
                  <a:pt x="1363287" y="799761"/>
                </a:lnTo>
                <a:lnTo>
                  <a:pt x="1396538" y="780989"/>
                </a:lnTo>
                <a:lnTo>
                  <a:pt x="1429789" y="762456"/>
                </a:lnTo>
                <a:lnTo>
                  <a:pt x="1463040" y="744159"/>
                </a:lnTo>
                <a:lnTo>
                  <a:pt x="1496290" y="726091"/>
                </a:lnTo>
                <a:lnTo>
                  <a:pt x="1529541" y="708249"/>
                </a:lnTo>
                <a:lnTo>
                  <a:pt x="1562792" y="690628"/>
                </a:lnTo>
                <a:lnTo>
                  <a:pt x="1596043" y="673224"/>
                </a:lnTo>
                <a:lnTo>
                  <a:pt x="1629294" y="656033"/>
                </a:lnTo>
                <a:lnTo>
                  <a:pt x="1662545" y="639051"/>
                </a:lnTo>
                <a:lnTo>
                  <a:pt x="1695796" y="622274"/>
                </a:lnTo>
                <a:lnTo>
                  <a:pt x="1729047" y="605698"/>
                </a:lnTo>
                <a:lnTo>
                  <a:pt x="1762298" y="589319"/>
                </a:lnTo>
                <a:lnTo>
                  <a:pt x="1795549" y="573135"/>
                </a:lnTo>
                <a:lnTo>
                  <a:pt x="1828800" y="557140"/>
                </a:lnTo>
                <a:lnTo>
                  <a:pt x="1862050" y="541333"/>
                </a:lnTo>
                <a:lnTo>
                  <a:pt x="1895301" y="525708"/>
                </a:lnTo>
                <a:lnTo>
                  <a:pt x="1928552" y="510264"/>
                </a:lnTo>
                <a:lnTo>
                  <a:pt x="1961803" y="494997"/>
                </a:lnTo>
                <a:lnTo>
                  <a:pt x="1995054" y="479904"/>
                </a:lnTo>
                <a:lnTo>
                  <a:pt x="2028305" y="464981"/>
                </a:lnTo>
                <a:lnTo>
                  <a:pt x="2061556" y="450226"/>
                </a:lnTo>
                <a:lnTo>
                  <a:pt x="2094807" y="435635"/>
                </a:lnTo>
                <a:lnTo>
                  <a:pt x="2128058" y="421207"/>
                </a:lnTo>
                <a:lnTo>
                  <a:pt x="2161309" y="406937"/>
                </a:lnTo>
                <a:lnTo>
                  <a:pt x="2194560" y="392824"/>
                </a:lnTo>
                <a:lnTo>
                  <a:pt x="2227810" y="378865"/>
                </a:lnTo>
                <a:lnTo>
                  <a:pt x="2261061" y="365056"/>
                </a:lnTo>
                <a:lnTo>
                  <a:pt x="2294312" y="351397"/>
                </a:lnTo>
                <a:lnTo>
                  <a:pt x="2327563" y="337883"/>
                </a:lnTo>
                <a:lnTo>
                  <a:pt x="2360814" y="324512"/>
                </a:lnTo>
                <a:lnTo>
                  <a:pt x="2394065" y="311283"/>
                </a:lnTo>
                <a:lnTo>
                  <a:pt x="2427316" y="298193"/>
                </a:lnTo>
                <a:lnTo>
                  <a:pt x="2460567" y="285239"/>
                </a:lnTo>
                <a:lnTo>
                  <a:pt x="2493818" y="272419"/>
                </a:lnTo>
                <a:lnTo>
                  <a:pt x="2527069" y="259732"/>
                </a:lnTo>
                <a:lnTo>
                  <a:pt x="2560320" y="247175"/>
                </a:lnTo>
                <a:lnTo>
                  <a:pt x="2593570" y="234745"/>
                </a:lnTo>
                <a:lnTo>
                  <a:pt x="2626821" y="222442"/>
                </a:lnTo>
                <a:lnTo>
                  <a:pt x="2660072" y="210262"/>
                </a:lnTo>
                <a:lnTo>
                  <a:pt x="2693323" y="198204"/>
                </a:lnTo>
                <a:lnTo>
                  <a:pt x="2726574" y="186266"/>
                </a:lnTo>
                <a:lnTo>
                  <a:pt x="2759825" y="174446"/>
                </a:lnTo>
                <a:lnTo>
                  <a:pt x="2793076" y="162743"/>
                </a:lnTo>
                <a:lnTo>
                  <a:pt x="2826327" y="151154"/>
                </a:lnTo>
                <a:lnTo>
                  <a:pt x="2859578" y="139678"/>
                </a:lnTo>
                <a:lnTo>
                  <a:pt x="2892829" y="128312"/>
                </a:lnTo>
                <a:lnTo>
                  <a:pt x="2926080" y="117056"/>
                </a:lnTo>
                <a:lnTo>
                  <a:pt x="2959330" y="105908"/>
                </a:lnTo>
                <a:lnTo>
                  <a:pt x="2992581" y="94865"/>
                </a:lnTo>
                <a:lnTo>
                  <a:pt x="3025832" y="83927"/>
                </a:lnTo>
                <a:lnTo>
                  <a:pt x="3059083" y="73092"/>
                </a:lnTo>
                <a:lnTo>
                  <a:pt x="3092334" y="62358"/>
                </a:lnTo>
                <a:lnTo>
                  <a:pt x="3125585" y="51724"/>
                </a:lnTo>
                <a:lnTo>
                  <a:pt x="3158836" y="41188"/>
                </a:lnTo>
                <a:lnTo>
                  <a:pt x="3192087" y="30749"/>
                </a:lnTo>
                <a:lnTo>
                  <a:pt x="3225338" y="20405"/>
                </a:lnTo>
                <a:lnTo>
                  <a:pt x="3258589" y="10156"/>
                </a:lnTo>
                <a:lnTo>
                  <a:pt x="32918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-E08 polygon 28" descr="sci-ppt:o028"/>
          <p:cNvSpPr/>
          <p:nvPr/>
        </p:nvSpPr>
        <p:spPr>
          <a:xfrm>
            <a:off x="914400" y="1371600"/>
            <a:ext cx="3291840" cy="3474720"/>
          </a:xfrm>
          <a:custGeom>
            <a:avLst/>
            <a:gdLst/>
            <a:ahLst/>
            <a:cxnLst/>
            <a:rect l="l" t="t" r="r" b="b"/>
            <a:pathLst>
              <a:path w="3291840" h="3474720">
                <a:moveTo>
                  <a:pt x="0" y="3474720"/>
                </a:moveTo>
                <a:lnTo>
                  <a:pt x="33250" y="3439621"/>
                </a:lnTo>
                <a:lnTo>
                  <a:pt x="66501" y="3404523"/>
                </a:lnTo>
                <a:lnTo>
                  <a:pt x="99752" y="3369425"/>
                </a:lnTo>
                <a:lnTo>
                  <a:pt x="133003" y="3334327"/>
                </a:lnTo>
                <a:lnTo>
                  <a:pt x="166254" y="3299229"/>
                </a:lnTo>
                <a:lnTo>
                  <a:pt x="199505" y="3264130"/>
                </a:lnTo>
                <a:lnTo>
                  <a:pt x="232756" y="3229032"/>
                </a:lnTo>
                <a:lnTo>
                  <a:pt x="266007" y="3193934"/>
                </a:lnTo>
                <a:lnTo>
                  <a:pt x="299258" y="3158836"/>
                </a:lnTo>
                <a:lnTo>
                  <a:pt x="332509" y="3123738"/>
                </a:lnTo>
                <a:lnTo>
                  <a:pt x="365760" y="3088640"/>
                </a:lnTo>
                <a:lnTo>
                  <a:pt x="399010" y="3053541"/>
                </a:lnTo>
                <a:lnTo>
                  <a:pt x="432261" y="3018443"/>
                </a:lnTo>
                <a:lnTo>
                  <a:pt x="465512" y="2983345"/>
                </a:lnTo>
                <a:lnTo>
                  <a:pt x="498763" y="2948247"/>
                </a:lnTo>
                <a:lnTo>
                  <a:pt x="532014" y="2913149"/>
                </a:lnTo>
                <a:lnTo>
                  <a:pt x="565265" y="2878050"/>
                </a:lnTo>
                <a:lnTo>
                  <a:pt x="598516" y="2842952"/>
                </a:lnTo>
                <a:lnTo>
                  <a:pt x="631767" y="2807854"/>
                </a:lnTo>
                <a:lnTo>
                  <a:pt x="665018" y="2772756"/>
                </a:lnTo>
                <a:lnTo>
                  <a:pt x="698269" y="2737658"/>
                </a:lnTo>
                <a:lnTo>
                  <a:pt x="731520" y="2702560"/>
                </a:lnTo>
                <a:lnTo>
                  <a:pt x="764770" y="2667461"/>
                </a:lnTo>
                <a:lnTo>
                  <a:pt x="798021" y="2632363"/>
                </a:lnTo>
                <a:lnTo>
                  <a:pt x="831272" y="2597265"/>
                </a:lnTo>
                <a:lnTo>
                  <a:pt x="864523" y="2562167"/>
                </a:lnTo>
                <a:lnTo>
                  <a:pt x="897774" y="2527069"/>
                </a:lnTo>
                <a:lnTo>
                  <a:pt x="931025" y="2491970"/>
                </a:lnTo>
                <a:lnTo>
                  <a:pt x="964276" y="2456872"/>
                </a:lnTo>
                <a:lnTo>
                  <a:pt x="997527" y="2421774"/>
                </a:lnTo>
                <a:lnTo>
                  <a:pt x="1030778" y="2386676"/>
                </a:lnTo>
                <a:lnTo>
                  <a:pt x="1064029" y="2351578"/>
                </a:lnTo>
                <a:lnTo>
                  <a:pt x="1097280" y="2316480"/>
                </a:lnTo>
                <a:lnTo>
                  <a:pt x="1130530" y="2281381"/>
                </a:lnTo>
                <a:lnTo>
                  <a:pt x="1163781" y="2246283"/>
                </a:lnTo>
                <a:lnTo>
                  <a:pt x="1197032" y="2211185"/>
                </a:lnTo>
                <a:lnTo>
                  <a:pt x="1230283" y="2176087"/>
                </a:lnTo>
                <a:lnTo>
                  <a:pt x="1263534" y="2140989"/>
                </a:lnTo>
                <a:lnTo>
                  <a:pt x="1296785" y="2105890"/>
                </a:lnTo>
                <a:lnTo>
                  <a:pt x="1330036" y="2070792"/>
                </a:lnTo>
                <a:lnTo>
                  <a:pt x="1363287" y="2035694"/>
                </a:lnTo>
                <a:lnTo>
                  <a:pt x="1396538" y="2000596"/>
                </a:lnTo>
                <a:lnTo>
                  <a:pt x="1429789" y="1965498"/>
                </a:lnTo>
                <a:lnTo>
                  <a:pt x="1463040" y="1930399"/>
                </a:lnTo>
                <a:lnTo>
                  <a:pt x="1496290" y="1895301"/>
                </a:lnTo>
                <a:lnTo>
                  <a:pt x="1529541" y="1860203"/>
                </a:lnTo>
                <a:lnTo>
                  <a:pt x="1562792" y="1825105"/>
                </a:lnTo>
                <a:lnTo>
                  <a:pt x="1596043" y="1790007"/>
                </a:lnTo>
                <a:lnTo>
                  <a:pt x="1629294" y="1754909"/>
                </a:lnTo>
                <a:lnTo>
                  <a:pt x="1662545" y="1719810"/>
                </a:lnTo>
                <a:lnTo>
                  <a:pt x="1695796" y="1684712"/>
                </a:lnTo>
                <a:lnTo>
                  <a:pt x="1729047" y="1649614"/>
                </a:lnTo>
                <a:lnTo>
                  <a:pt x="1762298" y="1614516"/>
                </a:lnTo>
                <a:lnTo>
                  <a:pt x="1795549" y="1579418"/>
                </a:lnTo>
                <a:lnTo>
                  <a:pt x="1828800" y="1544320"/>
                </a:lnTo>
                <a:lnTo>
                  <a:pt x="1862050" y="1509221"/>
                </a:lnTo>
                <a:lnTo>
                  <a:pt x="1895301" y="1474123"/>
                </a:lnTo>
                <a:lnTo>
                  <a:pt x="1928552" y="1439025"/>
                </a:lnTo>
                <a:lnTo>
                  <a:pt x="1961803" y="1403927"/>
                </a:lnTo>
                <a:lnTo>
                  <a:pt x="1995054" y="1368829"/>
                </a:lnTo>
                <a:lnTo>
                  <a:pt x="2028305" y="1333730"/>
                </a:lnTo>
                <a:lnTo>
                  <a:pt x="2061556" y="1298632"/>
                </a:lnTo>
                <a:lnTo>
                  <a:pt x="2094807" y="1263534"/>
                </a:lnTo>
                <a:lnTo>
                  <a:pt x="2128058" y="1228436"/>
                </a:lnTo>
                <a:lnTo>
                  <a:pt x="2161309" y="1193338"/>
                </a:lnTo>
                <a:lnTo>
                  <a:pt x="2194560" y="1158239"/>
                </a:lnTo>
                <a:lnTo>
                  <a:pt x="2227810" y="1123141"/>
                </a:lnTo>
                <a:lnTo>
                  <a:pt x="2261061" y="1088043"/>
                </a:lnTo>
                <a:lnTo>
                  <a:pt x="2294312" y="1052945"/>
                </a:lnTo>
                <a:lnTo>
                  <a:pt x="2327563" y="1017847"/>
                </a:lnTo>
                <a:lnTo>
                  <a:pt x="2360814" y="982749"/>
                </a:lnTo>
                <a:lnTo>
                  <a:pt x="2394065" y="947650"/>
                </a:lnTo>
                <a:lnTo>
                  <a:pt x="2427316" y="912552"/>
                </a:lnTo>
                <a:lnTo>
                  <a:pt x="2460567" y="877454"/>
                </a:lnTo>
                <a:lnTo>
                  <a:pt x="2493818" y="842356"/>
                </a:lnTo>
                <a:lnTo>
                  <a:pt x="2527069" y="807258"/>
                </a:lnTo>
                <a:lnTo>
                  <a:pt x="2560320" y="772159"/>
                </a:lnTo>
                <a:lnTo>
                  <a:pt x="2593570" y="737061"/>
                </a:lnTo>
                <a:lnTo>
                  <a:pt x="2626821" y="701963"/>
                </a:lnTo>
                <a:lnTo>
                  <a:pt x="2660072" y="666865"/>
                </a:lnTo>
                <a:lnTo>
                  <a:pt x="2693323" y="631767"/>
                </a:lnTo>
                <a:lnTo>
                  <a:pt x="2726574" y="596669"/>
                </a:lnTo>
                <a:lnTo>
                  <a:pt x="2759825" y="561570"/>
                </a:lnTo>
                <a:lnTo>
                  <a:pt x="2793076" y="526472"/>
                </a:lnTo>
                <a:lnTo>
                  <a:pt x="2826327" y="491374"/>
                </a:lnTo>
                <a:lnTo>
                  <a:pt x="2859578" y="456276"/>
                </a:lnTo>
                <a:lnTo>
                  <a:pt x="2892829" y="421178"/>
                </a:lnTo>
                <a:lnTo>
                  <a:pt x="2926080" y="386079"/>
                </a:lnTo>
                <a:lnTo>
                  <a:pt x="2959330" y="350981"/>
                </a:lnTo>
                <a:lnTo>
                  <a:pt x="2992581" y="315883"/>
                </a:lnTo>
                <a:lnTo>
                  <a:pt x="3025832" y="280785"/>
                </a:lnTo>
                <a:lnTo>
                  <a:pt x="3059083" y="245687"/>
                </a:lnTo>
                <a:lnTo>
                  <a:pt x="3092334" y="210589"/>
                </a:lnTo>
                <a:lnTo>
                  <a:pt x="3125585" y="175490"/>
                </a:lnTo>
                <a:lnTo>
                  <a:pt x="3158836" y="140392"/>
                </a:lnTo>
                <a:lnTo>
                  <a:pt x="3192087" y="105294"/>
                </a:lnTo>
                <a:lnTo>
                  <a:pt x="3225338" y="70196"/>
                </a:lnTo>
                <a:lnTo>
                  <a:pt x="3258589" y="35098"/>
                </a:lnTo>
                <a:lnTo>
                  <a:pt x="3291840" y="0"/>
                </a:lnTo>
              </a:path>
            </a:pathLst>
          </a:custGeom>
          <a:noFill/>
          <a:ln w="2540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-E08 text 29" descr="sci-ppt:o029"/>
          <p:cNvSpPr txBox="1"/>
          <p:nvPr/>
        </p:nvSpPr>
        <p:spPr>
          <a:xfrm>
            <a:off x="1119225" y="1627631"/>
            <a:ext cx="822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exact</a:t>
            </a:r>
          </a:p>
        </p:txBody>
      </p:sp>
      <p:sp>
        <p:nvSpPr>
          <p:cNvPr id="32" name="A-E08 text 30" descr="sci-ppt:o030"/>
          <p:cNvSpPr txBox="1"/>
          <p:nvPr/>
        </p:nvSpPr>
        <p:spPr>
          <a:xfrm>
            <a:off x="1119225" y="2061972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linear 4G_g δR/R_ref</a:t>
            </a:r>
          </a:p>
        </p:txBody>
      </p:sp>
      <p:cxnSp>
        <p:nvCxnSpPr>
          <p:cNvPr id="33" name="A-E08 line 31" descr="sci-ppt:o031"/>
          <p:cNvCxnSpPr/>
          <p:nvPr/>
        </p:nvCxnSpPr>
        <p:spPr>
          <a:xfrm>
            <a:off x="5212080" y="484632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4" name="A-E08 line 32" descr="sci-ppt:o032"/>
          <p:cNvCxnSpPr/>
          <p:nvPr/>
        </p:nvCxnSpPr>
        <p:spPr>
          <a:xfrm>
            <a:off x="521208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5" name="A-E08 line 33" descr="sci-ppt:o033"/>
          <p:cNvCxnSpPr/>
          <p:nvPr/>
        </p:nvCxnSpPr>
        <p:spPr>
          <a:xfrm>
            <a:off x="521208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A-E08 line 34" descr="sci-ppt:o034"/>
          <p:cNvCxnSpPr/>
          <p:nvPr/>
        </p:nvCxnSpPr>
        <p:spPr>
          <a:xfrm>
            <a:off x="521208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A-E08 text 35" descr="sci-ppt:o035"/>
          <p:cNvSpPr txBox="1"/>
          <p:nvPr/>
        </p:nvSpPr>
        <p:spPr>
          <a:xfrm>
            <a:off x="475488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8" name="A-E08 line 36" descr="sci-ppt:o036"/>
          <p:cNvCxnSpPr/>
          <p:nvPr/>
        </p:nvCxnSpPr>
        <p:spPr>
          <a:xfrm>
            <a:off x="68580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A-E08 line 37" descr="sci-ppt:o037"/>
          <p:cNvCxnSpPr/>
          <p:nvPr/>
        </p:nvCxnSpPr>
        <p:spPr>
          <a:xfrm>
            <a:off x="68580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A-E08 text 38" descr="sci-ppt:o038"/>
          <p:cNvSpPr txBox="1"/>
          <p:nvPr/>
        </p:nvSpPr>
        <p:spPr>
          <a:xfrm>
            <a:off x="64008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41" name="A-E08 line 39" descr="sci-ppt:o039"/>
          <p:cNvCxnSpPr/>
          <p:nvPr/>
        </p:nvCxnSpPr>
        <p:spPr>
          <a:xfrm>
            <a:off x="85039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A-E08 line 40" descr="sci-ppt:o040"/>
          <p:cNvCxnSpPr/>
          <p:nvPr/>
        </p:nvCxnSpPr>
        <p:spPr>
          <a:xfrm>
            <a:off x="85039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A-E08 text 41" descr="sci-ppt:o041"/>
          <p:cNvSpPr txBox="1"/>
          <p:nvPr/>
        </p:nvSpPr>
        <p:spPr>
          <a:xfrm>
            <a:off x="80467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44" name="A-E08 line 42" descr="sci-ppt:o042"/>
          <p:cNvCxnSpPr/>
          <p:nvPr/>
        </p:nvCxnSpPr>
        <p:spPr>
          <a:xfrm>
            <a:off x="514807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A-E08 line 43" descr="sci-ppt:o043"/>
          <p:cNvCxnSpPr/>
          <p:nvPr/>
        </p:nvCxnSpPr>
        <p:spPr>
          <a:xfrm>
            <a:off x="5148072" y="39776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A-E08 line 44" descr="sci-ppt:o044"/>
          <p:cNvCxnSpPr/>
          <p:nvPr/>
        </p:nvCxnSpPr>
        <p:spPr>
          <a:xfrm>
            <a:off x="5212080" y="3977639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A-E08 text 45" descr="sci-ppt:o045"/>
          <p:cNvSpPr txBox="1"/>
          <p:nvPr/>
        </p:nvSpPr>
        <p:spPr>
          <a:xfrm>
            <a:off x="4343400" y="3895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0.005</a:t>
            </a:r>
          </a:p>
        </p:txBody>
      </p:sp>
      <p:cxnSp>
        <p:nvCxnSpPr>
          <p:cNvPr id="48" name="A-E08 line 46" descr="sci-ppt:o046"/>
          <p:cNvCxnSpPr/>
          <p:nvPr/>
        </p:nvCxnSpPr>
        <p:spPr>
          <a:xfrm>
            <a:off x="514807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A-E08 line 47" descr="sci-ppt:o047"/>
          <p:cNvCxnSpPr/>
          <p:nvPr/>
        </p:nvCxnSpPr>
        <p:spPr>
          <a:xfrm>
            <a:off x="5212080" y="310896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A-E08 text 48" descr="sci-ppt:o048"/>
          <p:cNvSpPr txBox="1"/>
          <p:nvPr/>
        </p:nvSpPr>
        <p:spPr>
          <a:xfrm>
            <a:off x="4343400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0.010</a:t>
            </a:r>
          </a:p>
        </p:txBody>
      </p:sp>
      <p:cxnSp>
        <p:nvCxnSpPr>
          <p:cNvPr id="51" name="A-E08 line 49" descr="sci-ppt:o049"/>
          <p:cNvCxnSpPr/>
          <p:nvPr/>
        </p:nvCxnSpPr>
        <p:spPr>
          <a:xfrm>
            <a:off x="5148072" y="2240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A-E08 line 50" descr="sci-ppt:o050"/>
          <p:cNvCxnSpPr/>
          <p:nvPr/>
        </p:nvCxnSpPr>
        <p:spPr>
          <a:xfrm>
            <a:off x="5212080" y="224028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A-E08 text 51" descr="sci-ppt:o051"/>
          <p:cNvSpPr txBox="1"/>
          <p:nvPr/>
        </p:nvSpPr>
        <p:spPr>
          <a:xfrm>
            <a:off x="4343400" y="2157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0.015</a:t>
            </a:r>
          </a:p>
        </p:txBody>
      </p:sp>
      <p:cxnSp>
        <p:nvCxnSpPr>
          <p:cNvPr id="54" name="A-E08 line 52" descr="sci-ppt:o052"/>
          <p:cNvCxnSpPr/>
          <p:nvPr/>
        </p:nvCxnSpPr>
        <p:spPr>
          <a:xfrm>
            <a:off x="514807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5" name="A-E08 line 53" descr="sci-ppt:o053"/>
          <p:cNvCxnSpPr/>
          <p:nvPr/>
        </p:nvCxnSpPr>
        <p:spPr>
          <a:xfrm>
            <a:off x="5212080" y="137160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6" name="A-E08 text 54" descr="sci-ppt:o054"/>
          <p:cNvSpPr txBox="1"/>
          <p:nvPr/>
        </p:nvSpPr>
        <p:spPr>
          <a:xfrm>
            <a:off x="434340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0.020</a:t>
            </a:r>
          </a:p>
        </p:txBody>
      </p:sp>
      <p:sp>
        <p:nvSpPr>
          <p:cNvPr id="57" name="A-E08 text 55" descr="sci-ppt:o055"/>
          <p:cNvSpPr txBox="1"/>
          <p:nvPr/>
        </p:nvSpPr>
        <p:spPr>
          <a:xfrm>
            <a:off x="5212080" y="5129783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δR / R_ref</a:t>
            </a:r>
          </a:p>
        </p:txBody>
      </p:sp>
      <p:sp>
        <p:nvSpPr>
          <p:cNvPr id="58" name="A-E08 text 56" descr="sci-ppt:o056"/>
          <p:cNvSpPr txBox="1"/>
          <p:nvPr/>
        </p:nvSpPr>
        <p:spPr>
          <a:xfrm>
            <a:off x="4663440" y="1024128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W_g  (nJ)</a:t>
            </a:r>
          </a:p>
        </p:txBody>
      </p:sp>
      <p:sp>
        <p:nvSpPr>
          <p:cNvPr id="59" name="A-E08 polygon 57" descr="sci-ppt:o057"/>
          <p:cNvSpPr/>
          <p:nvPr/>
        </p:nvSpPr>
        <p:spPr>
          <a:xfrm>
            <a:off x="5212080" y="1776151"/>
            <a:ext cx="3291840" cy="3070169"/>
          </a:xfrm>
          <a:custGeom>
            <a:avLst/>
            <a:gdLst/>
            <a:ahLst/>
            <a:cxnLst/>
            <a:rect l="l" t="t" r="r" b="b"/>
            <a:pathLst>
              <a:path w="3291840" h="3070169">
                <a:moveTo>
                  <a:pt x="0" y="3070169"/>
                </a:moveTo>
                <a:lnTo>
                  <a:pt x="33250" y="3069890"/>
                </a:lnTo>
                <a:lnTo>
                  <a:pt x="66501" y="3069053"/>
                </a:lnTo>
                <a:lnTo>
                  <a:pt x="99752" y="3067656"/>
                </a:lnTo>
                <a:lnTo>
                  <a:pt x="133003" y="3065698"/>
                </a:lnTo>
                <a:lnTo>
                  <a:pt x="166254" y="3063177"/>
                </a:lnTo>
                <a:lnTo>
                  <a:pt x="199505" y="3060092"/>
                </a:lnTo>
                <a:lnTo>
                  <a:pt x="232756" y="3056440"/>
                </a:lnTo>
                <a:lnTo>
                  <a:pt x="266007" y="3052221"/>
                </a:lnTo>
                <a:lnTo>
                  <a:pt x="299258" y="3047432"/>
                </a:lnTo>
                <a:lnTo>
                  <a:pt x="332509" y="3042073"/>
                </a:lnTo>
                <a:lnTo>
                  <a:pt x="365760" y="3036140"/>
                </a:lnTo>
                <a:lnTo>
                  <a:pt x="399010" y="3029633"/>
                </a:lnTo>
                <a:lnTo>
                  <a:pt x="432261" y="3022549"/>
                </a:lnTo>
                <a:lnTo>
                  <a:pt x="465512" y="3014886"/>
                </a:lnTo>
                <a:lnTo>
                  <a:pt x="498763" y="3006644"/>
                </a:lnTo>
                <a:lnTo>
                  <a:pt x="532014" y="2997819"/>
                </a:lnTo>
                <a:lnTo>
                  <a:pt x="565265" y="2988410"/>
                </a:lnTo>
                <a:lnTo>
                  <a:pt x="598516" y="2978415"/>
                </a:lnTo>
                <a:lnTo>
                  <a:pt x="631767" y="2967831"/>
                </a:lnTo>
                <a:lnTo>
                  <a:pt x="665018" y="2956657"/>
                </a:lnTo>
                <a:lnTo>
                  <a:pt x="698269" y="2944891"/>
                </a:lnTo>
                <a:lnTo>
                  <a:pt x="731520" y="2932531"/>
                </a:lnTo>
                <a:lnTo>
                  <a:pt x="764770" y="2919574"/>
                </a:lnTo>
                <a:lnTo>
                  <a:pt x="798021" y="2906019"/>
                </a:lnTo>
                <a:lnTo>
                  <a:pt x="831272" y="2891862"/>
                </a:lnTo>
                <a:lnTo>
                  <a:pt x="864523" y="2877103"/>
                </a:lnTo>
                <a:lnTo>
                  <a:pt x="897774" y="2861738"/>
                </a:lnTo>
                <a:lnTo>
                  <a:pt x="931025" y="2845766"/>
                </a:lnTo>
                <a:lnTo>
                  <a:pt x="964276" y="2829185"/>
                </a:lnTo>
                <a:lnTo>
                  <a:pt x="997527" y="2811991"/>
                </a:lnTo>
                <a:lnTo>
                  <a:pt x="1030778" y="2794183"/>
                </a:lnTo>
                <a:lnTo>
                  <a:pt x="1064029" y="2775758"/>
                </a:lnTo>
                <a:lnTo>
                  <a:pt x="1097280" y="2756714"/>
                </a:lnTo>
                <a:lnTo>
                  <a:pt x="1130530" y="2737049"/>
                </a:lnTo>
                <a:lnTo>
                  <a:pt x="1163781" y="2716760"/>
                </a:lnTo>
                <a:lnTo>
                  <a:pt x="1197032" y="2695845"/>
                </a:lnTo>
                <a:lnTo>
                  <a:pt x="1230283" y="2674301"/>
                </a:lnTo>
                <a:lnTo>
                  <a:pt x="1263534" y="2652127"/>
                </a:lnTo>
                <a:lnTo>
                  <a:pt x="1296785" y="2629319"/>
                </a:lnTo>
                <a:lnTo>
                  <a:pt x="1330036" y="2605875"/>
                </a:lnTo>
                <a:lnTo>
                  <a:pt x="1363287" y="2581792"/>
                </a:lnTo>
                <a:lnTo>
                  <a:pt x="1396538" y="2557069"/>
                </a:lnTo>
                <a:lnTo>
                  <a:pt x="1429789" y="2531702"/>
                </a:lnTo>
                <a:lnTo>
                  <a:pt x="1463040" y="2505688"/>
                </a:lnTo>
                <a:lnTo>
                  <a:pt x="1496290" y="2479027"/>
                </a:lnTo>
                <a:lnTo>
                  <a:pt x="1529541" y="2451714"/>
                </a:lnTo>
                <a:lnTo>
                  <a:pt x="1562792" y="2423747"/>
                </a:lnTo>
                <a:lnTo>
                  <a:pt x="1596043" y="2395124"/>
                </a:lnTo>
                <a:lnTo>
                  <a:pt x="1629294" y="2365842"/>
                </a:lnTo>
                <a:lnTo>
                  <a:pt x="1662545" y="2335898"/>
                </a:lnTo>
                <a:lnTo>
                  <a:pt x="1695796" y="2305290"/>
                </a:lnTo>
                <a:lnTo>
                  <a:pt x="1729047" y="2274015"/>
                </a:lnTo>
                <a:lnTo>
                  <a:pt x="1762298" y="2242071"/>
                </a:lnTo>
                <a:lnTo>
                  <a:pt x="1795549" y="2209454"/>
                </a:lnTo>
                <a:lnTo>
                  <a:pt x="1828800" y="2176162"/>
                </a:lnTo>
                <a:lnTo>
                  <a:pt x="1862050" y="2142192"/>
                </a:lnTo>
                <a:lnTo>
                  <a:pt x="1895301" y="2107541"/>
                </a:lnTo>
                <a:lnTo>
                  <a:pt x="1928552" y="2072208"/>
                </a:lnTo>
                <a:lnTo>
                  <a:pt x="1961803" y="2036188"/>
                </a:lnTo>
                <a:lnTo>
                  <a:pt x="1995054" y="1999480"/>
                </a:lnTo>
                <a:lnTo>
                  <a:pt x="2028305" y="1962080"/>
                </a:lnTo>
                <a:lnTo>
                  <a:pt x="2061556" y="1923986"/>
                </a:lnTo>
                <a:lnTo>
                  <a:pt x="2094807" y="1885195"/>
                </a:lnTo>
                <a:lnTo>
                  <a:pt x="2128058" y="1845703"/>
                </a:lnTo>
                <a:lnTo>
                  <a:pt x="2161309" y="1805509"/>
                </a:lnTo>
                <a:lnTo>
                  <a:pt x="2194560" y="1764610"/>
                </a:lnTo>
                <a:lnTo>
                  <a:pt x="2227810" y="1723002"/>
                </a:lnTo>
                <a:lnTo>
                  <a:pt x="2261061" y="1680682"/>
                </a:lnTo>
                <a:lnTo>
                  <a:pt x="2294312" y="1637649"/>
                </a:lnTo>
                <a:lnTo>
                  <a:pt x="2327563" y="1593898"/>
                </a:lnTo>
                <a:lnTo>
                  <a:pt x="2360814" y="1549428"/>
                </a:lnTo>
                <a:lnTo>
                  <a:pt x="2394065" y="1504235"/>
                </a:lnTo>
                <a:lnTo>
                  <a:pt x="2427316" y="1458316"/>
                </a:lnTo>
                <a:lnTo>
                  <a:pt x="2460567" y="1411668"/>
                </a:lnTo>
                <a:lnTo>
                  <a:pt x="2493818" y="1364289"/>
                </a:lnTo>
                <a:lnTo>
                  <a:pt x="2527069" y="1316176"/>
                </a:lnTo>
                <a:lnTo>
                  <a:pt x="2560320" y="1267325"/>
                </a:lnTo>
                <a:lnTo>
                  <a:pt x="2593570" y="1217733"/>
                </a:lnTo>
                <a:lnTo>
                  <a:pt x="2626821" y="1167399"/>
                </a:lnTo>
                <a:lnTo>
                  <a:pt x="2660072" y="1116318"/>
                </a:lnTo>
                <a:lnTo>
                  <a:pt x="2693323" y="1064488"/>
                </a:lnTo>
                <a:lnTo>
                  <a:pt x="2726574" y="1011905"/>
                </a:lnTo>
                <a:lnTo>
                  <a:pt x="2759825" y="958568"/>
                </a:lnTo>
                <a:lnTo>
                  <a:pt x="2793076" y="904472"/>
                </a:lnTo>
                <a:lnTo>
                  <a:pt x="2826327" y="849616"/>
                </a:lnTo>
                <a:lnTo>
                  <a:pt x="2859578" y="793995"/>
                </a:lnTo>
                <a:lnTo>
                  <a:pt x="2892829" y="737606"/>
                </a:lnTo>
                <a:lnTo>
                  <a:pt x="2926080" y="680448"/>
                </a:lnTo>
                <a:lnTo>
                  <a:pt x="2959330" y="622516"/>
                </a:lnTo>
                <a:lnTo>
                  <a:pt x="2992581" y="563808"/>
                </a:lnTo>
                <a:lnTo>
                  <a:pt x="3025832" y="504321"/>
                </a:lnTo>
                <a:lnTo>
                  <a:pt x="3059083" y="444051"/>
                </a:lnTo>
                <a:lnTo>
                  <a:pt x="3092334" y="382996"/>
                </a:lnTo>
                <a:lnTo>
                  <a:pt x="3125585" y="321153"/>
                </a:lnTo>
                <a:lnTo>
                  <a:pt x="3158836" y="258517"/>
                </a:lnTo>
                <a:lnTo>
                  <a:pt x="3192087" y="195088"/>
                </a:lnTo>
                <a:lnTo>
                  <a:pt x="3225338" y="130860"/>
                </a:lnTo>
                <a:lnTo>
                  <a:pt x="3258589" y="65832"/>
                </a:lnTo>
                <a:lnTo>
                  <a:pt x="32918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A-E08 polygon 58" descr="sci-ppt:o058"/>
          <p:cNvSpPr/>
          <p:nvPr/>
        </p:nvSpPr>
        <p:spPr>
          <a:xfrm>
            <a:off x="5212080" y="2117281"/>
            <a:ext cx="3291840" cy="2729039"/>
          </a:xfrm>
          <a:custGeom>
            <a:avLst/>
            <a:gdLst/>
            <a:ahLst/>
            <a:cxnLst/>
            <a:rect l="l" t="t" r="r" b="b"/>
            <a:pathLst>
              <a:path w="3291840" h="2729039">
                <a:moveTo>
                  <a:pt x="0" y="2729039"/>
                </a:moveTo>
                <a:lnTo>
                  <a:pt x="33250" y="2728760"/>
                </a:lnTo>
                <a:lnTo>
                  <a:pt x="66501" y="2727925"/>
                </a:lnTo>
                <a:lnTo>
                  <a:pt x="99752" y="2726532"/>
                </a:lnTo>
                <a:lnTo>
                  <a:pt x="133003" y="2724583"/>
                </a:lnTo>
                <a:lnTo>
                  <a:pt x="166254" y="2722077"/>
                </a:lnTo>
                <a:lnTo>
                  <a:pt x="199505" y="2719014"/>
                </a:lnTo>
                <a:lnTo>
                  <a:pt x="232756" y="2715395"/>
                </a:lnTo>
                <a:lnTo>
                  <a:pt x="266007" y="2711218"/>
                </a:lnTo>
                <a:lnTo>
                  <a:pt x="299258" y="2706484"/>
                </a:lnTo>
                <a:lnTo>
                  <a:pt x="332509" y="2701194"/>
                </a:lnTo>
                <a:lnTo>
                  <a:pt x="365760" y="2695347"/>
                </a:lnTo>
                <a:lnTo>
                  <a:pt x="399010" y="2688942"/>
                </a:lnTo>
                <a:lnTo>
                  <a:pt x="432261" y="2681981"/>
                </a:lnTo>
                <a:lnTo>
                  <a:pt x="465512" y="2674463"/>
                </a:lnTo>
                <a:lnTo>
                  <a:pt x="498763" y="2666388"/>
                </a:lnTo>
                <a:lnTo>
                  <a:pt x="532014" y="2657757"/>
                </a:lnTo>
                <a:lnTo>
                  <a:pt x="565265" y="2648568"/>
                </a:lnTo>
                <a:lnTo>
                  <a:pt x="598516" y="2638822"/>
                </a:lnTo>
                <a:lnTo>
                  <a:pt x="631767" y="2628520"/>
                </a:lnTo>
                <a:lnTo>
                  <a:pt x="665018" y="2617661"/>
                </a:lnTo>
                <a:lnTo>
                  <a:pt x="698269" y="2606244"/>
                </a:lnTo>
                <a:lnTo>
                  <a:pt x="731520" y="2594271"/>
                </a:lnTo>
                <a:lnTo>
                  <a:pt x="764770" y="2581741"/>
                </a:lnTo>
                <a:lnTo>
                  <a:pt x="798021" y="2568654"/>
                </a:lnTo>
                <a:lnTo>
                  <a:pt x="831272" y="2555010"/>
                </a:lnTo>
                <a:lnTo>
                  <a:pt x="864523" y="2540810"/>
                </a:lnTo>
                <a:lnTo>
                  <a:pt x="897774" y="2526052"/>
                </a:lnTo>
                <a:lnTo>
                  <a:pt x="931025" y="2510738"/>
                </a:lnTo>
                <a:lnTo>
                  <a:pt x="964276" y="2494866"/>
                </a:lnTo>
                <a:lnTo>
                  <a:pt x="997527" y="2478438"/>
                </a:lnTo>
                <a:lnTo>
                  <a:pt x="1030778" y="2461453"/>
                </a:lnTo>
                <a:lnTo>
                  <a:pt x="1064029" y="2443911"/>
                </a:lnTo>
                <a:lnTo>
                  <a:pt x="1097280" y="2425812"/>
                </a:lnTo>
                <a:lnTo>
                  <a:pt x="1130530" y="2407156"/>
                </a:lnTo>
                <a:lnTo>
                  <a:pt x="1163781" y="2387943"/>
                </a:lnTo>
                <a:lnTo>
                  <a:pt x="1197032" y="2368174"/>
                </a:lnTo>
                <a:lnTo>
                  <a:pt x="1230283" y="2347847"/>
                </a:lnTo>
                <a:lnTo>
                  <a:pt x="1263534" y="2326964"/>
                </a:lnTo>
                <a:lnTo>
                  <a:pt x="1296785" y="2305524"/>
                </a:lnTo>
                <a:lnTo>
                  <a:pt x="1330036" y="2283527"/>
                </a:lnTo>
                <a:lnTo>
                  <a:pt x="1363287" y="2260973"/>
                </a:lnTo>
                <a:lnTo>
                  <a:pt x="1396538" y="2237862"/>
                </a:lnTo>
                <a:lnTo>
                  <a:pt x="1429789" y="2214194"/>
                </a:lnTo>
                <a:lnTo>
                  <a:pt x="1463040" y="2189969"/>
                </a:lnTo>
                <a:lnTo>
                  <a:pt x="1496290" y="2165188"/>
                </a:lnTo>
                <a:lnTo>
                  <a:pt x="1529541" y="2139849"/>
                </a:lnTo>
                <a:lnTo>
                  <a:pt x="1562792" y="2113954"/>
                </a:lnTo>
                <a:lnTo>
                  <a:pt x="1596043" y="2087501"/>
                </a:lnTo>
                <a:lnTo>
                  <a:pt x="1629294" y="2060492"/>
                </a:lnTo>
                <a:lnTo>
                  <a:pt x="1662545" y="2032926"/>
                </a:lnTo>
                <a:lnTo>
                  <a:pt x="1695796" y="2004803"/>
                </a:lnTo>
                <a:lnTo>
                  <a:pt x="1729047" y="1976123"/>
                </a:lnTo>
                <a:lnTo>
                  <a:pt x="1762298" y="1946887"/>
                </a:lnTo>
                <a:lnTo>
                  <a:pt x="1795549" y="1917093"/>
                </a:lnTo>
                <a:lnTo>
                  <a:pt x="1828800" y="1886743"/>
                </a:lnTo>
                <a:lnTo>
                  <a:pt x="1862050" y="1855835"/>
                </a:lnTo>
                <a:lnTo>
                  <a:pt x="1895301" y="1824371"/>
                </a:lnTo>
                <a:lnTo>
                  <a:pt x="1928552" y="1792350"/>
                </a:lnTo>
                <a:lnTo>
                  <a:pt x="1961803" y="1759772"/>
                </a:lnTo>
                <a:lnTo>
                  <a:pt x="1995054" y="1726637"/>
                </a:lnTo>
                <a:lnTo>
                  <a:pt x="2028305" y="1692945"/>
                </a:lnTo>
                <a:lnTo>
                  <a:pt x="2061556" y="1658696"/>
                </a:lnTo>
                <a:lnTo>
                  <a:pt x="2094807" y="1623891"/>
                </a:lnTo>
                <a:lnTo>
                  <a:pt x="2128058" y="1588528"/>
                </a:lnTo>
                <a:lnTo>
                  <a:pt x="2161309" y="1552609"/>
                </a:lnTo>
                <a:lnTo>
                  <a:pt x="2194560" y="1516132"/>
                </a:lnTo>
                <a:lnTo>
                  <a:pt x="2227810" y="1479099"/>
                </a:lnTo>
                <a:lnTo>
                  <a:pt x="2261061" y="1441509"/>
                </a:lnTo>
                <a:lnTo>
                  <a:pt x="2294312" y="1403362"/>
                </a:lnTo>
                <a:lnTo>
                  <a:pt x="2327563" y="1364658"/>
                </a:lnTo>
                <a:lnTo>
                  <a:pt x="2360814" y="1325398"/>
                </a:lnTo>
                <a:lnTo>
                  <a:pt x="2394065" y="1285580"/>
                </a:lnTo>
                <a:lnTo>
                  <a:pt x="2427316" y="1245205"/>
                </a:lnTo>
                <a:lnTo>
                  <a:pt x="2460567" y="1204274"/>
                </a:lnTo>
                <a:lnTo>
                  <a:pt x="2493818" y="1162786"/>
                </a:lnTo>
                <a:lnTo>
                  <a:pt x="2527069" y="1120741"/>
                </a:lnTo>
                <a:lnTo>
                  <a:pt x="2560320" y="1078139"/>
                </a:lnTo>
                <a:lnTo>
                  <a:pt x="2593570" y="1034980"/>
                </a:lnTo>
                <a:lnTo>
                  <a:pt x="2626821" y="991264"/>
                </a:lnTo>
                <a:lnTo>
                  <a:pt x="2660072" y="946991"/>
                </a:lnTo>
                <a:lnTo>
                  <a:pt x="2693323" y="902161"/>
                </a:lnTo>
                <a:lnTo>
                  <a:pt x="2726574" y="856775"/>
                </a:lnTo>
                <a:lnTo>
                  <a:pt x="2759825" y="810831"/>
                </a:lnTo>
                <a:lnTo>
                  <a:pt x="2793076" y="764331"/>
                </a:lnTo>
                <a:lnTo>
                  <a:pt x="2826327" y="717274"/>
                </a:lnTo>
                <a:lnTo>
                  <a:pt x="2859578" y="669660"/>
                </a:lnTo>
                <a:lnTo>
                  <a:pt x="2892829" y="621489"/>
                </a:lnTo>
                <a:lnTo>
                  <a:pt x="2926080" y="572761"/>
                </a:lnTo>
                <a:lnTo>
                  <a:pt x="2959330" y="523476"/>
                </a:lnTo>
                <a:lnTo>
                  <a:pt x="2992581" y="473635"/>
                </a:lnTo>
                <a:lnTo>
                  <a:pt x="3025832" y="423236"/>
                </a:lnTo>
                <a:lnTo>
                  <a:pt x="3059083" y="372281"/>
                </a:lnTo>
                <a:lnTo>
                  <a:pt x="3092334" y="320768"/>
                </a:lnTo>
                <a:lnTo>
                  <a:pt x="3125585" y="268699"/>
                </a:lnTo>
                <a:lnTo>
                  <a:pt x="3158836" y="216073"/>
                </a:lnTo>
                <a:lnTo>
                  <a:pt x="3192087" y="162890"/>
                </a:lnTo>
                <a:lnTo>
                  <a:pt x="3225338" y="109150"/>
                </a:lnTo>
                <a:lnTo>
                  <a:pt x="3258589" y="54853"/>
                </a:lnTo>
                <a:lnTo>
                  <a:pt x="3291840" y="0"/>
                </a:lnTo>
              </a:path>
            </a:pathLst>
          </a:custGeom>
          <a:noFill/>
          <a:ln w="2540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A-E08 text 59" descr="sci-ppt:o059"/>
          <p:cNvSpPr txBox="1"/>
          <p:nvPr/>
        </p:nvSpPr>
        <p:spPr>
          <a:xfrm>
            <a:off x="5416905" y="1540764"/>
            <a:ext cx="822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exact</a:t>
            </a:r>
          </a:p>
        </p:txBody>
      </p:sp>
      <p:sp>
        <p:nvSpPr>
          <p:cNvPr id="62" name="A-E08 text 60" descr="sci-ppt:o060"/>
          <p:cNvSpPr txBox="1"/>
          <p:nvPr/>
        </p:nvSpPr>
        <p:spPr>
          <a:xfrm>
            <a:off x="5416905" y="1979675"/>
            <a:ext cx="2926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quadratic 8πG_g R_ref δR²</a:t>
            </a:r>
          </a:p>
        </p:txBody>
      </p:sp>
      <p:sp>
        <p:nvSpPr>
          <p:cNvPr id="63" name="A-E08 round_rect 61" descr="sci-ppt:o061"/>
          <p:cNvSpPr/>
          <p:nvPr/>
        </p:nvSpPr>
        <p:spPr>
          <a:xfrm>
            <a:off x="8778240" y="1371600"/>
            <a:ext cx="3063240" cy="34747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A-E08 text 62" descr="sci-ppt:o062"/>
          <p:cNvSpPr txBox="1"/>
          <p:nvPr/>
        </p:nvSpPr>
        <p:spPr>
          <a:xfrm>
            <a:off x="8887967" y="1426464"/>
            <a:ext cx="28437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Work conjugacy</a:t>
            </a:r>
          </a:p>
        </p:txBody>
      </p:sp>
      <p:sp>
        <p:nvSpPr>
          <p:cNvPr id="65" name="A-E08 text 63" descr="sci-ppt:o063"/>
          <p:cNvSpPr txBox="1"/>
          <p:nvPr/>
        </p:nvSpPr>
        <p:spPr>
          <a:xfrm>
            <a:off x="8869680" y="1828800"/>
            <a:ext cx="2880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dW_g/dR = 4πR² pₑₗ</a:t>
            </a:r>
          </a:p>
        </p:txBody>
      </p:sp>
      <p:sp>
        <p:nvSpPr>
          <p:cNvPr id="66" name="A-E08 text 64" descr="sci-ppt:o064"/>
          <p:cNvSpPr txBox="1"/>
          <p:nvPr/>
        </p:nvSpPr>
        <p:spPr>
          <a:xfrm>
            <a:off x="8869680" y="2423160"/>
            <a:ext cx="2880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pₑₗ ≈ 4G_g δR/R_ref</a:t>
            </a:r>
          </a:p>
        </p:txBody>
      </p:sp>
      <p:sp>
        <p:nvSpPr>
          <p:cNvPr id="67" name="A-E08 text 65" descr="sci-ppt:o065"/>
          <p:cNvSpPr txBox="1"/>
          <p:nvPr/>
        </p:nvSpPr>
        <p:spPr>
          <a:xfrm>
            <a:off x="8869680" y="3017520"/>
            <a:ext cx="2880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W_g ≈ 8πG_g R_ref δR²</a:t>
            </a:r>
          </a:p>
        </p:txBody>
      </p:sp>
      <p:sp>
        <p:nvSpPr>
          <p:cNvPr id="68" name="A-E08 text 66" descr="sci-ppt:o066"/>
          <p:cNvSpPr txBox="1"/>
          <p:nvPr/>
        </p:nvSpPr>
        <p:spPr>
          <a:xfrm>
            <a:off x="8869680" y="3657600"/>
            <a:ext cx="2880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Linear pressure, quadratic work.</a:t>
            </a:r>
          </a:p>
        </p:txBody>
      </p:sp>
      <p:sp>
        <p:nvSpPr>
          <p:cNvPr id="69" name="A-E08 text 67" descr="sci-ppt:o067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dashed small-deformation laws are tangent to the exact curves at δR = 0 and drift away only as the stretch grows.</a:t>
            </a:r>
          </a:p>
        </p:txBody>
      </p:sp>
      <p:sp>
        <p:nvSpPr>
          <p:cNvPr id="70" name="A-E08 text 68" descr="sci-ppt:o06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Work conjugacy and small-deformation limits of Eq. A-E08.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A-E09 · Kelvin–Voigt closure and exact radial kinematics</a:t>
            </a:r>
          </a:p>
        </p:txBody>
      </p:sp>
      <p:cxnSp>
        <p:nvCxnSpPr>
          <p:cNvPr id="3" name="A-E09 line 1" descr="sci-ppt:o001"/>
          <p:cNvCxnSpPr/>
          <p:nvPr/>
        </p:nvCxnSpPr>
        <p:spPr>
          <a:xfrm>
            <a:off x="914400" y="502920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9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9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9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9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9 line 6" descr="sci-ppt:o006"/>
          <p:cNvCxnSpPr/>
          <p:nvPr/>
        </p:nvCxnSpPr>
        <p:spPr>
          <a:xfrm>
            <a:off x="22860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9 line 7" descr="sci-ppt:o007"/>
          <p:cNvCxnSpPr/>
          <p:nvPr/>
        </p:nvCxnSpPr>
        <p:spPr>
          <a:xfrm>
            <a:off x="22860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9 text 8" descr="sci-ppt:o008"/>
          <p:cNvSpPr txBox="1"/>
          <p:nvPr/>
        </p:nvSpPr>
        <p:spPr>
          <a:xfrm>
            <a:off x="18288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9 line 9" descr="sci-ppt:o009"/>
          <p:cNvCxnSpPr/>
          <p:nvPr/>
        </p:nvCxnSpPr>
        <p:spPr>
          <a:xfrm>
            <a:off x="3657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9 line 10" descr="sci-ppt:o010"/>
          <p:cNvCxnSpPr/>
          <p:nvPr/>
        </p:nvCxnSpPr>
        <p:spPr>
          <a:xfrm>
            <a:off x="3657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9 text 11" descr="sci-ppt:o011"/>
          <p:cNvSpPr txBox="1"/>
          <p:nvPr/>
        </p:nvSpPr>
        <p:spPr>
          <a:xfrm>
            <a:off x="3200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A-E09 line 12" descr="sci-ppt:o012"/>
          <p:cNvCxnSpPr/>
          <p:nvPr/>
        </p:nvCxnSpPr>
        <p:spPr>
          <a:xfrm>
            <a:off x="50292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9 line 13" descr="sci-ppt:o013"/>
          <p:cNvCxnSpPr/>
          <p:nvPr/>
        </p:nvCxnSpPr>
        <p:spPr>
          <a:xfrm>
            <a:off x="50292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9 text 14" descr="sci-ppt:o014"/>
          <p:cNvSpPr txBox="1"/>
          <p:nvPr/>
        </p:nvSpPr>
        <p:spPr>
          <a:xfrm>
            <a:off x="45720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A-E09 line 15" descr="sci-ppt:o015"/>
          <p:cNvCxnSpPr/>
          <p:nvPr/>
        </p:nvCxnSpPr>
        <p:spPr>
          <a:xfrm>
            <a:off x="64008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9 line 16" descr="sci-ppt:o016"/>
          <p:cNvCxnSpPr/>
          <p:nvPr/>
        </p:nvCxnSpPr>
        <p:spPr>
          <a:xfrm>
            <a:off x="64008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9 text 17" descr="sci-ppt:o017"/>
          <p:cNvSpPr txBox="1"/>
          <p:nvPr/>
        </p:nvSpPr>
        <p:spPr>
          <a:xfrm>
            <a:off x="59436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A-E09 line 18" descr="sci-ppt:o018"/>
          <p:cNvCxnSpPr/>
          <p:nvPr/>
        </p:nvCxnSpPr>
        <p:spPr>
          <a:xfrm>
            <a:off x="850392" y="481404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9 line 19" descr="sci-ppt:o019"/>
          <p:cNvCxnSpPr/>
          <p:nvPr/>
        </p:nvCxnSpPr>
        <p:spPr>
          <a:xfrm>
            <a:off x="914400" y="4814047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9 text 20" descr="sci-ppt:o020"/>
          <p:cNvSpPr txBox="1"/>
          <p:nvPr/>
        </p:nvSpPr>
        <p:spPr>
          <a:xfrm>
            <a:off x="45720" y="473175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</a:t>
            </a:r>
          </a:p>
        </p:txBody>
      </p:sp>
      <p:cxnSp>
        <p:nvCxnSpPr>
          <p:cNvPr id="23" name="A-E09 line 21" descr="sci-ppt:o021"/>
          <p:cNvCxnSpPr/>
          <p:nvPr/>
        </p:nvCxnSpPr>
        <p:spPr>
          <a:xfrm>
            <a:off x="850392" y="373828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9 line 22" descr="sci-ppt:o022"/>
          <p:cNvCxnSpPr/>
          <p:nvPr/>
        </p:nvCxnSpPr>
        <p:spPr>
          <a:xfrm>
            <a:off x="914400" y="3738282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A-E09 text 23" descr="sci-ppt:o023"/>
          <p:cNvSpPr txBox="1"/>
          <p:nvPr/>
        </p:nvSpPr>
        <p:spPr>
          <a:xfrm>
            <a:off x="45720" y="365598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</a:t>
            </a:r>
          </a:p>
        </p:txBody>
      </p:sp>
      <p:cxnSp>
        <p:nvCxnSpPr>
          <p:cNvPr id="26" name="A-E09 line 24" descr="sci-ppt:o024"/>
          <p:cNvCxnSpPr/>
          <p:nvPr/>
        </p:nvCxnSpPr>
        <p:spPr>
          <a:xfrm>
            <a:off x="850392" y="266251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A-E09 line 25" descr="sci-ppt:o025"/>
          <p:cNvCxnSpPr/>
          <p:nvPr/>
        </p:nvCxnSpPr>
        <p:spPr>
          <a:xfrm>
            <a:off x="914400" y="2662517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A-E09 text 26" descr="sci-ppt:o026"/>
          <p:cNvSpPr txBox="1"/>
          <p:nvPr/>
        </p:nvSpPr>
        <p:spPr>
          <a:xfrm>
            <a:off x="45720" y="258022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9" name="A-E09 line 27" descr="sci-ppt:o027"/>
          <p:cNvCxnSpPr/>
          <p:nvPr/>
        </p:nvCxnSpPr>
        <p:spPr>
          <a:xfrm>
            <a:off x="850392" y="158675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A-E09 line 28" descr="sci-ppt:o028"/>
          <p:cNvCxnSpPr/>
          <p:nvPr/>
        </p:nvCxnSpPr>
        <p:spPr>
          <a:xfrm>
            <a:off x="914400" y="1586752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A-E09 text 29" descr="sci-ppt:o029"/>
          <p:cNvSpPr txBox="1"/>
          <p:nvPr/>
        </p:nvSpPr>
        <p:spPr>
          <a:xfrm>
            <a:off x="45720" y="150445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2" name="A-E09 text 30" descr="sci-ppt:o030"/>
          <p:cNvSpPr txBox="1"/>
          <p:nvPr/>
        </p:nvSpPr>
        <p:spPr>
          <a:xfrm>
            <a:off x="914400" y="5312664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3" name="A-E09 text 31" descr="sci-ppt:o031"/>
          <p:cNvSpPr txBox="1"/>
          <p:nvPr/>
        </p:nvSpPr>
        <p:spPr>
          <a:xfrm>
            <a:off x="365760" y="1024128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strain rate  (units Ṙ / R)</a:t>
            </a:r>
          </a:p>
        </p:txBody>
      </p:sp>
      <p:sp>
        <p:nvSpPr>
          <p:cNvPr id="34" name="A-E09 polygon 32" descr="sci-ppt:o032"/>
          <p:cNvSpPr/>
          <p:nvPr/>
        </p:nvSpPr>
        <p:spPr>
          <a:xfrm>
            <a:off x="914400" y="2679729"/>
            <a:ext cx="5486400" cy="2134318"/>
          </a:xfrm>
          <a:custGeom>
            <a:avLst/>
            <a:gdLst/>
            <a:ahLst/>
            <a:cxnLst/>
            <a:rect l="l" t="t" r="r" b="b"/>
            <a:pathLst>
              <a:path w="5486400" h="2134318">
                <a:moveTo>
                  <a:pt x="0" y="2134318"/>
                </a:moveTo>
                <a:lnTo>
                  <a:pt x="27569" y="2009623"/>
                </a:lnTo>
                <a:lnTo>
                  <a:pt x="55139" y="1894381"/>
                </a:lnTo>
                <a:lnTo>
                  <a:pt x="82709" y="1787713"/>
                </a:lnTo>
                <a:lnTo>
                  <a:pt x="110279" y="1688836"/>
                </a:lnTo>
                <a:lnTo>
                  <a:pt x="137849" y="1597051"/>
                </a:lnTo>
                <a:lnTo>
                  <a:pt x="165419" y="1511733"/>
                </a:lnTo>
                <a:lnTo>
                  <a:pt x="192988" y="1432324"/>
                </a:lnTo>
                <a:lnTo>
                  <a:pt x="220558" y="1358320"/>
                </a:lnTo>
                <a:lnTo>
                  <a:pt x="248128" y="1289269"/>
                </a:lnTo>
                <a:lnTo>
                  <a:pt x="275698" y="1224763"/>
                </a:lnTo>
                <a:lnTo>
                  <a:pt x="303268" y="1164435"/>
                </a:lnTo>
                <a:lnTo>
                  <a:pt x="330838" y="1107952"/>
                </a:lnTo>
                <a:lnTo>
                  <a:pt x="358408" y="1055012"/>
                </a:lnTo>
                <a:lnTo>
                  <a:pt x="385977" y="1005341"/>
                </a:lnTo>
                <a:lnTo>
                  <a:pt x="413547" y="958692"/>
                </a:lnTo>
                <a:lnTo>
                  <a:pt x="441117" y="914838"/>
                </a:lnTo>
                <a:lnTo>
                  <a:pt x="468687" y="873573"/>
                </a:lnTo>
                <a:lnTo>
                  <a:pt x="496257" y="834708"/>
                </a:lnTo>
                <a:lnTo>
                  <a:pt x="523827" y="798071"/>
                </a:lnTo>
                <a:lnTo>
                  <a:pt x="551396" y="763506"/>
                </a:lnTo>
                <a:lnTo>
                  <a:pt x="578966" y="730867"/>
                </a:lnTo>
                <a:lnTo>
                  <a:pt x="606536" y="700022"/>
                </a:lnTo>
                <a:lnTo>
                  <a:pt x="634106" y="670850"/>
                </a:lnTo>
                <a:lnTo>
                  <a:pt x="661676" y="643239"/>
                </a:lnTo>
                <a:lnTo>
                  <a:pt x="689246" y="617086"/>
                </a:lnTo>
                <a:lnTo>
                  <a:pt x="716816" y="592295"/>
                </a:lnTo>
                <a:lnTo>
                  <a:pt x="744385" y="568780"/>
                </a:lnTo>
                <a:lnTo>
                  <a:pt x="771955" y="546459"/>
                </a:lnTo>
                <a:lnTo>
                  <a:pt x="799525" y="525257"/>
                </a:lnTo>
                <a:lnTo>
                  <a:pt x="827095" y="505106"/>
                </a:lnTo>
                <a:lnTo>
                  <a:pt x="854665" y="485940"/>
                </a:lnTo>
                <a:lnTo>
                  <a:pt x="882235" y="467701"/>
                </a:lnTo>
                <a:lnTo>
                  <a:pt x="909805" y="450332"/>
                </a:lnTo>
                <a:lnTo>
                  <a:pt x="937374" y="433784"/>
                </a:lnTo>
                <a:lnTo>
                  <a:pt x="964944" y="418007"/>
                </a:lnTo>
                <a:lnTo>
                  <a:pt x="992514" y="402957"/>
                </a:lnTo>
                <a:lnTo>
                  <a:pt x="1020084" y="388594"/>
                </a:lnTo>
                <a:lnTo>
                  <a:pt x="1047654" y="374878"/>
                </a:lnTo>
                <a:lnTo>
                  <a:pt x="1075224" y="361773"/>
                </a:lnTo>
                <a:lnTo>
                  <a:pt x="1102793" y="349245"/>
                </a:lnTo>
                <a:lnTo>
                  <a:pt x="1130363" y="337264"/>
                </a:lnTo>
                <a:lnTo>
                  <a:pt x="1157933" y="325799"/>
                </a:lnTo>
                <a:lnTo>
                  <a:pt x="1185503" y="314824"/>
                </a:lnTo>
                <a:lnTo>
                  <a:pt x="1213073" y="304312"/>
                </a:lnTo>
                <a:lnTo>
                  <a:pt x="1240643" y="294239"/>
                </a:lnTo>
                <a:lnTo>
                  <a:pt x="1268213" y="284582"/>
                </a:lnTo>
                <a:lnTo>
                  <a:pt x="1295782" y="275320"/>
                </a:lnTo>
                <a:lnTo>
                  <a:pt x="1323352" y="266434"/>
                </a:lnTo>
                <a:lnTo>
                  <a:pt x="1350922" y="257904"/>
                </a:lnTo>
                <a:lnTo>
                  <a:pt x="1378492" y="249712"/>
                </a:lnTo>
                <a:lnTo>
                  <a:pt x="1406062" y="241843"/>
                </a:lnTo>
                <a:lnTo>
                  <a:pt x="1433632" y="234280"/>
                </a:lnTo>
                <a:lnTo>
                  <a:pt x="1461202" y="227008"/>
                </a:lnTo>
                <a:lnTo>
                  <a:pt x="1488771" y="220014"/>
                </a:lnTo>
                <a:lnTo>
                  <a:pt x="1516341" y="213285"/>
                </a:lnTo>
                <a:lnTo>
                  <a:pt x="1543911" y="206807"/>
                </a:lnTo>
                <a:lnTo>
                  <a:pt x="1571481" y="200571"/>
                </a:lnTo>
                <a:lnTo>
                  <a:pt x="1599051" y="194563"/>
                </a:lnTo>
                <a:lnTo>
                  <a:pt x="1626621" y="188775"/>
                </a:lnTo>
                <a:lnTo>
                  <a:pt x="1654190" y="183195"/>
                </a:lnTo>
                <a:lnTo>
                  <a:pt x="1681760" y="177815"/>
                </a:lnTo>
                <a:lnTo>
                  <a:pt x="1709330" y="172626"/>
                </a:lnTo>
                <a:lnTo>
                  <a:pt x="1736900" y="167620"/>
                </a:lnTo>
                <a:lnTo>
                  <a:pt x="1764470" y="162788"/>
                </a:lnTo>
                <a:lnTo>
                  <a:pt x="1792040" y="158123"/>
                </a:lnTo>
                <a:lnTo>
                  <a:pt x="1819610" y="153618"/>
                </a:lnTo>
                <a:lnTo>
                  <a:pt x="1847179" y="149266"/>
                </a:lnTo>
                <a:lnTo>
                  <a:pt x="1874749" y="145060"/>
                </a:lnTo>
                <a:lnTo>
                  <a:pt x="1902319" y="140995"/>
                </a:lnTo>
                <a:lnTo>
                  <a:pt x="1929889" y="137065"/>
                </a:lnTo>
                <a:lnTo>
                  <a:pt x="1957459" y="133263"/>
                </a:lnTo>
                <a:lnTo>
                  <a:pt x="1985029" y="129586"/>
                </a:lnTo>
                <a:lnTo>
                  <a:pt x="2012598" y="126027"/>
                </a:lnTo>
                <a:lnTo>
                  <a:pt x="2040168" y="122583"/>
                </a:lnTo>
                <a:lnTo>
                  <a:pt x="2067738" y="119248"/>
                </a:lnTo>
                <a:lnTo>
                  <a:pt x="2095308" y="116018"/>
                </a:lnTo>
                <a:lnTo>
                  <a:pt x="2122878" y="112890"/>
                </a:lnTo>
                <a:lnTo>
                  <a:pt x="2150448" y="109858"/>
                </a:lnTo>
                <a:lnTo>
                  <a:pt x="2178018" y="106920"/>
                </a:lnTo>
                <a:lnTo>
                  <a:pt x="2205587" y="104072"/>
                </a:lnTo>
                <a:lnTo>
                  <a:pt x="2233157" y="101311"/>
                </a:lnTo>
                <a:lnTo>
                  <a:pt x="2260727" y="98632"/>
                </a:lnTo>
                <a:lnTo>
                  <a:pt x="2288297" y="96034"/>
                </a:lnTo>
                <a:lnTo>
                  <a:pt x="2315867" y="93513"/>
                </a:lnTo>
                <a:lnTo>
                  <a:pt x="2343437" y="91066"/>
                </a:lnTo>
                <a:lnTo>
                  <a:pt x="2371007" y="88691"/>
                </a:lnTo>
                <a:lnTo>
                  <a:pt x="2398576" y="86385"/>
                </a:lnTo>
                <a:lnTo>
                  <a:pt x="2426146" y="84145"/>
                </a:lnTo>
                <a:lnTo>
                  <a:pt x="2453716" y="81969"/>
                </a:lnTo>
                <a:lnTo>
                  <a:pt x="2481286" y="79855"/>
                </a:lnTo>
                <a:lnTo>
                  <a:pt x="2508856" y="77801"/>
                </a:lnTo>
                <a:lnTo>
                  <a:pt x="2536426" y="75804"/>
                </a:lnTo>
                <a:lnTo>
                  <a:pt x="2563995" y="73863"/>
                </a:lnTo>
                <a:lnTo>
                  <a:pt x="2591565" y="71975"/>
                </a:lnTo>
                <a:lnTo>
                  <a:pt x="2619135" y="70140"/>
                </a:lnTo>
                <a:lnTo>
                  <a:pt x="2646705" y="68354"/>
                </a:lnTo>
                <a:lnTo>
                  <a:pt x="2674275" y="66617"/>
                </a:lnTo>
                <a:lnTo>
                  <a:pt x="2701845" y="64926"/>
                </a:lnTo>
                <a:lnTo>
                  <a:pt x="2729415" y="63281"/>
                </a:lnTo>
                <a:lnTo>
                  <a:pt x="2756984" y="61679"/>
                </a:lnTo>
                <a:lnTo>
                  <a:pt x="2784554" y="60119"/>
                </a:lnTo>
                <a:lnTo>
                  <a:pt x="2812124" y="58601"/>
                </a:lnTo>
                <a:lnTo>
                  <a:pt x="2839694" y="57121"/>
                </a:lnTo>
                <a:lnTo>
                  <a:pt x="2867264" y="55680"/>
                </a:lnTo>
                <a:lnTo>
                  <a:pt x="2894834" y="54276"/>
                </a:lnTo>
                <a:lnTo>
                  <a:pt x="2922404" y="52908"/>
                </a:lnTo>
                <a:lnTo>
                  <a:pt x="2949973" y="51575"/>
                </a:lnTo>
                <a:lnTo>
                  <a:pt x="2977543" y="50275"/>
                </a:lnTo>
                <a:lnTo>
                  <a:pt x="3005113" y="49008"/>
                </a:lnTo>
                <a:lnTo>
                  <a:pt x="3032683" y="47772"/>
                </a:lnTo>
                <a:lnTo>
                  <a:pt x="3060253" y="46567"/>
                </a:lnTo>
                <a:lnTo>
                  <a:pt x="3087823" y="45391"/>
                </a:lnTo>
                <a:lnTo>
                  <a:pt x="3115392" y="44244"/>
                </a:lnTo>
                <a:lnTo>
                  <a:pt x="3142962" y="43125"/>
                </a:lnTo>
                <a:lnTo>
                  <a:pt x="3170532" y="42033"/>
                </a:lnTo>
                <a:lnTo>
                  <a:pt x="3198102" y="40967"/>
                </a:lnTo>
                <a:lnTo>
                  <a:pt x="3225672" y="39927"/>
                </a:lnTo>
                <a:lnTo>
                  <a:pt x="3253242" y="38911"/>
                </a:lnTo>
                <a:lnTo>
                  <a:pt x="3280812" y="37919"/>
                </a:lnTo>
                <a:lnTo>
                  <a:pt x="3308381" y="36950"/>
                </a:lnTo>
                <a:lnTo>
                  <a:pt x="3335951" y="36004"/>
                </a:lnTo>
                <a:lnTo>
                  <a:pt x="3363521" y="35080"/>
                </a:lnTo>
                <a:lnTo>
                  <a:pt x="3391091" y="34177"/>
                </a:lnTo>
                <a:lnTo>
                  <a:pt x="3418661" y="33295"/>
                </a:lnTo>
                <a:lnTo>
                  <a:pt x="3446231" y="32433"/>
                </a:lnTo>
                <a:lnTo>
                  <a:pt x="3473801" y="31590"/>
                </a:lnTo>
                <a:lnTo>
                  <a:pt x="3501370" y="30767"/>
                </a:lnTo>
                <a:lnTo>
                  <a:pt x="3528940" y="29962"/>
                </a:lnTo>
                <a:lnTo>
                  <a:pt x="3556510" y="29174"/>
                </a:lnTo>
                <a:lnTo>
                  <a:pt x="3584080" y="28404"/>
                </a:lnTo>
                <a:lnTo>
                  <a:pt x="3611650" y="27651"/>
                </a:lnTo>
                <a:lnTo>
                  <a:pt x="3639220" y="26915"/>
                </a:lnTo>
                <a:lnTo>
                  <a:pt x="3666789" y="26195"/>
                </a:lnTo>
                <a:lnTo>
                  <a:pt x="3694359" y="25490"/>
                </a:lnTo>
                <a:lnTo>
                  <a:pt x="3721929" y="24800"/>
                </a:lnTo>
                <a:lnTo>
                  <a:pt x="3749499" y="24125"/>
                </a:lnTo>
                <a:lnTo>
                  <a:pt x="3777069" y="23465"/>
                </a:lnTo>
                <a:lnTo>
                  <a:pt x="3804639" y="22818"/>
                </a:lnTo>
                <a:lnTo>
                  <a:pt x="3832209" y="22185"/>
                </a:lnTo>
                <a:lnTo>
                  <a:pt x="3859778" y="21566"/>
                </a:lnTo>
                <a:lnTo>
                  <a:pt x="3887348" y="20959"/>
                </a:lnTo>
                <a:lnTo>
                  <a:pt x="3914918" y="20365"/>
                </a:lnTo>
                <a:lnTo>
                  <a:pt x="3942488" y="19783"/>
                </a:lnTo>
                <a:lnTo>
                  <a:pt x="3970058" y="19213"/>
                </a:lnTo>
                <a:lnTo>
                  <a:pt x="3997628" y="18655"/>
                </a:lnTo>
                <a:lnTo>
                  <a:pt x="4025197" y="18108"/>
                </a:lnTo>
                <a:lnTo>
                  <a:pt x="4052767" y="17572"/>
                </a:lnTo>
                <a:lnTo>
                  <a:pt x="4080337" y="17047"/>
                </a:lnTo>
                <a:lnTo>
                  <a:pt x="4107907" y="16533"/>
                </a:lnTo>
                <a:lnTo>
                  <a:pt x="4135477" y="16029"/>
                </a:lnTo>
                <a:lnTo>
                  <a:pt x="4163047" y="15534"/>
                </a:lnTo>
                <a:lnTo>
                  <a:pt x="4190617" y="15050"/>
                </a:lnTo>
                <a:lnTo>
                  <a:pt x="4218186" y="14575"/>
                </a:lnTo>
                <a:lnTo>
                  <a:pt x="4245756" y="14109"/>
                </a:lnTo>
                <a:lnTo>
                  <a:pt x="4273326" y="13652"/>
                </a:lnTo>
                <a:lnTo>
                  <a:pt x="4300896" y="13204"/>
                </a:lnTo>
                <a:lnTo>
                  <a:pt x="4328466" y="12765"/>
                </a:lnTo>
                <a:lnTo>
                  <a:pt x="4356036" y="12334"/>
                </a:lnTo>
                <a:lnTo>
                  <a:pt x="4383606" y="11912"/>
                </a:lnTo>
                <a:lnTo>
                  <a:pt x="4411175" y="11497"/>
                </a:lnTo>
                <a:lnTo>
                  <a:pt x="4438745" y="11091"/>
                </a:lnTo>
                <a:lnTo>
                  <a:pt x="4466315" y="10691"/>
                </a:lnTo>
                <a:lnTo>
                  <a:pt x="4493885" y="10300"/>
                </a:lnTo>
                <a:lnTo>
                  <a:pt x="4521455" y="9916"/>
                </a:lnTo>
                <a:lnTo>
                  <a:pt x="4549025" y="9538"/>
                </a:lnTo>
                <a:lnTo>
                  <a:pt x="4576594" y="9168"/>
                </a:lnTo>
                <a:lnTo>
                  <a:pt x="4604164" y="8805"/>
                </a:lnTo>
                <a:lnTo>
                  <a:pt x="4631734" y="8448"/>
                </a:lnTo>
                <a:lnTo>
                  <a:pt x="4659304" y="8098"/>
                </a:lnTo>
                <a:lnTo>
                  <a:pt x="4686874" y="7754"/>
                </a:lnTo>
                <a:lnTo>
                  <a:pt x="4714444" y="7416"/>
                </a:lnTo>
                <a:lnTo>
                  <a:pt x="4742014" y="7084"/>
                </a:lnTo>
                <a:lnTo>
                  <a:pt x="4769583" y="6758"/>
                </a:lnTo>
                <a:lnTo>
                  <a:pt x="4797153" y="6438"/>
                </a:lnTo>
                <a:lnTo>
                  <a:pt x="4824723" y="6124"/>
                </a:lnTo>
                <a:lnTo>
                  <a:pt x="4852293" y="5815"/>
                </a:lnTo>
                <a:lnTo>
                  <a:pt x="4879863" y="5512"/>
                </a:lnTo>
                <a:lnTo>
                  <a:pt x="4907433" y="5214"/>
                </a:lnTo>
                <a:lnTo>
                  <a:pt x="4935003" y="4921"/>
                </a:lnTo>
                <a:lnTo>
                  <a:pt x="4962572" y="4634"/>
                </a:lnTo>
                <a:lnTo>
                  <a:pt x="4990142" y="4351"/>
                </a:lnTo>
                <a:lnTo>
                  <a:pt x="5017712" y="4073"/>
                </a:lnTo>
                <a:lnTo>
                  <a:pt x="5045282" y="3800"/>
                </a:lnTo>
                <a:lnTo>
                  <a:pt x="5072852" y="3531"/>
                </a:lnTo>
                <a:lnTo>
                  <a:pt x="5100422" y="3267"/>
                </a:lnTo>
                <a:lnTo>
                  <a:pt x="5127991" y="3008"/>
                </a:lnTo>
                <a:lnTo>
                  <a:pt x="5155561" y="2753"/>
                </a:lnTo>
                <a:lnTo>
                  <a:pt x="5183131" y="2502"/>
                </a:lnTo>
                <a:lnTo>
                  <a:pt x="5210701" y="2255"/>
                </a:lnTo>
                <a:lnTo>
                  <a:pt x="5238271" y="2012"/>
                </a:lnTo>
                <a:lnTo>
                  <a:pt x="5265841" y="1774"/>
                </a:lnTo>
                <a:lnTo>
                  <a:pt x="5293411" y="1539"/>
                </a:lnTo>
                <a:lnTo>
                  <a:pt x="5320980" y="1308"/>
                </a:lnTo>
                <a:lnTo>
                  <a:pt x="5348550" y="1081"/>
                </a:lnTo>
                <a:lnTo>
                  <a:pt x="5376120" y="858"/>
                </a:lnTo>
                <a:lnTo>
                  <a:pt x="5403690" y="638"/>
                </a:lnTo>
                <a:lnTo>
                  <a:pt x="5431260" y="422"/>
                </a:lnTo>
                <a:lnTo>
                  <a:pt x="5458830" y="210"/>
                </a:lnTo>
                <a:lnTo>
                  <a:pt x="5486400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-E09 polygon 33" descr="sci-ppt:o033"/>
          <p:cNvSpPr/>
          <p:nvPr/>
        </p:nvSpPr>
        <p:spPr>
          <a:xfrm>
            <a:off x="914400" y="1586752"/>
            <a:ext cx="5486400" cy="1067159"/>
          </a:xfrm>
          <a:custGeom>
            <a:avLst/>
            <a:gdLst/>
            <a:ahLst/>
            <a:cxnLst/>
            <a:rect l="l" t="t" r="r" b="b"/>
            <a:pathLst>
              <a:path w="5486400" h="1067159">
                <a:moveTo>
                  <a:pt x="0" y="0"/>
                </a:moveTo>
                <a:lnTo>
                  <a:pt x="27569" y="62348"/>
                </a:lnTo>
                <a:lnTo>
                  <a:pt x="55139" y="119969"/>
                </a:lnTo>
                <a:lnTo>
                  <a:pt x="82709" y="173303"/>
                </a:lnTo>
                <a:lnTo>
                  <a:pt x="110279" y="222741"/>
                </a:lnTo>
                <a:lnTo>
                  <a:pt x="137849" y="268634"/>
                </a:lnTo>
                <a:lnTo>
                  <a:pt x="165419" y="311293"/>
                </a:lnTo>
                <a:lnTo>
                  <a:pt x="192988" y="350997"/>
                </a:lnTo>
                <a:lnTo>
                  <a:pt x="220558" y="387999"/>
                </a:lnTo>
                <a:lnTo>
                  <a:pt x="248128" y="422525"/>
                </a:lnTo>
                <a:lnTo>
                  <a:pt x="275698" y="454778"/>
                </a:lnTo>
                <a:lnTo>
                  <a:pt x="303268" y="484942"/>
                </a:lnTo>
                <a:lnTo>
                  <a:pt x="330838" y="513183"/>
                </a:lnTo>
                <a:lnTo>
                  <a:pt x="358408" y="539653"/>
                </a:lnTo>
                <a:lnTo>
                  <a:pt x="385977" y="564488"/>
                </a:lnTo>
                <a:lnTo>
                  <a:pt x="413547" y="587813"/>
                </a:lnTo>
                <a:lnTo>
                  <a:pt x="441117" y="609740"/>
                </a:lnTo>
                <a:lnTo>
                  <a:pt x="468687" y="630373"/>
                </a:lnTo>
                <a:lnTo>
                  <a:pt x="496257" y="649805"/>
                </a:lnTo>
                <a:lnTo>
                  <a:pt x="523827" y="668124"/>
                </a:lnTo>
                <a:lnTo>
                  <a:pt x="551396" y="685406"/>
                </a:lnTo>
                <a:lnTo>
                  <a:pt x="578966" y="701726"/>
                </a:lnTo>
                <a:lnTo>
                  <a:pt x="606536" y="717148"/>
                </a:lnTo>
                <a:lnTo>
                  <a:pt x="634106" y="731734"/>
                </a:lnTo>
                <a:lnTo>
                  <a:pt x="661676" y="745540"/>
                </a:lnTo>
                <a:lnTo>
                  <a:pt x="689246" y="758616"/>
                </a:lnTo>
                <a:lnTo>
                  <a:pt x="716816" y="771012"/>
                </a:lnTo>
                <a:lnTo>
                  <a:pt x="744385" y="782769"/>
                </a:lnTo>
                <a:lnTo>
                  <a:pt x="771955" y="793930"/>
                </a:lnTo>
                <a:lnTo>
                  <a:pt x="799525" y="804531"/>
                </a:lnTo>
                <a:lnTo>
                  <a:pt x="827095" y="814606"/>
                </a:lnTo>
                <a:lnTo>
                  <a:pt x="854665" y="824189"/>
                </a:lnTo>
                <a:lnTo>
                  <a:pt x="882235" y="833309"/>
                </a:lnTo>
                <a:lnTo>
                  <a:pt x="909805" y="841993"/>
                </a:lnTo>
                <a:lnTo>
                  <a:pt x="937374" y="850267"/>
                </a:lnTo>
                <a:lnTo>
                  <a:pt x="964944" y="858156"/>
                </a:lnTo>
                <a:lnTo>
                  <a:pt x="992514" y="865681"/>
                </a:lnTo>
                <a:lnTo>
                  <a:pt x="1020084" y="872862"/>
                </a:lnTo>
                <a:lnTo>
                  <a:pt x="1047654" y="879720"/>
                </a:lnTo>
                <a:lnTo>
                  <a:pt x="1075224" y="886273"/>
                </a:lnTo>
                <a:lnTo>
                  <a:pt x="1102793" y="892537"/>
                </a:lnTo>
                <a:lnTo>
                  <a:pt x="1130363" y="898527"/>
                </a:lnTo>
                <a:lnTo>
                  <a:pt x="1157933" y="904260"/>
                </a:lnTo>
                <a:lnTo>
                  <a:pt x="1185503" y="909747"/>
                </a:lnTo>
                <a:lnTo>
                  <a:pt x="1213073" y="915003"/>
                </a:lnTo>
                <a:lnTo>
                  <a:pt x="1240643" y="920040"/>
                </a:lnTo>
                <a:lnTo>
                  <a:pt x="1268213" y="924868"/>
                </a:lnTo>
                <a:lnTo>
                  <a:pt x="1295782" y="929499"/>
                </a:lnTo>
                <a:lnTo>
                  <a:pt x="1323352" y="933942"/>
                </a:lnTo>
                <a:lnTo>
                  <a:pt x="1350922" y="938207"/>
                </a:lnTo>
                <a:lnTo>
                  <a:pt x="1378492" y="942303"/>
                </a:lnTo>
                <a:lnTo>
                  <a:pt x="1406062" y="946238"/>
                </a:lnTo>
                <a:lnTo>
                  <a:pt x="1433632" y="950019"/>
                </a:lnTo>
                <a:lnTo>
                  <a:pt x="1461202" y="953655"/>
                </a:lnTo>
                <a:lnTo>
                  <a:pt x="1488771" y="957152"/>
                </a:lnTo>
                <a:lnTo>
                  <a:pt x="1516341" y="960517"/>
                </a:lnTo>
                <a:lnTo>
                  <a:pt x="1543911" y="963756"/>
                </a:lnTo>
                <a:lnTo>
                  <a:pt x="1571481" y="966874"/>
                </a:lnTo>
                <a:lnTo>
                  <a:pt x="1599051" y="969878"/>
                </a:lnTo>
                <a:lnTo>
                  <a:pt x="1626621" y="972772"/>
                </a:lnTo>
                <a:lnTo>
                  <a:pt x="1654190" y="975562"/>
                </a:lnTo>
                <a:lnTo>
                  <a:pt x="1681760" y="978252"/>
                </a:lnTo>
                <a:lnTo>
                  <a:pt x="1709330" y="980846"/>
                </a:lnTo>
                <a:lnTo>
                  <a:pt x="1736900" y="983349"/>
                </a:lnTo>
                <a:lnTo>
                  <a:pt x="1764470" y="985765"/>
                </a:lnTo>
                <a:lnTo>
                  <a:pt x="1792040" y="988098"/>
                </a:lnTo>
                <a:lnTo>
                  <a:pt x="1819610" y="990350"/>
                </a:lnTo>
                <a:lnTo>
                  <a:pt x="1847179" y="992526"/>
                </a:lnTo>
                <a:lnTo>
                  <a:pt x="1874749" y="994629"/>
                </a:lnTo>
                <a:lnTo>
                  <a:pt x="1902319" y="996662"/>
                </a:lnTo>
                <a:lnTo>
                  <a:pt x="1929889" y="998627"/>
                </a:lnTo>
                <a:lnTo>
                  <a:pt x="1957459" y="1000528"/>
                </a:lnTo>
                <a:lnTo>
                  <a:pt x="1985029" y="1002366"/>
                </a:lnTo>
                <a:lnTo>
                  <a:pt x="2012598" y="1004146"/>
                </a:lnTo>
                <a:lnTo>
                  <a:pt x="2040168" y="1005868"/>
                </a:lnTo>
                <a:lnTo>
                  <a:pt x="2067738" y="1007535"/>
                </a:lnTo>
                <a:lnTo>
                  <a:pt x="2095308" y="1009150"/>
                </a:lnTo>
                <a:lnTo>
                  <a:pt x="2122878" y="1010714"/>
                </a:lnTo>
                <a:lnTo>
                  <a:pt x="2150448" y="1012230"/>
                </a:lnTo>
                <a:lnTo>
                  <a:pt x="2178018" y="1013699"/>
                </a:lnTo>
                <a:lnTo>
                  <a:pt x="2205587" y="1015123"/>
                </a:lnTo>
                <a:lnTo>
                  <a:pt x="2233157" y="1016504"/>
                </a:lnTo>
                <a:lnTo>
                  <a:pt x="2260727" y="1017843"/>
                </a:lnTo>
                <a:lnTo>
                  <a:pt x="2288297" y="1019142"/>
                </a:lnTo>
                <a:lnTo>
                  <a:pt x="2315867" y="1020403"/>
                </a:lnTo>
                <a:lnTo>
                  <a:pt x="2343437" y="1021626"/>
                </a:lnTo>
                <a:lnTo>
                  <a:pt x="2371007" y="1022814"/>
                </a:lnTo>
                <a:lnTo>
                  <a:pt x="2398576" y="1023967"/>
                </a:lnTo>
                <a:lnTo>
                  <a:pt x="2426146" y="1025087"/>
                </a:lnTo>
                <a:lnTo>
                  <a:pt x="2453716" y="1026175"/>
                </a:lnTo>
                <a:lnTo>
                  <a:pt x="2481286" y="1027232"/>
                </a:lnTo>
                <a:lnTo>
                  <a:pt x="2508856" y="1028259"/>
                </a:lnTo>
                <a:lnTo>
                  <a:pt x="2536426" y="1029257"/>
                </a:lnTo>
                <a:lnTo>
                  <a:pt x="2563995" y="1030228"/>
                </a:lnTo>
                <a:lnTo>
                  <a:pt x="2591565" y="1031172"/>
                </a:lnTo>
                <a:lnTo>
                  <a:pt x="2619135" y="1032089"/>
                </a:lnTo>
                <a:lnTo>
                  <a:pt x="2646705" y="1032982"/>
                </a:lnTo>
                <a:lnTo>
                  <a:pt x="2674275" y="1033851"/>
                </a:lnTo>
                <a:lnTo>
                  <a:pt x="2701845" y="1034696"/>
                </a:lnTo>
                <a:lnTo>
                  <a:pt x="2729415" y="1035519"/>
                </a:lnTo>
                <a:lnTo>
                  <a:pt x="2756984" y="1036320"/>
                </a:lnTo>
                <a:lnTo>
                  <a:pt x="2784554" y="1037100"/>
                </a:lnTo>
                <a:lnTo>
                  <a:pt x="2812124" y="1037859"/>
                </a:lnTo>
                <a:lnTo>
                  <a:pt x="2839694" y="1038599"/>
                </a:lnTo>
                <a:lnTo>
                  <a:pt x="2867264" y="1039319"/>
                </a:lnTo>
                <a:lnTo>
                  <a:pt x="2894834" y="1040021"/>
                </a:lnTo>
                <a:lnTo>
                  <a:pt x="2922404" y="1040705"/>
                </a:lnTo>
                <a:lnTo>
                  <a:pt x="2949973" y="1041372"/>
                </a:lnTo>
                <a:lnTo>
                  <a:pt x="2977543" y="1042022"/>
                </a:lnTo>
                <a:lnTo>
                  <a:pt x="3005113" y="1042655"/>
                </a:lnTo>
                <a:lnTo>
                  <a:pt x="3032683" y="1043273"/>
                </a:lnTo>
                <a:lnTo>
                  <a:pt x="3060253" y="1043876"/>
                </a:lnTo>
                <a:lnTo>
                  <a:pt x="3087823" y="1044464"/>
                </a:lnTo>
                <a:lnTo>
                  <a:pt x="3115392" y="1045037"/>
                </a:lnTo>
                <a:lnTo>
                  <a:pt x="3142962" y="1045597"/>
                </a:lnTo>
                <a:lnTo>
                  <a:pt x="3170532" y="1046143"/>
                </a:lnTo>
                <a:lnTo>
                  <a:pt x="3198102" y="1046676"/>
                </a:lnTo>
                <a:lnTo>
                  <a:pt x="3225672" y="1047196"/>
                </a:lnTo>
                <a:lnTo>
                  <a:pt x="3253242" y="1047704"/>
                </a:lnTo>
                <a:lnTo>
                  <a:pt x="3280812" y="1048200"/>
                </a:lnTo>
                <a:lnTo>
                  <a:pt x="3308381" y="1048684"/>
                </a:lnTo>
                <a:lnTo>
                  <a:pt x="3335951" y="1049157"/>
                </a:lnTo>
                <a:lnTo>
                  <a:pt x="3363521" y="1049619"/>
                </a:lnTo>
                <a:lnTo>
                  <a:pt x="3391091" y="1050071"/>
                </a:lnTo>
                <a:lnTo>
                  <a:pt x="3418661" y="1050512"/>
                </a:lnTo>
                <a:lnTo>
                  <a:pt x="3446231" y="1050943"/>
                </a:lnTo>
                <a:lnTo>
                  <a:pt x="3473801" y="1051364"/>
                </a:lnTo>
                <a:lnTo>
                  <a:pt x="3501370" y="1051776"/>
                </a:lnTo>
                <a:lnTo>
                  <a:pt x="3528940" y="1052178"/>
                </a:lnTo>
                <a:lnTo>
                  <a:pt x="3556510" y="1052572"/>
                </a:lnTo>
                <a:lnTo>
                  <a:pt x="3584080" y="1052957"/>
                </a:lnTo>
                <a:lnTo>
                  <a:pt x="3611650" y="1053333"/>
                </a:lnTo>
                <a:lnTo>
                  <a:pt x="3639220" y="1053702"/>
                </a:lnTo>
                <a:lnTo>
                  <a:pt x="3666789" y="1054062"/>
                </a:lnTo>
                <a:lnTo>
                  <a:pt x="3694359" y="1054414"/>
                </a:lnTo>
                <a:lnTo>
                  <a:pt x="3721929" y="1054759"/>
                </a:lnTo>
                <a:lnTo>
                  <a:pt x="3749499" y="1055097"/>
                </a:lnTo>
                <a:lnTo>
                  <a:pt x="3777069" y="1055427"/>
                </a:lnTo>
                <a:lnTo>
                  <a:pt x="3804639" y="1055750"/>
                </a:lnTo>
                <a:lnTo>
                  <a:pt x="3832209" y="1056067"/>
                </a:lnTo>
                <a:lnTo>
                  <a:pt x="3859778" y="1056376"/>
                </a:lnTo>
                <a:lnTo>
                  <a:pt x="3887348" y="1056680"/>
                </a:lnTo>
                <a:lnTo>
                  <a:pt x="3914918" y="1056977"/>
                </a:lnTo>
                <a:lnTo>
                  <a:pt x="3942488" y="1057268"/>
                </a:lnTo>
                <a:lnTo>
                  <a:pt x="3970058" y="1057553"/>
                </a:lnTo>
                <a:lnTo>
                  <a:pt x="3997628" y="1057832"/>
                </a:lnTo>
                <a:lnTo>
                  <a:pt x="4025197" y="1058105"/>
                </a:lnTo>
                <a:lnTo>
                  <a:pt x="4052767" y="1058373"/>
                </a:lnTo>
                <a:lnTo>
                  <a:pt x="4080337" y="1058636"/>
                </a:lnTo>
                <a:lnTo>
                  <a:pt x="4107907" y="1058893"/>
                </a:lnTo>
                <a:lnTo>
                  <a:pt x="4135477" y="1059145"/>
                </a:lnTo>
                <a:lnTo>
                  <a:pt x="4163047" y="1059392"/>
                </a:lnTo>
                <a:lnTo>
                  <a:pt x="4190617" y="1059634"/>
                </a:lnTo>
                <a:lnTo>
                  <a:pt x="4218186" y="1059872"/>
                </a:lnTo>
                <a:lnTo>
                  <a:pt x="4245756" y="1060105"/>
                </a:lnTo>
                <a:lnTo>
                  <a:pt x="4273326" y="1060333"/>
                </a:lnTo>
                <a:lnTo>
                  <a:pt x="4300896" y="1060557"/>
                </a:lnTo>
                <a:lnTo>
                  <a:pt x="4328466" y="1060777"/>
                </a:lnTo>
                <a:lnTo>
                  <a:pt x="4356036" y="1060992"/>
                </a:lnTo>
                <a:lnTo>
                  <a:pt x="4383606" y="1061203"/>
                </a:lnTo>
                <a:lnTo>
                  <a:pt x="4411175" y="1061411"/>
                </a:lnTo>
                <a:lnTo>
                  <a:pt x="4438745" y="1061614"/>
                </a:lnTo>
                <a:lnTo>
                  <a:pt x="4466315" y="1061813"/>
                </a:lnTo>
                <a:lnTo>
                  <a:pt x="4493885" y="1062009"/>
                </a:lnTo>
                <a:lnTo>
                  <a:pt x="4521455" y="1062201"/>
                </a:lnTo>
                <a:lnTo>
                  <a:pt x="4549025" y="1062390"/>
                </a:lnTo>
                <a:lnTo>
                  <a:pt x="4576594" y="1062575"/>
                </a:lnTo>
                <a:lnTo>
                  <a:pt x="4604164" y="1062757"/>
                </a:lnTo>
                <a:lnTo>
                  <a:pt x="4631734" y="1062935"/>
                </a:lnTo>
                <a:lnTo>
                  <a:pt x="4659304" y="1063110"/>
                </a:lnTo>
                <a:lnTo>
                  <a:pt x="4686874" y="1063282"/>
                </a:lnTo>
                <a:lnTo>
                  <a:pt x="4714444" y="1063451"/>
                </a:lnTo>
                <a:lnTo>
                  <a:pt x="4742014" y="1063617"/>
                </a:lnTo>
                <a:lnTo>
                  <a:pt x="4769583" y="1063780"/>
                </a:lnTo>
                <a:lnTo>
                  <a:pt x="4797153" y="1063940"/>
                </a:lnTo>
                <a:lnTo>
                  <a:pt x="4824723" y="1064097"/>
                </a:lnTo>
                <a:lnTo>
                  <a:pt x="4852293" y="1064251"/>
                </a:lnTo>
                <a:lnTo>
                  <a:pt x="4879863" y="1064403"/>
                </a:lnTo>
                <a:lnTo>
                  <a:pt x="4907433" y="1064552"/>
                </a:lnTo>
                <a:lnTo>
                  <a:pt x="4935003" y="1064699"/>
                </a:lnTo>
                <a:lnTo>
                  <a:pt x="4962572" y="1064842"/>
                </a:lnTo>
                <a:lnTo>
                  <a:pt x="4990142" y="1064984"/>
                </a:lnTo>
                <a:lnTo>
                  <a:pt x="5017712" y="1065123"/>
                </a:lnTo>
                <a:lnTo>
                  <a:pt x="5045282" y="1065259"/>
                </a:lnTo>
                <a:lnTo>
                  <a:pt x="5072852" y="1065394"/>
                </a:lnTo>
                <a:lnTo>
                  <a:pt x="5100422" y="1065526"/>
                </a:lnTo>
                <a:lnTo>
                  <a:pt x="5127991" y="1065655"/>
                </a:lnTo>
                <a:lnTo>
                  <a:pt x="5155561" y="1065783"/>
                </a:lnTo>
                <a:lnTo>
                  <a:pt x="5183131" y="1065908"/>
                </a:lnTo>
                <a:lnTo>
                  <a:pt x="5210701" y="1066032"/>
                </a:lnTo>
                <a:lnTo>
                  <a:pt x="5238271" y="1066153"/>
                </a:lnTo>
                <a:lnTo>
                  <a:pt x="5265841" y="1066272"/>
                </a:lnTo>
                <a:lnTo>
                  <a:pt x="5293411" y="1066390"/>
                </a:lnTo>
                <a:lnTo>
                  <a:pt x="5320980" y="1066505"/>
                </a:lnTo>
                <a:lnTo>
                  <a:pt x="5348550" y="1066618"/>
                </a:lnTo>
                <a:lnTo>
                  <a:pt x="5376120" y="1066730"/>
                </a:lnTo>
                <a:lnTo>
                  <a:pt x="5403690" y="1066840"/>
                </a:lnTo>
                <a:lnTo>
                  <a:pt x="5431260" y="1066948"/>
                </a:lnTo>
                <a:lnTo>
                  <a:pt x="5458830" y="1067054"/>
                </a:lnTo>
                <a:lnTo>
                  <a:pt x="5486400" y="1067159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A-E09 text 34" descr="sci-ppt:o034"/>
          <p:cNvSpPr txBox="1"/>
          <p:nvPr/>
        </p:nvSpPr>
        <p:spPr>
          <a:xfrm>
            <a:off x="2221991" y="4329952"/>
            <a:ext cx="27432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Dᵣᵣ = −2R²Ṙ/r³  (radial)</a:t>
            </a:r>
          </a:p>
        </p:txBody>
      </p:sp>
      <p:sp>
        <p:nvSpPr>
          <p:cNvPr id="37" name="A-E09 text 35" descr="sci-ppt:o035"/>
          <p:cNvSpPr txBox="1"/>
          <p:nvPr/>
        </p:nvSpPr>
        <p:spPr>
          <a:xfrm>
            <a:off x="2359152" y="2070847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D_θθ = Dᵩᵩ = R²Ṙ/r³  (tangential)</a:t>
            </a:r>
          </a:p>
        </p:txBody>
      </p:sp>
      <p:cxnSp>
        <p:nvCxnSpPr>
          <p:cNvPr id="38" name="A-E09 line 36" descr="sci-ppt:o036"/>
          <p:cNvCxnSpPr/>
          <p:nvPr/>
        </p:nvCxnSpPr>
        <p:spPr>
          <a:xfrm>
            <a:off x="914400" y="2662517"/>
            <a:ext cx="5486400" cy="0"/>
          </a:xfrm>
          <a:prstGeom prst="line">
            <a:avLst/>
          </a:prstGeom>
          <a:ln w="15240">
            <a:solidFill>
              <a:srgbClr val="2E4756"/>
            </a:solidFill>
          </a:ln>
          <a:effectLst/>
        </p:spPr>
      </p:cxnSp>
      <p:sp>
        <p:nvSpPr>
          <p:cNvPr id="39" name="A-E09 round_rect 37" descr="sci-ppt:o037"/>
          <p:cNvSpPr/>
          <p:nvPr/>
        </p:nvSpPr>
        <p:spPr>
          <a:xfrm>
            <a:off x="6583680" y="1371600"/>
            <a:ext cx="52578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09 text 38" descr="sci-ppt:o038"/>
          <p:cNvSpPr txBox="1"/>
          <p:nvPr/>
        </p:nvSpPr>
        <p:spPr>
          <a:xfrm>
            <a:off x="6693408" y="1426464"/>
            <a:ext cx="50383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Kelvin–Voigt closure</a:t>
            </a:r>
          </a:p>
        </p:txBody>
      </p:sp>
      <p:sp>
        <p:nvSpPr>
          <p:cNvPr id="41" name="A-E09 text 39" descr="sci-ppt:o039"/>
          <p:cNvSpPr txBox="1"/>
          <p:nvPr/>
        </p:nvSpPr>
        <p:spPr>
          <a:xfrm>
            <a:off x="6720840" y="1828800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T = T^e + 2η_g D,   uᵣ = R²Ṙ / r²</a:t>
            </a:r>
          </a:p>
        </p:txBody>
      </p:sp>
      <p:sp>
        <p:nvSpPr>
          <p:cNvPr id="42" name="A-E09 text 40" descr="sci-ppt:o040"/>
          <p:cNvSpPr txBox="1"/>
          <p:nvPr/>
        </p:nvSpPr>
        <p:spPr>
          <a:xfrm>
            <a:off x="6720840" y="2377440"/>
            <a:ext cx="5029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trace D = −2 + 1 + 1 = 0  (incompressible)</a:t>
            </a:r>
          </a:p>
        </p:txBody>
      </p:sp>
      <p:sp>
        <p:nvSpPr>
          <p:cNvPr id="43" name="A-E09 text 41" descr="sci-ppt:o041"/>
          <p:cNvSpPr txBox="1"/>
          <p:nvPr/>
        </p:nvSpPr>
        <p:spPr>
          <a:xfrm>
            <a:off x="6720840" y="2926080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T_θθ − Tᵣᵣ = (elastic) + 6η_g R²Ṙ / r³</a:t>
            </a:r>
          </a:p>
        </p:txBody>
      </p:sp>
      <p:sp>
        <p:nvSpPr>
          <p:cNvPr id="44" name="A-E09 text 42" descr="sci-ppt:o042"/>
          <p:cNvSpPr txBox="1"/>
          <p:nvPr/>
        </p:nvSpPr>
        <p:spPr>
          <a:xfrm>
            <a:off x="6720840" y="3566160"/>
            <a:ext cx="50292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viscous term follows the strain rate of the medium, not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mass of the bubble.</a:t>
            </a:r>
          </a:p>
        </p:txBody>
      </p:sp>
      <p:sp>
        <p:nvSpPr>
          <p:cNvPr id="45" name="A-E09 text 43" descr="sci-ppt:o043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Radial strain rate is −2 and tangential +1 in units of Ṙ R²/r³: incompressibility forces the 2 : 1 split.</a:t>
            </a:r>
          </a:p>
        </p:txBody>
      </p:sp>
      <p:sp>
        <p:nvSpPr>
          <p:cNvPr id="46" name="A-E09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Radial kinematics and viscous stress difference of Eq. A-E09.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A-E10 · Momentum law and explicitly evaluated integrals</a:t>
            </a:r>
          </a:p>
        </p:txBody>
      </p:sp>
      <p:cxnSp>
        <p:nvCxnSpPr>
          <p:cNvPr id="3" name="A-E10 line 1" descr="sci-ppt:o001"/>
          <p:cNvCxnSpPr/>
          <p:nvPr/>
        </p:nvCxnSpPr>
        <p:spPr>
          <a:xfrm>
            <a:off x="914400" y="5029200"/>
            <a:ext cx="56692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0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0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0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0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10 line 6" descr="sci-ppt:o006"/>
          <p:cNvCxnSpPr/>
          <p:nvPr/>
        </p:nvCxnSpPr>
        <p:spPr>
          <a:xfrm>
            <a:off x="204825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0 line 7" descr="sci-ppt:o007"/>
          <p:cNvCxnSpPr/>
          <p:nvPr/>
        </p:nvCxnSpPr>
        <p:spPr>
          <a:xfrm>
            <a:off x="204825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0 text 8" descr="sci-ppt:o008"/>
          <p:cNvSpPr txBox="1"/>
          <p:nvPr/>
        </p:nvSpPr>
        <p:spPr>
          <a:xfrm>
            <a:off x="159105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10 line 9" descr="sci-ppt:o009"/>
          <p:cNvCxnSpPr/>
          <p:nvPr/>
        </p:nvCxnSpPr>
        <p:spPr>
          <a:xfrm>
            <a:off x="318211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0 line 10" descr="sci-ppt:o010"/>
          <p:cNvCxnSpPr/>
          <p:nvPr/>
        </p:nvCxnSpPr>
        <p:spPr>
          <a:xfrm>
            <a:off x="318211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0 text 11" descr="sci-ppt:o011"/>
          <p:cNvSpPr txBox="1"/>
          <p:nvPr/>
        </p:nvSpPr>
        <p:spPr>
          <a:xfrm>
            <a:off x="272491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A-E10 line 12" descr="sci-ppt:o012"/>
          <p:cNvCxnSpPr/>
          <p:nvPr/>
        </p:nvCxnSpPr>
        <p:spPr>
          <a:xfrm>
            <a:off x="431596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0 line 13" descr="sci-ppt:o013"/>
          <p:cNvCxnSpPr/>
          <p:nvPr/>
        </p:nvCxnSpPr>
        <p:spPr>
          <a:xfrm>
            <a:off x="431596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10 text 14" descr="sci-ppt:o014"/>
          <p:cNvSpPr txBox="1"/>
          <p:nvPr/>
        </p:nvSpPr>
        <p:spPr>
          <a:xfrm>
            <a:off x="385876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A-E10 line 15" descr="sci-ppt:o015"/>
          <p:cNvCxnSpPr/>
          <p:nvPr/>
        </p:nvCxnSpPr>
        <p:spPr>
          <a:xfrm>
            <a:off x="544982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10 line 16" descr="sci-ppt:o016"/>
          <p:cNvCxnSpPr/>
          <p:nvPr/>
        </p:nvCxnSpPr>
        <p:spPr>
          <a:xfrm>
            <a:off x="544982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10 text 17" descr="sci-ppt:o017"/>
          <p:cNvSpPr txBox="1"/>
          <p:nvPr/>
        </p:nvSpPr>
        <p:spPr>
          <a:xfrm>
            <a:off x="499262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A-E10 line 18" descr="sci-ppt:o018"/>
          <p:cNvCxnSpPr/>
          <p:nvPr/>
        </p:nvCxnSpPr>
        <p:spPr>
          <a:xfrm>
            <a:off x="65836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10 line 19" descr="sci-ppt:o019"/>
          <p:cNvCxnSpPr/>
          <p:nvPr/>
        </p:nvCxnSpPr>
        <p:spPr>
          <a:xfrm>
            <a:off x="65836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10 text 20" descr="sci-ppt:o020"/>
          <p:cNvSpPr txBox="1"/>
          <p:nvPr/>
        </p:nvSpPr>
        <p:spPr>
          <a:xfrm>
            <a:off x="61264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23" name="A-E10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10 line 22" descr="sci-ppt:o022"/>
          <p:cNvCxnSpPr/>
          <p:nvPr/>
        </p:nvCxnSpPr>
        <p:spPr>
          <a:xfrm>
            <a:off x="850392" y="406667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0 line 23" descr="sci-ppt:o023"/>
          <p:cNvCxnSpPr/>
          <p:nvPr/>
        </p:nvCxnSpPr>
        <p:spPr>
          <a:xfrm>
            <a:off x="914400" y="4066673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0 text 24" descr="sci-ppt:o024"/>
          <p:cNvSpPr txBox="1"/>
          <p:nvPr/>
        </p:nvSpPr>
        <p:spPr>
          <a:xfrm>
            <a:off x="45720" y="398437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2500</a:t>
            </a:r>
          </a:p>
        </p:txBody>
      </p:sp>
      <p:cxnSp>
        <p:nvCxnSpPr>
          <p:cNvPr id="27" name="A-E10 line 25" descr="sci-ppt:o025"/>
          <p:cNvCxnSpPr/>
          <p:nvPr/>
        </p:nvCxnSpPr>
        <p:spPr>
          <a:xfrm>
            <a:off x="850392" y="310414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10 line 26" descr="sci-ppt:o026"/>
          <p:cNvCxnSpPr/>
          <p:nvPr/>
        </p:nvCxnSpPr>
        <p:spPr>
          <a:xfrm>
            <a:off x="914400" y="3104147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10 text 27" descr="sci-ppt:o027"/>
          <p:cNvSpPr txBox="1"/>
          <p:nvPr/>
        </p:nvSpPr>
        <p:spPr>
          <a:xfrm>
            <a:off x="45720" y="302185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5000</a:t>
            </a:r>
          </a:p>
        </p:txBody>
      </p:sp>
      <p:cxnSp>
        <p:nvCxnSpPr>
          <p:cNvPr id="30" name="A-E10 line 28" descr="sci-ppt:o028"/>
          <p:cNvCxnSpPr/>
          <p:nvPr/>
        </p:nvCxnSpPr>
        <p:spPr>
          <a:xfrm>
            <a:off x="850392" y="214162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10 line 29" descr="sci-ppt:o029"/>
          <p:cNvCxnSpPr/>
          <p:nvPr/>
        </p:nvCxnSpPr>
        <p:spPr>
          <a:xfrm>
            <a:off x="914400" y="2141621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10 text 30" descr="sci-ppt:o030"/>
          <p:cNvSpPr txBox="1"/>
          <p:nvPr/>
        </p:nvSpPr>
        <p:spPr>
          <a:xfrm>
            <a:off x="45720" y="205932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7500</a:t>
            </a:r>
          </a:p>
        </p:txBody>
      </p:sp>
      <p:sp>
        <p:nvSpPr>
          <p:cNvPr id="33" name="A-E10 text 31" descr="sci-ppt:o031"/>
          <p:cNvSpPr txBox="1"/>
          <p:nvPr/>
        </p:nvSpPr>
        <p:spPr>
          <a:xfrm>
            <a:off x="914400" y="5312664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4" name="A-E10 text 32" descr="sci-ppt:o032"/>
          <p:cNvSpPr txBox="1"/>
          <p:nvPr/>
        </p:nvSpPr>
        <p:spPr>
          <a:xfrm>
            <a:off x="365760" y="1024128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aᵣ  (10³ m/s²)</a:t>
            </a:r>
          </a:p>
        </p:txBody>
      </p:sp>
      <p:sp>
        <p:nvSpPr>
          <p:cNvPr id="35" name="A-E10 polygon 33" descr="sci-ppt:o033"/>
          <p:cNvSpPr/>
          <p:nvPr/>
        </p:nvSpPr>
        <p:spPr>
          <a:xfrm>
            <a:off x="914400" y="3734815"/>
            <a:ext cx="5669280" cy="1294385"/>
          </a:xfrm>
          <a:custGeom>
            <a:avLst/>
            <a:gdLst/>
            <a:ahLst/>
            <a:cxnLst/>
            <a:rect l="l" t="t" r="r" b="b"/>
            <a:pathLst>
              <a:path w="5669280" h="1294385">
                <a:moveTo>
                  <a:pt x="0" y="524363"/>
                </a:moveTo>
                <a:lnTo>
                  <a:pt x="28488" y="386420"/>
                </a:lnTo>
                <a:lnTo>
                  <a:pt x="56977" y="277996"/>
                </a:lnTo>
                <a:lnTo>
                  <a:pt x="85466" y="193755"/>
                </a:lnTo>
                <a:lnTo>
                  <a:pt x="113955" y="129357"/>
                </a:lnTo>
                <a:lnTo>
                  <a:pt x="142444" y="81262"/>
                </a:lnTo>
                <a:lnTo>
                  <a:pt x="170933" y="46568"/>
                </a:lnTo>
                <a:lnTo>
                  <a:pt x="199421" y="22893"/>
                </a:lnTo>
                <a:lnTo>
                  <a:pt x="227910" y="8273"/>
                </a:lnTo>
                <a:lnTo>
                  <a:pt x="256399" y="1089"/>
                </a:lnTo>
                <a:lnTo>
                  <a:pt x="284888" y="0"/>
                </a:lnTo>
                <a:lnTo>
                  <a:pt x="313377" y="3893"/>
                </a:lnTo>
                <a:lnTo>
                  <a:pt x="341866" y="11845"/>
                </a:lnTo>
                <a:lnTo>
                  <a:pt x="370354" y="23088"/>
                </a:lnTo>
                <a:lnTo>
                  <a:pt x="398843" y="36980"/>
                </a:lnTo>
                <a:lnTo>
                  <a:pt x="427332" y="52989"/>
                </a:lnTo>
                <a:lnTo>
                  <a:pt x="455821" y="70668"/>
                </a:lnTo>
                <a:lnTo>
                  <a:pt x="484310" y="89648"/>
                </a:lnTo>
                <a:lnTo>
                  <a:pt x="512799" y="109616"/>
                </a:lnTo>
                <a:lnTo>
                  <a:pt x="541288" y="130314"/>
                </a:lnTo>
                <a:lnTo>
                  <a:pt x="569776" y="151527"/>
                </a:lnTo>
                <a:lnTo>
                  <a:pt x="598265" y="173074"/>
                </a:lnTo>
                <a:lnTo>
                  <a:pt x="626754" y="194806"/>
                </a:lnTo>
                <a:lnTo>
                  <a:pt x="655243" y="216599"/>
                </a:lnTo>
                <a:lnTo>
                  <a:pt x="683732" y="238352"/>
                </a:lnTo>
                <a:lnTo>
                  <a:pt x="712221" y="259978"/>
                </a:lnTo>
                <a:lnTo>
                  <a:pt x="740709" y="281410"/>
                </a:lnTo>
                <a:lnTo>
                  <a:pt x="769198" y="302591"/>
                </a:lnTo>
                <a:lnTo>
                  <a:pt x="797687" y="323476"/>
                </a:lnTo>
                <a:lnTo>
                  <a:pt x="826176" y="344028"/>
                </a:lnTo>
                <a:lnTo>
                  <a:pt x="854665" y="364219"/>
                </a:lnTo>
                <a:lnTo>
                  <a:pt x="883154" y="384027"/>
                </a:lnTo>
                <a:lnTo>
                  <a:pt x="911643" y="403436"/>
                </a:lnTo>
                <a:lnTo>
                  <a:pt x="940131" y="422434"/>
                </a:lnTo>
                <a:lnTo>
                  <a:pt x="968620" y="441012"/>
                </a:lnTo>
                <a:lnTo>
                  <a:pt x="997109" y="459167"/>
                </a:lnTo>
                <a:lnTo>
                  <a:pt x="1025598" y="476895"/>
                </a:lnTo>
                <a:lnTo>
                  <a:pt x="1054087" y="494198"/>
                </a:lnTo>
                <a:lnTo>
                  <a:pt x="1082576" y="511077"/>
                </a:lnTo>
                <a:lnTo>
                  <a:pt x="1111064" y="527537"/>
                </a:lnTo>
                <a:lnTo>
                  <a:pt x="1139553" y="543582"/>
                </a:lnTo>
                <a:lnTo>
                  <a:pt x="1168042" y="559218"/>
                </a:lnTo>
                <a:lnTo>
                  <a:pt x="1196531" y="574452"/>
                </a:lnTo>
                <a:lnTo>
                  <a:pt x="1225020" y="589291"/>
                </a:lnTo>
                <a:lnTo>
                  <a:pt x="1253509" y="603744"/>
                </a:lnTo>
                <a:lnTo>
                  <a:pt x="1281997" y="617819"/>
                </a:lnTo>
                <a:lnTo>
                  <a:pt x="1310486" y="631525"/>
                </a:lnTo>
                <a:lnTo>
                  <a:pt x="1338975" y="644870"/>
                </a:lnTo>
                <a:lnTo>
                  <a:pt x="1367464" y="657863"/>
                </a:lnTo>
                <a:lnTo>
                  <a:pt x="1395953" y="670514"/>
                </a:lnTo>
                <a:lnTo>
                  <a:pt x="1424442" y="682832"/>
                </a:lnTo>
                <a:lnTo>
                  <a:pt x="1452931" y="694825"/>
                </a:lnTo>
                <a:lnTo>
                  <a:pt x="1481419" y="706503"/>
                </a:lnTo>
                <a:lnTo>
                  <a:pt x="1509908" y="717874"/>
                </a:lnTo>
                <a:lnTo>
                  <a:pt x="1538397" y="728947"/>
                </a:lnTo>
                <a:lnTo>
                  <a:pt x="1566886" y="739731"/>
                </a:lnTo>
                <a:lnTo>
                  <a:pt x="1595375" y="750234"/>
                </a:lnTo>
                <a:lnTo>
                  <a:pt x="1623864" y="760464"/>
                </a:lnTo>
                <a:lnTo>
                  <a:pt x="1652352" y="770430"/>
                </a:lnTo>
                <a:lnTo>
                  <a:pt x="1680841" y="780139"/>
                </a:lnTo>
                <a:lnTo>
                  <a:pt x="1709330" y="789599"/>
                </a:lnTo>
                <a:lnTo>
                  <a:pt x="1737819" y="798817"/>
                </a:lnTo>
                <a:lnTo>
                  <a:pt x="1766308" y="807800"/>
                </a:lnTo>
                <a:lnTo>
                  <a:pt x="1794797" y="816557"/>
                </a:lnTo>
                <a:lnTo>
                  <a:pt x="1823286" y="825092"/>
                </a:lnTo>
                <a:lnTo>
                  <a:pt x="1851774" y="833414"/>
                </a:lnTo>
                <a:lnTo>
                  <a:pt x="1880263" y="841528"/>
                </a:lnTo>
                <a:lnTo>
                  <a:pt x="1908752" y="849440"/>
                </a:lnTo>
                <a:lnTo>
                  <a:pt x="1937241" y="857158"/>
                </a:lnTo>
                <a:lnTo>
                  <a:pt x="1965730" y="864686"/>
                </a:lnTo>
                <a:lnTo>
                  <a:pt x="1994219" y="872030"/>
                </a:lnTo>
                <a:lnTo>
                  <a:pt x="2022707" y="879196"/>
                </a:lnTo>
                <a:lnTo>
                  <a:pt x="2051196" y="886189"/>
                </a:lnTo>
                <a:lnTo>
                  <a:pt x="2079685" y="893015"/>
                </a:lnTo>
                <a:lnTo>
                  <a:pt x="2108174" y="899677"/>
                </a:lnTo>
                <a:lnTo>
                  <a:pt x="2136663" y="906182"/>
                </a:lnTo>
                <a:lnTo>
                  <a:pt x="2165152" y="912533"/>
                </a:lnTo>
                <a:lnTo>
                  <a:pt x="2193641" y="918736"/>
                </a:lnTo>
                <a:lnTo>
                  <a:pt x="2222129" y="924794"/>
                </a:lnTo>
                <a:lnTo>
                  <a:pt x="2250618" y="930711"/>
                </a:lnTo>
                <a:lnTo>
                  <a:pt x="2279107" y="936493"/>
                </a:lnTo>
                <a:lnTo>
                  <a:pt x="2307596" y="942142"/>
                </a:lnTo>
                <a:lnTo>
                  <a:pt x="2336085" y="947663"/>
                </a:lnTo>
                <a:lnTo>
                  <a:pt x="2364574" y="953059"/>
                </a:lnTo>
                <a:lnTo>
                  <a:pt x="2393062" y="958334"/>
                </a:lnTo>
                <a:lnTo>
                  <a:pt x="2421551" y="963491"/>
                </a:lnTo>
                <a:lnTo>
                  <a:pt x="2450040" y="968533"/>
                </a:lnTo>
                <a:lnTo>
                  <a:pt x="2478529" y="973465"/>
                </a:lnTo>
                <a:lnTo>
                  <a:pt x="2507018" y="978288"/>
                </a:lnTo>
                <a:lnTo>
                  <a:pt x="2535507" y="983006"/>
                </a:lnTo>
                <a:lnTo>
                  <a:pt x="2563995" y="987622"/>
                </a:lnTo>
                <a:lnTo>
                  <a:pt x="2592484" y="992139"/>
                </a:lnTo>
                <a:lnTo>
                  <a:pt x="2620973" y="996559"/>
                </a:lnTo>
                <a:lnTo>
                  <a:pt x="2649462" y="1000885"/>
                </a:lnTo>
                <a:lnTo>
                  <a:pt x="2677951" y="1005120"/>
                </a:lnTo>
                <a:lnTo>
                  <a:pt x="2706440" y="1009265"/>
                </a:lnTo>
                <a:lnTo>
                  <a:pt x="2734929" y="1013325"/>
                </a:lnTo>
                <a:lnTo>
                  <a:pt x="2763417" y="1017300"/>
                </a:lnTo>
                <a:lnTo>
                  <a:pt x="2791906" y="1021193"/>
                </a:lnTo>
                <a:lnTo>
                  <a:pt x="2820395" y="1025006"/>
                </a:lnTo>
                <a:lnTo>
                  <a:pt x="2848884" y="1028741"/>
                </a:lnTo>
                <a:lnTo>
                  <a:pt x="2877373" y="1032401"/>
                </a:lnTo>
                <a:lnTo>
                  <a:pt x="2905862" y="1035987"/>
                </a:lnTo>
                <a:lnTo>
                  <a:pt x="2934350" y="1039502"/>
                </a:lnTo>
                <a:lnTo>
                  <a:pt x="2962839" y="1042946"/>
                </a:lnTo>
                <a:lnTo>
                  <a:pt x="2991328" y="1046322"/>
                </a:lnTo>
                <a:lnTo>
                  <a:pt x="3019817" y="1049632"/>
                </a:lnTo>
                <a:lnTo>
                  <a:pt x="3048306" y="1052878"/>
                </a:lnTo>
                <a:lnTo>
                  <a:pt x="3076795" y="1056060"/>
                </a:lnTo>
                <a:lnTo>
                  <a:pt x="3105284" y="1059180"/>
                </a:lnTo>
                <a:lnTo>
                  <a:pt x="3133772" y="1062241"/>
                </a:lnTo>
                <a:lnTo>
                  <a:pt x="3162261" y="1065244"/>
                </a:lnTo>
                <a:lnTo>
                  <a:pt x="3190750" y="1068189"/>
                </a:lnTo>
                <a:lnTo>
                  <a:pt x="3219239" y="1071079"/>
                </a:lnTo>
                <a:lnTo>
                  <a:pt x="3247728" y="1073914"/>
                </a:lnTo>
                <a:lnTo>
                  <a:pt x="3276217" y="1076697"/>
                </a:lnTo>
                <a:lnTo>
                  <a:pt x="3304705" y="1079428"/>
                </a:lnTo>
                <a:lnTo>
                  <a:pt x="3333194" y="1082109"/>
                </a:lnTo>
                <a:lnTo>
                  <a:pt x="3361683" y="1084740"/>
                </a:lnTo>
                <a:lnTo>
                  <a:pt x="3390172" y="1087323"/>
                </a:lnTo>
                <a:lnTo>
                  <a:pt x="3418661" y="1089860"/>
                </a:lnTo>
                <a:lnTo>
                  <a:pt x="3447150" y="1092351"/>
                </a:lnTo>
                <a:lnTo>
                  <a:pt x="3475638" y="1094797"/>
                </a:lnTo>
                <a:lnTo>
                  <a:pt x="3504127" y="1097200"/>
                </a:lnTo>
                <a:lnTo>
                  <a:pt x="3532616" y="1099560"/>
                </a:lnTo>
                <a:lnTo>
                  <a:pt x="3561105" y="1101878"/>
                </a:lnTo>
                <a:lnTo>
                  <a:pt x="3589594" y="1104156"/>
                </a:lnTo>
                <a:lnTo>
                  <a:pt x="3618083" y="1106394"/>
                </a:lnTo>
                <a:lnTo>
                  <a:pt x="3646572" y="1108593"/>
                </a:lnTo>
                <a:lnTo>
                  <a:pt x="3675060" y="1110754"/>
                </a:lnTo>
                <a:lnTo>
                  <a:pt x="3703549" y="1112878"/>
                </a:lnTo>
                <a:lnTo>
                  <a:pt x="3732038" y="1114966"/>
                </a:lnTo>
                <a:lnTo>
                  <a:pt x="3760527" y="1117018"/>
                </a:lnTo>
                <a:lnTo>
                  <a:pt x="3789016" y="1119036"/>
                </a:lnTo>
                <a:lnTo>
                  <a:pt x="3817505" y="1121020"/>
                </a:lnTo>
                <a:lnTo>
                  <a:pt x="3845993" y="1122970"/>
                </a:lnTo>
                <a:lnTo>
                  <a:pt x="3874482" y="1124889"/>
                </a:lnTo>
                <a:lnTo>
                  <a:pt x="3902971" y="1126775"/>
                </a:lnTo>
                <a:lnTo>
                  <a:pt x="3931460" y="1128631"/>
                </a:lnTo>
                <a:lnTo>
                  <a:pt x="3959949" y="1130456"/>
                </a:lnTo>
                <a:lnTo>
                  <a:pt x="3988438" y="1132251"/>
                </a:lnTo>
                <a:lnTo>
                  <a:pt x="4016927" y="1134017"/>
                </a:lnTo>
                <a:lnTo>
                  <a:pt x="4045415" y="1135755"/>
                </a:lnTo>
                <a:lnTo>
                  <a:pt x="4073904" y="1137465"/>
                </a:lnTo>
                <a:lnTo>
                  <a:pt x="4102393" y="1139148"/>
                </a:lnTo>
                <a:lnTo>
                  <a:pt x="4130882" y="1140804"/>
                </a:lnTo>
                <a:lnTo>
                  <a:pt x="4159371" y="1142434"/>
                </a:lnTo>
                <a:lnTo>
                  <a:pt x="4187860" y="1144038"/>
                </a:lnTo>
                <a:lnTo>
                  <a:pt x="4216348" y="1145617"/>
                </a:lnTo>
                <a:lnTo>
                  <a:pt x="4244837" y="1147172"/>
                </a:lnTo>
                <a:lnTo>
                  <a:pt x="4273326" y="1148702"/>
                </a:lnTo>
                <a:lnTo>
                  <a:pt x="4301815" y="1150209"/>
                </a:lnTo>
                <a:lnTo>
                  <a:pt x="4330304" y="1151693"/>
                </a:lnTo>
                <a:lnTo>
                  <a:pt x="4358793" y="1153154"/>
                </a:lnTo>
                <a:lnTo>
                  <a:pt x="4387282" y="1154593"/>
                </a:lnTo>
                <a:lnTo>
                  <a:pt x="4415770" y="1156011"/>
                </a:lnTo>
                <a:lnTo>
                  <a:pt x="4444259" y="1157407"/>
                </a:lnTo>
                <a:lnTo>
                  <a:pt x="4472748" y="1158782"/>
                </a:lnTo>
                <a:lnTo>
                  <a:pt x="4501237" y="1160136"/>
                </a:lnTo>
                <a:lnTo>
                  <a:pt x="4529726" y="1161471"/>
                </a:lnTo>
                <a:lnTo>
                  <a:pt x="4558215" y="1162786"/>
                </a:lnTo>
                <a:lnTo>
                  <a:pt x="4586703" y="1164082"/>
                </a:lnTo>
                <a:lnTo>
                  <a:pt x="4615192" y="1165358"/>
                </a:lnTo>
                <a:lnTo>
                  <a:pt x="4643681" y="1166616"/>
                </a:lnTo>
                <a:lnTo>
                  <a:pt x="4672170" y="1167856"/>
                </a:lnTo>
                <a:lnTo>
                  <a:pt x="4700659" y="1169078"/>
                </a:lnTo>
                <a:lnTo>
                  <a:pt x="4729148" y="1170283"/>
                </a:lnTo>
                <a:lnTo>
                  <a:pt x="4757636" y="1171470"/>
                </a:lnTo>
                <a:lnTo>
                  <a:pt x="4786125" y="1172641"/>
                </a:lnTo>
                <a:lnTo>
                  <a:pt x="4814614" y="1173795"/>
                </a:lnTo>
                <a:lnTo>
                  <a:pt x="4843103" y="1174933"/>
                </a:lnTo>
                <a:lnTo>
                  <a:pt x="4871592" y="1176054"/>
                </a:lnTo>
                <a:lnTo>
                  <a:pt x="4900081" y="1177161"/>
                </a:lnTo>
                <a:lnTo>
                  <a:pt x="4928570" y="1178251"/>
                </a:lnTo>
                <a:lnTo>
                  <a:pt x="4957058" y="1179327"/>
                </a:lnTo>
                <a:lnTo>
                  <a:pt x="4985547" y="1180388"/>
                </a:lnTo>
                <a:lnTo>
                  <a:pt x="5014036" y="1181434"/>
                </a:lnTo>
                <a:lnTo>
                  <a:pt x="5042525" y="1182466"/>
                </a:lnTo>
                <a:lnTo>
                  <a:pt x="5071014" y="1183484"/>
                </a:lnTo>
                <a:lnTo>
                  <a:pt x="5099503" y="1184489"/>
                </a:lnTo>
                <a:lnTo>
                  <a:pt x="5127991" y="1185480"/>
                </a:lnTo>
                <a:lnTo>
                  <a:pt x="5156480" y="1186457"/>
                </a:lnTo>
                <a:lnTo>
                  <a:pt x="5184969" y="1187422"/>
                </a:lnTo>
                <a:lnTo>
                  <a:pt x="5213458" y="1188373"/>
                </a:lnTo>
                <a:lnTo>
                  <a:pt x="5241947" y="1189312"/>
                </a:lnTo>
                <a:lnTo>
                  <a:pt x="5270436" y="1190239"/>
                </a:lnTo>
                <a:lnTo>
                  <a:pt x="5298925" y="1191154"/>
                </a:lnTo>
                <a:lnTo>
                  <a:pt x="5327413" y="1192056"/>
                </a:lnTo>
                <a:lnTo>
                  <a:pt x="5355902" y="1192947"/>
                </a:lnTo>
                <a:lnTo>
                  <a:pt x="5384391" y="1193826"/>
                </a:lnTo>
                <a:lnTo>
                  <a:pt x="5412880" y="1194694"/>
                </a:lnTo>
                <a:lnTo>
                  <a:pt x="5441369" y="1195551"/>
                </a:lnTo>
                <a:lnTo>
                  <a:pt x="5469858" y="1196397"/>
                </a:lnTo>
                <a:lnTo>
                  <a:pt x="5498346" y="1197232"/>
                </a:lnTo>
                <a:lnTo>
                  <a:pt x="5526835" y="1198057"/>
                </a:lnTo>
                <a:lnTo>
                  <a:pt x="5555324" y="1198871"/>
                </a:lnTo>
                <a:lnTo>
                  <a:pt x="5583813" y="1199675"/>
                </a:lnTo>
                <a:lnTo>
                  <a:pt x="5612302" y="1200469"/>
                </a:lnTo>
                <a:lnTo>
                  <a:pt x="5640791" y="1201253"/>
                </a:lnTo>
                <a:lnTo>
                  <a:pt x="5669280" y="1202027"/>
                </a:lnTo>
                <a:lnTo>
                  <a:pt x="5669280" y="1294385"/>
                </a:lnTo>
                <a:lnTo>
                  <a:pt x="5640791" y="1294385"/>
                </a:lnTo>
                <a:lnTo>
                  <a:pt x="5612302" y="1294385"/>
                </a:lnTo>
                <a:lnTo>
                  <a:pt x="5583813" y="1294385"/>
                </a:lnTo>
                <a:lnTo>
                  <a:pt x="5555324" y="1294385"/>
                </a:lnTo>
                <a:lnTo>
                  <a:pt x="5526835" y="1294385"/>
                </a:lnTo>
                <a:lnTo>
                  <a:pt x="5498346" y="1294385"/>
                </a:lnTo>
                <a:lnTo>
                  <a:pt x="5469858" y="1294385"/>
                </a:lnTo>
                <a:lnTo>
                  <a:pt x="5441369" y="1294385"/>
                </a:lnTo>
                <a:lnTo>
                  <a:pt x="5412880" y="1294385"/>
                </a:lnTo>
                <a:lnTo>
                  <a:pt x="5384391" y="1294385"/>
                </a:lnTo>
                <a:lnTo>
                  <a:pt x="5355902" y="1294385"/>
                </a:lnTo>
                <a:lnTo>
                  <a:pt x="5327413" y="1294385"/>
                </a:lnTo>
                <a:lnTo>
                  <a:pt x="5298925" y="1294385"/>
                </a:lnTo>
                <a:lnTo>
                  <a:pt x="5270436" y="1294385"/>
                </a:lnTo>
                <a:lnTo>
                  <a:pt x="5241947" y="1294385"/>
                </a:lnTo>
                <a:lnTo>
                  <a:pt x="5213458" y="1294385"/>
                </a:lnTo>
                <a:lnTo>
                  <a:pt x="5184969" y="1294385"/>
                </a:lnTo>
                <a:lnTo>
                  <a:pt x="5156480" y="1294385"/>
                </a:lnTo>
                <a:lnTo>
                  <a:pt x="5127991" y="1294385"/>
                </a:lnTo>
                <a:lnTo>
                  <a:pt x="5099503" y="1294385"/>
                </a:lnTo>
                <a:lnTo>
                  <a:pt x="5071014" y="1294385"/>
                </a:lnTo>
                <a:lnTo>
                  <a:pt x="5042525" y="1294385"/>
                </a:lnTo>
                <a:lnTo>
                  <a:pt x="5014036" y="1294385"/>
                </a:lnTo>
                <a:lnTo>
                  <a:pt x="4985547" y="1294385"/>
                </a:lnTo>
                <a:lnTo>
                  <a:pt x="4957058" y="1294385"/>
                </a:lnTo>
                <a:lnTo>
                  <a:pt x="4928570" y="1294385"/>
                </a:lnTo>
                <a:lnTo>
                  <a:pt x="4900081" y="1294385"/>
                </a:lnTo>
                <a:lnTo>
                  <a:pt x="4871592" y="1294385"/>
                </a:lnTo>
                <a:lnTo>
                  <a:pt x="4843103" y="1294385"/>
                </a:lnTo>
                <a:lnTo>
                  <a:pt x="4814614" y="1294385"/>
                </a:lnTo>
                <a:lnTo>
                  <a:pt x="4786125" y="1294385"/>
                </a:lnTo>
                <a:lnTo>
                  <a:pt x="4757636" y="1294385"/>
                </a:lnTo>
                <a:lnTo>
                  <a:pt x="4729148" y="1294385"/>
                </a:lnTo>
                <a:lnTo>
                  <a:pt x="4700659" y="1294385"/>
                </a:lnTo>
                <a:lnTo>
                  <a:pt x="4672170" y="1294385"/>
                </a:lnTo>
                <a:lnTo>
                  <a:pt x="4643681" y="1294385"/>
                </a:lnTo>
                <a:lnTo>
                  <a:pt x="4615192" y="1294385"/>
                </a:lnTo>
                <a:lnTo>
                  <a:pt x="4586703" y="1294385"/>
                </a:lnTo>
                <a:lnTo>
                  <a:pt x="4558215" y="1294385"/>
                </a:lnTo>
                <a:lnTo>
                  <a:pt x="4529726" y="1294385"/>
                </a:lnTo>
                <a:lnTo>
                  <a:pt x="4501237" y="1294385"/>
                </a:lnTo>
                <a:lnTo>
                  <a:pt x="4472748" y="1294385"/>
                </a:lnTo>
                <a:lnTo>
                  <a:pt x="4444259" y="1294385"/>
                </a:lnTo>
                <a:lnTo>
                  <a:pt x="4415770" y="1294385"/>
                </a:lnTo>
                <a:lnTo>
                  <a:pt x="4387282" y="1294385"/>
                </a:lnTo>
                <a:lnTo>
                  <a:pt x="4358793" y="1294385"/>
                </a:lnTo>
                <a:lnTo>
                  <a:pt x="4330304" y="1294385"/>
                </a:lnTo>
                <a:lnTo>
                  <a:pt x="4301815" y="1294385"/>
                </a:lnTo>
                <a:lnTo>
                  <a:pt x="4273326" y="1294385"/>
                </a:lnTo>
                <a:lnTo>
                  <a:pt x="4244837" y="1294385"/>
                </a:lnTo>
                <a:lnTo>
                  <a:pt x="4216348" y="1294385"/>
                </a:lnTo>
                <a:lnTo>
                  <a:pt x="4187860" y="1294385"/>
                </a:lnTo>
                <a:lnTo>
                  <a:pt x="4159371" y="1294385"/>
                </a:lnTo>
                <a:lnTo>
                  <a:pt x="4130882" y="1294385"/>
                </a:lnTo>
                <a:lnTo>
                  <a:pt x="4102393" y="1294385"/>
                </a:lnTo>
                <a:lnTo>
                  <a:pt x="4073904" y="1294385"/>
                </a:lnTo>
                <a:lnTo>
                  <a:pt x="4045415" y="1294385"/>
                </a:lnTo>
                <a:lnTo>
                  <a:pt x="4016927" y="1294385"/>
                </a:lnTo>
                <a:lnTo>
                  <a:pt x="3988438" y="1294385"/>
                </a:lnTo>
                <a:lnTo>
                  <a:pt x="3959949" y="1294385"/>
                </a:lnTo>
                <a:lnTo>
                  <a:pt x="3931460" y="1294385"/>
                </a:lnTo>
                <a:lnTo>
                  <a:pt x="3902971" y="1294385"/>
                </a:lnTo>
                <a:lnTo>
                  <a:pt x="3874482" y="1294385"/>
                </a:lnTo>
                <a:lnTo>
                  <a:pt x="3845993" y="1294385"/>
                </a:lnTo>
                <a:lnTo>
                  <a:pt x="3817505" y="1294385"/>
                </a:lnTo>
                <a:lnTo>
                  <a:pt x="3789016" y="1294385"/>
                </a:lnTo>
                <a:lnTo>
                  <a:pt x="3760527" y="1294385"/>
                </a:lnTo>
                <a:lnTo>
                  <a:pt x="3732038" y="1294385"/>
                </a:lnTo>
                <a:lnTo>
                  <a:pt x="3703549" y="1294385"/>
                </a:lnTo>
                <a:lnTo>
                  <a:pt x="3675060" y="1294385"/>
                </a:lnTo>
                <a:lnTo>
                  <a:pt x="3646572" y="1294385"/>
                </a:lnTo>
                <a:lnTo>
                  <a:pt x="3618083" y="1294385"/>
                </a:lnTo>
                <a:lnTo>
                  <a:pt x="3589594" y="1294385"/>
                </a:lnTo>
                <a:lnTo>
                  <a:pt x="3561105" y="1294385"/>
                </a:lnTo>
                <a:lnTo>
                  <a:pt x="3532616" y="1294385"/>
                </a:lnTo>
                <a:lnTo>
                  <a:pt x="3504127" y="1294385"/>
                </a:lnTo>
                <a:lnTo>
                  <a:pt x="3475638" y="1294385"/>
                </a:lnTo>
                <a:lnTo>
                  <a:pt x="3447150" y="1294385"/>
                </a:lnTo>
                <a:lnTo>
                  <a:pt x="3418661" y="1294385"/>
                </a:lnTo>
                <a:lnTo>
                  <a:pt x="3390172" y="1294385"/>
                </a:lnTo>
                <a:lnTo>
                  <a:pt x="3361683" y="1294385"/>
                </a:lnTo>
                <a:lnTo>
                  <a:pt x="3333194" y="1294385"/>
                </a:lnTo>
                <a:lnTo>
                  <a:pt x="3304705" y="1294385"/>
                </a:lnTo>
                <a:lnTo>
                  <a:pt x="3276217" y="1294385"/>
                </a:lnTo>
                <a:lnTo>
                  <a:pt x="3247728" y="1294385"/>
                </a:lnTo>
                <a:lnTo>
                  <a:pt x="3219239" y="1294385"/>
                </a:lnTo>
                <a:lnTo>
                  <a:pt x="3190750" y="1294385"/>
                </a:lnTo>
                <a:lnTo>
                  <a:pt x="3162261" y="1294385"/>
                </a:lnTo>
                <a:lnTo>
                  <a:pt x="3133772" y="1294385"/>
                </a:lnTo>
                <a:lnTo>
                  <a:pt x="3105284" y="1294385"/>
                </a:lnTo>
                <a:lnTo>
                  <a:pt x="3076795" y="1294385"/>
                </a:lnTo>
                <a:lnTo>
                  <a:pt x="3048306" y="1294385"/>
                </a:lnTo>
                <a:lnTo>
                  <a:pt x="3019817" y="1294385"/>
                </a:lnTo>
                <a:lnTo>
                  <a:pt x="2991328" y="1294385"/>
                </a:lnTo>
                <a:lnTo>
                  <a:pt x="2962839" y="1294385"/>
                </a:lnTo>
                <a:lnTo>
                  <a:pt x="2934350" y="1294385"/>
                </a:lnTo>
                <a:lnTo>
                  <a:pt x="2905862" y="1294385"/>
                </a:lnTo>
                <a:lnTo>
                  <a:pt x="2877373" y="1294385"/>
                </a:lnTo>
                <a:lnTo>
                  <a:pt x="2848884" y="1294385"/>
                </a:lnTo>
                <a:lnTo>
                  <a:pt x="2820395" y="1294385"/>
                </a:lnTo>
                <a:lnTo>
                  <a:pt x="2791906" y="1294385"/>
                </a:lnTo>
                <a:lnTo>
                  <a:pt x="2763417" y="1294385"/>
                </a:lnTo>
                <a:lnTo>
                  <a:pt x="2734929" y="1294385"/>
                </a:lnTo>
                <a:lnTo>
                  <a:pt x="2706440" y="1294385"/>
                </a:lnTo>
                <a:lnTo>
                  <a:pt x="2677951" y="1294385"/>
                </a:lnTo>
                <a:lnTo>
                  <a:pt x="2649462" y="1294385"/>
                </a:lnTo>
                <a:lnTo>
                  <a:pt x="2620973" y="1294385"/>
                </a:lnTo>
                <a:lnTo>
                  <a:pt x="2592484" y="1294385"/>
                </a:lnTo>
                <a:lnTo>
                  <a:pt x="2563995" y="1294385"/>
                </a:lnTo>
                <a:lnTo>
                  <a:pt x="2535507" y="1294385"/>
                </a:lnTo>
                <a:lnTo>
                  <a:pt x="2507018" y="1294385"/>
                </a:lnTo>
                <a:lnTo>
                  <a:pt x="2478529" y="1294385"/>
                </a:lnTo>
                <a:lnTo>
                  <a:pt x="2450040" y="1294385"/>
                </a:lnTo>
                <a:lnTo>
                  <a:pt x="2421551" y="1294385"/>
                </a:lnTo>
                <a:lnTo>
                  <a:pt x="2393062" y="1294385"/>
                </a:lnTo>
                <a:lnTo>
                  <a:pt x="2364574" y="1294385"/>
                </a:lnTo>
                <a:lnTo>
                  <a:pt x="2336085" y="1294385"/>
                </a:lnTo>
                <a:lnTo>
                  <a:pt x="2307596" y="1294385"/>
                </a:lnTo>
                <a:lnTo>
                  <a:pt x="2279107" y="1294385"/>
                </a:lnTo>
                <a:lnTo>
                  <a:pt x="2250618" y="1294385"/>
                </a:lnTo>
                <a:lnTo>
                  <a:pt x="2222129" y="1294385"/>
                </a:lnTo>
                <a:lnTo>
                  <a:pt x="2193641" y="1294385"/>
                </a:lnTo>
                <a:lnTo>
                  <a:pt x="2165152" y="1294385"/>
                </a:lnTo>
                <a:lnTo>
                  <a:pt x="2136663" y="1294385"/>
                </a:lnTo>
                <a:lnTo>
                  <a:pt x="2108174" y="1294385"/>
                </a:lnTo>
                <a:lnTo>
                  <a:pt x="2079685" y="1294385"/>
                </a:lnTo>
                <a:lnTo>
                  <a:pt x="2051196" y="1294385"/>
                </a:lnTo>
                <a:lnTo>
                  <a:pt x="2022707" y="1294385"/>
                </a:lnTo>
                <a:lnTo>
                  <a:pt x="1994219" y="1294385"/>
                </a:lnTo>
                <a:lnTo>
                  <a:pt x="1965730" y="1294385"/>
                </a:lnTo>
                <a:lnTo>
                  <a:pt x="1937241" y="1294385"/>
                </a:lnTo>
                <a:lnTo>
                  <a:pt x="1908752" y="1294385"/>
                </a:lnTo>
                <a:lnTo>
                  <a:pt x="1880263" y="1294385"/>
                </a:lnTo>
                <a:lnTo>
                  <a:pt x="1851774" y="1294385"/>
                </a:lnTo>
                <a:lnTo>
                  <a:pt x="1823286" y="1294385"/>
                </a:lnTo>
                <a:lnTo>
                  <a:pt x="1794797" y="1294385"/>
                </a:lnTo>
                <a:lnTo>
                  <a:pt x="1766308" y="1294385"/>
                </a:lnTo>
                <a:lnTo>
                  <a:pt x="1737819" y="1294385"/>
                </a:lnTo>
                <a:lnTo>
                  <a:pt x="1709330" y="1294385"/>
                </a:lnTo>
                <a:lnTo>
                  <a:pt x="1680841" y="1294385"/>
                </a:lnTo>
                <a:lnTo>
                  <a:pt x="1652352" y="1294385"/>
                </a:lnTo>
                <a:lnTo>
                  <a:pt x="1623864" y="1294385"/>
                </a:lnTo>
                <a:lnTo>
                  <a:pt x="1595375" y="1294385"/>
                </a:lnTo>
                <a:lnTo>
                  <a:pt x="1566886" y="1294385"/>
                </a:lnTo>
                <a:lnTo>
                  <a:pt x="1538397" y="1294385"/>
                </a:lnTo>
                <a:lnTo>
                  <a:pt x="1509908" y="1294385"/>
                </a:lnTo>
                <a:lnTo>
                  <a:pt x="1481419" y="1294385"/>
                </a:lnTo>
                <a:lnTo>
                  <a:pt x="1452931" y="1294385"/>
                </a:lnTo>
                <a:lnTo>
                  <a:pt x="1424442" y="1294385"/>
                </a:lnTo>
                <a:lnTo>
                  <a:pt x="1395953" y="1294385"/>
                </a:lnTo>
                <a:lnTo>
                  <a:pt x="1367464" y="1294385"/>
                </a:lnTo>
                <a:lnTo>
                  <a:pt x="1338975" y="1294385"/>
                </a:lnTo>
                <a:lnTo>
                  <a:pt x="1310486" y="1294385"/>
                </a:lnTo>
                <a:lnTo>
                  <a:pt x="1281997" y="1294385"/>
                </a:lnTo>
                <a:lnTo>
                  <a:pt x="1253509" y="1294385"/>
                </a:lnTo>
                <a:lnTo>
                  <a:pt x="1225020" y="1294385"/>
                </a:lnTo>
                <a:lnTo>
                  <a:pt x="1196531" y="1294385"/>
                </a:lnTo>
                <a:lnTo>
                  <a:pt x="1168042" y="1294385"/>
                </a:lnTo>
                <a:lnTo>
                  <a:pt x="1139553" y="1294385"/>
                </a:lnTo>
                <a:lnTo>
                  <a:pt x="1111064" y="1294385"/>
                </a:lnTo>
                <a:lnTo>
                  <a:pt x="1082576" y="1294385"/>
                </a:lnTo>
                <a:lnTo>
                  <a:pt x="1054087" y="1294385"/>
                </a:lnTo>
                <a:lnTo>
                  <a:pt x="1025598" y="1294385"/>
                </a:lnTo>
                <a:lnTo>
                  <a:pt x="997109" y="1294385"/>
                </a:lnTo>
                <a:lnTo>
                  <a:pt x="968620" y="1294385"/>
                </a:lnTo>
                <a:lnTo>
                  <a:pt x="940131" y="1294385"/>
                </a:lnTo>
                <a:lnTo>
                  <a:pt x="911643" y="1294385"/>
                </a:lnTo>
                <a:lnTo>
                  <a:pt x="883154" y="1294385"/>
                </a:lnTo>
                <a:lnTo>
                  <a:pt x="854665" y="1294385"/>
                </a:lnTo>
                <a:lnTo>
                  <a:pt x="826176" y="1294385"/>
                </a:lnTo>
                <a:lnTo>
                  <a:pt x="797687" y="1294385"/>
                </a:lnTo>
                <a:lnTo>
                  <a:pt x="769198" y="1294385"/>
                </a:lnTo>
                <a:lnTo>
                  <a:pt x="740709" y="1294385"/>
                </a:lnTo>
                <a:lnTo>
                  <a:pt x="712221" y="1294385"/>
                </a:lnTo>
                <a:lnTo>
                  <a:pt x="683732" y="1294385"/>
                </a:lnTo>
                <a:lnTo>
                  <a:pt x="655243" y="1294385"/>
                </a:lnTo>
                <a:lnTo>
                  <a:pt x="626754" y="1294385"/>
                </a:lnTo>
                <a:lnTo>
                  <a:pt x="598265" y="1294385"/>
                </a:lnTo>
                <a:lnTo>
                  <a:pt x="569776" y="1294385"/>
                </a:lnTo>
                <a:lnTo>
                  <a:pt x="541288" y="1294385"/>
                </a:lnTo>
                <a:lnTo>
                  <a:pt x="512799" y="1294385"/>
                </a:lnTo>
                <a:lnTo>
                  <a:pt x="484310" y="1294385"/>
                </a:lnTo>
                <a:lnTo>
                  <a:pt x="455821" y="1294385"/>
                </a:lnTo>
                <a:lnTo>
                  <a:pt x="427332" y="1294385"/>
                </a:lnTo>
                <a:lnTo>
                  <a:pt x="398843" y="1294385"/>
                </a:lnTo>
                <a:lnTo>
                  <a:pt x="370354" y="1294385"/>
                </a:lnTo>
                <a:lnTo>
                  <a:pt x="341866" y="1294385"/>
                </a:lnTo>
                <a:lnTo>
                  <a:pt x="313377" y="1294385"/>
                </a:lnTo>
                <a:lnTo>
                  <a:pt x="284888" y="1294385"/>
                </a:lnTo>
                <a:lnTo>
                  <a:pt x="256399" y="1294385"/>
                </a:lnTo>
                <a:lnTo>
                  <a:pt x="227910" y="1294385"/>
                </a:lnTo>
                <a:lnTo>
                  <a:pt x="199421" y="1294385"/>
                </a:lnTo>
                <a:lnTo>
                  <a:pt x="170933" y="1294385"/>
                </a:lnTo>
                <a:lnTo>
                  <a:pt x="142444" y="1294385"/>
                </a:lnTo>
                <a:lnTo>
                  <a:pt x="113955" y="1294385"/>
                </a:lnTo>
                <a:lnTo>
                  <a:pt x="85466" y="1294385"/>
                </a:lnTo>
                <a:lnTo>
                  <a:pt x="56977" y="1294385"/>
                </a:lnTo>
                <a:lnTo>
                  <a:pt x="28488" y="1294385"/>
                </a:lnTo>
                <a:lnTo>
                  <a:pt x="0" y="1294385"/>
                </a:lnTo>
                <a:close/>
              </a:path>
            </a:pathLst>
          </a:custGeom>
          <a:solidFill>
            <a:srgbClr val="8EDBD4">
              <a:alpha val="22000"/>
            </a:srgbClr>
          </a:solidFill>
          <a:ln w="10160">
            <a:solidFill>
              <a:srgbClr val="8EDBD4">
                <a:alpha val="2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A-E10 polygon 34" descr="sci-ppt:o034"/>
          <p:cNvSpPr/>
          <p:nvPr/>
        </p:nvSpPr>
        <p:spPr>
          <a:xfrm>
            <a:off x="914400" y="3734815"/>
            <a:ext cx="5669280" cy="1202027"/>
          </a:xfrm>
          <a:custGeom>
            <a:avLst/>
            <a:gdLst/>
            <a:ahLst/>
            <a:cxnLst/>
            <a:rect l="l" t="t" r="r" b="b"/>
            <a:pathLst>
              <a:path w="5669280" h="1202027">
                <a:moveTo>
                  <a:pt x="0" y="524363"/>
                </a:moveTo>
                <a:lnTo>
                  <a:pt x="28488" y="386420"/>
                </a:lnTo>
                <a:lnTo>
                  <a:pt x="56977" y="277996"/>
                </a:lnTo>
                <a:lnTo>
                  <a:pt x="85466" y="193755"/>
                </a:lnTo>
                <a:lnTo>
                  <a:pt x="113955" y="129357"/>
                </a:lnTo>
                <a:lnTo>
                  <a:pt x="142444" y="81262"/>
                </a:lnTo>
                <a:lnTo>
                  <a:pt x="170933" y="46568"/>
                </a:lnTo>
                <a:lnTo>
                  <a:pt x="199421" y="22893"/>
                </a:lnTo>
                <a:lnTo>
                  <a:pt x="227910" y="8273"/>
                </a:lnTo>
                <a:lnTo>
                  <a:pt x="256399" y="1089"/>
                </a:lnTo>
                <a:lnTo>
                  <a:pt x="284888" y="0"/>
                </a:lnTo>
                <a:lnTo>
                  <a:pt x="313377" y="3893"/>
                </a:lnTo>
                <a:lnTo>
                  <a:pt x="341866" y="11845"/>
                </a:lnTo>
                <a:lnTo>
                  <a:pt x="370354" y="23088"/>
                </a:lnTo>
                <a:lnTo>
                  <a:pt x="398843" y="36980"/>
                </a:lnTo>
                <a:lnTo>
                  <a:pt x="427332" y="52989"/>
                </a:lnTo>
                <a:lnTo>
                  <a:pt x="455821" y="70668"/>
                </a:lnTo>
                <a:lnTo>
                  <a:pt x="484310" y="89648"/>
                </a:lnTo>
                <a:lnTo>
                  <a:pt x="512799" y="109616"/>
                </a:lnTo>
                <a:lnTo>
                  <a:pt x="541288" y="130314"/>
                </a:lnTo>
                <a:lnTo>
                  <a:pt x="569776" y="151527"/>
                </a:lnTo>
                <a:lnTo>
                  <a:pt x="598265" y="173074"/>
                </a:lnTo>
                <a:lnTo>
                  <a:pt x="626754" y="194806"/>
                </a:lnTo>
                <a:lnTo>
                  <a:pt x="655243" y="216599"/>
                </a:lnTo>
                <a:lnTo>
                  <a:pt x="683732" y="238352"/>
                </a:lnTo>
                <a:lnTo>
                  <a:pt x="712221" y="259978"/>
                </a:lnTo>
                <a:lnTo>
                  <a:pt x="740709" y="281410"/>
                </a:lnTo>
                <a:lnTo>
                  <a:pt x="769198" y="302591"/>
                </a:lnTo>
                <a:lnTo>
                  <a:pt x="797687" y="323476"/>
                </a:lnTo>
                <a:lnTo>
                  <a:pt x="826176" y="344028"/>
                </a:lnTo>
                <a:lnTo>
                  <a:pt x="854665" y="364219"/>
                </a:lnTo>
                <a:lnTo>
                  <a:pt x="883154" y="384027"/>
                </a:lnTo>
                <a:lnTo>
                  <a:pt x="911643" y="403436"/>
                </a:lnTo>
                <a:lnTo>
                  <a:pt x="940131" y="422434"/>
                </a:lnTo>
                <a:lnTo>
                  <a:pt x="968620" y="441012"/>
                </a:lnTo>
                <a:lnTo>
                  <a:pt x="997109" y="459167"/>
                </a:lnTo>
                <a:lnTo>
                  <a:pt x="1025598" y="476895"/>
                </a:lnTo>
                <a:lnTo>
                  <a:pt x="1054087" y="494198"/>
                </a:lnTo>
                <a:lnTo>
                  <a:pt x="1082576" y="511077"/>
                </a:lnTo>
                <a:lnTo>
                  <a:pt x="1111064" y="527537"/>
                </a:lnTo>
                <a:lnTo>
                  <a:pt x="1139553" y="543582"/>
                </a:lnTo>
                <a:lnTo>
                  <a:pt x="1168042" y="559218"/>
                </a:lnTo>
                <a:lnTo>
                  <a:pt x="1196531" y="574452"/>
                </a:lnTo>
                <a:lnTo>
                  <a:pt x="1225020" y="589291"/>
                </a:lnTo>
                <a:lnTo>
                  <a:pt x="1253509" y="603744"/>
                </a:lnTo>
                <a:lnTo>
                  <a:pt x="1281997" y="617819"/>
                </a:lnTo>
                <a:lnTo>
                  <a:pt x="1310486" y="631525"/>
                </a:lnTo>
                <a:lnTo>
                  <a:pt x="1338975" y="644870"/>
                </a:lnTo>
                <a:lnTo>
                  <a:pt x="1367464" y="657863"/>
                </a:lnTo>
                <a:lnTo>
                  <a:pt x="1395953" y="670514"/>
                </a:lnTo>
                <a:lnTo>
                  <a:pt x="1424442" y="682832"/>
                </a:lnTo>
                <a:lnTo>
                  <a:pt x="1452931" y="694825"/>
                </a:lnTo>
                <a:lnTo>
                  <a:pt x="1481419" y="706503"/>
                </a:lnTo>
                <a:lnTo>
                  <a:pt x="1509908" y="717874"/>
                </a:lnTo>
                <a:lnTo>
                  <a:pt x="1538397" y="728947"/>
                </a:lnTo>
                <a:lnTo>
                  <a:pt x="1566886" y="739731"/>
                </a:lnTo>
                <a:lnTo>
                  <a:pt x="1595375" y="750234"/>
                </a:lnTo>
                <a:lnTo>
                  <a:pt x="1623864" y="760464"/>
                </a:lnTo>
                <a:lnTo>
                  <a:pt x="1652352" y="770430"/>
                </a:lnTo>
                <a:lnTo>
                  <a:pt x="1680841" y="780139"/>
                </a:lnTo>
                <a:lnTo>
                  <a:pt x="1709330" y="789599"/>
                </a:lnTo>
                <a:lnTo>
                  <a:pt x="1737819" y="798817"/>
                </a:lnTo>
                <a:lnTo>
                  <a:pt x="1766308" y="807800"/>
                </a:lnTo>
                <a:lnTo>
                  <a:pt x="1794797" y="816557"/>
                </a:lnTo>
                <a:lnTo>
                  <a:pt x="1823286" y="825092"/>
                </a:lnTo>
                <a:lnTo>
                  <a:pt x="1851774" y="833414"/>
                </a:lnTo>
                <a:lnTo>
                  <a:pt x="1880263" y="841528"/>
                </a:lnTo>
                <a:lnTo>
                  <a:pt x="1908752" y="849440"/>
                </a:lnTo>
                <a:lnTo>
                  <a:pt x="1937241" y="857158"/>
                </a:lnTo>
                <a:lnTo>
                  <a:pt x="1965730" y="864686"/>
                </a:lnTo>
                <a:lnTo>
                  <a:pt x="1994219" y="872030"/>
                </a:lnTo>
                <a:lnTo>
                  <a:pt x="2022707" y="879196"/>
                </a:lnTo>
                <a:lnTo>
                  <a:pt x="2051196" y="886189"/>
                </a:lnTo>
                <a:lnTo>
                  <a:pt x="2079685" y="893015"/>
                </a:lnTo>
                <a:lnTo>
                  <a:pt x="2108174" y="899677"/>
                </a:lnTo>
                <a:lnTo>
                  <a:pt x="2136663" y="906182"/>
                </a:lnTo>
                <a:lnTo>
                  <a:pt x="2165152" y="912533"/>
                </a:lnTo>
                <a:lnTo>
                  <a:pt x="2193641" y="918736"/>
                </a:lnTo>
                <a:lnTo>
                  <a:pt x="2222129" y="924794"/>
                </a:lnTo>
                <a:lnTo>
                  <a:pt x="2250618" y="930711"/>
                </a:lnTo>
                <a:lnTo>
                  <a:pt x="2279107" y="936493"/>
                </a:lnTo>
                <a:lnTo>
                  <a:pt x="2307596" y="942142"/>
                </a:lnTo>
                <a:lnTo>
                  <a:pt x="2336085" y="947663"/>
                </a:lnTo>
                <a:lnTo>
                  <a:pt x="2364574" y="953059"/>
                </a:lnTo>
                <a:lnTo>
                  <a:pt x="2393062" y="958334"/>
                </a:lnTo>
                <a:lnTo>
                  <a:pt x="2421551" y="963491"/>
                </a:lnTo>
                <a:lnTo>
                  <a:pt x="2450040" y="968533"/>
                </a:lnTo>
                <a:lnTo>
                  <a:pt x="2478529" y="973465"/>
                </a:lnTo>
                <a:lnTo>
                  <a:pt x="2507018" y="978288"/>
                </a:lnTo>
                <a:lnTo>
                  <a:pt x="2535507" y="983006"/>
                </a:lnTo>
                <a:lnTo>
                  <a:pt x="2563995" y="987622"/>
                </a:lnTo>
                <a:lnTo>
                  <a:pt x="2592484" y="992139"/>
                </a:lnTo>
                <a:lnTo>
                  <a:pt x="2620973" y="996559"/>
                </a:lnTo>
                <a:lnTo>
                  <a:pt x="2649462" y="1000885"/>
                </a:lnTo>
                <a:lnTo>
                  <a:pt x="2677951" y="1005120"/>
                </a:lnTo>
                <a:lnTo>
                  <a:pt x="2706440" y="1009265"/>
                </a:lnTo>
                <a:lnTo>
                  <a:pt x="2734929" y="1013325"/>
                </a:lnTo>
                <a:lnTo>
                  <a:pt x="2763417" y="1017300"/>
                </a:lnTo>
                <a:lnTo>
                  <a:pt x="2791906" y="1021193"/>
                </a:lnTo>
                <a:lnTo>
                  <a:pt x="2820395" y="1025006"/>
                </a:lnTo>
                <a:lnTo>
                  <a:pt x="2848884" y="1028741"/>
                </a:lnTo>
                <a:lnTo>
                  <a:pt x="2877373" y="1032401"/>
                </a:lnTo>
                <a:lnTo>
                  <a:pt x="2905862" y="1035987"/>
                </a:lnTo>
                <a:lnTo>
                  <a:pt x="2934350" y="1039502"/>
                </a:lnTo>
                <a:lnTo>
                  <a:pt x="2962839" y="1042946"/>
                </a:lnTo>
                <a:lnTo>
                  <a:pt x="2991328" y="1046322"/>
                </a:lnTo>
                <a:lnTo>
                  <a:pt x="3019817" y="1049632"/>
                </a:lnTo>
                <a:lnTo>
                  <a:pt x="3048306" y="1052878"/>
                </a:lnTo>
                <a:lnTo>
                  <a:pt x="3076795" y="1056060"/>
                </a:lnTo>
                <a:lnTo>
                  <a:pt x="3105284" y="1059180"/>
                </a:lnTo>
                <a:lnTo>
                  <a:pt x="3133772" y="1062241"/>
                </a:lnTo>
                <a:lnTo>
                  <a:pt x="3162261" y="1065244"/>
                </a:lnTo>
                <a:lnTo>
                  <a:pt x="3190750" y="1068189"/>
                </a:lnTo>
                <a:lnTo>
                  <a:pt x="3219239" y="1071079"/>
                </a:lnTo>
                <a:lnTo>
                  <a:pt x="3247728" y="1073914"/>
                </a:lnTo>
                <a:lnTo>
                  <a:pt x="3276217" y="1076697"/>
                </a:lnTo>
                <a:lnTo>
                  <a:pt x="3304705" y="1079428"/>
                </a:lnTo>
                <a:lnTo>
                  <a:pt x="3333194" y="1082109"/>
                </a:lnTo>
                <a:lnTo>
                  <a:pt x="3361683" y="1084740"/>
                </a:lnTo>
                <a:lnTo>
                  <a:pt x="3390172" y="1087323"/>
                </a:lnTo>
                <a:lnTo>
                  <a:pt x="3418661" y="1089860"/>
                </a:lnTo>
                <a:lnTo>
                  <a:pt x="3447150" y="1092351"/>
                </a:lnTo>
                <a:lnTo>
                  <a:pt x="3475638" y="1094797"/>
                </a:lnTo>
                <a:lnTo>
                  <a:pt x="3504127" y="1097200"/>
                </a:lnTo>
                <a:lnTo>
                  <a:pt x="3532616" y="1099560"/>
                </a:lnTo>
                <a:lnTo>
                  <a:pt x="3561105" y="1101878"/>
                </a:lnTo>
                <a:lnTo>
                  <a:pt x="3589594" y="1104156"/>
                </a:lnTo>
                <a:lnTo>
                  <a:pt x="3618083" y="1106394"/>
                </a:lnTo>
                <a:lnTo>
                  <a:pt x="3646572" y="1108593"/>
                </a:lnTo>
                <a:lnTo>
                  <a:pt x="3675060" y="1110754"/>
                </a:lnTo>
                <a:lnTo>
                  <a:pt x="3703549" y="1112878"/>
                </a:lnTo>
                <a:lnTo>
                  <a:pt x="3732038" y="1114966"/>
                </a:lnTo>
                <a:lnTo>
                  <a:pt x="3760527" y="1117018"/>
                </a:lnTo>
                <a:lnTo>
                  <a:pt x="3789016" y="1119036"/>
                </a:lnTo>
                <a:lnTo>
                  <a:pt x="3817505" y="1121020"/>
                </a:lnTo>
                <a:lnTo>
                  <a:pt x="3845993" y="1122970"/>
                </a:lnTo>
                <a:lnTo>
                  <a:pt x="3874482" y="1124889"/>
                </a:lnTo>
                <a:lnTo>
                  <a:pt x="3902971" y="1126775"/>
                </a:lnTo>
                <a:lnTo>
                  <a:pt x="3931460" y="1128631"/>
                </a:lnTo>
                <a:lnTo>
                  <a:pt x="3959949" y="1130456"/>
                </a:lnTo>
                <a:lnTo>
                  <a:pt x="3988438" y="1132251"/>
                </a:lnTo>
                <a:lnTo>
                  <a:pt x="4016927" y="1134017"/>
                </a:lnTo>
                <a:lnTo>
                  <a:pt x="4045415" y="1135755"/>
                </a:lnTo>
                <a:lnTo>
                  <a:pt x="4073904" y="1137465"/>
                </a:lnTo>
                <a:lnTo>
                  <a:pt x="4102393" y="1139148"/>
                </a:lnTo>
                <a:lnTo>
                  <a:pt x="4130882" y="1140804"/>
                </a:lnTo>
                <a:lnTo>
                  <a:pt x="4159371" y="1142434"/>
                </a:lnTo>
                <a:lnTo>
                  <a:pt x="4187860" y="1144038"/>
                </a:lnTo>
                <a:lnTo>
                  <a:pt x="4216348" y="1145617"/>
                </a:lnTo>
                <a:lnTo>
                  <a:pt x="4244837" y="1147172"/>
                </a:lnTo>
                <a:lnTo>
                  <a:pt x="4273326" y="1148702"/>
                </a:lnTo>
                <a:lnTo>
                  <a:pt x="4301815" y="1150209"/>
                </a:lnTo>
                <a:lnTo>
                  <a:pt x="4330304" y="1151693"/>
                </a:lnTo>
                <a:lnTo>
                  <a:pt x="4358793" y="1153154"/>
                </a:lnTo>
                <a:lnTo>
                  <a:pt x="4387282" y="1154593"/>
                </a:lnTo>
                <a:lnTo>
                  <a:pt x="4415770" y="1156011"/>
                </a:lnTo>
                <a:lnTo>
                  <a:pt x="4444259" y="1157407"/>
                </a:lnTo>
                <a:lnTo>
                  <a:pt x="4472748" y="1158782"/>
                </a:lnTo>
                <a:lnTo>
                  <a:pt x="4501237" y="1160136"/>
                </a:lnTo>
                <a:lnTo>
                  <a:pt x="4529726" y="1161471"/>
                </a:lnTo>
                <a:lnTo>
                  <a:pt x="4558215" y="1162786"/>
                </a:lnTo>
                <a:lnTo>
                  <a:pt x="4586703" y="1164082"/>
                </a:lnTo>
                <a:lnTo>
                  <a:pt x="4615192" y="1165358"/>
                </a:lnTo>
                <a:lnTo>
                  <a:pt x="4643681" y="1166616"/>
                </a:lnTo>
                <a:lnTo>
                  <a:pt x="4672170" y="1167856"/>
                </a:lnTo>
                <a:lnTo>
                  <a:pt x="4700659" y="1169078"/>
                </a:lnTo>
                <a:lnTo>
                  <a:pt x="4729148" y="1170283"/>
                </a:lnTo>
                <a:lnTo>
                  <a:pt x="4757636" y="1171470"/>
                </a:lnTo>
                <a:lnTo>
                  <a:pt x="4786125" y="1172641"/>
                </a:lnTo>
                <a:lnTo>
                  <a:pt x="4814614" y="1173795"/>
                </a:lnTo>
                <a:lnTo>
                  <a:pt x="4843103" y="1174933"/>
                </a:lnTo>
                <a:lnTo>
                  <a:pt x="4871592" y="1176054"/>
                </a:lnTo>
                <a:lnTo>
                  <a:pt x="4900081" y="1177161"/>
                </a:lnTo>
                <a:lnTo>
                  <a:pt x="4928570" y="1178251"/>
                </a:lnTo>
                <a:lnTo>
                  <a:pt x="4957058" y="1179327"/>
                </a:lnTo>
                <a:lnTo>
                  <a:pt x="4985547" y="1180388"/>
                </a:lnTo>
                <a:lnTo>
                  <a:pt x="5014036" y="1181434"/>
                </a:lnTo>
                <a:lnTo>
                  <a:pt x="5042525" y="1182466"/>
                </a:lnTo>
                <a:lnTo>
                  <a:pt x="5071014" y="1183484"/>
                </a:lnTo>
                <a:lnTo>
                  <a:pt x="5099503" y="1184489"/>
                </a:lnTo>
                <a:lnTo>
                  <a:pt x="5127991" y="1185480"/>
                </a:lnTo>
                <a:lnTo>
                  <a:pt x="5156480" y="1186457"/>
                </a:lnTo>
                <a:lnTo>
                  <a:pt x="5184969" y="1187422"/>
                </a:lnTo>
                <a:lnTo>
                  <a:pt x="5213458" y="1188373"/>
                </a:lnTo>
                <a:lnTo>
                  <a:pt x="5241947" y="1189312"/>
                </a:lnTo>
                <a:lnTo>
                  <a:pt x="5270436" y="1190239"/>
                </a:lnTo>
                <a:lnTo>
                  <a:pt x="5298925" y="1191154"/>
                </a:lnTo>
                <a:lnTo>
                  <a:pt x="5327413" y="1192056"/>
                </a:lnTo>
                <a:lnTo>
                  <a:pt x="5355902" y="1192947"/>
                </a:lnTo>
                <a:lnTo>
                  <a:pt x="5384391" y="1193826"/>
                </a:lnTo>
                <a:lnTo>
                  <a:pt x="5412880" y="1194694"/>
                </a:lnTo>
                <a:lnTo>
                  <a:pt x="5441369" y="1195551"/>
                </a:lnTo>
                <a:lnTo>
                  <a:pt x="5469858" y="1196397"/>
                </a:lnTo>
                <a:lnTo>
                  <a:pt x="5498346" y="1197232"/>
                </a:lnTo>
                <a:lnTo>
                  <a:pt x="5526835" y="1198057"/>
                </a:lnTo>
                <a:lnTo>
                  <a:pt x="5555324" y="1198871"/>
                </a:lnTo>
                <a:lnTo>
                  <a:pt x="5583813" y="1199675"/>
                </a:lnTo>
                <a:lnTo>
                  <a:pt x="5612302" y="1200469"/>
                </a:lnTo>
                <a:lnTo>
                  <a:pt x="5640791" y="1201253"/>
                </a:lnTo>
                <a:lnTo>
                  <a:pt x="5669280" y="1202027"/>
                </a:lnTo>
              </a:path>
            </a:pathLst>
          </a:custGeom>
          <a:noFill/>
          <a:ln w="406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A-E10 text 35" descr="sci-ppt:o035"/>
          <p:cNvSpPr txBox="1"/>
          <p:nvPr/>
        </p:nvSpPr>
        <p:spPr>
          <a:xfrm>
            <a:off x="2461564" y="2411128"/>
            <a:ext cx="34747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∫_R^∞ aᵣ dr = 210.0000 m²/s²</a:t>
            </a:r>
          </a:p>
        </p:txBody>
      </p:sp>
      <p:sp>
        <p:nvSpPr>
          <p:cNvPr id="38" name="A-E10 text 36" descr="sci-ppt:o036"/>
          <p:cNvSpPr txBox="1"/>
          <p:nvPr/>
        </p:nvSpPr>
        <p:spPr>
          <a:xfrm>
            <a:off x="2461564" y="2796138"/>
            <a:ext cx="34747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R R̈ + (3/2) Ṙ² = 210.0000 m²/s²</a:t>
            </a:r>
          </a:p>
        </p:txBody>
      </p:sp>
      <p:sp>
        <p:nvSpPr>
          <p:cNvPr id="39" name="A-E10 round_rect 37" descr="sci-ppt:o037"/>
          <p:cNvSpPr/>
          <p:nvPr/>
        </p:nvSpPr>
        <p:spPr>
          <a:xfrm>
            <a:off x="6858000" y="1371600"/>
            <a:ext cx="498348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10 text 38" descr="sci-ppt:o038"/>
          <p:cNvSpPr txBox="1"/>
          <p:nvPr/>
        </p:nvSpPr>
        <p:spPr>
          <a:xfrm>
            <a:off x="6967728" y="14264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Integrating the momentum law</a:t>
            </a:r>
          </a:p>
        </p:txBody>
      </p:sp>
      <p:sp>
        <p:nvSpPr>
          <p:cNvPr id="41" name="A-E10 text 39" descr="sci-ppt:o039"/>
          <p:cNvSpPr txBox="1"/>
          <p:nvPr/>
        </p:nvSpPr>
        <p:spPr>
          <a:xfrm>
            <a:off x="6995160" y="1828800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ρ_g aᵣ = ∂Tᵣᵣ/∂r + (2/r)(Tᵣᵣ − T_θθ)</a:t>
            </a:r>
          </a:p>
        </p:txBody>
      </p:sp>
      <p:sp>
        <p:nvSpPr>
          <p:cNvPr id="42" name="A-E10 text 40" descr="sci-ppt:o040"/>
          <p:cNvSpPr txBox="1"/>
          <p:nvPr/>
        </p:nvSpPr>
        <p:spPr>
          <a:xfrm>
            <a:off x="6995160" y="233172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ρ_g ∫aᵣ dr = ρ_g (R R̈ + 3Ṙ²/2)</a:t>
            </a:r>
          </a:p>
        </p:txBody>
      </p:sp>
      <p:sp>
        <p:nvSpPr>
          <p:cNvPr id="43" name="A-E10 text 41" descr="sci-ppt:o041"/>
          <p:cNvSpPr txBox="1"/>
          <p:nvPr/>
        </p:nvSpPr>
        <p:spPr>
          <a:xfrm>
            <a:off x="6995160" y="2834640"/>
            <a:ext cx="47548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viscous part: 2∫(…)(−6η_gR²Ṙ/r³)dr/r → −4η_g Ṙ/R</a:t>
            </a:r>
          </a:p>
        </p:txBody>
      </p:sp>
      <p:sp>
        <p:nvSpPr>
          <p:cNvPr id="44" name="A-E10 text 42" descr="sci-ppt:o042"/>
          <p:cNvSpPr txBox="1"/>
          <p:nvPr/>
        </p:nvSpPr>
        <p:spPr>
          <a:xfrm>
            <a:off x="6995160" y="3474720"/>
            <a:ext cx="47548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Acceleration and viscous stress give two distinct radial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contributions.</a:t>
            </a:r>
          </a:p>
        </p:txBody>
      </p:sp>
      <p:sp>
        <p:nvSpPr>
          <p:cNvPr id="45" name="A-E10 text 43" descr="sci-ppt:o043"/>
          <p:cNvSpPr txBox="1"/>
          <p:nvPr/>
        </p:nvSpPr>
        <p:spPr>
          <a:xfrm>
            <a:off x="914400" y="5733288"/>
            <a:ext cx="10972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Numerical check with R = 30 µm, Ṙ = −10 m/s, R̈ = 2×10⁶ m/s²: area under aᵣ agrees with R R̈ + 3Ṙ²/2 to 0.0000 %.</a:t>
            </a:r>
          </a:p>
        </p:txBody>
      </p:sp>
      <p:sp>
        <p:nvSpPr>
          <p:cNvPr id="46" name="A-E10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Evaluated integrals of Eq. A-E10 (quadrature to 400R plus the 1/r² tail beyond it, added analytically).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A-E11 · Derived intact-medium radial control</a:t>
            </a:r>
          </a:p>
        </p:txBody>
      </p:sp>
      <p:sp>
        <p:nvSpPr>
          <p:cNvPr id="3" name="A-E11 text 1" descr="sci-ppt:o001"/>
          <p:cNvSpPr txBox="1"/>
          <p:nvPr/>
        </p:nvSpPr>
        <p:spPr>
          <a:xfrm>
            <a:off x="457200" y="914400"/>
            <a:ext cx="59436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Pressure ledger at one instant (kPa)</a:t>
            </a:r>
          </a:p>
        </p:txBody>
      </p:sp>
      <p:cxnSp>
        <p:nvCxnSpPr>
          <p:cNvPr id="4" name="A-E11 line 2" descr="sci-ppt:o002"/>
          <p:cNvCxnSpPr/>
          <p:nvPr/>
        </p:nvCxnSpPr>
        <p:spPr>
          <a:xfrm>
            <a:off x="548640" y="475488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1 line 3" descr="sci-ppt:o003"/>
          <p:cNvCxnSpPr/>
          <p:nvPr/>
        </p:nvCxnSpPr>
        <p:spPr>
          <a:xfrm>
            <a:off x="548640" y="1463040"/>
            <a:ext cx="0" cy="32918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" name="A-E11 line 4" descr="sci-ppt:o004"/>
          <p:cNvCxnSpPr/>
          <p:nvPr/>
        </p:nvCxnSpPr>
        <p:spPr>
          <a:xfrm>
            <a:off x="484632" y="47548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" name="A-E11 line 5" descr="sci-ppt:o005"/>
          <p:cNvCxnSpPr/>
          <p:nvPr/>
        </p:nvCxnSpPr>
        <p:spPr>
          <a:xfrm>
            <a:off x="548640" y="475488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" name="A-E11 text 6" descr="sci-ppt:o006"/>
          <p:cNvSpPr txBox="1"/>
          <p:nvPr/>
        </p:nvSpPr>
        <p:spPr>
          <a:xfrm>
            <a:off x="-320040" y="46725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9" name="A-E11 line 7" descr="sci-ppt:o007"/>
          <p:cNvCxnSpPr/>
          <p:nvPr/>
        </p:nvCxnSpPr>
        <p:spPr>
          <a:xfrm>
            <a:off x="484632" y="409651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A-E11 line 8" descr="sci-ppt:o008"/>
          <p:cNvCxnSpPr/>
          <p:nvPr/>
        </p:nvCxnSpPr>
        <p:spPr>
          <a:xfrm>
            <a:off x="548640" y="4096512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1" name="A-E11 text 9" descr="sci-ppt:o009"/>
          <p:cNvSpPr txBox="1"/>
          <p:nvPr/>
        </p:nvSpPr>
        <p:spPr>
          <a:xfrm>
            <a:off x="-320040" y="401421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</a:t>
            </a:r>
          </a:p>
        </p:txBody>
      </p:sp>
      <p:cxnSp>
        <p:nvCxnSpPr>
          <p:cNvPr id="12" name="A-E11 line 10" descr="sci-ppt:o010"/>
          <p:cNvCxnSpPr/>
          <p:nvPr/>
        </p:nvCxnSpPr>
        <p:spPr>
          <a:xfrm>
            <a:off x="484632" y="343814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A-E11 line 11" descr="sci-ppt:o011"/>
          <p:cNvCxnSpPr/>
          <p:nvPr/>
        </p:nvCxnSpPr>
        <p:spPr>
          <a:xfrm>
            <a:off x="548640" y="3438144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4" name="A-E11 text 12" descr="sci-ppt:o012"/>
          <p:cNvSpPr txBox="1"/>
          <p:nvPr/>
        </p:nvSpPr>
        <p:spPr>
          <a:xfrm>
            <a:off x="-320040" y="335584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15" name="A-E11 line 13" descr="sci-ppt:o013"/>
          <p:cNvCxnSpPr/>
          <p:nvPr/>
        </p:nvCxnSpPr>
        <p:spPr>
          <a:xfrm>
            <a:off x="484632" y="277977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11 line 14" descr="sci-ppt:o014"/>
          <p:cNvCxnSpPr/>
          <p:nvPr/>
        </p:nvCxnSpPr>
        <p:spPr>
          <a:xfrm>
            <a:off x="548640" y="2779776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11 text 15" descr="sci-ppt:o015"/>
          <p:cNvSpPr txBox="1"/>
          <p:nvPr/>
        </p:nvSpPr>
        <p:spPr>
          <a:xfrm>
            <a:off x="-320040" y="269748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75</a:t>
            </a:r>
          </a:p>
        </p:txBody>
      </p:sp>
      <p:cxnSp>
        <p:nvCxnSpPr>
          <p:cNvPr id="18" name="A-E11 line 16" descr="sci-ppt:o016"/>
          <p:cNvCxnSpPr/>
          <p:nvPr/>
        </p:nvCxnSpPr>
        <p:spPr>
          <a:xfrm>
            <a:off x="484632" y="212140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11 line 17" descr="sci-ppt:o017"/>
          <p:cNvCxnSpPr/>
          <p:nvPr/>
        </p:nvCxnSpPr>
        <p:spPr>
          <a:xfrm>
            <a:off x="548640" y="2121408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11 text 18" descr="sci-ppt:o018"/>
          <p:cNvSpPr txBox="1"/>
          <p:nvPr/>
        </p:nvSpPr>
        <p:spPr>
          <a:xfrm>
            <a:off x="-320040" y="203911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1" name="A-E11 line 19" descr="sci-ppt:o019"/>
          <p:cNvCxnSpPr/>
          <p:nvPr/>
        </p:nvCxnSpPr>
        <p:spPr>
          <a:xfrm>
            <a:off x="484632" y="14630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11 line 20" descr="sci-ppt:o020"/>
          <p:cNvCxnSpPr/>
          <p:nvPr/>
        </p:nvCxnSpPr>
        <p:spPr>
          <a:xfrm>
            <a:off x="548640" y="146304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11 text 21" descr="sci-ppt:o021"/>
          <p:cNvSpPr txBox="1"/>
          <p:nvPr/>
        </p:nvSpPr>
        <p:spPr>
          <a:xfrm>
            <a:off x="-320040" y="13807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125</a:t>
            </a:r>
          </a:p>
        </p:txBody>
      </p:sp>
      <p:sp>
        <p:nvSpPr>
          <p:cNvPr id="24" name="A-E11 rect 22" descr="sci-ppt:o022"/>
          <p:cNvSpPr/>
          <p:nvPr/>
        </p:nvSpPr>
        <p:spPr>
          <a:xfrm>
            <a:off x="727862" y="2121408"/>
            <a:ext cx="921715" cy="2633472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-E11 text 23" descr="sci-ppt:o023"/>
          <p:cNvSpPr txBox="1"/>
          <p:nvPr/>
        </p:nvSpPr>
        <p:spPr>
          <a:xfrm>
            <a:off x="499262" y="1847088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100.0</a:t>
            </a:r>
          </a:p>
        </p:txBody>
      </p:sp>
      <p:sp>
        <p:nvSpPr>
          <p:cNvPr id="26" name="A-E11 text 24" descr="sci-ppt:o024"/>
          <p:cNvSpPr txBox="1"/>
          <p:nvPr/>
        </p:nvSpPr>
        <p:spPr>
          <a:xfrm>
            <a:off x="45354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p_b − p_∞</a:t>
            </a:r>
          </a:p>
        </p:txBody>
      </p:sp>
      <p:sp>
        <p:nvSpPr>
          <p:cNvPr id="27" name="A-E11 rect 25" descr="sci-ppt:o025"/>
          <p:cNvSpPr/>
          <p:nvPr/>
        </p:nvSpPr>
        <p:spPr>
          <a:xfrm>
            <a:off x="2008022" y="2121408"/>
            <a:ext cx="921715" cy="126406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A-E11 text 26" descr="sci-ppt:o026"/>
          <p:cNvSpPr txBox="1"/>
          <p:nvPr/>
        </p:nvSpPr>
        <p:spPr>
          <a:xfrm>
            <a:off x="1779422" y="1847088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-4.8</a:t>
            </a:r>
          </a:p>
        </p:txBody>
      </p:sp>
      <p:sp>
        <p:nvSpPr>
          <p:cNvPr id="29" name="A-E11 text 27" descr="sci-ppt:o027"/>
          <p:cNvSpPr txBox="1"/>
          <p:nvPr/>
        </p:nvSpPr>
        <p:spPr>
          <a:xfrm>
            <a:off x="173370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− 2σ/R</a:t>
            </a:r>
          </a:p>
        </p:txBody>
      </p:sp>
      <p:sp>
        <p:nvSpPr>
          <p:cNvPr id="30" name="A-E11 rect 28" descr="sci-ppt:o028"/>
          <p:cNvSpPr/>
          <p:nvPr/>
        </p:nvSpPr>
        <p:spPr>
          <a:xfrm>
            <a:off x="3288182" y="2247814"/>
            <a:ext cx="921715" cy="1140968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-E11 text 29" descr="sci-ppt:o029"/>
          <p:cNvSpPr txBox="1"/>
          <p:nvPr/>
        </p:nvSpPr>
        <p:spPr>
          <a:xfrm>
            <a:off x="3059582" y="1973494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-43.3</a:t>
            </a:r>
          </a:p>
        </p:txBody>
      </p:sp>
      <p:sp>
        <p:nvSpPr>
          <p:cNvPr id="32" name="A-E11 text 30" descr="sci-ppt:o030"/>
          <p:cNvSpPr txBox="1"/>
          <p:nvPr/>
        </p:nvSpPr>
        <p:spPr>
          <a:xfrm>
            <a:off x="301386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pₑₗ</a:t>
            </a:r>
          </a:p>
        </p:txBody>
      </p:sp>
      <p:sp>
        <p:nvSpPr>
          <p:cNvPr id="33" name="A-E11 rect 31" descr="sci-ppt:o031"/>
          <p:cNvSpPr/>
          <p:nvPr/>
        </p:nvSpPr>
        <p:spPr>
          <a:xfrm>
            <a:off x="4568342" y="3037653"/>
            <a:ext cx="921715" cy="351129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-E11 text 32" descr="sci-ppt:o032"/>
          <p:cNvSpPr txBox="1"/>
          <p:nvPr/>
        </p:nvSpPr>
        <p:spPr>
          <a:xfrm>
            <a:off x="4339742" y="2763333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+13.3</a:t>
            </a:r>
          </a:p>
        </p:txBody>
      </p:sp>
      <p:sp>
        <p:nvSpPr>
          <p:cNvPr id="35" name="A-E11 text 33" descr="sci-ppt:o033"/>
          <p:cNvSpPr txBox="1"/>
          <p:nvPr/>
        </p:nvSpPr>
        <p:spPr>
          <a:xfrm>
            <a:off x="429402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− 4η_gṘ/R</a:t>
            </a:r>
          </a:p>
        </p:txBody>
      </p:sp>
      <p:sp>
        <p:nvSpPr>
          <p:cNvPr id="36" name="A-E11 rect 34" descr="sci-ppt:o034"/>
          <p:cNvSpPr/>
          <p:nvPr/>
        </p:nvSpPr>
        <p:spPr>
          <a:xfrm>
            <a:off x="5848502" y="3037653"/>
            <a:ext cx="921715" cy="1717226"/>
          </a:xfrm>
          <a:prstGeom prst="rect">
            <a:avLst/>
          </a:prstGeom>
          <a:solidFill>
            <a:srgbClr val="A8E6A1">
              <a:alpha val="85000"/>
            </a:srgbClr>
          </a:solidFill>
          <a:ln w="12700">
            <a:solidFill>
              <a:srgbClr val="A8E6A1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A-E11 text 35" descr="sci-ppt:o035"/>
          <p:cNvSpPr txBox="1"/>
          <p:nvPr/>
        </p:nvSpPr>
        <p:spPr>
          <a:xfrm>
            <a:off x="5619902" y="2763333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65.2</a:t>
            </a:r>
          </a:p>
        </p:txBody>
      </p:sp>
      <p:sp>
        <p:nvSpPr>
          <p:cNvPr id="38" name="A-E11 text 36" descr="sci-ppt:o036"/>
          <p:cNvSpPr txBox="1"/>
          <p:nvPr/>
        </p:nvSpPr>
        <p:spPr>
          <a:xfrm>
            <a:off x="557418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= ρ_g(RR̈ + 3Ṙ²/2)</a:t>
            </a:r>
          </a:p>
        </p:txBody>
      </p:sp>
      <p:sp>
        <p:nvSpPr>
          <p:cNvPr id="39" name="A-E11 round_rect 37" descr="sci-ppt:o037"/>
          <p:cNvSpPr/>
          <p:nvPr/>
        </p:nvSpPr>
        <p:spPr>
          <a:xfrm>
            <a:off x="7315200" y="914400"/>
            <a:ext cx="4526280" cy="40233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11 text 38" descr="sci-ppt:o038"/>
          <p:cNvSpPr txBox="1"/>
          <p:nvPr/>
        </p:nvSpPr>
        <p:spPr>
          <a:xfrm>
            <a:off x="7424927" y="969264"/>
            <a:ext cx="4306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Spherical radial control</a:t>
            </a:r>
          </a:p>
        </p:txBody>
      </p:sp>
      <p:sp>
        <p:nvSpPr>
          <p:cNvPr id="41" name="A-E11 text 39" descr="sci-ppt:o039"/>
          <p:cNvSpPr txBox="1"/>
          <p:nvPr/>
        </p:nvSpPr>
        <p:spPr>
          <a:xfrm>
            <a:off x="7452360" y="1371600"/>
            <a:ext cx="4297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ρ_g(RR̈ + 3Ṙ²/2) = p_b − p_∞ − 2σ/R − pₑₗ − 4η_gṘ/R</a:t>
            </a:r>
          </a:p>
        </p:txBody>
      </p:sp>
      <p:sp>
        <p:nvSpPr>
          <p:cNvPr id="42" name="A-E11 text 40" descr="sci-ppt:o040"/>
          <p:cNvSpPr txBox="1"/>
          <p:nvPr/>
        </p:nvSpPr>
        <p:spPr>
          <a:xfrm>
            <a:off x="7653528" y="2286000"/>
            <a:ext cx="40965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Left: inertia of the surrounding gel.</a:t>
            </a:r>
          </a:p>
        </p:txBody>
      </p:sp>
      <p:sp>
        <p:nvSpPr>
          <p:cNvPr id="43" name="A-E11 ellipse 41" descr="sci-ppt:o041"/>
          <p:cNvSpPr/>
          <p:nvPr/>
        </p:nvSpPr>
        <p:spPr>
          <a:xfrm>
            <a:off x="7484364" y="233934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-E11 text 42" descr="sci-ppt:o042"/>
          <p:cNvSpPr txBox="1"/>
          <p:nvPr/>
        </p:nvSpPr>
        <p:spPr>
          <a:xfrm>
            <a:off x="7653528" y="2563368"/>
            <a:ext cx="40965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Right: driving overpressure minus capillary,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elastic and viscous resistance.</a:t>
            </a:r>
          </a:p>
        </p:txBody>
      </p:sp>
      <p:sp>
        <p:nvSpPr>
          <p:cNvPr id="45" name="A-E11 ellipse 43" descr="sci-ppt:o043"/>
          <p:cNvSpPr/>
          <p:nvPr/>
        </p:nvSpPr>
        <p:spPr>
          <a:xfrm>
            <a:off x="7484364" y="2616708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A-E11 text 44" descr="sci-ppt:o044"/>
          <p:cNvSpPr txBox="1"/>
          <p:nvPr/>
        </p:nvSpPr>
        <p:spPr>
          <a:xfrm>
            <a:off x="7653528" y="3026663"/>
            <a:ext cx="40965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Inward motion (Ṙ &lt; 0) turns the viscous term into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 push.</a:t>
            </a:r>
          </a:p>
        </p:txBody>
      </p:sp>
      <p:sp>
        <p:nvSpPr>
          <p:cNvPr id="47" name="A-E11 ellipse 45" descr="sci-ppt:o045"/>
          <p:cNvSpPr/>
          <p:nvPr/>
        </p:nvSpPr>
        <p:spPr>
          <a:xfrm>
            <a:off x="7484364" y="3080004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A-E11 text 46" descr="sci-ppt:o046"/>
          <p:cNvSpPr txBox="1"/>
          <p:nvPr/>
        </p:nvSpPr>
        <p:spPr>
          <a:xfrm>
            <a:off x="548640" y="5074920"/>
            <a:ext cx="11247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Illustration: p_b − p_∞ = 100 kPa, R = 30 µm, Ṙ = −10 m/s, σ = 0.072 N/m (assumed), η_g = 0.010 Pa s, G_g = 20 kPa, R_ref = 5 µm.</a:t>
            </a:r>
          </a:p>
        </p:txBody>
      </p:sp>
      <p:sp>
        <p:nvSpPr>
          <p:cNvPr id="49" name="A-E11 text 47" descr="sci-ppt:o047"/>
          <p:cNvSpPr txBox="1"/>
          <p:nvPr/>
        </p:nvSpPr>
        <p:spPr>
          <a:xfrm>
            <a:off x="548640" y="557784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model quantifies cavity work before any directional-flow calculation; it does not create an outlet.</a:t>
            </a:r>
          </a:p>
        </p:txBody>
      </p:sp>
      <p:sp>
        <p:nvSpPr>
          <p:cNvPr id="50" name="A-E11 text 48" descr="sci-ppt:o04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Radial control of Eq. A-E11 (values illustrative; the inertia bar is what is left over).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A-E12 · Derived mechanical energy balance</a:t>
            </a:r>
          </a:p>
        </p:txBody>
      </p:sp>
      <p:sp>
        <p:nvSpPr>
          <p:cNvPr id="3" name="A-E12 text 1" descr="sci-ppt:o001"/>
          <p:cNvSpPr txBox="1"/>
          <p:nvPr/>
        </p:nvSpPr>
        <p:spPr>
          <a:xfrm>
            <a:off x="457200" y="914400"/>
            <a:ext cx="6400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Where the pressure power goes (schematic share)</a:t>
            </a:r>
          </a:p>
        </p:txBody>
      </p:sp>
      <p:cxnSp>
        <p:nvCxnSpPr>
          <p:cNvPr id="4" name="A-E12 line 2" descr="sci-ppt:o002"/>
          <p:cNvCxnSpPr/>
          <p:nvPr/>
        </p:nvCxnSpPr>
        <p:spPr>
          <a:xfrm>
            <a:off x="548640" y="475488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2 line 3" descr="sci-ppt:o003"/>
          <p:cNvCxnSpPr/>
          <p:nvPr/>
        </p:nvCxnSpPr>
        <p:spPr>
          <a:xfrm>
            <a:off x="548640" y="1463040"/>
            <a:ext cx="0" cy="32918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" name="A-E12 line 4" descr="sci-ppt:o004"/>
          <p:cNvCxnSpPr/>
          <p:nvPr/>
        </p:nvCxnSpPr>
        <p:spPr>
          <a:xfrm>
            <a:off x="484632" y="47548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" name="A-E12 line 5" descr="sci-ppt:o005"/>
          <p:cNvCxnSpPr/>
          <p:nvPr/>
        </p:nvCxnSpPr>
        <p:spPr>
          <a:xfrm>
            <a:off x="548640" y="475488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" name="A-E12 text 6" descr="sci-ppt:o006"/>
          <p:cNvSpPr txBox="1"/>
          <p:nvPr/>
        </p:nvSpPr>
        <p:spPr>
          <a:xfrm>
            <a:off x="-320040" y="46725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9" name="A-E12 line 7" descr="sci-ppt:o007"/>
          <p:cNvCxnSpPr/>
          <p:nvPr/>
        </p:nvCxnSpPr>
        <p:spPr>
          <a:xfrm>
            <a:off x="484632" y="4069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A-E12 line 8" descr="sci-ppt:o008"/>
          <p:cNvCxnSpPr/>
          <p:nvPr/>
        </p:nvCxnSpPr>
        <p:spPr>
          <a:xfrm>
            <a:off x="548640" y="406908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1" name="A-E12 text 9" descr="sci-ppt:o009"/>
          <p:cNvSpPr txBox="1"/>
          <p:nvPr/>
        </p:nvSpPr>
        <p:spPr>
          <a:xfrm>
            <a:off x="-320040" y="3986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2" name="A-E12 line 10" descr="sci-ppt:o010"/>
          <p:cNvCxnSpPr/>
          <p:nvPr/>
        </p:nvCxnSpPr>
        <p:spPr>
          <a:xfrm>
            <a:off x="484632" y="3383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A-E12 line 11" descr="sci-ppt:o011"/>
          <p:cNvCxnSpPr/>
          <p:nvPr/>
        </p:nvCxnSpPr>
        <p:spPr>
          <a:xfrm>
            <a:off x="548640" y="338328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4" name="A-E12 text 12" descr="sci-ppt:o012"/>
          <p:cNvSpPr txBox="1"/>
          <p:nvPr/>
        </p:nvSpPr>
        <p:spPr>
          <a:xfrm>
            <a:off x="-320040" y="3300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5" name="A-E12 line 13" descr="sci-ppt:o013"/>
          <p:cNvCxnSpPr/>
          <p:nvPr/>
        </p:nvCxnSpPr>
        <p:spPr>
          <a:xfrm>
            <a:off x="484632" y="2697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12 line 14" descr="sci-ppt:o014"/>
          <p:cNvCxnSpPr/>
          <p:nvPr/>
        </p:nvCxnSpPr>
        <p:spPr>
          <a:xfrm>
            <a:off x="548640" y="269748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12 text 15" descr="sci-ppt:o015"/>
          <p:cNvSpPr txBox="1"/>
          <p:nvPr/>
        </p:nvSpPr>
        <p:spPr>
          <a:xfrm>
            <a:off x="-320040" y="26151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8" name="A-E12 line 16" descr="sci-ppt:o016"/>
          <p:cNvCxnSpPr/>
          <p:nvPr/>
        </p:nvCxnSpPr>
        <p:spPr>
          <a:xfrm>
            <a:off x="484632" y="2011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12 line 17" descr="sci-ppt:o017"/>
          <p:cNvCxnSpPr/>
          <p:nvPr/>
        </p:nvCxnSpPr>
        <p:spPr>
          <a:xfrm>
            <a:off x="548640" y="201168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12 text 18" descr="sci-ppt:o018"/>
          <p:cNvSpPr txBox="1"/>
          <p:nvPr/>
        </p:nvSpPr>
        <p:spPr>
          <a:xfrm>
            <a:off x="-320040" y="1929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21" name="A-E12 rect 19" descr="sci-ppt:o019"/>
          <p:cNvSpPr/>
          <p:nvPr/>
        </p:nvSpPr>
        <p:spPr>
          <a:xfrm>
            <a:off x="727862" y="2011680"/>
            <a:ext cx="921715" cy="274320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A-E12 text 20" descr="sci-ppt:o020"/>
          <p:cNvSpPr txBox="1"/>
          <p:nvPr/>
        </p:nvSpPr>
        <p:spPr>
          <a:xfrm>
            <a:off x="499262" y="1737360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1.00</a:t>
            </a:r>
          </a:p>
        </p:txBody>
      </p:sp>
      <p:sp>
        <p:nvSpPr>
          <p:cNvPr id="23" name="A-E12 text 21" descr="sci-ppt:o021"/>
          <p:cNvSpPr txBox="1"/>
          <p:nvPr/>
        </p:nvSpPr>
        <p:spPr>
          <a:xfrm>
            <a:off x="45354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(p_b−p_∞)V̇</a:t>
            </a:r>
          </a:p>
        </p:txBody>
      </p:sp>
      <p:sp>
        <p:nvSpPr>
          <p:cNvPr id="24" name="A-E12 rect 22" descr="sci-ppt:o022"/>
          <p:cNvSpPr/>
          <p:nvPr/>
        </p:nvSpPr>
        <p:spPr>
          <a:xfrm>
            <a:off x="2008022" y="2011680"/>
            <a:ext cx="921715" cy="768095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-E12 text 23" descr="sci-ppt:o023"/>
          <p:cNvSpPr txBox="1"/>
          <p:nvPr/>
        </p:nvSpPr>
        <p:spPr>
          <a:xfrm>
            <a:off x="1779422" y="1737360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-0.28</a:t>
            </a:r>
          </a:p>
        </p:txBody>
      </p:sp>
      <p:sp>
        <p:nvSpPr>
          <p:cNvPr id="26" name="A-E12 text 24" descr="sci-ppt:o024"/>
          <p:cNvSpPr txBox="1"/>
          <p:nvPr/>
        </p:nvSpPr>
        <p:spPr>
          <a:xfrm>
            <a:off x="173370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P_dis</a:t>
            </a:r>
          </a:p>
        </p:txBody>
      </p:sp>
      <p:sp>
        <p:nvSpPr>
          <p:cNvPr id="27" name="A-E12 rect 25" descr="sci-ppt:o025"/>
          <p:cNvSpPr/>
          <p:nvPr/>
        </p:nvSpPr>
        <p:spPr>
          <a:xfrm>
            <a:off x="3288182" y="2779776"/>
            <a:ext cx="921715" cy="137159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A-E12 text 26" descr="sci-ppt:o026"/>
          <p:cNvSpPr txBox="1"/>
          <p:nvPr/>
        </p:nvSpPr>
        <p:spPr>
          <a:xfrm>
            <a:off x="3059582" y="2505456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-0.05</a:t>
            </a:r>
          </a:p>
        </p:txBody>
      </p:sp>
      <p:sp>
        <p:nvSpPr>
          <p:cNvPr id="29" name="A-E12 text 27" descr="sci-ppt:o027"/>
          <p:cNvSpPr txBox="1"/>
          <p:nvPr/>
        </p:nvSpPr>
        <p:spPr>
          <a:xfrm>
            <a:off x="301386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dE_σ/dt</a:t>
            </a:r>
          </a:p>
        </p:txBody>
      </p:sp>
      <p:sp>
        <p:nvSpPr>
          <p:cNvPr id="30" name="A-E12 rect 28" descr="sci-ppt:o028"/>
          <p:cNvSpPr/>
          <p:nvPr/>
        </p:nvSpPr>
        <p:spPr>
          <a:xfrm>
            <a:off x="4568342" y="2916936"/>
            <a:ext cx="921715" cy="877824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-E12 text 29" descr="sci-ppt:o029"/>
          <p:cNvSpPr txBox="1"/>
          <p:nvPr/>
        </p:nvSpPr>
        <p:spPr>
          <a:xfrm>
            <a:off x="4339742" y="2642616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-0.32</a:t>
            </a:r>
          </a:p>
        </p:txBody>
      </p:sp>
      <p:sp>
        <p:nvSpPr>
          <p:cNvPr id="32" name="A-E12 text 30" descr="sci-ppt:o030"/>
          <p:cNvSpPr txBox="1"/>
          <p:nvPr/>
        </p:nvSpPr>
        <p:spPr>
          <a:xfrm>
            <a:off x="429402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− dW_g/dt</a:t>
            </a:r>
          </a:p>
        </p:txBody>
      </p:sp>
      <p:sp>
        <p:nvSpPr>
          <p:cNvPr id="33" name="A-E12 rect 31" descr="sci-ppt:o031"/>
          <p:cNvSpPr/>
          <p:nvPr/>
        </p:nvSpPr>
        <p:spPr>
          <a:xfrm>
            <a:off x="5848502" y="3794760"/>
            <a:ext cx="921715" cy="960119"/>
          </a:xfrm>
          <a:prstGeom prst="rect">
            <a:avLst/>
          </a:prstGeom>
          <a:solidFill>
            <a:srgbClr val="A8E6A1">
              <a:alpha val="85000"/>
            </a:srgbClr>
          </a:solidFill>
          <a:ln w="12700">
            <a:solidFill>
              <a:srgbClr val="A8E6A1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-E12 text 32" descr="sci-ppt:o032"/>
          <p:cNvSpPr txBox="1"/>
          <p:nvPr/>
        </p:nvSpPr>
        <p:spPr>
          <a:xfrm>
            <a:off x="5619902" y="3520440"/>
            <a:ext cx="1378915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0.35</a:t>
            </a:r>
          </a:p>
        </p:txBody>
      </p:sp>
      <p:sp>
        <p:nvSpPr>
          <p:cNvPr id="35" name="A-E12 text 33" descr="sci-ppt:o033"/>
          <p:cNvSpPr txBox="1"/>
          <p:nvPr/>
        </p:nvSpPr>
        <p:spPr>
          <a:xfrm>
            <a:off x="5574182" y="4828032"/>
            <a:ext cx="1470355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= dK_g/dt</a:t>
            </a:r>
          </a:p>
        </p:txBody>
      </p:sp>
      <p:sp>
        <p:nvSpPr>
          <p:cNvPr id="36" name="A-E12 round_rect 34" descr="sci-ppt:o034"/>
          <p:cNvSpPr/>
          <p:nvPr/>
        </p:nvSpPr>
        <p:spPr>
          <a:xfrm>
            <a:off x="7315200" y="914400"/>
            <a:ext cx="4526280" cy="40233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A-E12 text 35" descr="sci-ppt:o035"/>
          <p:cNvSpPr txBox="1"/>
          <p:nvPr/>
        </p:nvSpPr>
        <p:spPr>
          <a:xfrm>
            <a:off x="7424927" y="969264"/>
            <a:ext cx="4306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Energy bookkeeping</a:t>
            </a:r>
          </a:p>
        </p:txBody>
      </p:sp>
      <p:sp>
        <p:nvSpPr>
          <p:cNvPr id="38" name="A-E12 text 36" descr="sci-ppt:o036"/>
          <p:cNvSpPr txBox="1"/>
          <p:nvPr/>
        </p:nvSpPr>
        <p:spPr>
          <a:xfrm>
            <a:off x="7452360" y="1371600"/>
            <a:ext cx="4297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K_g = 2πρ_gR³Ṙ²,   E_σ = 4πσR²</a:t>
            </a:r>
          </a:p>
        </p:txBody>
      </p:sp>
      <p:sp>
        <p:nvSpPr>
          <p:cNvPr id="39" name="A-E12 text 37" descr="sci-ppt:o037"/>
          <p:cNvSpPr txBox="1"/>
          <p:nvPr/>
        </p:nvSpPr>
        <p:spPr>
          <a:xfrm>
            <a:off x="7452360" y="1874519"/>
            <a:ext cx="4297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d(K_g + W_g + E_σ)/dt = (p_b − p_∞)V̇ − P_dis</a:t>
            </a:r>
          </a:p>
        </p:txBody>
      </p:sp>
      <p:sp>
        <p:nvSpPr>
          <p:cNvPr id="40" name="A-E12 text 38" descr="sci-ppt:o038"/>
          <p:cNvSpPr txBox="1"/>
          <p:nvPr/>
        </p:nvSpPr>
        <p:spPr>
          <a:xfrm>
            <a:off x="7452360" y="2468880"/>
            <a:ext cx="4297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P_dis = 16πη_g R Ṙ² ≥ 0</a:t>
            </a:r>
          </a:p>
        </p:txBody>
      </p:sp>
      <p:sp>
        <p:nvSpPr>
          <p:cNvPr id="41" name="A-E12 text 39" descr="sci-ppt:o039"/>
          <p:cNvSpPr txBox="1"/>
          <p:nvPr/>
        </p:nvSpPr>
        <p:spPr>
          <a:xfrm>
            <a:off x="7452360" y="3063240"/>
            <a:ext cx="42976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Network work is recoverable; viscous dissipation is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not.</a:t>
            </a:r>
          </a:p>
        </p:txBody>
      </p:sp>
      <p:sp>
        <p:nvSpPr>
          <p:cNvPr id="42" name="A-E12 text 40" descr="sci-ppt:o040"/>
          <p:cNvSpPr txBox="1"/>
          <p:nvPr/>
        </p:nvSpPr>
        <p:spPr>
          <a:xfrm>
            <a:off x="548640" y="507492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Pressure work splits into medium inertia, recoverable network energy, surface energy and a positive viscous loss.</a:t>
            </a:r>
          </a:p>
        </p:txBody>
      </p:sp>
      <p:sp>
        <p:nvSpPr>
          <p:cNvPr id="43" name="A-E12 text 41" descr="sci-ppt:o041"/>
          <p:cNvSpPr txBox="1"/>
          <p:nvPr/>
        </p:nvSpPr>
        <p:spPr>
          <a:xfrm>
            <a:off x="548640" y="5577840"/>
            <a:ext cx="11247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Shares are illustrative; the identity itself is exact within the model.</a:t>
            </a:r>
          </a:p>
        </p:txBody>
      </p:sp>
      <p:sp>
        <p:nvSpPr>
          <p:cNvPr id="44" name="A-E12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Mechanical energy balance of Eq. A-E12 (shares schematic).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A-E13 · Teaching-input substitution</a:t>
            </a:r>
          </a:p>
        </p:txBody>
      </p:sp>
      <p:sp>
        <p:nvSpPr>
          <p:cNvPr id="3" name="A-E13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Teaching inputs: G_g = 20 kPa, R_ref = 5 µm, R = 30 µm (sixfold expansion)</a:t>
            </a:r>
          </a:p>
        </p:txBody>
      </p:sp>
      <p:sp>
        <p:nvSpPr>
          <p:cNvPr id="4" name="A-E13 round_rect 2" descr="sci-ppt:o002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-E13 text 3" descr="sci-ppt:o003"/>
          <p:cNvSpPr txBox="1"/>
          <p:nvPr/>
        </p:nvSpPr>
        <p:spPr>
          <a:xfrm>
            <a:off x="56692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Elastic resistance</a:t>
            </a:r>
          </a:p>
        </p:txBody>
      </p:sp>
      <p:sp>
        <p:nvSpPr>
          <p:cNvPr id="6" name="A-E13 text 4" descr="sci-ppt:o004"/>
          <p:cNvSpPr txBox="1"/>
          <p:nvPr/>
        </p:nvSpPr>
        <p:spPr>
          <a:xfrm>
            <a:off x="594360" y="182880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pₑₗ = (G_g/2)[5 − 4(5/30) − (5/30)⁴]</a:t>
            </a:r>
          </a:p>
        </p:txBody>
      </p:sp>
      <p:sp>
        <p:nvSpPr>
          <p:cNvPr id="7" name="A-E13 text 5" descr="sci-ppt:o005"/>
          <p:cNvSpPr txBox="1"/>
          <p:nvPr/>
        </p:nvSpPr>
        <p:spPr>
          <a:xfrm>
            <a:off x="594360" y="2331720"/>
            <a:ext cx="5212080" cy="29362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FC8F8"/>
                </a:solidFill>
                <a:latin typeface="Arial"/>
              </a:rPr>
              <a:t>pₑₗ = 43325.6173 Pa</a:t>
            </a:r>
          </a:p>
        </p:txBody>
      </p:sp>
      <p:sp>
        <p:nvSpPr>
          <p:cNvPr id="8" name="A-E13 text 6" descr="sci-ppt:o006"/>
          <p:cNvSpPr txBox="1"/>
          <p:nvPr/>
        </p:nvSpPr>
        <p:spPr>
          <a:xfrm>
            <a:off x="594360" y="29260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about 43 kPa: well below 100 kPa</a:t>
            </a:r>
          </a:p>
        </p:txBody>
      </p:sp>
      <p:sp>
        <p:nvSpPr>
          <p:cNvPr id="9" name="A-E13 round_rect 7" descr="sci-ppt:o007"/>
          <p:cNvSpPr/>
          <p:nvPr/>
        </p:nvSpPr>
        <p:spPr>
          <a:xfrm>
            <a:off x="6217920" y="1371600"/>
            <a:ext cx="548640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A-E13 text 8" descr="sci-ppt:o008"/>
          <p:cNvSpPr txBox="1"/>
          <p:nvPr/>
        </p:nvSpPr>
        <p:spPr>
          <a:xfrm>
            <a:off x="632764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Stored work</a:t>
            </a:r>
          </a:p>
        </p:txBody>
      </p:sp>
      <p:sp>
        <p:nvSpPr>
          <p:cNvPr id="11" name="A-E13 text 9" descr="sci-ppt:o009"/>
          <p:cNvSpPr txBox="1"/>
          <p:nvPr/>
        </p:nvSpPr>
        <p:spPr>
          <a:xfrm>
            <a:off x="6355080" y="1828800"/>
            <a:ext cx="5212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W_g = 2πG_g[5R³/3 − 2R_refR² + R_ref⁴/R − 2R_ref³/3]</a:t>
            </a:r>
          </a:p>
        </p:txBody>
      </p:sp>
      <p:sp>
        <p:nvSpPr>
          <p:cNvPr id="12" name="A-E13 text 10" descr="sci-ppt:o010"/>
          <p:cNvSpPr txBox="1"/>
          <p:nvPr/>
        </p:nvSpPr>
        <p:spPr>
          <a:xfrm>
            <a:off x="6355080" y="2331720"/>
            <a:ext cx="521208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W_g = 4.51603944e-09 J = 4.5160 nJ</a:t>
            </a:r>
          </a:p>
        </p:txBody>
      </p:sp>
      <p:sp>
        <p:nvSpPr>
          <p:cNvPr id="13" name="A-E13 text 11" descr="sci-ppt:o011"/>
          <p:cNvSpPr txBox="1"/>
          <p:nvPr/>
        </p:nvSpPr>
        <p:spPr>
          <a:xfrm>
            <a:off x="6355080" y="29260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several nanojoules for a soft network</a:t>
            </a:r>
          </a:p>
        </p:txBody>
      </p:sp>
      <p:sp>
        <p:nvSpPr>
          <p:cNvPr id="14" name="A-E13 round_rect 12" descr="sci-ppt:o012"/>
          <p:cNvSpPr/>
          <p:nvPr/>
        </p:nvSpPr>
        <p:spPr>
          <a:xfrm>
            <a:off x="457200" y="4114800"/>
            <a:ext cx="33832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-E13 text 13" descr="sci-ppt:o013"/>
          <p:cNvSpPr txBox="1"/>
          <p:nvPr/>
        </p:nvSpPr>
        <p:spPr>
          <a:xfrm>
            <a:off x="530352" y="4169663"/>
            <a:ext cx="32369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B4C7D2"/>
                </a:solidFill>
                <a:latin typeface="Arial"/>
              </a:rPr>
              <a:t>R/R_ref</a:t>
            </a:r>
          </a:p>
        </p:txBody>
      </p:sp>
      <p:sp>
        <p:nvSpPr>
          <p:cNvPr id="16" name="A-E13 text 14" descr="sci-ppt:o014"/>
          <p:cNvSpPr txBox="1"/>
          <p:nvPr/>
        </p:nvSpPr>
        <p:spPr>
          <a:xfrm>
            <a:off x="530352" y="4442840"/>
            <a:ext cx="32369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30 / 5 = 6</a:t>
            </a:r>
          </a:p>
        </p:txBody>
      </p:sp>
      <p:cxnSp>
        <p:nvCxnSpPr>
          <p:cNvPr id="17" name="A-E13 arrow 15" descr="sci-ppt:o015"/>
          <p:cNvCxnSpPr/>
          <p:nvPr/>
        </p:nvCxnSpPr>
        <p:spPr>
          <a:xfrm>
            <a:off x="3867912" y="4617720"/>
            <a:ext cx="49377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A-E13 round_rect 16" descr="sci-ppt:o016"/>
          <p:cNvSpPr/>
          <p:nvPr/>
        </p:nvSpPr>
        <p:spPr>
          <a:xfrm>
            <a:off x="4389120" y="4114800"/>
            <a:ext cx="33832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A-E13 text 17" descr="sci-ppt:o017"/>
          <p:cNvSpPr txBox="1"/>
          <p:nvPr/>
        </p:nvSpPr>
        <p:spPr>
          <a:xfrm>
            <a:off x="4462272" y="4169663"/>
            <a:ext cx="32369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pₑₗ</a:t>
            </a:r>
          </a:p>
        </p:txBody>
      </p:sp>
      <p:sp>
        <p:nvSpPr>
          <p:cNvPr id="20" name="A-E13 text 18" descr="sci-ppt:o018"/>
          <p:cNvSpPr txBox="1"/>
          <p:nvPr/>
        </p:nvSpPr>
        <p:spPr>
          <a:xfrm>
            <a:off x="4462272" y="4442840"/>
            <a:ext cx="32369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43.33 kPa</a:t>
            </a:r>
          </a:p>
        </p:txBody>
      </p:sp>
      <p:cxnSp>
        <p:nvCxnSpPr>
          <p:cNvPr id="21" name="A-E13 arrow 19" descr="sci-ppt:o019"/>
          <p:cNvCxnSpPr/>
          <p:nvPr/>
        </p:nvCxnSpPr>
        <p:spPr>
          <a:xfrm>
            <a:off x="7799832" y="4617720"/>
            <a:ext cx="49377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22" name="A-E13 round_rect 20" descr="sci-ppt:o020"/>
          <p:cNvSpPr/>
          <p:nvPr/>
        </p:nvSpPr>
        <p:spPr>
          <a:xfrm>
            <a:off x="8321040" y="4114800"/>
            <a:ext cx="33832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A-E13 text 21" descr="sci-ppt:o021"/>
          <p:cNvSpPr txBox="1"/>
          <p:nvPr/>
        </p:nvSpPr>
        <p:spPr>
          <a:xfrm>
            <a:off x="8394192" y="4169663"/>
            <a:ext cx="32369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W_g</a:t>
            </a:r>
          </a:p>
        </p:txBody>
      </p:sp>
      <p:sp>
        <p:nvSpPr>
          <p:cNvPr id="24" name="A-E13 text 22" descr="sci-ppt:o022"/>
          <p:cNvSpPr txBox="1"/>
          <p:nvPr/>
        </p:nvSpPr>
        <p:spPr>
          <a:xfrm>
            <a:off x="8394192" y="4442840"/>
            <a:ext cx="32369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4.516 nJ</a:t>
            </a:r>
          </a:p>
        </p:txBody>
      </p:sp>
      <p:sp>
        <p:nvSpPr>
          <p:cNvPr id="25" name="A-E13 text 23" descr="sci-ppt:o023"/>
          <p:cNvSpPr txBox="1"/>
          <p:nvPr/>
        </p:nvSpPr>
        <p:spPr>
          <a:xfrm>
            <a:off x="457200" y="548640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pressure alone looks harmless; the work, accumulated over the whole expansion, is a finite share of the budget (next figure).</a:t>
            </a:r>
          </a:p>
        </p:txBody>
      </p:sp>
      <p:sp>
        <p:nvSpPr>
          <p:cNvPr id="26" name="A-E13 text 24" descr="sci-ppt:o02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Teaching-input substitution of Eq. A-E13 (values recomputed from the closed forms).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A-E14 · Finite work-budget comparison</a:t>
            </a:r>
          </a:p>
        </p:txBody>
      </p:sp>
      <p:sp>
        <p:nvSpPr>
          <p:cNvPr id="3" name="A-E14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Work needed to open the cavity against a 100 kPa overpressure</a:t>
            </a:r>
          </a:p>
        </p:txBody>
      </p:sp>
      <p:sp>
        <p:nvSpPr>
          <p:cNvPr id="4" name="A-E14 text 2" descr="sci-ppt:o002"/>
          <p:cNvSpPr txBox="1"/>
          <p:nvPr/>
        </p:nvSpPr>
        <p:spPr>
          <a:xfrm>
            <a:off x="457200" y="1481328"/>
            <a:ext cx="4114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available  W₁₀₀ = Δp_w ΔV</a:t>
            </a:r>
          </a:p>
        </p:txBody>
      </p:sp>
      <p:sp>
        <p:nvSpPr>
          <p:cNvPr id="5" name="A-E14 rect 3" descr="sci-ppt:o003"/>
          <p:cNvSpPr/>
          <p:nvPr/>
        </p:nvSpPr>
        <p:spPr>
          <a:xfrm>
            <a:off x="4663440" y="1463040"/>
            <a:ext cx="5188046" cy="50292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A-E14 text 4" descr="sci-ppt:o004"/>
          <p:cNvSpPr txBox="1"/>
          <p:nvPr/>
        </p:nvSpPr>
        <p:spPr>
          <a:xfrm>
            <a:off x="9924638" y="150876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11.257 nJ</a:t>
            </a:r>
          </a:p>
        </p:txBody>
      </p:sp>
      <p:sp>
        <p:nvSpPr>
          <p:cNvPr id="7" name="A-E14 text 5" descr="sci-ppt:o005"/>
          <p:cNvSpPr txBox="1"/>
          <p:nvPr/>
        </p:nvSpPr>
        <p:spPr>
          <a:xfrm>
            <a:off x="457200" y="2258568"/>
            <a:ext cx="4114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elastic cost  W_g</a:t>
            </a:r>
          </a:p>
        </p:txBody>
      </p:sp>
      <p:sp>
        <p:nvSpPr>
          <p:cNvPr id="8" name="A-E14 rect 6" descr="sci-ppt:o006"/>
          <p:cNvSpPr/>
          <p:nvPr/>
        </p:nvSpPr>
        <p:spPr>
          <a:xfrm>
            <a:off x="4663440" y="2240280"/>
            <a:ext cx="2081251" cy="50292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-E14 text 7" descr="sci-ppt:o007"/>
          <p:cNvSpPr txBox="1"/>
          <p:nvPr/>
        </p:nvSpPr>
        <p:spPr>
          <a:xfrm>
            <a:off x="6817843" y="228600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4.516 nJ</a:t>
            </a:r>
          </a:p>
        </p:txBody>
      </p:sp>
      <p:sp>
        <p:nvSpPr>
          <p:cNvPr id="10" name="A-E14 text 8" descr="sci-ppt:o008"/>
          <p:cNvSpPr txBox="1"/>
          <p:nvPr/>
        </p:nvSpPr>
        <p:spPr>
          <a:xfrm>
            <a:off x="457200" y="3035808"/>
            <a:ext cx="4114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left over  W₁₀₀ − W_g</a:t>
            </a:r>
          </a:p>
        </p:txBody>
      </p:sp>
      <p:sp>
        <p:nvSpPr>
          <p:cNvPr id="11" name="A-E14 rect 9" descr="sci-ppt:o009"/>
          <p:cNvSpPr/>
          <p:nvPr/>
        </p:nvSpPr>
        <p:spPr>
          <a:xfrm>
            <a:off x="4663440" y="3017520"/>
            <a:ext cx="3106795" cy="502920"/>
          </a:xfrm>
          <a:prstGeom prst="rect">
            <a:avLst/>
          </a:prstGeom>
          <a:solidFill>
            <a:srgbClr val="A8E6A1">
              <a:alpha val="85000"/>
            </a:srgbClr>
          </a:solidFill>
          <a:ln w="12700">
            <a:solidFill>
              <a:srgbClr val="A8E6A1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-E14 text 10" descr="sci-ppt:o010"/>
          <p:cNvSpPr txBox="1"/>
          <p:nvPr/>
        </p:nvSpPr>
        <p:spPr>
          <a:xfrm>
            <a:off x="7843387" y="306324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6.741 nJ</a:t>
            </a:r>
          </a:p>
        </p:txBody>
      </p:sp>
      <p:sp>
        <p:nvSpPr>
          <p:cNvPr id="13" name="A-E14 round_rect 11" descr="sci-ppt:o011"/>
          <p:cNvSpPr/>
          <p:nvPr/>
        </p:nvSpPr>
        <p:spPr>
          <a:xfrm>
            <a:off x="457200" y="3931920"/>
            <a:ext cx="5486400" cy="17373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A-E14 text 12" descr="sci-ppt:o012"/>
          <p:cNvSpPr txBox="1"/>
          <p:nvPr/>
        </p:nvSpPr>
        <p:spPr>
          <a:xfrm>
            <a:off x="566928" y="3986783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Volume and budget</a:t>
            </a:r>
          </a:p>
        </p:txBody>
      </p:sp>
      <p:sp>
        <p:nvSpPr>
          <p:cNvPr id="15" name="A-E14 text 13" descr="sci-ppt:o013"/>
          <p:cNvSpPr txBox="1"/>
          <p:nvPr/>
        </p:nvSpPr>
        <p:spPr>
          <a:xfrm>
            <a:off x="594360" y="438912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ΔV = (4π/3)(R³ − R_ref³) = 1.12573737e-13 m³</a:t>
            </a:r>
          </a:p>
        </p:txBody>
      </p:sp>
      <p:sp>
        <p:nvSpPr>
          <p:cNvPr id="16" name="A-E14 text 14" descr="sci-ppt:o014"/>
          <p:cNvSpPr txBox="1"/>
          <p:nvPr/>
        </p:nvSpPr>
        <p:spPr>
          <a:xfrm>
            <a:off x="594360" y="493776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W₁₀₀ = (100 kPa)(ΔV) = 11.2574 nJ</a:t>
            </a:r>
          </a:p>
        </p:txBody>
      </p:sp>
      <p:sp>
        <p:nvSpPr>
          <p:cNvPr id="17" name="A-E14 round_rect 15" descr="sci-ppt:o015"/>
          <p:cNvSpPr/>
          <p:nvPr/>
        </p:nvSpPr>
        <p:spPr>
          <a:xfrm>
            <a:off x="6217920" y="3931920"/>
            <a:ext cx="5486400" cy="17373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A-E14 text 16" descr="sci-ppt:o016"/>
          <p:cNvSpPr txBox="1"/>
          <p:nvPr/>
        </p:nvSpPr>
        <p:spPr>
          <a:xfrm>
            <a:off x="6327648" y="3986783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Fraction</a:t>
            </a:r>
          </a:p>
        </p:txBody>
      </p:sp>
      <p:sp>
        <p:nvSpPr>
          <p:cNvPr id="19" name="A-E14 text 17" descr="sci-ppt:o017"/>
          <p:cNvSpPr txBox="1"/>
          <p:nvPr/>
        </p:nvSpPr>
        <p:spPr>
          <a:xfrm>
            <a:off x="6355080" y="4389120"/>
            <a:ext cx="521208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8BA0"/>
                </a:solidFill>
                <a:latin typeface="Arial"/>
              </a:rPr>
              <a:t>W_g / W₁₀₀ = 0.401163</a:t>
            </a:r>
          </a:p>
        </p:txBody>
      </p:sp>
      <p:sp>
        <p:nvSpPr>
          <p:cNvPr id="20" name="A-E14 text 18" descr="sci-ppt:o018"/>
          <p:cNvSpPr txBox="1"/>
          <p:nvPr/>
        </p:nvSpPr>
        <p:spPr>
          <a:xfrm>
            <a:off x="6355080" y="49834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about 40 % of the work budget is taken by elasticity</a:t>
            </a:r>
          </a:p>
        </p:txBody>
      </p:sp>
      <p:sp>
        <p:nvSpPr>
          <p:cNvPr id="21" name="A-E14 text 19" descr="sci-ppt:o01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Finite work-budget comparison of Eq. A-E14 (Δp_w = 100 kPa).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A-E15 · Signed-pressure and positive-loss check</a:t>
            </a:r>
          </a:p>
        </p:txBody>
      </p:sp>
      <p:cxnSp>
        <p:nvCxnSpPr>
          <p:cNvPr id="3" name="A-E15 line 1" descr="sci-ppt:o001"/>
          <p:cNvCxnSpPr/>
          <p:nvPr/>
        </p:nvCxnSpPr>
        <p:spPr>
          <a:xfrm>
            <a:off x="914400" y="4846320"/>
            <a:ext cx="31089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5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5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5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5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-20</a:t>
            </a:r>
          </a:p>
        </p:txBody>
      </p:sp>
      <p:cxnSp>
        <p:nvCxnSpPr>
          <p:cNvPr id="8" name="A-E15 line 6" descr="sci-ppt:o006"/>
          <p:cNvCxnSpPr/>
          <p:nvPr/>
        </p:nvCxnSpPr>
        <p:spPr>
          <a:xfrm>
            <a:off x="246888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5 line 7" descr="sci-ppt:o007"/>
          <p:cNvCxnSpPr/>
          <p:nvPr/>
        </p:nvCxnSpPr>
        <p:spPr>
          <a:xfrm>
            <a:off x="246888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5 text 8" descr="sci-ppt:o008"/>
          <p:cNvSpPr txBox="1"/>
          <p:nvPr/>
        </p:nvSpPr>
        <p:spPr>
          <a:xfrm>
            <a:off x="201168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1" name="A-E15 line 9" descr="sci-ppt:o009"/>
          <p:cNvCxnSpPr/>
          <p:nvPr/>
        </p:nvCxnSpPr>
        <p:spPr>
          <a:xfrm>
            <a:off x="402336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5 line 10" descr="sci-ppt:o010"/>
          <p:cNvCxnSpPr/>
          <p:nvPr/>
        </p:nvCxnSpPr>
        <p:spPr>
          <a:xfrm>
            <a:off x="402336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5 text 11" descr="sci-ppt:o011"/>
          <p:cNvSpPr txBox="1"/>
          <p:nvPr/>
        </p:nvSpPr>
        <p:spPr>
          <a:xfrm>
            <a:off x="356616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14" name="A-E15 line 12" descr="sci-ppt:o012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5 line 13" descr="sci-ppt:o013"/>
          <p:cNvCxnSpPr/>
          <p:nvPr/>
        </p:nvCxnSpPr>
        <p:spPr>
          <a:xfrm>
            <a:off x="850392" y="39776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15 line 14" descr="sci-ppt:o014"/>
          <p:cNvCxnSpPr/>
          <p:nvPr/>
        </p:nvCxnSpPr>
        <p:spPr>
          <a:xfrm>
            <a:off x="914400" y="3977639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15 text 15" descr="sci-ppt:o015"/>
          <p:cNvSpPr txBox="1"/>
          <p:nvPr/>
        </p:nvSpPr>
        <p:spPr>
          <a:xfrm>
            <a:off x="45720" y="3895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-15</a:t>
            </a:r>
          </a:p>
        </p:txBody>
      </p:sp>
      <p:cxnSp>
        <p:nvCxnSpPr>
          <p:cNvPr id="18" name="A-E15 line 16" descr="sci-ppt:o016"/>
          <p:cNvCxnSpPr/>
          <p:nvPr/>
        </p:nvCxnSpPr>
        <p:spPr>
          <a:xfrm>
            <a:off x="85039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15 line 17" descr="sci-ppt:o017"/>
          <p:cNvCxnSpPr/>
          <p:nvPr/>
        </p:nvCxnSpPr>
        <p:spPr>
          <a:xfrm>
            <a:off x="914400" y="310896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15 text 18" descr="sci-ppt:o018"/>
          <p:cNvSpPr txBox="1"/>
          <p:nvPr/>
        </p:nvSpPr>
        <p:spPr>
          <a:xfrm>
            <a:off x="45720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1" name="A-E15 line 19" descr="sci-ppt:o019"/>
          <p:cNvCxnSpPr/>
          <p:nvPr/>
        </p:nvCxnSpPr>
        <p:spPr>
          <a:xfrm>
            <a:off x="850392" y="2240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15 line 20" descr="sci-ppt:o020"/>
          <p:cNvCxnSpPr/>
          <p:nvPr/>
        </p:nvCxnSpPr>
        <p:spPr>
          <a:xfrm>
            <a:off x="914400" y="224028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15 text 21" descr="sci-ppt:o021"/>
          <p:cNvSpPr txBox="1"/>
          <p:nvPr/>
        </p:nvSpPr>
        <p:spPr>
          <a:xfrm>
            <a:off x="45720" y="2157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24" name="A-E15 line 22" descr="sci-ppt:o022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5 line 23" descr="sci-ppt:o023"/>
          <p:cNvCxnSpPr/>
          <p:nvPr/>
        </p:nvCxnSpPr>
        <p:spPr>
          <a:xfrm>
            <a:off x="914400" y="137160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5 text 24" descr="sci-ppt:o024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sp>
        <p:nvSpPr>
          <p:cNvPr id="27" name="A-E15 text 25" descr="sci-ppt:o025"/>
          <p:cNvSpPr txBox="1"/>
          <p:nvPr/>
        </p:nvSpPr>
        <p:spPr>
          <a:xfrm>
            <a:off x="914400" y="5129783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wall speed Ṙ  (m/s)</a:t>
            </a:r>
          </a:p>
        </p:txBody>
      </p:sp>
      <p:sp>
        <p:nvSpPr>
          <p:cNvPr id="28" name="A-E15 text 26" descr="sci-ppt:o026"/>
          <p:cNvSpPr txBox="1"/>
          <p:nvPr/>
        </p:nvSpPr>
        <p:spPr>
          <a:xfrm>
            <a:off x="365760" y="1024128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RHS viscous term (kPa)</a:t>
            </a:r>
          </a:p>
        </p:txBody>
      </p:sp>
      <p:sp>
        <p:nvSpPr>
          <p:cNvPr id="29" name="A-E15 polygon 27" descr="sci-ppt:o027"/>
          <p:cNvSpPr/>
          <p:nvPr/>
        </p:nvSpPr>
        <p:spPr>
          <a:xfrm>
            <a:off x="914400" y="1564639"/>
            <a:ext cx="3108960" cy="3088641"/>
          </a:xfrm>
          <a:custGeom>
            <a:avLst/>
            <a:gdLst/>
            <a:ahLst/>
            <a:cxnLst/>
            <a:rect l="l" t="t" r="r" b="b"/>
            <a:pathLst>
              <a:path w="3108960" h="3088641">
                <a:moveTo>
                  <a:pt x="0" y="0"/>
                </a:moveTo>
                <a:lnTo>
                  <a:pt x="15622" y="15521"/>
                </a:lnTo>
                <a:lnTo>
                  <a:pt x="31245" y="31042"/>
                </a:lnTo>
                <a:lnTo>
                  <a:pt x="46868" y="46563"/>
                </a:lnTo>
                <a:lnTo>
                  <a:pt x="62491" y="62084"/>
                </a:lnTo>
                <a:lnTo>
                  <a:pt x="78114" y="77605"/>
                </a:lnTo>
                <a:lnTo>
                  <a:pt x="93737" y="93125"/>
                </a:lnTo>
                <a:lnTo>
                  <a:pt x="109360" y="108646"/>
                </a:lnTo>
                <a:lnTo>
                  <a:pt x="124983" y="124167"/>
                </a:lnTo>
                <a:lnTo>
                  <a:pt x="140606" y="139688"/>
                </a:lnTo>
                <a:lnTo>
                  <a:pt x="156229" y="155209"/>
                </a:lnTo>
                <a:lnTo>
                  <a:pt x="171852" y="170729"/>
                </a:lnTo>
                <a:lnTo>
                  <a:pt x="187474" y="186250"/>
                </a:lnTo>
                <a:lnTo>
                  <a:pt x="203097" y="201771"/>
                </a:lnTo>
                <a:lnTo>
                  <a:pt x="218720" y="217292"/>
                </a:lnTo>
                <a:lnTo>
                  <a:pt x="234343" y="232813"/>
                </a:lnTo>
                <a:lnTo>
                  <a:pt x="249966" y="248333"/>
                </a:lnTo>
                <a:lnTo>
                  <a:pt x="265589" y="263854"/>
                </a:lnTo>
                <a:lnTo>
                  <a:pt x="281212" y="279375"/>
                </a:lnTo>
                <a:lnTo>
                  <a:pt x="296835" y="294896"/>
                </a:lnTo>
                <a:lnTo>
                  <a:pt x="312458" y="310417"/>
                </a:lnTo>
                <a:lnTo>
                  <a:pt x="328081" y="325937"/>
                </a:lnTo>
                <a:lnTo>
                  <a:pt x="343704" y="341458"/>
                </a:lnTo>
                <a:lnTo>
                  <a:pt x="359327" y="356979"/>
                </a:lnTo>
                <a:lnTo>
                  <a:pt x="374949" y="372500"/>
                </a:lnTo>
                <a:lnTo>
                  <a:pt x="390572" y="388021"/>
                </a:lnTo>
                <a:lnTo>
                  <a:pt x="406195" y="403541"/>
                </a:lnTo>
                <a:lnTo>
                  <a:pt x="421818" y="419062"/>
                </a:lnTo>
                <a:lnTo>
                  <a:pt x="437441" y="434583"/>
                </a:lnTo>
                <a:lnTo>
                  <a:pt x="453064" y="450104"/>
                </a:lnTo>
                <a:lnTo>
                  <a:pt x="468687" y="465625"/>
                </a:lnTo>
                <a:lnTo>
                  <a:pt x="484310" y="481145"/>
                </a:lnTo>
                <a:lnTo>
                  <a:pt x="499933" y="496666"/>
                </a:lnTo>
                <a:lnTo>
                  <a:pt x="515556" y="512187"/>
                </a:lnTo>
                <a:lnTo>
                  <a:pt x="531179" y="527708"/>
                </a:lnTo>
                <a:lnTo>
                  <a:pt x="546802" y="543229"/>
                </a:lnTo>
                <a:lnTo>
                  <a:pt x="562424" y="558749"/>
                </a:lnTo>
                <a:lnTo>
                  <a:pt x="578047" y="574270"/>
                </a:lnTo>
                <a:lnTo>
                  <a:pt x="593670" y="589791"/>
                </a:lnTo>
                <a:lnTo>
                  <a:pt x="609293" y="605312"/>
                </a:lnTo>
                <a:lnTo>
                  <a:pt x="624916" y="620833"/>
                </a:lnTo>
                <a:lnTo>
                  <a:pt x="640539" y="636353"/>
                </a:lnTo>
                <a:lnTo>
                  <a:pt x="656162" y="651874"/>
                </a:lnTo>
                <a:lnTo>
                  <a:pt x="671785" y="667395"/>
                </a:lnTo>
                <a:lnTo>
                  <a:pt x="687408" y="682916"/>
                </a:lnTo>
                <a:lnTo>
                  <a:pt x="703031" y="698437"/>
                </a:lnTo>
                <a:lnTo>
                  <a:pt x="718654" y="713957"/>
                </a:lnTo>
                <a:lnTo>
                  <a:pt x="734276" y="729478"/>
                </a:lnTo>
                <a:lnTo>
                  <a:pt x="749899" y="744999"/>
                </a:lnTo>
                <a:lnTo>
                  <a:pt x="765522" y="760520"/>
                </a:lnTo>
                <a:lnTo>
                  <a:pt x="781145" y="776041"/>
                </a:lnTo>
                <a:lnTo>
                  <a:pt x="796768" y="791562"/>
                </a:lnTo>
                <a:lnTo>
                  <a:pt x="812391" y="807082"/>
                </a:lnTo>
                <a:lnTo>
                  <a:pt x="828014" y="822603"/>
                </a:lnTo>
                <a:lnTo>
                  <a:pt x="843637" y="838124"/>
                </a:lnTo>
                <a:lnTo>
                  <a:pt x="859260" y="853645"/>
                </a:lnTo>
                <a:lnTo>
                  <a:pt x="874883" y="869166"/>
                </a:lnTo>
                <a:lnTo>
                  <a:pt x="890506" y="884686"/>
                </a:lnTo>
                <a:lnTo>
                  <a:pt x="906129" y="900207"/>
                </a:lnTo>
                <a:lnTo>
                  <a:pt x="921751" y="915728"/>
                </a:lnTo>
                <a:lnTo>
                  <a:pt x="937374" y="931249"/>
                </a:lnTo>
                <a:lnTo>
                  <a:pt x="952997" y="946770"/>
                </a:lnTo>
                <a:lnTo>
                  <a:pt x="968620" y="962290"/>
                </a:lnTo>
                <a:lnTo>
                  <a:pt x="984243" y="977811"/>
                </a:lnTo>
                <a:lnTo>
                  <a:pt x="999866" y="993332"/>
                </a:lnTo>
                <a:lnTo>
                  <a:pt x="1015489" y="1008853"/>
                </a:lnTo>
                <a:lnTo>
                  <a:pt x="1031112" y="1024374"/>
                </a:lnTo>
                <a:lnTo>
                  <a:pt x="1046735" y="1039894"/>
                </a:lnTo>
                <a:lnTo>
                  <a:pt x="1062358" y="1055415"/>
                </a:lnTo>
                <a:lnTo>
                  <a:pt x="1077981" y="1070936"/>
                </a:lnTo>
                <a:lnTo>
                  <a:pt x="1093604" y="1086457"/>
                </a:lnTo>
                <a:lnTo>
                  <a:pt x="1109226" y="1101978"/>
                </a:lnTo>
                <a:lnTo>
                  <a:pt x="1124849" y="1117498"/>
                </a:lnTo>
                <a:lnTo>
                  <a:pt x="1140472" y="1133019"/>
                </a:lnTo>
                <a:lnTo>
                  <a:pt x="1156095" y="1148540"/>
                </a:lnTo>
                <a:lnTo>
                  <a:pt x="1171718" y="1164061"/>
                </a:lnTo>
                <a:lnTo>
                  <a:pt x="1187341" y="1179582"/>
                </a:lnTo>
                <a:lnTo>
                  <a:pt x="1202964" y="1195102"/>
                </a:lnTo>
                <a:lnTo>
                  <a:pt x="1218587" y="1210623"/>
                </a:lnTo>
                <a:lnTo>
                  <a:pt x="1234210" y="1226144"/>
                </a:lnTo>
                <a:lnTo>
                  <a:pt x="1249833" y="1241665"/>
                </a:lnTo>
                <a:lnTo>
                  <a:pt x="1265456" y="1257186"/>
                </a:lnTo>
                <a:lnTo>
                  <a:pt x="1281078" y="1272706"/>
                </a:lnTo>
                <a:lnTo>
                  <a:pt x="1296701" y="1288227"/>
                </a:lnTo>
                <a:lnTo>
                  <a:pt x="1312324" y="1303748"/>
                </a:lnTo>
                <a:lnTo>
                  <a:pt x="1327947" y="1319269"/>
                </a:lnTo>
                <a:lnTo>
                  <a:pt x="1343570" y="1334790"/>
                </a:lnTo>
                <a:lnTo>
                  <a:pt x="1359193" y="1350310"/>
                </a:lnTo>
                <a:lnTo>
                  <a:pt x="1374816" y="1365831"/>
                </a:lnTo>
                <a:lnTo>
                  <a:pt x="1390439" y="1381352"/>
                </a:lnTo>
                <a:lnTo>
                  <a:pt x="1406062" y="1396873"/>
                </a:lnTo>
                <a:lnTo>
                  <a:pt x="1421685" y="1412394"/>
                </a:lnTo>
                <a:lnTo>
                  <a:pt x="1437308" y="1427914"/>
                </a:lnTo>
                <a:lnTo>
                  <a:pt x="1452931" y="1443435"/>
                </a:lnTo>
                <a:lnTo>
                  <a:pt x="1468553" y="1458956"/>
                </a:lnTo>
                <a:lnTo>
                  <a:pt x="1484176" y="1474477"/>
                </a:lnTo>
                <a:lnTo>
                  <a:pt x="1499799" y="1489998"/>
                </a:lnTo>
                <a:lnTo>
                  <a:pt x="1515422" y="1505518"/>
                </a:lnTo>
                <a:lnTo>
                  <a:pt x="1531045" y="1521039"/>
                </a:lnTo>
                <a:lnTo>
                  <a:pt x="1546668" y="1536560"/>
                </a:lnTo>
                <a:lnTo>
                  <a:pt x="1562291" y="1552081"/>
                </a:lnTo>
                <a:lnTo>
                  <a:pt x="1577914" y="1567602"/>
                </a:lnTo>
                <a:lnTo>
                  <a:pt x="1593537" y="1583123"/>
                </a:lnTo>
                <a:lnTo>
                  <a:pt x="1609160" y="1598643"/>
                </a:lnTo>
                <a:lnTo>
                  <a:pt x="1624783" y="1614164"/>
                </a:lnTo>
                <a:lnTo>
                  <a:pt x="1640406" y="1629685"/>
                </a:lnTo>
                <a:lnTo>
                  <a:pt x="1656028" y="1645206"/>
                </a:lnTo>
                <a:lnTo>
                  <a:pt x="1671651" y="1660727"/>
                </a:lnTo>
                <a:lnTo>
                  <a:pt x="1687274" y="1676247"/>
                </a:lnTo>
                <a:lnTo>
                  <a:pt x="1702897" y="1691768"/>
                </a:lnTo>
                <a:lnTo>
                  <a:pt x="1718520" y="1707289"/>
                </a:lnTo>
                <a:lnTo>
                  <a:pt x="1734143" y="1722810"/>
                </a:lnTo>
                <a:lnTo>
                  <a:pt x="1749766" y="1738331"/>
                </a:lnTo>
                <a:lnTo>
                  <a:pt x="1765389" y="1753851"/>
                </a:lnTo>
                <a:lnTo>
                  <a:pt x="1781012" y="1769372"/>
                </a:lnTo>
                <a:lnTo>
                  <a:pt x="1796635" y="1784893"/>
                </a:lnTo>
                <a:lnTo>
                  <a:pt x="1812258" y="1800414"/>
                </a:lnTo>
                <a:lnTo>
                  <a:pt x="1827881" y="1815935"/>
                </a:lnTo>
                <a:lnTo>
                  <a:pt x="1843503" y="1831455"/>
                </a:lnTo>
                <a:lnTo>
                  <a:pt x="1859126" y="1846976"/>
                </a:lnTo>
                <a:lnTo>
                  <a:pt x="1874749" y="1862497"/>
                </a:lnTo>
                <a:lnTo>
                  <a:pt x="1890372" y="1878018"/>
                </a:lnTo>
                <a:lnTo>
                  <a:pt x="1905995" y="1893539"/>
                </a:lnTo>
                <a:lnTo>
                  <a:pt x="1921618" y="1909059"/>
                </a:lnTo>
                <a:lnTo>
                  <a:pt x="1937241" y="1924580"/>
                </a:lnTo>
                <a:lnTo>
                  <a:pt x="1952864" y="1940101"/>
                </a:lnTo>
                <a:lnTo>
                  <a:pt x="1968487" y="1955622"/>
                </a:lnTo>
                <a:lnTo>
                  <a:pt x="1984110" y="1971143"/>
                </a:lnTo>
                <a:lnTo>
                  <a:pt x="1999733" y="1986663"/>
                </a:lnTo>
                <a:lnTo>
                  <a:pt x="2015355" y="2002184"/>
                </a:lnTo>
                <a:lnTo>
                  <a:pt x="2030978" y="2017705"/>
                </a:lnTo>
                <a:lnTo>
                  <a:pt x="2046601" y="2033226"/>
                </a:lnTo>
                <a:lnTo>
                  <a:pt x="2062224" y="2048747"/>
                </a:lnTo>
                <a:lnTo>
                  <a:pt x="2077847" y="2064267"/>
                </a:lnTo>
                <a:lnTo>
                  <a:pt x="2093470" y="2079788"/>
                </a:lnTo>
                <a:lnTo>
                  <a:pt x="2109093" y="2095309"/>
                </a:lnTo>
                <a:lnTo>
                  <a:pt x="2124716" y="2110830"/>
                </a:lnTo>
                <a:lnTo>
                  <a:pt x="2140339" y="2126351"/>
                </a:lnTo>
                <a:lnTo>
                  <a:pt x="2155962" y="2141871"/>
                </a:lnTo>
                <a:lnTo>
                  <a:pt x="2171585" y="2157392"/>
                </a:lnTo>
                <a:lnTo>
                  <a:pt x="2187208" y="2172913"/>
                </a:lnTo>
                <a:lnTo>
                  <a:pt x="2202830" y="2188434"/>
                </a:lnTo>
                <a:lnTo>
                  <a:pt x="2218453" y="2203955"/>
                </a:lnTo>
                <a:lnTo>
                  <a:pt x="2234076" y="2219475"/>
                </a:lnTo>
                <a:lnTo>
                  <a:pt x="2249699" y="2234996"/>
                </a:lnTo>
                <a:lnTo>
                  <a:pt x="2265322" y="2250517"/>
                </a:lnTo>
                <a:lnTo>
                  <a:pt x="2280945" y="2266038"/>
                </a:lnTo>
                <a:lnTo>
                  <a:pt x="2296568" y="2281559"/>
                </a:lnTo>
                <a:lnTo>
                  <a:pt x="2312191" y="2297079"/>
                </a:lnTo>
                <a:lnTo>
                  <a:pt x="2327814" y="2312600"/>
                </a:lnTo>
                <a:lnTo>
                  <a:pt x="2343437" y="2328121"/>
                </a:lnTo>
                <a:lnTo>
                  <a:pt x="2359060" y="2343642"/>
                </a:lnTo>
                <a:lnTo>
                  <a:pt x="2374683" y="2359163"/>
                </a:lnTo>
                <a:lnTo>
                  <a:pt x="2390305" y="2374684"/>
                </a:lnTo>
                <a:lnTo>
                  <a:pt x="2405928" y="2390204"/>
                </a:lnTo>
                <a:lnTo>
                  <a:pt x="2421551" y="2405725"/>
                </a:lnTo>
                <a:lnTo>
                  <a:pt x="2437174" y="2421246"/>
                </a:lnTo>
                <a:lnTo>
                  <a:pt x="2452797" y="2436767"/>
                </a:lnTo>
                <a:lnTo>
                  <a:pt x="2468420" y="2452288"/>
                </a:lnTo>
                <a:lnTo>
                  <a:pt x="2484043" y="2467808"/>
                </a:lnTo>
                <a:lnTo>
                  <a:pt x="2499666" y="2483329"/>
                </a:lnTo>
                <a:lnTo>
                  <a:pt x="2515289" y="2498850"/>
                </a:lnTo>
                <a:lnTo>
                  <a:pt x="2530912" y="2514371"/>
                </a:lnTo>
                <a:lnTo>
                  <a:pt x="2546535" y="2529892"/>
                </a:lnTo>
                <a:lnTo>
                  <a:pt x="2562157" y="2545412"/>
                </a:lnTo>
                <a:lnTo>
                  <a:pt x="2577780" y="2560933"/>
                </a:lnTo>
                <a:lnTo>
                  <a:pt x="2593403" y="2576454"/>
                </a:lnTo>
                <a:lnTo>
                  <a:pt x="2609026" y="2591975"/>
                </a:lnTo>
                <a:lnTo>
                  <a:pt x="2624649" y="2607496"/>
                </a:lnTo>
                <a:lnTo>
                  <a:pt x="2640272" y="2623016"/>
                </a:lnTo>
                <a:lnTo>
                  <a:pt x="2655895" y="2638537"/>
                </a:lnTo>
                <a:lnTo>
                  <a:pt x="2671518" y="2654058"/>
                </a:lnTo>
                <a:lnTo>
                  <a:pt x="2687141" y="2669579"/>
                </a:lnTo>
                <a:lnTo>
                  <a:pt x="2702764" y="2685100"/>
                </a:lnTo>
                <a:lnTo>
                  <a:pt x="2718387" y="2700620"/>
                </a:lnTo>
                <a:lnTo>
                  <a:pt x="2734010" y="2716141"/>
                </a:lnTo>
                <a:lnTo>
                  <a:pt x="2749632" y="2731662"/>
                </a:lnTo>
                <a:lnTo>
                  <a:pt x="2765255" y="2747183"/>
                </a:lnTo>
                <a:lnTo>
                  <a:pt x="2780878" y="2762704"/>
                </a:lnTo>
                <a:lnTo>
                  <a:pt x="2796501" y="2778224"/>
                </a:lnTo>
                <a:lnTo>
                  <a:pt x="2812124" y="2793745"/>
                </a:lnTo>
                <a:lnTo>
                  <a:pt x="2827747" y="2809266"/>
                </a:lnTo>
                <a:lnTo>
                  <a:pt x="2843370" y="2824787"/>
                </a:lnTo>
                <a:lnTo>
                  <a:pt x="2858993" y="2840308"/>
                </a:lnTo>
                <a:lnTo>
                  <a:pt x="2874616" y="2855828"/>
                </a:lnTo>
                <a:lnTo>
                  <a:pt x="2890239" y="2871349"/>
                </a:lnTo>
                <a:lnTo>
                  <a:pt x="2905862" y="2886870"/>
                </a:lnTo>
                <a:lnTo>
                  <a:pt x="2921485" y="2902391"/>
                </a:lnTo>
                <a:lnTo>
                  <a:pt x="2937107" y="2917912"/>
                </a:lnTo>
                <a:lnTo>
                  <a:pt x="2952730" y="2933432"/>
                </a:lnTo>
                <a:lnTo>
                  <a:pt x="2968353" y="2948953"/>
                </a:lnTo>
                <a:lnTo>
                  <a:pt x="2983976" y="2964474"/>
                </a:lnTo>
                <a:lnTo>
                  <a:pt x="2999599" y="2979995"/>
                </a:lnTo>
                <a:lnTo>
                  <a:pt x="3015222" y="2995516"/>
                </a:lnTo>
                <a:lnTo>
                  <a:pt x="3030845" y="3011036"/>
                </a:lnTo>
                <a:lnTo>
                  <a:pt x="3046468" y="3026557"/>
                </a:lnTo>
                <a:lnTo>
                  <a:pt x="3062091" y="3042078"/>
                </a:lnTo>
                <a:lnTo>
                  <a:pt x="3077714" y="3057599"/>
                </a:lnTo>
                <a:lnTo>
                  <a:pt x="3093337" y="3073120"/>
                </a:lnTo>
                <a:lnTo>
                  <a:pt x="3108960" y="3088641"/>
                </a:lnTo>
              </a:path>
            </a:pathLst>
          </a:custGeom>
          <a:noFill/>
          <a:ln w="381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-E15 ellipse 28" descr="sci-ppt:o028"/>
          <p:cNvSpPr/>
          <p:nvPr/>
        </p:nvSpPr>
        <p:spPr>
          <a:xfrm>
            <a:off x="1618488" y="2263647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-E15 text 29" descr="sci-ppt:o029"/>
          <p:cNvSpPr txBox="1"/>
          <p:nvPr/>
        </p:nvSpPr>
        <p:spPr>
          <a:xfrm>
            <a:off x="1828800" y="2247290"/>
            <a:ext cx="21945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+13.33 kPa at Ṙ = −10 m/s</a:t>
            </a:r>
          </a:p>
        </p:txBody>
      </p:sp>
      <p:cxnSp>
        <p:nvCxnSpPr>
          <p:cNvPr id="32" name="A-E15 line 30" descr="sci-ppt:o030"/>
          <p:cNvCxnSpPr/>
          <p:nvPr/>
        </p:nvCxnSpPr>
        <p:spPr>
          <a:xfrm>
            <a:off x="5303520" y="4846320"/>
            <a:ext cx="31089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3" name="A-E15 line 31" descr="sci-ppt:o031"/>
          <p:cNvCxnSpPr/>
          <p:nvPr/>
        </p:nvCxnSpPr>
        <p:spPr>
          <a:xfrm>
            <a:off x="530352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4" name="A-E15 line 32" descr="sci-ppt:o032"/>
          <p:cNvCxnSpPr/>
          <p:nvPr/>
        </p:nvCxnSpPr>
        <p:spPr>
          <a:xfrm>
            <a:off x="53035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A-E15 line 33" descr="sci-ppt:o033"/>
          <p:cNvCxnSpPr/>
          <p:nvPr/>
        </p:nvCxnSpPr>
        <p:spPr>
          <a:xfrm>
            <a:off x="53035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A-E15 text 34" descr="sci-ppt:o034"/>
          <p:cNvSpPr txBox="1"/>
          <p:nvPr/>
        </p:nvSpPr>
        <p:spPr>
          <a:xfrm>
            <a:off x="48463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-20</a:t>
            </a:r>
          </a:p>
        </p:txBody>
      </p:sp>
      <p:cxnSp>
        <p:nvCxnSpPr>
          <p:cNvPr id="37" name="A-E15 line 35" descr="sci-ppt:o035"/>
          <p:cNvCxnSpPr/>
          <p:nvPr/>
        </p:nvCxnSpPr>
        <p:spPr>
          <a:xfrm>
            <a:off x="68580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A-E15 line 36" descr="sci-ppt:o036"/>
          <p:cNvCxnSpPr/>
          <p:nvPr/>
        </p:nvCxnSpPr>
        <p:spPr>
          <a:xfrm>
            <a:off x="68580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A-E15 text 37" descr="sci-ppt:o037"/>
          <p:cNvSpPr txBox="1"/>
          <p:nvPr/>
        </p:nvSpPr>
        <p:spPr>
          <a:xfrm>
            <a:off x="64008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40" name="A-E15 line 38" descr="sci-ppt:o038"/>
          <p:cNvCxnSpPr/>
          <p:nvPr/>
        </p:nvCxnSpPr>
        <p:spPr>
          <a:xfrm>
            <a:off x="841248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A-E15 line 39" descr="sci-ppt:o039"/>
          <p:cNvCxnSpPr/>
          <p:nvPr/>
        </p:nvCxnSpPr>
        <p:spPr>
          <a:xfrm>
            <a:off x="841248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A-E15 text 40" descr="sci-ppt:o040"/>
          <p:cNvSpPr txBox="1"/>
          <p:nvPr/>
        </p:nvSpPr>
        <p:spPr>
          <a:xfrm>
            <a:off x="7955279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43" name="A-E15 line 41" descr="sci-ppt:o041"/>
          <p:cNvCxnSpPr/>
          <p:nvPr/>
        </p:nvCxnSpPr>
        <p:spPr>
          <a:xfrm>
            <a:off x="523951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A-E15 line 42" descr="sci-ppt:o042"/>
          <p:cNvCxnSpPr/>
          <p:nvPr/>
        </p:nvCxnSpPr>
        <p:spPr>
          <a:xfrm>
            <a:off x="5239512" y="3688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A-E15 line 43" descr="sci-ppt:o043"/>
          <p:cNvCxnSpPr/>
          <p:nvPr/>
        </p:nvCxnSpPr>
        <p:spPr>
          <a:xfrm>
            <a:off x="5303520" y="368808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A-E15 text 44" descr="sci-ppt:o044"/>
          <p:cNvSpPr txBox="1"/>
          <p:nvPr/>
        </p:nvSpPr>
        <p:spPr>
          <a:xfrm>
            <a:off x="4434840" y="3605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7" name="A-E15 line 45" descr="sci-ppt:o045"/>
          <p:cNvCxnSpPr/>
          <p:nvPr/>
        </p:nvCxnSpPr>
        <p:spPr>
          <a:xfrm>
            <a:off x="5239512" y="25298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A-E15 line 46" descr="sci-ppt:o046"/>
          <p:cNvCxnSpPr/>
          <p:nvPr/>
        </p:nvCxnSpPr>
        <p:spPr>
          <a:xfrm>
            <a:off x="5303520" y="252984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9" name="A-E15 text 47" descr="sci-ppt:o047"/>
          <p:cNvSpPr txBox="1"/>
          <p:nvPr/>
        </p:nvSpPr>
        <p:spPr>
          <a:xfrm>
            <a:off x="4434840" y="24475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50" name="A-E15 line 48" descr="sci-ppt:o048"/>
          <p:cNvCxnSpPr/>
          <p:nvPr/>
        </p:nvCxnSpPr>
        <p:spPr>
          <a:xfrm>
            <a:off x="523951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1" name="A-E15 line 49" descr="sci-ppt:o049"/>
          <p:cNvCxnSpPr/>
          <p:nvPr/>
        </p:nvCxnSpPr>
        <p:spPr>
          <a:xfrm>
            <a:off x="5303520" y="137160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2" name="A-E15 text 50" descr="sci-ppt:o050"/>
          <p:cNvSpPr txBox="1"/>
          <p:nvPr/>
        </p:nvSpPr>
        <p:spPr>
          <a:xfrm>
            <a:off x="443484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53" name="A-E15 text 51" descr="sci-ppt:o051"/>
          <p:cNvSpPr txBox="1"/>
          <p:nvPr/>
        </p:nvSpPr>
        <p:spPr>
          <a:xfrm>
            <a:off x="5303520" y="5129783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wall speed Ṙ  (m/s)</a:t>
            </a:r>
          </a:p>
        </p:txBody>
      </p:sp>
      <p:sp>
        <p:nvSpPr>
          <p:cNvPr id="54" name="A-E15 text 52" descr="sci-ppt:o052"/>
          <p:cNvSpPr txBox="1"/>
          <p:nvPr/>
        </p:nvSpPr>
        <p:spPr>
          <a:xfrm>
            <a:off x="4754880" y="1024128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P_dis  (mW)</a:t>
            </a:r>
          </a:p>
        </p:txBody>
      </p:sp>
      <p:sp>
        <p:nvSpPr>
          <p:cNvPr id="55" name="A-E15 polygon 53" descr="sci-ppt:o053"/>
          <p:cNvSpPr/>
          <p:nvPr/>
        </p:nvSpPr>
        <p:spPr>
          <a:xfrm>
            <a:off x="5319142" y="1423012"/>
            <a:ext cx="3077715" cy="3423219"/>
          </a:xfrm>
          <a:custGeom>
            <a:avLst/>
            <a:gdLst/>
            <a:ahLst/>
            <a:cxnLst/>
            <a:rect l="l" t="t" r="r" b="b"/>
            <a:pathLst>
              <a:path w="3077715" h="3423219">
                <a:moveTo>
                  <a:pt x="0" y="0"/>
                </a:moveTo>
                <a:lnTo>
                  <a:pt x="15623" y="69156"/>
                </a:lnTo>
                <a:lnTo>
                  <a:pt x="31246" y="137606"/>
                </a:lnTo>
                <a:lnTo>
                  <a:pt x="46869" y="205350"/>
                </a:lnTo>
                <a:lnTo>
                  <a:pt x="62492" y="272389"/>
                </a:lnTo>
                <a:lnTo>
                  <a:pt x="78115" y="338723"/>
                </a:lnTo>
                <a:lnTo>
                  <a:pt x="93738" y="404350"/>
                </a:lnTo>
                <a:lnTo>
                  <a:pt x="109361" y="469272"/>
                </a:lnTo>
                <a:lnTo>
                  <a:pt x="124984" y="533488"/>
                </a:lnTo>
                <a:lnTo>
                  <a:pt x="140607" y="596999"/>
                </a:lnTo>
                <a:lnTo>
                  <a:pt x="156230" y="659804"/>
                </a:lnTo>
                <a:lnTo>
                  <a:pt x="171852" y="721903"/>
                </a:lnTo>
                <a:lnTo>
                  <a:pt x="187475" y="783297"/>
                </a:lnTo>
                <a:lnTo>
                  <a:pt x="203098" y="843984"/>
                </a:lnTo>
                <a:lnTo>
                  <a:pt x="218721" y="903967"/>
                </a:lnTo>
                <a:lnTo>
                  <a:pt x="234344" y="963243"/>
                </a:lnTo>
                <a:lnTo>
                  <a:pt x="249967" y="1021814"/>
                </a:lnTo>
                <a:lnTo>
                  <a:pt x="265590" y="1079679"/>
                </a:lnTo>
                <a:lnTo>
                  <a:pt x="281213" y="1136839"/>
                </a:lnTo>
                <a:lnTo>
                  <a:pt x="296836" y="1193293"/>
                </a:lnTo>
                <a:lnTo>
                  <a:pt x="312459" y="1249041"/>
                </a:lnTo>
                <a:lnTo>
                  <a:pt x="328082" y="1304083"/>
                </a:lnTo>
                <a:lnTo>
                  <a:pt x="343705" y="1358420"/>
                </a:lnTo>
                <a:lnTo>
                  <a:pt x="359327" y="1412051"/>
                </a:lnTo>
                <a:lnTo>
                  <a:pt x="374950" y="1464977"/>
                </a:lnTo>
                <a:lnTo>
                  <a:pt x="390573" y="1517197"/>
                </a:lnTo>
                <a:lnTo>
                  <a:pt x="406196" y="1568711"/>
                </a:lnTo>
                <a:lnTo>
                  <a:pt x="421819" y="1619519"/>
                </a:lnTo>
                <a:lnTo>
                  <a:pt x="437442" y="1669622"/>
                </a:lnTo>
                <a:lnTo>
                  <a:pt x="453065" y="1719019"/>
                </a:lnTo>
                <a:lnTo>
                  <a:pt x="468688" y="1767710"/>
                </a:lnTo>
                <a:lnTo>
                  <a:pt x="484311" y="1815696"/>
                </a:lnTo>
                <a:lnTo>
                  <a:pt x="499934" y="1862976"/>
                </a:lnTo>
                <a:lnTo>
                  <a:pt x="515557" y="1909551"/>
                </a:lnTo>
                <a:lnTo>
                  <a:pt x="531180" y="1955419"/>
                </a:lnTo>
                <a:lnTo>
                  <a:pt x="546802" y="2000583"/>
                </a:lnTo>
                <a:lnTo>
                  <a:pt x="562425" y="2045040"/>
                </a:lnTo>
                <a:lnTo>
                  <a:pt x="578048" y="2088792"/>
                </a:lnTo>
                <a:lnTo>
                  <a:pt x="593671" y="2131838"/>
                </a:lnTo>
                <a:lnTo>
                  <a:pt x="609294" y="2174178"/>
                </a:lnTo>
                <a:lnTo>
                  <a:pt x="624917" y="2215813"/>
                </a:lnTo>
                <a:lnTo>
                  <a:pt x="640540" y="2256742"/>
                </a:lnTo>
                <a:lnTo>
                  <a:pt x="656163" y="2296965"/>
                </a:lnTo>
                <a:lnTo>
                  <a:pt x="671786" y="2336483"/>
                </a:lnTo>
                <a:lnTo>
                  <a:pt x="687409" y="2375295"/>
                </a:lnTo>
                <a:lnTo>
                  <a:pt x="703032" y="2413401"/>
                </a:lnTo>
                <a:lnTo>
                  <a:pt x="718654" y="2450802"/>
                </a:lnTo>
                <a:lnTo>
                  <a:pt x="734277" y="2487497"/>
                </a:lnTo>
                <a:lnTo>
                  <a:pt x="749900" y="2523486"/>
                </a:lnTo>
                <a:lnTo>
                  <a:pt x="765523" y="2558770"/>
                </a:lnTo>
                <a:lnTo>
                  <a:pt x="781146" y="2593348"/>
                </a:lnTo>
                <a:lnTo>
                  <a:pt x="796769" y="2627220"/>
                </a:lnTo>
                <a:lnTo>
                  <a:pt x="812392" y="2660387"/>
                </a:lnTo>
                <a:lnTo>
                  <a:pt x="828015" y="2692848"/>
                </a:lnTo>
                <a:lnTo>
                  <a:pt x="843638" y="2724603"/>
                </a:lnTo>
                <a:lnTo>
                  <a:pt x="859261" y="2755653"/>
                </a:lnTo>
                <a:lnTo>
                  <a:pt x="874884" y="2785997"/>
                </a:lnTo>
                <a:lnTo>
                  <a:pt x="890507" y="2815635"/>
                </a:lnTo>
                <a:lnTo>
                  <a:pt x="906129" y="2844567"/>
                </a:lnTo>
                <a:lnTo>
                  <a:pt x="921752" y="2872794"/>
                </a:lnTo>
                <a:lnTo>
                  <a:pt x="937375" y="2900316"/>
                </a:lnTo>
                <a:lnTo>
                  <a:pt x="952998" y="2927131"/>
                </a:lnTo>
                <a:lnTo>
                  <a:pt x="968621" y="2953241"/>
                </a:lnTo>
                <a:lnTo>
                  <a:pt x="984244" y="2978645"/>
                </a:lnTo>
                <a:lnTo>
                  <a:pt x="999867" y="3003344"/>
                </a:lnTo>
                <a:lnTo>
                  <a:pt x="1015490" y="3027337"/>
                </a:lnTo>
                <a:lnTo>
                  <a:pt x="1031113" y="3050624"/>
                </a:lnTo>
                <a:lnTo>
                  <a:pt x="1046736" y="3073205"/>
                </a:lnTo>
                <a:lnTo>
                  <a:pt x="1062359" y="3095081"/>
                </a:lnTo>
                <a:lnTo>
                  <a:pt x="1077982" y="3116252"/>
                </a:lnTo>
                <a:lnTo>
                  <a:pt x="1093604" y="3136716"/>
                </a:lnTo>
                <a:lnTo>
                  <a:pt x="1109227" y="3156475"/>
                </a:lnTo>
                <a:lnTo>
                  <a:pt x="1124850" y="3175528"/>
                </a:lnTo>
                <a:lnTo>
                  <a:pt x="1140473" y="3193876"/>
                </a:lnTo>
                <a:lnTo>
                  <a:pt x="1156096" y="3211517"/>
                </a:lnTo>
                <a:lnTo>
                  <a:pt x="1171719" y="3228454"/>
                </a:lnTo>
                <a:lnTo>
                  <a:pt x="1187342" y="3244684"/>
                </a:lnTo>
                <a:lnTo>
                  <a:pt x="1202965" y="3260209"/>
                </a:lnTo>
                <a:lnTo>
                  <a:pt x="1218588" y="3275028"/>
                </a:lnTo>
                <a:lnTo>
                  <a:pt x="1234211" y="3289141"/>
                </a:lnTo>
                <a:lnTo>
                  <a:pt x="1249834" y="3302549"/>
                </a:lnTo>
                <a:lnTo>
                  <a:pt x="1265456" y="3315251"/>
                </a:lnTo>
                <a:lnTo>
                  <a:pt x="1281079" y="3327248"/>
                </a:lnTo>
                <a:lnTo>
                  <a:pt x="1296702" y="3338539"/>
                </a:lnTo>
                <a:lnTo>
                  <a:pt x="1312325" y="3349124"/>
                </a:lnTo>
                <a:lnTo>
                  <a:pt x="1327948" y="3359003"/>
                </a:lnTo>
                <a:lnTo>
                  <a:pt x="1343571" y="3368177"/>
                </a:lnTo>
                <a:lnTo>
                  <a:pt x="1359194" y="3376645"/>
                </a:lnTo>
                <a:lnTo>
                  <a:pt x="1374817" y="3384407"/>
                </a:lnTo>
                <a:lnTo>
                  <a:pt x="1390440" y="3391464"/>
                </a:lnTo>
                <a:lnTo>
                  <a:pt x="1406063" y="3397815"/>
                </a:lnTo>
                <a:lnTo>
                  <a:pt x="1421686" y="3403460"/>
                </a:lnTo>
                <a:lnTo>
                  <a:pt x="1437309" y="3408400"/>
                </a:lnTo>
                <a:lnTo>
                  <a:pt x="1452931" y="3412634"/>
                </a:lnTo>
                <a:lnTo>
                  <a:pt x="1468554" y="3416163"/>
                </a:lnTo>
                <a:lnTo>
                  <a:pt x="1484177" y="3418985"/>
                </a:lnTo>
                <a:lnTo>
                  <a:pt x="1499800" y="3421102"/>
                </a:lnTo>
                <a:lnTo>
                  <a:pt x="1515423" y="3422514"/>
                </a:lnTo>
                <a:lnTo>
                  <a:pt x="1531046" y="3423219"/>
                </a:lnTo>
                <a:lnTo>
                  <a:pt x="1546669" y="3423219"/>
                </a:lnTo>
                <a:lnTo>
                  <a:pt x="1562292" y="3422514"/>
                </a:lnTo>
                <a:lnTo>
                  <a:pt x="1577915" y="3421102"/>
                </a:lnTo>
                <a:lnTo>
                  <a:pt x="1593538" y="3418985"/>
                </a:lnTo>
                <a:lnTo>
                  <a:pt x="1609161" y="3416163"/>
                </a:lnTo>
                <a:lnTo>
                  <a:pt x="1624784" y="3412634"/>
                </a:lnTo>
                <a:lnTo>
                  <a:pt x="1640406" y="3408400"/>
                </a:lnTo>
                <a:lnTo>
                  <a:pt x="1656029" y="3403460"/>
                </a:lnTo>
                <a:lnTo>
                  <a:pt x="1671652" y="3397815"/>
                </a:lnTo>
                <a:lnTo>
                  <a:pt x="1687275" y="3391464"/>
                </a:lnTo>
                <a:lnTo>
                  <a:pt x="1702898" y="3384407"/>
                </a:lnTo>
                <a:lnTo>
                  <a:pt x="1718521" y="3376645"/>
                </a:lnTo>
                <a:lnTo>
                  <a:pt x="1734144" y="3368177"/>
                </a:lnTo>
                <a:lnTo>
                  <a:pt x="1749767" y="3359003"/>
                </a:lnTo>
                <a:lnTo>
                  <a:pt x="1765390" y="3349124"/>
                </a:lnTo>
                <a:lnTo>
                  <a:pt x="1781013" y="3338539"/>
                </a:lnTo>
                <a:lnTo>
                  <a:pt x="1796636" y="3327248"/>
                </a:lnTo>
                <a:lnTo>
                  <a:pt x="1812259" y="3315251"/>
                </a:lnTo>
                <a:lnTo>
                  <a:pt x="1827881" y="3302549"/>
                </a:lnTo>
                <a:lnTo>
                  <a:pt x="1843504" y="3289141"/>
                </a:lnTo>
                <a:lnTo>
                  <a:pt x="1859127" y="3275028"/>
                </a:lnTo>
                <a:lnTo>
                  <a:pt x="1874750" y="3260209"/>
                </a:lnTo>
                <a:lnTo>
                  <a:pt x="1890373" y="3244684"/>
                </a:lnTo>
                <a:lnTo>
                  <a:pt x="1905996" y="3228454"/>
                </a:lnTo>
                <a:lnTo>
                  <a:pt x="1921619" y="3211517"/>
                </a:lnTo>
                <a:lnTo>
                  <a:pt x="1937242" y="3193876"/>
                </a:lnTo>
                <a:lnTo>
                  <a:pt x="1952865" y="3175528"/>
                </a:lnTo>
                <a:lnTo>
                  <a:pt x="1968488" y="3156475"/>
                </a:lnTo>
                <a:lnTo>
                  <a:pt x="1984111" y="3136716"/>
                </a:lnTo>
                <a:lnTo>
                  <a:pt x="1999733" y="3116252"/>
                </a:lnTo>
                <a:lnTo>
                  <a:pt x="2015356" y="3095081"/>
                </a:lnTo>
                <a:lnTo>
                  <a:pt x="2030979" y="3073205"/>
                </a:lnTo>
                <a:lnTo>
                  <a:pt x="2046602" y="3050624"/>
                </a:lnTo>
                <a:lnTo>
                  <a:pt x="2062225" y="3027337"/>
                </a:lnTo>
                <a:lnTo>
                  <a:pt x="2077848" y="3003344"/>
                </a:lnTo>
                <a:lnTo>
                  <a:pt x="2093471" y="2978645"/>
                </a:lnTo>
                <a:lnTo>
                  <a:pt x="2109094" y="2953241"/>
                </a:lnTo>
                <a:lnTo>
                  <a:pt x="2124717" y="2927131"/>
                </a:lnTo>
                <a:lnTo>
                  <a:pt x="2140340" y="2900316"/>
                </a:lnTo>
                <a:lnTo>
                  <a:pt x="2155963" y="2872794"/>
                </a:lnTo>
                <a:lnTo>
                  <a:pt x="2171586" y="2844567"/>
                </a:lnTo>
                <a:lnTo>
                  <a:pt x="2187208" y="2815635"/>
                </a:lnTo>
                <a:lnTo>
                  <a:pt x="2202831" y="2785997"/>
                </a:lnTo>
                <a:lnTo>
                  <a:pt x="2218454" y="2755653"/>
                </a:lnTo>
                <a:lnTo>
                  <a:pt x="2234077" y="2724603"/>
                </a:lnTo>
                <a:lnTo>
                  <a:pt x="2249700" y="2692848"/>
                </a:lnTo>
                <a:lnTo>
                  <a:pt x="2265323" y="2660387"/>
                </a:lnTo>
                <a:lnTo>
                  <a:pt x="2280946" y="2627220"/>
                </a:lnTo>
                <a:lnTo>
                  <a:pt x="2296569" y="2593348"/>
                </a:lnTo>
                <a:lnTo>
                  <a:pt x="2312192" y="2558770"/>
                </a:lnTo>
                <a:lnTo>
                  <a:pt x="2327815" y="2523486"/>
                </a:lnTo>
                <a:lnTo>
                  <a:pt x="2343438" y="2487497"/>
                </a:lnTo>
                <a:lnTo>
                  <a:pt x="2359061" y="2450802"/>
                </a:lnTo>
                <a:lnTo>
                  <a:pt x="2374683" y="2413401"/>
                </a:lnTo>
                <a:lnTo>
                  <a:pt x="2390306" y="2375295"/>
                </a:lnTo>
                <a:lnTo>
                  <a:pt x="2405929" y="2336483"/>
                </a:lnTo>
                <a:lnTo>
                  <a:pt x="2421552" y="2296965"/>
                </a:lnTo>
                <a:lnTo>
                  <a:pt x="2437175" y="2256742"/>
                </a:lnTo>
                <a:lnTo>
                  <a:pt x="2452798" y="2215813"/>
                </a:lnTo>
                <a:lnTo>
                  <a:pt x="2468421" y="2174178"/>
                </a:lnTo>
                <a:lnTo>
                  <a:pt x="2484044" y="2131838"/>
                </a:lnTo>
                <a:lnTo>
                  <a:pt x="2499667" y="2088792"/>
                </a:lnTo>
                <a:lnTo>
                  <a:pt x="2515290" y="2045040"/>
                </a:lnTo>
                <a:lnTo>
                  <a:pt x="2530913" y="2000583"/>
                </a:lnTo>
                <a:lnTo>
                  <a:pt x="2546535" y="1955419"/>
                </a:lnTo>
                <a:lnTo>
                  <a:pt x="2562158" y="1909551"/>
                </a:lnTo>
                <a:lnTo>
                  <a:pt x="2577781" y="1862976"/>
                </a:lnTo>
                <a:lnTo>
                  <a:pt x="2593404" y="1815696"/>
                </a:lnTo>
                <a:lnTo>
                  <a:pt x="2609027" y="1767710"/>
                </a:lnTo>
                <a:lnTo>
                  <a:pt x="2624650" y="1719019"/>
                </a:lnTo>
                <a:lnTo>
                  <a:pt x="2640273" y="1669622"/>
                </a:lnTo>
                <a:lnTo>
                  <a:pt x="2655896" y="1619519"/>
                </a:lnTo>
                <a:lnTo>
                  <a:pt x="2671519" y="1568711"/>
                </a:lnTo>
                <a:lnTo>
                  <a:pt x="2687142" y="1517197"/>
                </a:lnTo>
                <a:lnTo>
                  <a:pt x="2702765" y="1464977"/>
                </a:lnTo>
                <a:lnTo>
                  <a:pt x="2718388" y="1412051"/>
                </a:lnTo>
                <a:lnTo>
                  <a:pt x="2734010" y="1358420"/>
                </a:lnTo>
                <a:lnTo>
                  <a:pt x="2749633" y="1304083"/>
                </a:lnTo>
                <a:lnTo>
                  <a:pt x="2765256" y="1249041"/>
                </a:lnTo>
                <a:lnTo>
                  <a:pt x="2780879" y="1193293"/>
                </a:lnTo>
                <a:lnTo>
                  <a:pt x="2796502" y="1136839"/>
                </a:lnTo>
                <a:lnTo>
                  <a:pt x="2812125" y="1079679"/>
                </a:lnTo>
                <a:lnTo>
                  <a:pt x="2827748" y="1021814"/>
                </a:lnTo>
                <a:lnTo>
                  <a:pt x="2843371" y="963243"/>
                </a:lnTo>
                <a:lnTo>
                  <a:pt x="2858994" y="903967"/>
                </a:lnTo>
                <a:lnTo>
                  <a:pt x="2874617" y="843984"/>
                </a:lnTo>
                <a:lnTo>
                  <a:pt x="2890240" y="783297"/>
                </a:lnTo>
                <a:lnTo>
                  <a:pt x="2905863" y="721903"/>
                </a:lnTo>
                <a:lnTo>
                  <a:pt x="2921485" y="659804"/>
                </a:lnTo>
                <a:lnTo>
                  <a:pt x="2937108" y="596999"/>
                </a:lnTo>
                <a:lnTo>
                  <a:pt x="2952731" y="533488"/>
                </a:lnTo>
                <a:lnTo>
                  <a:pt x="2968354" y="469272"/>
                </a:lnTo>
                <a:lnTo>
                  <a:pt x="2983977" y="404350"/>
                </a:lnTo>
                <a:lnTo>
                  <a:pt x="2999600" y="338723"/>
                </a:lnTo>
                <a:lnTo>
                  <a:pt x="3015223" y="272389"/>
                </a:lnTo>
                <a:lnTo>
                  <a:pt x="3030846" y="205350"/>
                </a:lnTo>
                <a:lnTo>
                  <a:pt x="3046469" y="137606"/>
                </a:lnTo>
                <a:lnTo>
                  <a:pt x="3062092" y="69156"/>
                </a:lnTo>
                <a:lnTo>
                  <a:pt x="3077715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A-E15 ellipse 54" descr="sci-ppt:o054"/>
          <p:cNvSpPr/>
          <p:nvPr/>
        </p:nvSpPr>
        <p:spPr>
          <a:xfrm>
            <a:off x="6007607" y="389987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A-E15 text 55" descr="sci-ppt:o055"/>
          <p:cNvSpPr txBox="1"/>
          <p:nvPr/>
        </p:nvSpPr>
        <p:spPr>
          <a:xfrm>
            <a:off x="6263640" y="3515807"/>
            <a:ext cx="164592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P_dis = 1.508 mW</a:t>
            </a:r>
          </a:p>
        </p:txBody>
      </p:sp>
      <p:sp>
        <p:nvSpPr>
          <p:cNvPr id="58" name="A-E15 round_rect 56" descr="sci-ppt:o056"/>
          <p:cNvSpPr/>
          <p:nvPr/>
        </p:nvSpPr>
        <p:spPr>
          <a:xfrm>
            <a:off x="8686800" y="1371600"/>
            <a:ext cx="3154680" cy="34747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A-E15 text 57" descr="sci-ppt:o057"/>
          <p:cNvSpPr txBox="1"/>
          <p:nvPr/>
        </p:nvSpPr>
        <p:spPr>
          <a:xfrm>
            <a:off x="8796528" y="1426464"/>
            <a:ext cx="29352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Sign and loss</a:t>
            </a:r>
          </a:p>
        </p:txBody>
      </p:sp>
      <p:sp>
        <p:nvSpPr>
          <p:cNvPr id="60" name="A-E15 text 58" descr="sci-ppt:o058"/>
          <p:cNvSpPr txBox="1"/>
          <p:nvPr/>
        </p:nvSpPr>
        <p:spPr>
          <a:xfrm>
            <a:off x="8778240" y="1828800"/>
            <a:ext cx="2971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−4η_gṘ/R = +13 333.3 Pa</a:t>
            </a:r>
          </a:p>
        </p:txBody>
      </p:sp>
      <p:sp>
        <p:nvSpPr>
          <p:cNvPr id="61" name="A-E15 text 59" descr="sci-ppt:o059"/>
          <p:cNvSpPr txBox="1"/>
          <p:nvPr/>
        </p:nvSpPr>
        <p:spPr>
          <a:xfrm>
            <a:off x="8778240" y="2331720"/>
            <a:ext cx="2971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F0F3"/>
                </a:solidFill>
                <a:latin typeface="Arial"/>
              </a:rPr>
              <a:t>P_dis = 16πη_gRṘ² = 1.50796447×10⁻³ W</a:t>
            </a:r>
          </a:p>
        </p:txBody>
      </p:sp>
      <p:sp>
        <p:nvSpPr>
          <p:cNvPr id="62" name="A-E15 text 60" descr="sci-ppt:o060"/>
          <p:cNvSpPr txBox="1"/>
          <p:nvPr/>
        </p:nvSpPr>
        <p:spPr>
          <a:xfrm>
            <a:off x="8778240" y="3063240"/>
            <a:ext cx="29718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Inward motion flips the pressure term;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dissipated power stays positive.</a:t>
            </a:r>
          </a:p>
        </p:txBody>
      </p:sp>
      <p:sp>
        <p:nvSpPr>
          <p:cNvPr id="63" name="A-E15 text 61" descr="sci-ppt:o061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η_g = 0.010 Pa s, R = 30 µm, Ṙ = −10 m/s. The viscous term is linear in Ṙ, the dissipation is quadratic.</a:t>
            </a:r>
          </a:p>
        </p:txBody>
      </p:sp>
      <p:sp>
        <p:nvSpPr>
          <p:cNvPr id="64" name="A-E15 text 62" descr="sci-ppt:o06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Signed-pressure and positive-loss check of Eq. A-E15.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A-E16 · Response-time definition</a:t>
            </a:r>
          </a:p>
        </p:txBody>
      </p:sp>
      <p:sp>
        <p:nvSpPr>
          <p:cNvPr id="3" name="A-E16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Deborah number: relaxation time against event duration</a:t>
            </a:r>
          </a:p>
        </p:txBody>
      </p:sp>
      <p:sp>
        <p:nvSpPr>
          <p:cNvPr id="4" name="A-E16 text 2" descr="sci-ppt:o002"/>
          <p:cNvSpPr txBox="1"/>
          <p:nvPr/>
        </p:nvSpPr>
        <p:spPr>
          <a:xfrm>
            <a:off x="457200" y="1371600"/>
            <a:ext cx="1124712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7F0F3"/>
                </a:solidFill>
                <a:latin typeface="Arial"/>
              </a:rPr>
              <a:t>De = τᵣₑₗ / τₑ</a:t>
            </a:r>
          </a:p>
        </p:txBody>
      </p:sp>
      <p:cxnSp>
        <p:nvCxnSpPr>
          <p:cNvPr id="5" name="A-E16 line 3" descr="sci-ppt:o003"/>
          <p:cNvCxnSpPr/>
          <p:nvPr/>
        </p:nvCxnSpPr>
        <p:spPr>
          <a:xfrm>
            <a:off x="914400" y="4480560"/>
            <a:ext cx="6766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" name="A-E16 line 4" descr="sci-ppt:o004"/>
          <p:cNvCxnSpPr/>
          <p:nvPr/>
        </p:nvCxnSpPr>
        <p:spPr>
          <a:xfrm>
            <a:off x="914400" y="2103120"/>
            <a:ext cx="0" cy="23774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7" name="A-E16 line 5" descr="sci-ppt:o005"/>
          <p:cNvCxnSpPr/>
          <p:nvPr/>
        </p:nvCxnSpPr>
        <p:spPr>
          <a:xfrm>
            <a:off x="91440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8" name="A-E16 line 6" descr="sci-ppt:o006"/>
          <p:cNvCxnSpPr/>
          <p:nvPr/>
        </p:nvCxnSpPr>
        <p:spPr>
          <a:xfrm>
            <a:off x="914400" y="2103120"/>
            <a:ext cx="0" cy="23774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9" name="A-E16 text 7" descr="sci-ppt:o007"/>
          <p:cNvSpPr txBox="1"/>
          <p:nvPr/>
        </p:nvSpPr>
        <p:spPr>
          <a:xfrm>
            <a:off x="45720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0.001</a:t>
            </a:r>
          </a:p>
        </p:txBody>
      </p:sp>
      <p:cxnSp>
        <p:nvCxnSpPr>
          <p:cNvPr id="10" name="A-E16 line 8" descr="sci-ppt:o008"/>
          <p:cNvCxnSpPr/>
          <p:nvPr/>
        </p:nvCxnSpPr>
        <p:spPr>
          <a:xfrm>
            <a:off x="204216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A-E16 line 9" descr="sci-ppt:o009"/>
          <p:cNvCxnSpPr/>
          <p:nvPr/>
        </p:nvCxnSpPr>
        <p:spPr>
          <a:xfrm>
            <a:off x="2042160" y="2103120"/>
            <a:ext cx="0" cy="23774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2" name="A-E16 text 10" descr="sci-ppt:o010"/>
          <p:cNvSpPr txBox="1"/>
          <p:nvPr/>
        </p:nvSpPr>
        <p:spPr>
          <a:xfrm>
            <a:off x="158496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13" name="A-E16 line 11" descr="sci-ppt:o011"/>
          <p:cNvCxnSpPr/>
          <p:nvPr/>
        </p:nvCxnSpPr>
        <p:spPr>
          <a:xfrm>
            <a:off x="316992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A-E16 line 12" descr="sci-ppt:o012"/>
          <p:cNvCxnSpPr/>
          <p:nvPr/>
        </p:nvCxnSpPr>
        <p:spPr>
          <a:xfrm>
            <a:off x="3169920" y="2103120"/>
            <a:ext cx="0" cy="23774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5" name="A-E16 text 13" descr="sci-ppt:o013"/>
          <p:cNvSpPr txBox="1"/>
          <p:nvPr/>
        </p:nvSpPr>
        <p:spPr>
          <a:xfrm>
            <a:off x="271272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6" name="A-E16 line 14" descr="sci-ppt:o014"/>
          <p:cNvCxnSpPr/>
          <p:nvPr/>
        </p:nvCxnSpPr>
        <p:spPr>
          <a:xfrm>
            <a:off x="429768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A-E16 line 15" descr="sci-ppt:o015"/>
          <p:cNvCxnSpPr/>
          <p:nvPr/>
        </p:nvCxnSpPr>
        <p:spPr>
          <a:xfrm>
            <a:off x="4297680" y="2103120"/>
            <a:ext cx="0" cy="23774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8" name="A-E16 text 16" descr="sci-ppt:o016"/>
          <p:cNvSpPr txBox="1"/>
          <p:nvPr/>
        </p:nvSpPr>
        <p:spPr>
          <a:xfrm>
            <a:off x="384048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9" name="A-E16 line 17" descr="sci-ppt:o017"/>
          <p:cNvCxnSpPr/>
          <p:nvPr/>
        </p:nvCxnSpPr>
        <p:spPr>
          <a:xfrm>
            <a:off x="542544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A-E16 line 18" descr="sci-ppt:o018"/>
          <p:cNvCxnSpPr/>
          <p:nvPr/>
        </p:nvCxnSpPr>
        <p:spPr>
          <a:xfrm>
            <a:off x="5425440" y="2103120"/>
            <a:ext cx="0" cy="23774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1" name="A-E16 text 19" descr="sci-ppt:o019"/>
          <p:cNvSpPr txBox="1"/>
          <p:nvPr/>
        </p:nvSpPr>
        <p:spPr>
          <a:xfrm>
            <a:off x="496824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2" name="A-E16 line 20" descr="sci-ppt:o020"/>
          <p:cNvCxnSpPr/>
          <p:nvPr/>
        </p:nvCxnSpPr>
        <p:spPr>
          <a:xfrm>
            <a:off x="655320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A-E16 line 21" descr="sci-ppt:o021"/>
          <p:cNvCxnSpPr/>
          <p:nvPr/>
        </p:nvCxnSpPr>
        <p:spPr>
          <a:xfrm>
            <a:off x="6553200" y="2103120"/>
            <a:ext cx="0" cy="23774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A-E16 text 22" descr="sci-ppt:o022"/>
          <p:cNvSpPr txBox="1"/>
          <p:nvPr/>
        </p:nvSpPr>
        <p:spPr>
          <a:xfrm>
            <a:off x="609600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5" name="A-E16 line 23" descr="sci-ppt:o023"/>
          <p:cNvCxnSpPr/>
          <p:nvPr/>
        </p:nvCxnSpPr>
        <p:spPr>
          <a:xfrm>
            <a:off x="7680960" y="44805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A-E16 line 24" descr="sci-ppt:o024"/>
          <p:cNvCxnSpPr/>
          <p:nvPr/>
        </p:nvCxnSpPr>
        <p:spPr>
          <a:xfrm>
            <a:off x="7680960" y="2103120"/>
            <a:ext cx="0" cy="23774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7" name="A-E16 text 25" descr="sci-ppt:o025"/>
          <p:cNvSpPr txBox="1"/>
          <p:nvPr/>
        </p:nvSpPr>
        <p:spPr>
          <a:xfrm>
            <a:off x="7223760" y="45628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cxnSp>
        <p:nvCxnSpPr>
          <p:cNvPr id="28" name="A-E16 line 26" descr="sci-ppt:o026"/>
          <p:cNvCxnSpPr/>
          <p:nvPr/>
        </p:nvCxnSpPr>
        <p:spPr>
          <a:xfrm>
            <a:off x="850392" y="44805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A-E16 line 27" descr="sci-ppt:o027"/>
          <p:cNvCxnSpPr/>
          <p:nvPr/>
        </p:nvCxnSpPr>
        <p:spPr>
          <a:xfrm>
            <a:off x="850392" y="334844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A-E16 line 28" descr="sci-ppt:o028"/>
          <p:cNvCxnSpPr/>
          <p:nvPr/>
        </p:nvCxnSpPr>
        <p:spPr>
          <a:xfrm>
            <a:off x="914400" y="3348445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A-E16 text 29" descr="sci-ppt:o029"/>
          <p:cNvSpPr txBox="1"/>
          <p:nvPr/>
        </p:nvSpPr>
        <p:spPr>
          <a:xfrm>
            <a:off x="45720" y="326614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32" name="A-E16 line 30" descr="sci-ppt:o030"/>
          <p:cNvCxnSpPr/>
          <p:nvPr/>
        </p:nvCxnSpPr>
        <p:spPr>
          <a:xfrm>
            <a:off x="850392" y="221633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A-E16 line 31" descr="sci-ppt:o031"/>
          <p:cNvCxnSpPr/>
          <p:nvPr/>
        </p:nvCxnSpPr>
        <p:spPr>
          <a:xfrm>
            <a:off x="914400" y="2216331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A-E16 text 32" descr="sci-ppt:o032"/>
          <p:cNvSpPr txBox="1"/>
          <p:nvPr/>
        </p:nvSpPr>
        <p:spPr>
          <a:xfrm>
            <a:off x="45720" y="213403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35" name="A-E16 text 33" descr="sci-ppt:o033"/>
          <p:cNvSpPr txBox="1"/>
          <p:nvPr/>
        </p:nvSpPr>
        <p:spPr>
          <a:xfrm>
            <a:off x="914400" y="4764024"/>
            <a:ext cx="6766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De  (log scale)</a:t>
            </a:r>
          </a:p>
        </p:txBody>
      </p:sp>
      <p:sp>
        <p:nvSpPr>
          <p:cNvPr id="36" name="A-E16 text 34" descr="sci-ppt:o034"/>
          <p:cNvSpPr txBox="1"/>
          <p:nvPr/>
        </p:nvSpPr>
        <p:spPr>
          <a:xfrm>
            <a:off x="365760" y="1755648"/>
            <a:ext cx="6766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elastic share (conventional)</a:t>
            </a:r>
          </a:p>
        </p:txBody>
      </p:sp>
      <p:sp>
        <p:nvSpPr>
          <p:cNvPr id="37" name="A-E16 polygon 35" descr="sci-ppt:o035"/>
          <p:cNvSpPr/>
          <p:nvPr/>
        </p:nvSpPr>
        <p:spPr>
          <a:xfrm>
            <a:off x="914400" y="2216331"/>
            <a:ext cx="2187170" cy="2264229"/>
          </a:xfrm>
          <a:custGeom>
            <a:avLst/>
            <a:gdLst/>
            <a:ahLst/>
            <a:cxnLst/>
            <a:rect l="l" t="t" r="r" b="b"/>
            <a:pathLst>
              <a:path w="2187170" h="2264229">
                <a:moveTo>
                  <a:pt x="0" y="0"/>
                </a:moveTo>
                <a:lnTo>
                  <a:pt x="68349" y="0"/>
                </a:lnTo>
                <a:lnTo>
                  <a:pt x="136698" y="0"/>
                </a:lnTo>
                <a:lnTo>
                  <a:pt x="205047" y="0"/>
                </a:lnTo>
                <a:lnTo>
                  <a:pt x="273396" y="0"/>
                </a:lnTo>
                <a:lnTo>
                  <a:pt x="341745" y="0"/>
                </a:lnTo>
                <a:lnTo>
                  <a:pt x="410094" y="0"/>
                </a:lnTo>
                <a:lnTo>
                  <a:pt x="478443" y="0"/>
                </a:lnTo>
                <a:lnTo>
                  <a:pt x="546792" y="0"/>
                </a:lnTo>
                <a:lnTo>
                  <a:pt x="615141" y="0"/>
                </a:lnTo>
                <a:lnTo>
                  <a:pt x="683490" y="0"/>
                </a:lnTo>
                <a:lnTo>
                  <a:pt x="751840" y="0"/>
                </a:lnTo>
                <a:lnTo>
                  <a:pt x="820189" y="0"/>
                </a:lnTo>
                <a:lnTo>
                  <a:pt x="888538" y="0"/>
                </a:lnTo>
                <a:lnTo>
                  <a:pt x="956887" y="0"/>
                </a:lnTo>
                <a:lnTo>
                  <a:pt x="1025236" y="0"/>
                </a:lnTo>
                <a:lnTo>
                  <a:pt x="1093585" y="0"/>
                </a:lnTo>
                <a:lnTo>
                  <a:pt x="1161934" y="0"/>
                </a:lnTo>
                <a:lnTo>
                  <a:pt x="1230283" y="0"/>
                </a:lnTo>
                <a:lnTo>
                  <a:pt x="1298632" y="0"/>
                </a:lnTo>
                <a:lnTo>
                  <a:pt x="1366981" y="0"/>
                </a:lnTo>
                <a:lnTo>
                  <a:pt x="1435330" y="0"/>
                </a:lnTo>
                <a:lnTo>
                  <a:pt x="1503680" y="0"/>
                </a:lnTo>
                <a:lnTo>
                  <a:pt x="1572029" y="0"/>
                </a:lnTo>
                <a:lnTo>
                  <a:pt x="1640378" y="0"/>
                </a:lnTo>
                <a:lnTo>
                  <a:pt x="1708727" y="0"/>
                </a:lnTo>
                <a:lnTo>
                  <a:pt x="1777076" y="0"/>
                </a:lnTo>
                <a:lnTo>
                  <a:pt x="1845425" y="0"/>
                </a:lnTo>
                <a:lnTo>
                  <a:pt x="1913774" y="0"/>
                </a:lnTo>
                <a:lnTo>
                  <a:pt x="1982123" y="0"/>
                </a:lnTo>
                <a:lnTo>
                  <a:pt x="2050472" y="0"/>
                </a:lnTo>
                <a:lnTo>
                  <a:pt x="2118821" y="0"/>
                </a:lnTo>
                <a:lnTo>
                  <a:pt x="2187170" y="0"/>
                </a:lnTo>
                <a:lnTo>
                  <a:pt x="2187170" y="2264229"/>
                </a:lnTo>
                <a:lnTo>
                  <a:pt x="2118821" y="2264229"/>
                </a:lnTo>
                <a:lnTo>
                  <a:pt x="2050472" y="2264229"/>
                </a:lnTo>
                <a:lnTo>
                  <a:pt x="1982123" y="2264229"/>
                </a:lnTo>
                <a:lnTo>
                  <a:pt x="1913774" y="2264229"/>
                </a:lnTo>
                <a:lnTo>
                  <a:pt x="1845425" y="2264229"/>
                </a:lnTo>
                <a:lnTo>
                  <a:pt x="1777076" y="2264229"/>
                </a:lnTo>
                <a:lnTo>
                  <a:pt x="1708727" y="2264229"/>
                </a:lnTo>
                <a:lnTo>
                  <a:pt x="1640378" y="2264229"/>
                </a:lnTo>
                <a:lnTo>
                  <a:pt x="1572029" y="2264229"/>
                </a:lnTo>
                <a:lnTo>
                  <a:pt x="1503680" y="2264229"/>
                </a:lnTo>
                <a:lnTo>
                  <a:pt x="1435330" y="2264229"/>
                </a:lnTo>
                <a:lnTo>
                  <a:pt x="1366981" y="2264229"/>
                </a:lnTo>
                <a:lnTo>
                  <a:pt x="1298632" y="2264229"/>
                </a:lnTo>
                <a:lnTo>
                  <a:pt x="1230283" y="2264229"/>
                </a:lnTo>
                <a:lnTo>
                  <a:pt x="1161934" y="2264229"/>
                </a:lnTo>
                <a:lnTo>
                  <a:pt x="1093585" y="2264229"/>
                </a:lnTo>
                <a:lnTo>
                  <a:pt x="1025236" y="2264229"/>
                </a:lnTo>
                <a:lnTo>
                  <a:pt x="956887" y="2264229"/>
                </a:lnTo>
                <a:lnTo>
                  <a:pt x="888538" y="2264229"/>
                </a:lnTo>
                <a:lnTo>
                  <a:pt x="820189" y="2264229"/>
                </a:lnTo>
                <a:lnTo>
                  <a:pt x="751840" y="2264229"/>
                </a:lnTo>
                <a:lnTo>
                  <a:pt x="683490" y="2264229"/>
                </a:lnTo>
                <a:lnTo>
                  <a:pt x="615141" y="2264229"/>
                </a:lnTo>
                <a:lnTo>
                  <a:pt x="546792" y="2264229"/>
                </a:lnTo>
                <a:lnTo>
                  <a:pt x="478443" y="2264229"/>
                </a:lnTo>
                <a:lnTo>
                  <a:pt x="410094" y="2264229"/>
                </a:lnTo>
                <a:lnTo>
                  <a:pt x="341745" y="2264229"/>
                </a:lnTo>
                <a:lnTo>
                  <a:pt x="273396" y="2264229"/>
                </a:lnTo>
                <a:lnTo>
                  <a:pt x="205047" y="2264229"/>
                </a:lnTo>
                <a:lnTo>
                  <a:pt x="136698" y="2264229"/>
                </a:lnTo>
                <a:lnTo>
                  <a:pt x="68349" y="2264229"/>
                </a:lnTo>
                <a:lnTo>
                  <a:pt x="0" y="2264229"/>
                </a:lnTo>
                <a:close/>
              </a:path>
            </a:pathLst>
          </a:custGeom>
          <a:solidFill>
            <a:srgbClr val="7FC8F8">
              <a:alpha val="15000"/>
            </a:srgbClr>
          </a:solidFill>
          <a:ln w="10160">
            <a:solidFill>
              <a:srgbClr val="7FC8F8">
                <a:alpha val="1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-E16 polygon 36" descr="sci-ppt:o036"/>
          <p:cNvSpPr/>
          <p:nvPr/>
        </p:nvSpPr>
        <p:spPr>
          <a:xfrm>
            <a:off x="5493789" y="2216331"/>
            <a:ext cx="2187171" cy="2264229"/>
          </a:xfrm>
          <a:custGeom>
            <a:avLst/>
            <a:gdLst/>
            <a:ahLst/>
            <a:cxnLst/>
            <a:rect l="l" t="t" r="r" b="b"/>
            <a:pathLst>
              <a:path w="2187171" h="2264229">
                <a:moveTo>
                  <a:pt x="0" y="0"/>
                </a:moveTo>
                <a:lnTo>
                  <a:pt x="68349" y="0"/>
                </a:lnTo>
                <a:lnTo>
                  <a:pt x="136698" y="0"/>
                </a:lnTo>
                <a:lnTo>
                  <a:pt x="205047" y="0"/>
                </a:lnTo>
                <a:lnTo>
                  <a:pt x="273396" y="0"/>
                </a:lnTo>
                <a:lnTo>
                  <a:pt x="341745" y="0"/>
                </a:lnTo>
                <a:lnTo>
                  <a:pt x="410094" y="0"/>
                </a:lnTo>
                <a:lnTo>
                  <a:pt x="478443" y="0"/>
                </a:lnTo>
                <a:lnTo>
                  <a:pt x="546792" y="0"/>
                </a:lnTo>
                <a:lnTo>
                  <a:pt x="615141" y="0"/>
                </a:lnTo>
                <a:lnTo>
                  <a:pt x="683491" y="0"/>
                </a:lnTo>
                <a:lnTo>
                  <a:pt x="751840" y="0"/>
                </a:lnTo>
                <a:lnTo>
                  <a:pt x="820189" y="0"/>
                </a:lnTo>
                <a:lnTo>
                  <a:pt x="888538" y="0"/>
                </a:lnTo>
                <a:lnTo>
                  <a:pt x="956887" y="0"/>
                </a:lnTo>
                <a:lnTo>
                  <a:pt x="1025236" y="0"/>
                </a:lnTo>
                <a:lnTo>
                  <a:pt x="1093585" y="0"/>
                </a:lnTo>
                <a:lnTo>
                  <a:pt x="1161934" y="0"/>
                </a:lnTo>
                <a:lnTo>
                  <a:pt x="1230283" y="0"/>
                </a:lnTo>
                <a:lnTo>
                  <a:pt x="1298632" y="0"/>
                </a:lnTo>
                <a:lnTo>
                  <a:pt x="1366981" y="0"/>
                </a:lnTo>
                <a:lnTo>
                  <a:pt x="1435331" y="0"/>
                </a:lnTo>
                <a:lnTo>
                  <a:pt x="1503680" y="0"/>
                </a:lnTo>
                <a:lnTo>
                  <a:pt x="1572029" y="0"/>
                </a:lnTo>
                <a:lnTo>
                  <a:pt x="1640378" y="0"/>
                </a:lnTo>
                <a:lnTo>
                  <a:pt x="1708727" y="0"/>
                </a:lnTo>
                <a:lnTo>
                  <a:pt x="1777076" y="0"/>
                </a:lnTo>
                <a:lnTo>
                  <a:pt x="1845425" y="0"/>
                </a:lnTo>
                <a:lnTo>
                  <a:pt x="1913774" y="0"/>
                </a:lnTo>
                <a:lnTo>
                  <a:pt x="1982123" y="0"/>
                </a:lnTo>
                <a:lnTo>
                  <a:pt x="2050472" y="0"/>
                </a:lnTo>
                <a:lnTo>
                  <a:pt x="2118821" y="0"/>
                </a:lnTo>
                <a:lnTo>
                  <a:pt x="2187171" y="0"/>
                </a:lnTo>
                <a:lnTo>
                  <a:pt x="2187171" y="2264229"/>
                </a:lnTo>
                <a:lnTo>
                  <a:pt x="2118821" y="2264229"/>
                </a:lnTo>
                <a:lnTo>
                  <a:pt x="2050472" y="2264229"/>
                </a:lnTo>
                <a:lnTo>
                  <a:pt x="1982123" y="2264229"/>
                </a:lnTo>
                <a:lnTo>
                  <a:pt x="1913774" y="2264229"/>
                </a:lnTo>
                <a:lnTo>
                  <a:pt x="1845425" y="2264229"/>
                </a:lnTo>
                <a:lnTo>
                  <a:pt x="1777076" y="2264229"/>
                </a:lnTo>
                <a:lnTo>
                  <a:pt x="1708727" y="2264229"/>
                </a:lnTo>
                <a:lnTo>
                  <a:pt x="1640378" y="2264229"/>
                </a:lnTo>
                <a:lnTo>
                  <a:pt x="1572029" y="2264229"/>
                </a:lnTo>
                <a:lnTo>
                  <a:pt x="1503680" y="2264229"/>
                </a:lnTo>
                <a:lnTo>
                  <a:pt x="1435331" y="2264229"/>
                </a:lnTo>
                <a:lnTo>
                  <a:pt x="1366981" y="2264229"/>
                </a:lnTo>
                <a:lnTo>
                  <a:pt x="1298632" y="2264229"/>
                </a:lnTo>
                <a:lnTo>
                  <a:pt x="1230283" y="2264229"/>
                </a:lnTo>
                <a:lnTo>
                  <a:pt x="1161934" y="2264229"/>
                </a:lnTo>
                <a:lnTo>
                  <a:pt x="1093585" y="2264229"/>
                </a:lnTo>
                <a:lnTo>
                  <a:pt x="1025236" y="2264229"/>
                </a:lnTo>
                <a:lnTo>
                  <a:pt x="956887" y="2264229"/>
                </a:lnTo>
                <a:lnTo>
                  <a:pt x="888538" y="2264229"/>
                </a:lnTo>
                <a:lnTo>
                  <a:pt x="820189" y="2264229"/>
                </a:lnTo>
                <a:lnTo>
                  <a:pt x="751840" y="2264229"/>
                </a:lnTo>
                <a:lnTo>
                  <a:pt x="683491" y="2264229"/>
                </a:lnTo>
                <a:lnTo>
                  <a:pt x="615141" y="2264229"/>
                </a:lnTo>
                <a:lnTo>
                  <a:pt x="546792" y="2264229"/>
                </a:lnTo>
                <a:lnTo>
                  <a:pt x="478443" y="2264229"/>
                </a:lnTo>
                <a:lnTo>
                  <a:pt x="410094" y="2264229"/>
                </a:lnTo>
                <a:lnTo>
                  <a:pt x="341745" y="2264229"/>
                </a:lnTo>
                <a:lnTo>
                  <a:pt x="273396" y="2264229"/>
                </a:lnTo>
                <a:lnTo>
                  <a:pt x="205047" y="2264229"/>
                </a:lnTo>
                <a:lnTo>
                  <a:pt x="136698" y="2264229"/>
                </a:lnTo>
                <a:lnTo>
                  <a:pt x="68349" y="2264229"/>
                </a:lnTo>
                <a:lnTo>
                  <a:pt x="0" y="2264229"/>
                </a:lnTo>
                <a:close/>
              </a:path>
            </a:pathLst>
          </a:custGeom>
          <a:solidFill>
            <a:srgbClr val="F2B880">
              <a:alpha val="15000"/>
            </a:srgbClr>
          </a:solidFill>
          <a:ln w="10160">
            <a:solidFill>
              <a:srgbClr val="F2B880">
                <a:alpha val="1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-E16 polygon 37" descr="sci-ppt:o037"/>
          <p:cNvSpPr/>
          <p:nvPr/>
        </p:nvSpPr>
        <p:spPr>
          <a:xfrm>
            <a:off x="914400" y="2218593"/>
            <a:ext cx="6766560" cy="2259705"/>
          </a:xfrm>
          <a:custGeom>
            <a:avLst/>
            <a:gdLst/>
            <a:ahLst/>
            <a:cxnLst/>
            <a:rect l="l" t="t" r="r" b="b"/>
            <a:pathLst>
              <a:path w="6766560" h="2259705">
                <a:moveTo>
                  <a:pt x="0" y="2259705"/>
                </a:moveTo>
                <a:lnTo>
                  <a:pt x="68349" y="2259366"/>
                </a:lnTo>
                <a:lnTo>
                  <a:pt x="136698" y="2258977"/>
                </a:lnTo>
                <a:lnTo>
                  <a:pt x="205047" y="2258530"/>
                </a:lnTo>
                <a:lnTo>
                  <a:pt x="273396" y="2258017"/>
                </a:lnTo>
                <a:lnTo>
                  <a:pt x="341745" y="2257426"/>
                </a:lnTo>
                <a:lnTo>
                  <a:pt x="410094" y="2256748"/>
                </a:lnTo>
                <a:lnTo>
                  <a:pt x="478443" y="2255968"/>
                </a:lnTo>
                <a:lnTo>
                  <a:pt x="546792" y="2255073"/>
                </a:lnTo>
                <a:lnTo>
                  <a:pt x="615141" y="2254044"/>
                </a:lnTo>
                <a:lnTo>
                  <a:pt x="683490" y="2252863"/>
                </a:lnTo>
                <a:lnTo>
                  <a:pt x="751840" y="2251505"/>
                </a:lnTo>
                <a:lnTo>
                  <a:pt x="820189" y="2249947"/>
                </a:lnTo>
                <a:lnTo>
                  <a:pt x="888538" y="2248158"/>
                </a:lnTo>
                <a:lnTo>
                  <a:pt x="956887" y="2246105"/>
                </a:lnTo>
                <a:lnTo>
                  <a:pt x="1025236" y="2243748"/>
                </a:lnTo>
                <a:lnTo>
                  <a:pt x="1093585" y="2241045"/>
                </a:lnTo>
                <a:lnTo>
                  <a:pt x="1161934" y="2237945"/>
                </a:lnTo>
                <a:lnTo>
                  <a:pt x="1230283" y="2234392"/>
                </a:lnTo>
                <a:lnTo>
                  <a:pt x="1298632" y="2230320"/>
                </a:lnTo>
                <a:lnTo>
                  <a:pt x="1366981" y="2225657"/>
                </a:lnTo>
                <a:lnTo>
                  <a:pt x="1435330" y="2220319"/>
                </a:lnTo>
                <a:lnTo>
                  <a:pt x="1503680" y="2214214"/>
                </a:lnTo>
                <a:lnTo>
                  <a:pt x="1572029" y="2207236"/>
                </a:lnTo>
                <a:lnTo>
                  <a:pt x="1640378" y="2199266"/>
                </a:lnTo>
                <a:lnTo>
                  <a:pt x="1708727" y="2190174"/>
                </a:lnTo>
                <a:lnTo>
                  <a:pt x="1777076" y="2179813"/>
                </a:lnTo>
                <a:lnTo>
                  <a:pt x="1845425" y="2168020"/>
                </a:lnTo>
                <a:lnTo>
                  <a:pt x="1913774" y="2154618"/>
                </a:lnTo>
                <a:lnTo>
                  <a:pt x="1982123" y="2139412"/>
                </a:lnTo>
                <a:lnTo>
                  <a:pt x="2050472" y="2122192"/>
                </a:lnTo>
                <a:lnTo>
                  <a:pt x="2118821" y="2102731"/>
                </a:lnTo>
                <a:lnTo>
                  <a:pt x="2187170" y="2080793"/>
                </a:lnTo>
                <a:lnTo>
                  <a:pt x="2255520" y="2056128"/>
                </a:lnTo>
                <a:lnTo>
                  <a:pt x="2323869" y="2028480"/>
                </a:lnTo>
                <a:lnTo>
                  <a:pt x="2392218" y="1997597"/>
                </a:lnTo>
                <a:lnTo>
                  <a:pt x="2460567" y="1963229"/>
                </a:lnTo>
                <a:lnTo>
                  <a:pt x="2528916" y="1925146"/>
                </a:lnTo>
                <a:lnTo>
                  <a:pt x="2597265" y="1883144"/>
                </a:lnTo>
                <a:lnTo>
                  <a:pt x="2665614" y="1837059"/>
                </a:lnTo>
                <a:lnTo>
                  <a:pt x="2733963" y="1786781"/>
                </a:lnTo>
                <a:lnTo>
                  <a:pt x="2802312" y="1732267"/>
                </a:lnTo>
                <a:lnTo>
                  <a:pt x="2870661" y="1673555"/>
                </a:lnTo>
                <a:lnTo>
                  <a:pt x="2939010" y="1610779"/>
                </a:lnTo>
                <a:lnTo>
                  <a:pt x="3007360" y="1544174"/>
                </a:lnTo>
                <a:lnTo>
                  <a:pt x="3075709" y="1474085"/>
                </a:lnTo>
                <a:lnTo>
                  <a:pt x="3144058" y="1400962"/>
                </a:lnTo>
                <a:lnTo>
                  <a:pt x="3212407" y="1325357"/>
                </a:lnTo>
                <a:lnTo>
                  <a:pt x="3280756" y="1247912"/>
                </a:lnTo>
                <a:lnTo>
                  <a:pt x="3349105" y="1169333"/>
                </a:lnTo>
                <a:lnTo>
                  <a:pt x="3417454" y="1090371"/>
                </a:lnTo>
                <a:lnTo>
                  <a:pt x="3485803" y="1011793"/>
                </a:lnTo>
                <a:lnTo>
                  <a:pt x="3554152" y="934347"/>
                </a:lnTo>
                <a:lnTo>
                  <a:pt x="3622501" y="858743"/>
                </a:lnTo>
                <a:lnTo>
                  <a:pt x="3690850" y="785620"/>
                </a:lnTo>
                <a:lnTo>
                  <a:pt x="3759200" y="715530"/>
                </a:lnTo>
                <a:lnTo>
                  <a:pt x="3827549" y="648925"/>
                </a:lnTo>
                <a:lnTo>
                  <a:pt x="3895898" y="586149"/>
                </a:lnTo>
                <a:lnTo>
                  <a:pt x="3964247" y="527438"/>
                </a:lnTo>
                <a:lnTo>
                  <a:pt x="4032596" y="472923"/>
                </a:lnTo>
                <a:lnTo>
                  <a:pt x="4100945" y="422645"/>
                </a:lnTo>
                <a:lnTo>
                  <a:pt x="4169294" y="376560"/>
                </a:lnTo>
                <a:lnTo>
                  <a:pt x="4237643" y="334558"/>
                </a:lnTo>
                <a:lnTo>
                  <a:pt x="4305992" y="296475"/>
                </a:lnTo>
                <a:lnTo>
                  <a:pt x="4374341" y="262108"/>
                </a:lnTo>
                <a:lnTo>
                  <a:pt x="4442690" y="231224"/>
                </a:lnTo>
                <a:lnTo>
                  <a:pt x="4511040" y="203577"/>
                </a:lnTo>
                <a:lnTo>
                  <a:pt x="4579389" y="178911"/>
                </a:lnTo>
                <a:lnTo>
                  <a:pt x="4647738" y="156973"/>
                </a:lnTo>
                <a:lnTo>
                  <a:pt x="4716087" y="137513"/>
                </a:lnTo>
                <a:lnTo>
                  <a:pt x="4784436" y="120292"/>
                </a:lnTo>
                <a:lnTo>
                  <a:pt x="4852785" y="105086"/>
                </a:lnTo>
                <a:lnTo>
                  <a:pt x="4921134" y="91684"/>
                </a:lnTo>
                <a:lnTo>
                  <a:pt x="4989483" y="79892"/>
                </a:lnTo>
                <a:lnTo>
                  <a:pt x="5057832" y="69530"/>
                </a:lnTo>
                <a:lnTo>
                  <a:pt x="5126181" y="60438"/>
                </a:lnTo>
                <a:lnTo>
                  <a:pt x="5194530" y="52469"/>
                </a:lnTo>
                <a:lnTo>
                  <a:pt x="5262880" y="45490"/>
                </a:lnTo>
                <a:lnTo>
                  <a:pt x="5331229" y="39385"/>
                </a:lnTo>
                <a:lnTo>
                  <a:pt x="5399578" y="34047"/>
                </a:lnTo>
                <a:lnTo>
                  <a:pt x="5467927" y="29384"/>
                </a:lnTo>
                <a:lnTo>
                  <a:pt x="5536276" y="25312"/>
                </a:lnTo>
                <a:lnTo>
                  <a:pt x="5604625" y="21759"/>
                </a:lnTo>
                <a:lnTo>
                  <a:pt x="5672974" y="18659"/>
                </a:lnTo>
                <a:lnTo>
                  <a:pt x="5741323" y="15956"/>
                </a:lnTo>
                <a:lnTo>
                  <a:pt x="5809672" y="13600"/>
                </a:lnTo>
                <a:lnTo>
                  <a:pt x="5878021" y="11546"/>
                </a:lnTo>
                <a:lnTo>
                  <a:pt x="5946370" y="9757"/>
                </a:lnTo>
                <a:lnTo>
                  <a:pt x="6014720" y="8199"/>
                </a:lnTo>
                <a:lnTo>
                  <a:pt x="6083069" y="6842"/>
                </a:lnTo>
                <a:lnTo>
                  <a:pt x="6151418" y="5660"/>
                </a:lnTo>
                <a:lnTo>
                  <a:pt x="6219767" y="4632"/>
                </a:lnTo>
                <a:lnTo>
                  <a:pt x="6288116" y="3736"/>
                </a:lnTo>
                <a:lnTo>
                  <a:pt x="6356465" y="2957"/>
                </a:lnTo>
                <a:lnTo>
                  <a:pt x="6424814" y="2278"/>
                </a:lnTo>
                <a:lnTo>
                  <a:pt x="6493163" y="1688"/>
                </a:lnTo>
                <a:lnTo>
                  <a:pt x="6561512" y="1174"/>
                </a:lnTo>
                <a:lnTo>
                  <a:pt x="6629861" y="727"/>
                </a:lnTo>
                <a:lnTo>
                  <a:pt x="6698210" y="338"/>
                </a:lnTo>
                <a:lnTo>
                  <a:pt x="676656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16 text 38" descr="sci-ppt:o038"/>
          <p:cNvSpPr txBox="1"/>
          <p:nvPr/>
        </p:nvSpPr>
        <p:spPr>
          <a:xfrm>
            <a:off x="1327041" y="2555965"/>
            <a:ext cx="274320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C8F8"/>
                </a:solidFill>
                <a:latin typeface="Arial"/>
              </a:rPr>
              <a:t>De ≪ 1: the network relaxes during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C8F8"/>
                </a:solidFill>
                <a:latin typeface="Arial"/>
              </a:rPr>
              <a:t>the event</a:t>
            </a:r>
          </a:p>
        </p:txBody>
      </p:sp>
      <p:sp>
        <p:nvSpPr>
          <p:cNvPr id="41" name="A-E16 text 39" descr="sci-ppt:o039"/>
          <p:cNvSpPr txBox="1"/>
          <p:nvPr/>
        </p:nvSpPr>
        <p:spPr>
          <a:xfrm>
            <a:off x="5697180" y="3461657"/>
            <a:ext cx="146304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De ≫ 1: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solid-like</a:t>
            </a:r>
          </a:p>
        </p:txBody>
      </p:sp>
      <p:sp>
        <p:nvSpPr>
          <p:cNvPr id="42" name="A-E16 text 40" descr="sci-ppt:o040"/>
          <p:cNvSpPr txBox="1"/>
          <p:nvPr/>
        </p:nvSpPr>
        <p:spPr>
          <a:xfrm>
            <a:off x="3441660" y="4072998"/>
            <a:ext cx="201168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DBD4"/>
                </a:solidFill>
                <a:latin typeface="Arial"/>
              </a:rPr>
              <a:t>De ~ 1: both matter</a:t>
            </a:r>
          </a:p>
        </p:txBody>
      </p:sp>
      <p:sp>
        <p:nvSpPr>
          <p:cNvPr id="43" name="A-E16 round_rect 41" descr="sci-ppt:o041"/>
          <p:cNvSpPr/>
          <p:nvPr/>
        </p:nvSpPr>
        <p:spPr>
          <a:xfrm>
            <a:off x="7955279" y="2103120"/>
            <a:ext cx="388620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-E16 text 42" descr="sci-ppt:o042"/>
          <p:cNvSpPr txBox="1"/>
          <p:nvPr/>
        </p:nvSpPr>
        <p:spPr>
          <a:xfrm>
            <a:off x="8065007" y="2157984"/>
            <a:ext cx="36667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What decides it</a:t>
            </a:r>
          </a:p>
        </p:txBody>
      </p:sp>
      <p:sp>
        <p:nvSpPr>
          <p:cNvPr id="45" name="A-E16 text 43" descr="sci-ppt:o043"/>
          <p:cNvSpPr txBox="1"/>
          <p:nvPr/>
        </p:nvSpPr>
        <p:spPr>
          <a:xfrm>
            <a:off x="8293608" y="2560320"/>
            <a:ext cx="3456432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τᵣₑₗ: how long the network takes to relax.</a:t>
            </a:r>
          </a:p>
        </p:txBody>
      </p:sp>
      <p:sp>
        <p:nvSpPr>
          <p:cNvPr id="46" name="A-E16 ellipse 44" descr="sci-ppt:o044"/>
          <p:cNvSpPr/>
          <p:nvPr/>
        </p:nvSpPr>
        <p:spPr>
          <a:xfrm>
            <a:off x="8124444" y="2609723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A-E16 text 45" descr="sci-ppt:o045"/>
          <p:cNvSpPr txBox="1"/>
          <p:nvPr/>
        </p:nvSpPr>
        <p:spPr>
          <a:xfrm>
            <a:off x="8293608" y="2829940"/>
            <a:ext cx="3456432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τₑ: how long the jet or load lasts.</a:t>
            </a:r>
          </a:p>
        </p:txBody>
      </p:sp>
      <p:sp>
        <p:nvSpPr>
          <p:cNvPr id="48" name="A-E16 ellipse 46" descr="sci-ppt:o046"/>
          <p:cNvSpPr/>
          <p:nvPr/>
        </p:nvSpPr>
        <p:spPr>
          <a:xfrm>
            <a:off x="8124444" y="2879343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A-E16 text 47" descr="sci-ppt:o047"/>
          <p:cNvSpPr txBox="1"/>
          <p:nvPr/>
        </p:nvSpPr>
        <p:spPr>
          <a:xfrm>
            <a:off x="8293608" y="3099561"/>
            <a:ext cx="3456432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The ratio, not either time alone, sets the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behaviour.</a:t>
            </a:r>
          </a:p>
        </p:txBody>
      </p:sp>
      <p:sp>
        <p:nvSpPr>
          <p:cNvPr id="50" name="A-E16 ellipse 48" descr="sci-ppt:o048"/>
          <p:cNvSpPr/>
          <p:nvPr/>
        </p:nvSpPr>
        <p:spPr>
          <a:xfrm>
            <a:off x="8124444" y="3148964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-E16 text 49" descr="sci-ppt:o049"/>
          <p:cNvSpPr txBox="1"/>
          <p:nvPr/>
        </p:nvSpPr>
        <p:spPr>
          <a:xfrm>
            <a:off x="457200" y="521208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event duration determines which part of the network response can act before the jet or load arrives.</a:t>
            </a:r>
          </a:p>
        </p:txBody>
      </p:sp>
      <p:sp>
        <p:nvSpPr>
          <p:cNvPr id="52" name="A-E16 text 50" descr="sci-ppt:o050"/>
          <p:cNvSpPr txBox="1"/>
          <p:nvPr/>
        </p:nvSpPr>
        <p:spPr>
          <a:xfrm>
            <a:off x="457200" y="5760720"/>
            <a:ext cx="11247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curve x/(1+x) is a conventional illustration of a Maxwell-type crossover, not a result derived from Eq. A-E16.</a:t>
            </a:r>
          </a:p>
        </p:txBody>
      </p:sp>
      <p:sp>
        <p:nvSpPr>
          <p:cNvPr id="53" name="A-E16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Definition of Eq. A-E16; the share curve is illustrative only.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A-E17 · Linear constitutive check for the chosen dashpot</a:t>
            </a:r>
          </a:p>
        </p:txBody>
      </p:sp>
      <p:cxnSp>
        <p:nvCxnSpPr>
          <p:cNvPr id="3" name="A-E17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7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7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7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7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A-E17 line 6" descr="sci-ppt:o006"/>
          <p:cNvCxnSpPr/>
          <p:nvPr/>
        </p:nvCxnSpPr>
        <p:spPr>
          <a:xfrm>
            <a:off x="2377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7 line 7" descr="sci-ppt:o007"/>
          <p:cNvCxnSpPr/>
          <p:nvPr/>
        </p:nvCxnSpPr>
        <p:spPr>
          <a:xfrm>
            <a:off x="2377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7 text 8" descr="sci-ppt:o008"/>
          <p:cNvSpPr txBox="1"/>
          <p:nvPr/>
        </p:nvSpPr>
        <p:spPr>
          <a:xfrm>
            <a:off x="1920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A-E17 line 9" descr="sci-ppt:o009"/>
          <p:cNvCxnSpPr/>
          <p:nvPr/>
        </p:nvCxnSpPr>
        <p:spPr>
          <a:xfrm>
            <a:off x="38404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7 line 10" descr="sci-ppt:o010"/>
          <p:cNvCxnSpPr/>
          <p:nvPr/>
        </p:nvCxnSpPr>
        <p:spPr>
          <a:xfrm>
            <a:off x="38404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7 text 11" descr="sci-ppt:o011"/>
          <p:cNvSpPr txBox="1"/>
          <p:nvPr/>
        </p:nvSpPr>
        <p:spPr>
          <a:xfrm>
            <a:off x="33832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A-E17 line 12" descr="sci-ppt:o012"/>
          <p:cNvCxnSpPr/>
          <p:nvPr/>
        </p:nvCxnSpPr>
        <p:spPr>
          <a:xfrm>
            <a:off x="53035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7 line 13" descr="sci-ppt:o013"/>
          <p:cNvCxnSpPr/>
          <p:nvPr/>
        </p:nvCxnSpPr>
        <p:spPr>
          <a:xfrm>
            <a:off x="53035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17 text 14" descr="sci-ppt:o014"/>
          <p:cNvSpPr txBox="1"/>
          <p:nvPr/>
        </p:nvSpPr>
        <p:spPr>
          <a:xfrm>
            <a:off x="48463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A-E17 line 15" descr="sci-ppt:o015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17 line 16" descr="sci-ppt:o016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17 text 17" descr="sci-ppt:o017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0" name="A-E17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17 line 19" descr="sci-ppt:o019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17 line 20" descr="sci-ppt:o020"/>
          <p:cNvCxnSpPr/>
          <p:nvPr/>
        </p:nvCxnSpPr>
        <p:spPr>
          <a:xfrm>
            <a:off x="914400" y="415834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17 text 21" descr="sci-ppt:o021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4" name="A-E17 line 22" descr="sci-ppt:o022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7 line 23" descr="sci-ppt:o023"/>
          <p:cNvCxnSpPr/>
          <p:nvPr/>
        </p:nvCxnSpPr>
        <p:spPr>
          <a:xfrm>
            <a:off x="914400" y="328748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7 text 24" descr="sci-ppt:o024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27" name="A-E17 line 25" descr="sci-ppt:o025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17 line 26" descr="sci-ppt:o026"/>
          <p:cNvCxnSpPr/>
          <p:nvPr/>
        </p:nvCxnSpPr>
        <p:spPr>
          <a:xfrm>
            <a:off x="914400" y="241662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17 text 27" descr="sci-ppt:o027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30" name="A-E17 line 28" descr="sci-ppt:o028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17 line 29" descr="sci-ppt:o029"/>
          <p:cNvCxnSpPr/>
          <p:nvPr/>
        </p:nvCxnSpPr>
        <p:spPr>
          <a:xfrm>
            <a:off x="914400" y="154577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17 text 30" descr="sci-ppt:o030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3" name="A-E17 text 31" descr="sci-ppt:o031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time  t / τ_KV</a:t>
            </a:r>
          </a:p>
        </p:txBody>
      </p:sp>
      <p:sp>
        <p:nvSpPr>
          <p:cNvPr id="34" name="A-E17 text 32" descr="sci-ppt:o032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γ(t) / γ₀</a:t>
            </a:r>
          </a:p>
        </p:txBody>
      </p:sp>
      <p:sp>
        <p:nvSpPr>
          <p:cNvPr id="35" name="A-E17 polygon 33" descr="sci-ppt:o033"/>
          <p:cNvSpPr/>
          <p:nvPr/>
        </p:nvSpPr>
        <p:spPr>
          <a:xfrm>
            <a:off x="914400" y="1545771"/>
            <a:ext cx="5852160" cy="3419627"/>
          </a:xfrm>
          <a:custGeom>
            <a:avLst/>
            <a:gdLst/>
            <a:ahLst/>
            <a:cxnLst/>
            <a:rect l="l" t="t" r="r" b="b"/>
            <a:pathLst>
              <a:path w="5852160" h="3419627">
                <a:moveTo>
                  <a:pt x="0" y="0"/>
                </a:moveTo>
                <a:lnTo>
                  <a:pt x="39144" y="91966"/>
                </a:lnTo>
                <a:lnTo>
                  <a:pt x="78289" y="181505"/>
                </a:lnTo>
                <a:lnTo>
                  <a:pt x="117434" y="268679"/>
                </a:lnTo>
                <a:lnTo>
                  <a:pt x="156579" y="353552"/>
                </a:lnTo>
                <a:lnTo>
                  <a:pt x="195724" y="436184"/>
                </a:lnTo>
                <a:lnTo>
                  <a:pt x="234869" y="516634"/>
                </a:lnTo>
                <a:lnTo>
                  <a:pt x="274014" y="594961"/>
                </a:lnTo>
                <a:lnTo>
                  <a:pt x="313159" y="671220"/>
                </a:lnTo>
                <a:lnTo>
                  <a:pt x="352303" y="745465"/>
                </a:lnTo>
                <a:lnTo>
                  <a:pt x="391448" y="817750"/>
                </a:lnTo>
                <a:lnTo>
                  <a:pt x="430593" y="888127"/>
                </a:lnTo>
                <a:lnTo>
                  <a:pt x="469738" y="956646"/>
                </a:lnTo>
                <a:lnTo>
                  <a:pt x="508883" y="1023356"/>
                </a:lnTo>
                <a:lnTo>
                  <a:pt x="548028" y="1088304"/>
                </a:lnTo>
                <a:lnTo>
                  <a:pt x="587173" y="1151538"/>
                </a:lnTo>
                <a:lnTo>
                  <a:pt x="626318" y="1213103"/>
                </a:lnTo>
                <a:lnTo>
                  <a:pt x="665463" y="1273042"/>
                </a:lnTo>
                <a:lnTo>
                  <a:pt x="704607" y="1331398"/>
                </a:lnTo>
                <a:lnTo>
                  <a:pt x="743752" y="1388214"/>
                </a:lnTo>
                <a:lnTo>
                  <a:pt x="782897" y="1443530"/>
                </a:lnTo>
                <a:lnTo>
                  <a:pt x="822042" y="1497386"/>
                </a:lnTo>
                <a:lnTo>
                  <a:pt x="861187" y="1549819"/>
                </a:lnTo>
                <a:lnTo>
                  <a:pt x="900332" y="1600869"/>
                </a:lnTo>
                <a:lnTo>
                  <a:pt x="939477" y="1650570"/>
                </a:lnTo>
                <a:lnTo>
                  <a:pt x="978622" y="1698960"/>
                </a:lnTo>
                <a:lnTo>
                  <a:pt x="1017766" y="1746072"/>
                </a:lnTo>
                <a:lnTo>
                  <a:pt x="1056911" y="1791940"/>
                </a:lnTo>
                <a:lnTo>
                  <a:pt x="1096056" y="1836597"/>
                </a:lnTo>
                <a:lnTo>
                  <a:pt x="1135201" y="1880075"/>
                </a:lnTo>
                <a:lnTo>
                  <a:pt x="1174346" y="1922405"/>
                </a:lnTo>
                <a:lnTo>
                  <a:pt x="1213491" y="1963618"/>
                </a:lnTo>
                <a:lnTo>
                  <a:pt x="1252636" y="2003743"/>
                </a:lnTo>
                <a:lnTo>
                  <a:pt x="1291781" y="2042808"/>
                </a:lnTo>
                <a:lnTo>
                  <a:pt x="1330926" y="2080842"/>
                </a:lnTo>
                <a:lnTo>
                  <a:pt x="1370070" y="2117872"/>
                </a:lnTo>
                <a:lnTo>
                  <a:pt x="1409215" y="2153924"/>
                </a:lnTo>
                <a:lnTo>
                  <a:pt x="1448360" y="2189024"/>
                </a:lnTo>
                <a:lnTo>
                  <a:pt x="1487505" y="2223198"/>
                </a:lnTo>
                <a:lnTo>
                  <a:pt x="1526650" y="2256469"/>
                </a:lnTo>
                <a:lnTo>
                  <a:pt x="1565795" y="2288863"/>
                </a:lnTo>
                <a:lnTo>
                  <a:pt x="1604940" y="2320400"/>
                </a:lnTo>
                <a:lnTo>
                  <a:pt x="1644085" y="2351106"/>
                </a:lnTo>
                <a:lnTo>
                  <a:pt x="1683229" y="2381000"/>
                </a:lnTo>
                <a:lnTo>
                  <a:pt x="1722374" y="2410105"/>
                </a:lnTo>
                <a:lnTo>
                  <a:pt x="1761519" y="2438442"/>
                </a:lnTo>
                <a:lnTo>
                  <a:pt x="1800664" y="2466031"/>
                </a:lnTo>
                <a:lnTo>
                  <a:pt x="1839809" y="2492891"/>
                </a:lnTo>
                <a:lnTo>
                  <a:pt x="1878954" y="2519043"/>
                </a:lnTo>
                <a:lnTo>
                  <a:pt x="1918099" y="2544504"/>
                </a:lnTo>
                <a:lnTo>
                  <a:pt x="1957244" y="2569292"/>
                </a:lnTo>
                <a:lnTo>
                  <a:pt x="1996389" y="2593426"/>
                </a:lnTo>
                <a:lnTo>
                  <a:pt x="2035533" y="2616923"/>
                </a:lnTo>
                <a:lnTo>
                  <a:pt x="2074678" y="2639800"/>
                </a:lnTo>
                <a:lnTo>
                  <a:pt x="2113823" y="2662073"/>
                </a:lnTo>
                <a:lnTo>
                  <a:pt x="2152968" y="2683757"/>
                </a:lnTo>
                <a:lnTo>
                  <a:pt x="2192113" y="2704870"/>
                </a:lnTo>
                <a:lnTo>
                  <a:pt x="2231258" y="2725424"/>
                </a:lnTo>
                <a:lnTo>
                  <a:pt x="2270403" y="2745437"/>
                </a:lnTo>
                <a:lnTo>
                  <a:pt x="2309548" y="2764920"/>
                </a:lnTo>
                <a:lnTo>
                  <a:pt x="2348692" y="2783890"/>
                </a:lnTo>
                <a:lnTo>
                  <a:pt x="2387837" y="2802358"/>
                </a:lnTo>
                <a:lnTo>
                  <a:pt x="2426982" y="2820339"/>
                </a:lnTo>
                <a:lnTo>
                  <a:pt x="2466127" y="2837846"/>
                </a:lnTo>
                <a:lnTo>
                  <a:pt x="2505272" y="2854890"/>
                </a:lnTo>
                <a:lnTo>
                  <a:pt x="2544417" y="2871484"/>
                </a:lnTo>
                <a:lnTo>
                  <a:pt x="2583562" y="2887640"/>
                </a:lnTo>
                <a:lnTo>
                  <a:pt x="2622707" y="2903369"/>
                </a:lnTo>
                <a:lnTo>
                  <a:pt x="2661852" y="2918683"/>
                </a:lnTo>
                <a:lnTo>
                  <a:pt x="2700996" y="2933593"/>
                </a:lnTo>
                <a:lnTo>
                  <a:pt x="2740141" y="2948110"/>
                </a:lnTo>
                <a:lnTo>
                  <a:pt x="2779286" y="2962243"/>
                </a:lnTo>
                <a:lnTo>
                  <a:pt x="2818431" y="2976002"/>
                </a:lnTo>
                <a:lnTo>
                  <a:pt x="2857576" y="2989399"/>
                </a:lnTo>
                <a:lnTo>
                  <a:pt x="2896721" y="3002442"/>
                </a:lnTo>
                <a:lnTo>
                  <a:pt x="2935866" y="3015141"/>
                </a:lnTo>
                <a:lnTo>
                  <a:pt x="2975011" y="3027504"/>
                </a:lnTo>
                <a:lnTo>
                  <a:pt x="3014155" y="3039541"/>
                </a:lnTo>
                <a:lnTo>
                  <a:pt x="3053300" y="3051260"/>
                </a:lnTo>
                <a:lnTo>
                  <a:pt x="3092445" y="3062670"/>
                </a:lnTo>
                <a:lnTo>
                  <a:pt x="3131590" y="3073778"/>
                </a:lnTo>
                <a:lnTo>
                  <a:pt x="3170735" y="3084593"/>
                </a:lnTo>
                <a:lnTo>
                  <a:pt x="3209880" y="3095123"/>
                </a:lnTo>
                <a:lnTo>
                  <a:pt x="3249025" y="3105375"/>
                </a:lnTo>
                <a:lnTo>
                  <a:pt x="3288170" y="3115356"/>
                </a:lnTo>
                <a:lnTo>
                  <a:pt x="3327315" y="3125073"/>
                </a:lnTo>
                <a:lnTo>
                  <a:pt x="3366459" y="3134534"/>
                </a:lnTo>
                <a:lnTo>
                  <a:pt x="3405604" y="3143745"/>
                </a:lnTo>
                <a:lnTo>
                  <a:pt x="3444749" y="3152713"/>
                </a:lnTo>
                <a:lnTo>
                  <a:pt x="3483894" y="3161445"/>
                </a:lnTo>
                <a:lnTo>
                  <a:pt x="3523039" y="3169945"/>
                </a:lnTo>
                <a:lnTo>
                  <a:pt x="3562184" y="3178222"/>
                </a:lnTo>
                <a:lnTo>
                  <a:pt x="3601329" y="3186279"/>
                </a:lnTo>
                <a:lnTo>
                  <a:pt x="3640474" y="3194125"/>
                </a:lnTo>
                <a:lnTo>
                  <a:pt x="3679618" y="3201762"/>
                </a:lnTo>
                <a:lnTo>
                  <a:pt x="3718763" y="3209199"/>
                </a:lnTo>
                <a:lnTo>
                  <a:pt x="3757908" y="3216439"/>
                </a:lnTo>
                <a:lnTo>
                  <a:pt x="3797053" y="3223488"/>
                </a:lnTo>
                <a:lnTo>
                  <a:pt x="3836198" y="3230350"/>
                </a:lnTo>
                <a:lnTo>
                  <a:pt x="3875343" y="3237032"/>
                </a:lnTo>
                <a:lnTo>
                  <a:pt x="3914488" y="3243537"/>
                </a:lnTo>
                <a:lnTo>
                  <a:pt x="3953633" y="3249870"/>
                </a:lnTo>
                <a:lnTo>
                  <a:pt x="3992778" y="3256037"/>
                </a:lnTo>
                <a:lnTo>
                  <a:pt x="4031922" y="3262040"/>
                </a:lnTo>
                <a:lnTo>
                  <a:pt x="4071067" y="3267885"/>
                </a:lnTo>
                <a:lnTo>
                  <a:pt x="4110212" y="3273575"/>
                </a:lnTo>
                <a:lnTo>
                  <a:pt x="4149357" y="3279116"/>
                </a:lnTo>
                <a:lnTo>
                  <a:pt x="4188502" y="3284510"/>
                </a:lnTo>
                <a:lnTo>
                  <a:pt x="4227647" y="3289761"/>
                </a:lnTo>
                <a:lnTo>
                  <a:pt x="4266792" y="3294875"/>
                </a:lnTo>
                <a:lnTo>
                  <a:pt x="4305937" y="3299853"/>
                </a:lnTo>
                <a:lnTo>
                  <a:pt x="4345082" y="3304699"/>
                </a:lnTo>
                <a:lnTo>
                  <a:pt x="4384226" y="3309418"/>
                </a:lnTo>
                <a:lnTo>
                  <a:pt x="4423371" y="3314012"/>
                </a:lnTo>
                <a:lnTo>
                  <a:pt x="4462516" y="3318485"/>
                </a:lnTo>
                <a:lnTo>
                  <a:pt x="4501661" y="3322839"/>
                </a:lnTo>
                <a:lnTo>
                  <a:pt x="4540806" y="3327079"/>
                </a:lnTo>
                <a:lnTo>
                  <a:pt x="4579951" y="3331207"/>
                </a:lnTo>
                <a:lnTo>
                  <a:pt x="4619096" y="3335226"/>
                </a:lnTo>
                <a:lnTo>
                  <a:pt x="4658241" y="3339138"/>
                </a:lnTo>
                <a:lnTo>
                  <a:pt x="4697385" y="3342948"/>
                </a:lnTo>
                <a:lnTo>
                  <a:pt x="4736530" y="3346657"/>
                </a:lnTo>
                <a:lnTo>
                  <a:pt x="4775675" y="3350268"/>
                </a:lnTo>
                <a:lnTo>
                  <a:pt x="4814820" y="3353783"/>
                </a:lnTo>
                <a:lnTo>
                  <a:pt x="4853965" y="3357206"/>
                </a:lnTo>
                <a:lnTo>
                  <a:pt x="4893110" y="3360538"/>
                </a:lnTo>
                <a:lnTo>
                  <a:pt x="4932255" y="3363783"/>
                </a:lnTo>
                <a:lnTo>
                  <a:pt x="4971400" y="3366942"/>
                </a:lnTo>
                <a:lnTo>
                  <a:pt x="5010545" y="3370017"/>
                </a:lnTo>
                <a:lnTo>
                  <a:pt x="5049689" y="3373011"/>
                </a:lnTo>
                <a:lnTo>
                  <a:pt x="5088834" y="3375926"/>
                </a:lnTo>
                <a:lnTo>
                  <a:pt x="5127979" y="3378764"/>
                </a:lnTo>
                <a:lnTo>
                  <a:pt x="5167124" y="3381528"/>
                </a:lnTo>
                <a:lnTo>
                  <a:pt x="5206269" y="3384218"/>
                </a:lnTo>
                <a:lnTo>
                  <a:pt x="5245414" y="3386837"/>
                </a:lnTo>
                <a:lnTo>
                  <a:pt x="5284559" y="3389387"/>
                </a:lnTo>
                <a:lnTo>
                  <a:pt x="5323704" y="3391870"/>
                </a:lnTo>
                <a:lnTo>
                  <a:pt x="5362848" y="3394287"/>
                </a:lnTo>
                <a:lnTo>
                  <a:pt x="5401993" y="3396641"/>
                </a:lnTo>
                <a:lnTo>
                  <a:pt x="5441138" y="3398932"/>
                </a:lnTo>
                <a:lnTo>
                  <a:pt x="5480283" y="3401163"/>
                </a:lnTo>
                <a:lnTo>
                  <a:pt x="5519428" y="3403335"/>
                </a:lnTo>
                <a:lnTo>
                  <a:pt x="5558573" y="3405449"/>
                </a:lnTo>
                <a:lnTo>
                  <a:pt x="5597718" y="3407508"/>
                </a:lnTo>
                <a:lnTo>
                  <a:pt x="5636863" y="3409512"/>
                </a:lnTo>
                <a:lnTo>
                  <a:pt x="5676008" y="3411464"/>
                </a:lnTo>
                <a:lnTo>
                  <a:pt x="5715152" y="3413364"/>
                </a:lnTo>
                <a:lnTo>
                  <a:pt x="5754297" y="3415214"/>
                </a:lnTo>
                <a:lnTo>
                  <a:pt x="5793442" y="3417015"/>
                </a:lnTo>
                <a:lnTo>
                  <a:pt x="5832587" y="3418768"/>
                </a:lnTo>
                <a:lnTo>
                  <a:pt x="5852160" y="3419627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A-E17 ellipse 34" descr="sci-ppt:o034"/>
          <p:cNvSpPr/>
          <p:nvPr/>
        </p:nvSpPr>
        <p:spPr>
          <a:xfrm>
            <a:off x="2304288" y="367456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A-E17 line 35" descr="sci-ppt:o035"/>
          <p:cNvCxnSpPr/>
          <p:nvPr/>
        </p:nvCxnSpPr>
        <p:spPr>
          <a:xfrm>
            <a:off x="2377440" y="1371600"/>
            <a:ext cx="0" cy="365760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cxnSp>
        <p:nvCxnSpPr>
          <p:cNvPr id="38" name="A-E17 line 36" descr="sci-ppt:o036"/>
          <p:cNvCxnSpPr/>
          <p:nvPr/>
        </p:nvCxnSpPr>
        <p:spPr>
          <a:xfrm>
            <a:off x="914400" y="3747718"/>
            <a:ext cx="5852160" cy="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sp>
        <p:nvSpPr>
          <p:cNvPr id="39" name="A-E17 text 37" descr="sci-ppt:o037"/>
          <p:cNvSpPr txBox="1"/>
          <p:nvPr/>
        </p:nvSpPr>
        <p:spPr>
          <a:xfrm>
            <a:off x="2514600" y="3290518"/>
            <a:ext cx="1828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1/e at t = τ_KV</a:t>
            </a:r>
          </a:p>
        </p:txBody>
      </p:sp>
      <p:sp>
        <p:nvSpPr>
          <p:cNvPr id="40" name="A-E17 round_rect 38" descr="sci-ppt:o038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A-E17 text 39" descr="sci-ppt:o039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Kelvin–Voigt dashpot in shear</a:t>
            </a:r>
          </a:p>
        </p:txBody>
      </p:sp>
      <p:sp>
        <p:nvSpPr>
          <p:cNvPr id="42" name="A-E17 text 40" descr="sci-ppt:o040"/>
          <p:cNvSpPr txBox="1"/>
          <p:nvPr/>
        </p:nvSpPr>
        <p:spPr>
          <a:xfrm>
            <a:off x="7178040" y="182880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Tₛₕ = G_g γ + η_g γ̇</a:t>
            </a:r>
          </a:p>
        </p:txBody>
      </p:sp>
      <p:sp>
        <p:nvSpPr>
          <p:cNvPr id="43" name="A-E17 text 41" descr="sci-ppt:o041"/>
          <p:cNvSpPr txBox="1"/>
          <p:nvPr/>
        </p:nvSpPr>
        <p:spPr>
          <a:xfrm>
            <a:off x="7178040" y="233172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Tₛₕ = 0:  γ̇ = −(G_g/η_g) γ</a:t>
            </a:r>
          </a:p>
        </p:txBody>
      </p:sp>
      <p:sp>
        <p:nvSpPr>
          <p:cNvPr id="44" name="A-E17 text 42" descr="sci-ppt:o042"/>
          <p:cNvSpPr txBox="1"/>
          <p:nvPr/>
        </p:nvSpPr>
        <p:spPr>
          <a:xfrm>
            <a:off x="7178040" y="283464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γ = γ₀ exp(−t/τ_KV),   τ_KV = η_g/G_g</a:t>
            </a:r>
          </a:p>
        </p:txBody>
      </p:sp>
      <p:sp>
        <p:nvSpPr>
          <p:cNvPr id="45" name="A-E17 text 43" descr="sci-ppt:o043"/>
          <p:cNvSpPr txBox="1"/>
          <p:nvPr/>
        </p:nvSpPr>
        <p:spPr>
          <a:xfrm>
            <a:off x="7178040" y="338328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τ_KV = 0.010 / 20 000 = 0.50 µs</a:t>
            </a:r>
          </a:p>
        </p:txBody>
      </p:sp>
      <p:sp>
        <p:nvSpPr>
          <p:cNvPr id="46" name="A-E17 text 44" descr="sci-ppt:o044"/>
          <p:cNvSpPr txBox="1"/>
          <p:nvPr/>
        </p:nvSpPr>
        <p:spPr>
          <a:xfrm>
            <a:off x="7178040" y="3931920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This is the recovery time after unloading; it is not 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relaxation time for stress under constant strain.</a:t>
            </a:r>
          </a:p>
        </p:txBody>
      </p:sp>
      <p:sp>
        <p:nvSpPr>
          <p:cNvPr id="47" name="A-E17 text 45" descr="sci-ppt:o045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Kelvin–Voigt solid recovers strain exponentially; it cannot relax stress at constant strain, so τ_KV must not be reused as τᵣₑₗ.</a:t>
            </a:r>
          </a:p>
        </p:txBody>
      </p:sp>
      <p:sp>
        <p:nvSpPr>
          <p:cNvPr id="48" name="A-E17 text 46" descr="sci-ppt:o04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Linear constitutive check of Eq. A-E17 (G_g = 20 kPa, η_g = 0.010 Pa 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A-E18 · Teaching response-time comparison</a:t>
            </a:r>
          </a:p>
        </p:txBody>
      </p:sp>
      <p:sp>
        <p:nvSpPr>
          <p:cNvPr id="3" name="A-E18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How long does the gel need to answer, compared with the collapse it is meant to follow?</a:t>
            </a:r>
          </a:p>
        </p:txBody>
      </p:sp>
      <p:sp>
        <p:nvSpPr>
          <p:cNvPr id="4" name="A-E18 text 2" descr="sci-ppt:o002"/>
          <p:cNvSpPr txBox="1"/>
          <p:nvPr/>
        </p:nvSpPr>
        <p:spPr>
          <a:xfrm>
            <a:off x="457200" y="1481328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shear-wave crossing  tₛ = L_g / cₛ</a:t>
            </a:r>
          </a:p>
        </p:txBody>
      </p:sp>
      <p:sp>
        <p:nvSpPr>
          <p:cNvPr id="5" name="A-E18 rect 3" descr="sci-ppt:o003"/>
          <p:cNvSpPr/>
          <p:nvPr/>
        </p:nvSpPr>
        <p:spPr>
          <a:xfrm>
            <a:off x="5029200" y="1463040"/>
            <a:ext cx="4523811" cy="54864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A-E18 text 4" descr="sci-ppt:o004"/>
          <p:cNvSpPr txBox="1"/>
          <p:nvPr/>
        </p:nvSpPr>
        <p:spPr>
          <a:xfrm>
            <a:off x="9626163" y="150876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6.7082 µs</a:t>
            </a:r>
          </a:p>
        </p:txBody>
      </p:sp>
      <p:sp>
        <p:nvSpPr>
          <p:cNvPr id="7" name="A-E18 text 5" descr="sci-ppt:o005"/>
          <p:cNvSpPr txBox="1"/>
          <p:nvPr/>
        </p:nvSpPr>
        <p:spPr>
          <a:xfrm>
            <a:off x="457200" y="2350008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ideal liquid collapse  t_c,liq</a:t>
            </a:r>
          </a:p>
        </p:txBody>
      </p:sp>
      <p:sp>
        <p:nvSpPr>
          <p:cNvPr id="8" name="A-E18 rect 6" descr="sci-ppt:o006"/>
          <p:cNvSpPr/>
          <p:nvPr/>
        </p:nvSpPr>
        <p:spPr>
          <a:xfrm>
            <a:off x="5029200" y="2331720"/>
            <a:ext cx="1850500" cy="54864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-E18 text 7" descr="sci-ppt:o007"/>
          <p:cNvSpPr txBox="1"/>
          <p:nvPr/>
        </p:nvSpPr>
        <p:spPr>
          <a:xfrm>
            <a:off x="6952852" y="2377439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2.7440 µs</a:t>
            </a:r>
          </a:p>
        </p:txBody>
      </p:sp>
      <p:sp>
        <p:nvSpPr>
          <p:cNvPr id="10" name="A-E18 round_rect 8" descr="sci-ppt:o008"/>
          <p:cNvSpPr/>
          <p:nvPr/>
        </p:nvSpPr>
        <p:spPr>
          <a:xfrm>
            <a:off x="457200" y="356616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-E18 text 9" descr="sci-ppt:o009"/>
          <p:cNvSpPr txBox="1"/>
          <p:nvPr/>
        </p:nvSpPr>
        <p:spPr>
          <a:xfrm>
            <a:off x="566928" y="36210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Numbers</a:t>
            </a:r>
          </a:p>
        </p:txBody>
      </p:sp>
      <p:sp>
        <p:nvSpPr>
          <p:cNvPr id="12" name="A-E18 text 10" descr="sci-ppt:o010"/>
          <p:cNvSpPr txBox="1"/>
          <p:nvPr/>
        </p:nvSpPr>
        <p:spPr>
          <a:xfrm>
            <a:off x="594360" y="402336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cₛ = √(G_g/ρ_g) = 4.47213595 m/s</a:t>
            </a:r>
          </a:p>
        </p:txBody>
      </p:sp>
      <p:sp>
        <p:nvSpPr>
          <p:cNvPr id="13" name="A-E18 text 11" descr="sci-ppt:o011"/>
          <p:cNvSpPr txBox="1"/>
          <p:nvPr/>
        </p:nvSpPr>
        <p:spPr>
          <a:xfrm>
            <a:off x="594360" y="45262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tₛ = 30 µm / cₛ = 6.70820393 µs</a:t>
            </a:r>
          </a:p>
        </p:txBody>
      </p:sp>
      <p:sp>
        <p:nvSpPr>
          <p:cNvPr id="14" name="A-E18 text 12" descr="sci-ppt:o012"/>
          <p:cNvSpPr txBox="1"/>
          <p:nvPr/>
        </p:nvSpPr>
        <p:spPr>
          <a:xfrm>
            <a:off x="594360" y="5029200"/>
            <a:ext cx="5212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t_c,liq = 0.91468 Rₘₐₓ √(ρₗ/Δp_c) = 2.74404407 µs</a:t>
            </a:r>
          </a:p>
        </p:txBody>
      </p:sp>
      <p:sp>
        <p:nvSpPr>
          <p:cNvPr id="15" name="A-E18 round_rect 13" descr="sci-ppt:o013"/>
          <p:cNvSpPr/>
          <p:nvPr/>
        </p:nvSpPr>
        <p:spPr>
          <a:xfrm>
            <a:off x="6217920" y="356616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A-E18 text 14" descr="sci-ppt:o014"/>
          <p:cNvSpPr txBox="1"/>
          <p:nvPr/>
        </p:nvSpPr>
        <p:spPr>
          <a:xfrm>
            <a:off x="6327648" y="36210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Ratio</a:t>
            </a:r>
          </a:p>
        </p:txBody>
      </p:sp>
      <p:sp>
        <p:nvSpPr>
          <p:cNvPr id="17" name="A-E18 text 15" descr="sci-ppt:o015"/>
          <p:cNvSpPr txBox="1"/>
          <p:nvPr/>
        </p:nvSpPr>
        <p:spPr>
          <a:xfrm>
            <a:off x="6355080" y="4114800"/>
            <a:ext cx="521208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tₛ / t_c,liq = 2.44464147</a:t>
            </a:r>
          </a:p>
        </p:txBody>
      </p:sp>
      <p:sp>
        <p:nvSpPr>
          <p:cNvPr id="18" name="A-E18 text 16" descr="sci-ppt:o016"/>
          <p:cNvSpPr txBox="1"/>
          <p:nvPr/>
        </p:nvSpPr>
        <p:spPr>
          <a:xfrm>
            <a:off x="6355080" y="475488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gel communicates slower than the ideal liquid collapses: it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cannot be treated as quasi-static over the event.</a:t>
            </a:r>
          </a:p>
        </p:txBody>
      </p:sp>
      <p:sp>
        <p:nvSpPr>
          <p:cNvPr id="19" name="A-E18 text 17" descr="sci-ppt:o01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Teaching response-time comparison of Eq. A-E18 (Rₘₐₓ = 30 µm, ρₗ = 1000 kg/m³, Δp_c = 100 kPa, L_g = 30 µm).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A-E19 · Separate compressibility diagnostic</a:t>
            </a:r>
          </a:p>
        </p:txBody>
      </p:sp>
      <p:cxnSp>
        <p:nvCxnSpPr>
          <p:cNvPr id="3" name="A-E19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9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9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9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9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1e+05</a:t>
            </a:r>
          </a:p>
        </p:txBody>
      </p:sp>
      <p:cxnSp>
        <p:nvCxnSpPr>
          <p:cNvPr id="8" name="A-E19 line 6" descr="sci-ppt:o006"/>
          <p:cNvCxnSpPr/>
          <p:nvPr/>
        </p:nvCxnSpPr>
        <p:spPr>
          <a:xfrm>
            <a:off x="208483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9 line 7" descr="sci-ppt:o007"/>
          <p:cNvCxnSpPr/>
          <p:nvPr/>
        </p:nvCxnSpPr>
        <p:spPr>
          <a:xfrm>
            <a:off x="208483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9 text 8" descr="sci-ppt:o008"/>
          <p:cNvSpPr txBox="1"/>
          <p:nvPr/>
        </p:nvSpPr>
        <p:spPr>
          <a:xfrm>
            <a:off x="162763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1e+06</a:t>
            </a:r>
          </a:p>
        </p:txBody>
      </p:sp>
      <p:cxnSp>
        <p:nvCxnSpPr>
          <p:cNvPr id="11" name="A-E19 line 9" descr="sci-ppt:o009"/>
          <p:cNvCxnSpPr/>
          <p:nvPr/>
        </p:nvCxnSpPr>
        <p:spPr>
          <a:xfrm>
            <a:off x="325526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9 line 10" descr="sci-ppt:o010"/>
          <p:cNvCxnSpPr/>
          <p:nvPr/>
        </p:nvCxnSpPr>
        <p:spPr>
          <a:xfrm>
            <a:off x="325526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9 text 11" descr="sci-ppt:o011"/>
          <p:cNvSpPr txBox="1"/>
          <p:nvPr/>
        </p:nvSpPr>
        <p:spPr>
          <a:xfrm>
            <a:off x="279806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1e+07</a:t>
            </a:r>
          </a:p>
        </p:txBody>
      </p:sp>
      <p:cxnSp>
        <p:nvCxnSpPr>
          <p:cNvPr id="14" name="A-E19 line 12" descr="sci-ppt:o012"/>
          <p:cNvCxnSpPr/>
          <p:nvPr/>
        </p:nvCxnSpPr>
        <p:spPr>
          <a:xfrm>
            <a:off x="442569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9 line 13" descr="sci-ppt:o013"/>
          <p:cNvCxnSpPr/>
          <p:nvPr/>
        </p:nvCxnSpPr>
        <p:spPr>
          <a:xfrm>
            <a:off x="442569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19 text 14" descr="sci-ppt:o014"/>
          <p:cNvSpPr txBox="1"/>
          <p:nvPr/>
        </p:nvSpPr>
        <p:spPr>
          <a:xfrm>
            <a:off x="396849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1e+08</a:t>
            </a:r>
          </a:p>
        </p:txBody>
      </p:sp>
      <p:cxnSp>
        <p:nvCxnSpPr>
          <p:cNvPr id="17" name="A-E19 line 15" descr="sci-ppt:o015"/>
          <p:cNvCxnSpPr/>
          <p:nvPr/>
        </p:nvCxnSpPr>
        <p:spPr>
          <a:xfrm>
            <a:off x="559612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19 line 16" descr="sci-ppt:o016"/>
          <p:cNvCxnSpPr/>
          <p:nvPr/>
        </p:nvCxnSpPr>
        <p:spPr>
          <a:xfrm>
            <a:off x="559612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19 text 17" descr="sci-ppt:o017"/>
          <p:cNvSpPr txBox="1"/>
          <p:nvPr/>
        </p:nvSpPr>
        <p:spPr>
          <a:xfrm>
            <a:off x="513892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1e+09</a:t>
            </a:r>
          </a:p>
        </p:txBody>
      </p:sp>
      <p:cxnSp>
        <p:nvCxnSpPr>
          <p:cNvPr id="20" name="A-E19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19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19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1e+10</a:t>
            </a:r>
          </a:p>
        </p:txBody>
      </p:sp>
      <p:cxnSp>
        <p:nvCxnSpPr>
          <p:cNvPr id="23" name="A-E19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19 line 22" descr="sci-ppt:o022"/>
          <p:cNvCxnSpPr/>
          <p:nvPr/>
        </p:nvCxnSpPr>
        <p:spPr>
          <a:xfrm>
            <a:off x="850392" y="4114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9 line 23" descr="sci-ppt:o023"/>
          <p:cNvCxnSpPr/>
          <p:nvPr/>
        </p:nvCxnSpPr>
        <p:spPr>
          <a:xfrm>
            <a:off x="914400" y="41148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9 text 24" descr="sci-ppt:o024"/>
          <p:cNvSpPr txBox="1"/>
          <p:nvPr/>
        </p:nvSpPr>
        <p:spPr>
          <a:xfrm>
            <a:off x="45720" y="4032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7" name="A-E19 line 25" descr="sci-ppt:o025"/>
          <p:cNvCxnSpPr/>
          <p:nvPr/>
        </p:nvCxnSpPr>
        <p:spPr>
          <a:xfrm>
            <a:off x="85039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19 line 26" descr="sci-ppt:o026"/>
          <p:cNvCxnSpPr/>
          <p:nvPr/>
        </p:nvCxnSpPr>
        <p:spPr>
          <a:xfrm>
            <a:off x="914400" y="32004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19 text 27" descr="sci-ppt:o027"/>
          <p:cNvSpPr txBox="1"/>
          <p:nvPr/>
        </p:nvSpPr>
        <p:spPr>
          <a:xfrm>
            <a:off x="4572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30" name="A-E19 line 28" descr="sci-ppt:o028"/>
          <p:cNvCxnSpPr/>
          <p:nvPr/>
        </p:nvCxnSpPr>
        <p:spPr>
          <a:xfrm>
            <a:off x="850392" y="2286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19 line 29" descr="sci-ppt:o029"/>
          <p:cNvCxnSpPr/>
          <p:nvPr/>
        </p:nvCxnSpPr>
        <p:spPr>
          <a:xfrm>
            <a:off x="914400" y="22860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19 text 30" descr="sci-ppt:o030"/>
          <p:cNvSpPr txBox="1"/>
          <p:nvPr/>
        </p:nvSpPr>
        <p:spPr>
          <a:xfrm>
            <a:off x="45720" y="2203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cxnSp>
        <p:nvCxnSpPr>
          <p:cNvPr id="33" name="A-E19 line 31" descr="sci-ppt:o031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19 line 32" descr="sci-ppt:o032"/>
          <p:cNvCxnSpPr/>
          <p:nvPr/>
        </p:nvCxnSpPr>
        <p:spPr>
          <a:xfrm>
            <a:off x="91440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19 text 33" descr="sci-ppt:o033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10000</a:t>
            </a:r>
          </a:p>
        </p:txBody>
      </p:sp>
      <p:sp>
        <p:nvSpPr>
          <p:cNvPr id="36" name="A-E19 text 34" descr="sci-ppt:o034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bulk modulus K_bulk  (Pa)</a:t>
            </a:r>
          </a:p>
        </p:txBody>
      </p:sp>
      <p:sp>
        <p:nvSpPr>
          <p:cNvPr id="37" name="A-E19 text 35" descr="sci-ppt:o035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longitudinal speed c_L  (m/s)</a:t>
            </a:r>
          </a:p>
        </p:txBody>
      </p:sp>
      <p:sp>
        <p:nvSpPr>
          <p:cNvPr id="38" name="A-E19 polygon 36" descr="sci-ppt:o036"/>
          <p:cNvSpPr/>
          <p:nvPr/>
        </p:nvSpPr>
        <p:spPr>
          <a:xfrm>
            <a:off x="914400" y="1828799"/>
            <a:ext cx="5852160" cy="2239063"/>
          </a:xfrm>
          <a:custGeom>
            <a:avLst/>
            <a:gdLst/>
            <a:ahLst/>
            <a:cxnLst/>
            <a:rect l="l" t="t" r="r" b="b"/>
            <a:pathLst>
              <a:path w="5852160" h="2239063">
                <a:moveTo>
                  <a:pt x="0" y="2239063"/>
                </a:moveTo>
                <a:lnTo>
                  <a:pt x="29407" y="2229940"/>
                </a:lnTo>
                <a:lnTo>
                  <a:pt x="58815" y="2220709"/>
                </a:lnTo>
                <a:lnTo>
                  <a:pt x="88223" y="2211376"/>
                </a:lnTo>
                <a:lnTo>
                  <a:pt x="117631" y="2201943"/>
                </a:lnTo>
                <a:lnTo>
                  <a:pt x="147039" y="2192414"/>
                </a:lnTo>
                <a:lnTo>
                  <a:pt x="176447" y="2182793"/>
                </a:lnTo>
                <a:lnTo>
                  <a:pt x="205854" y="2173084"/>
                </a:lnTo>
                <a:lnTo>
                  <a:pt x="235262" y="2163289"/>
                </a:lnTo>
                <a:lnTo>
                  <a:pt x="264670" y="2153412"/>
                </a:lnTo>
                <a:lnTo>
                  <a:pt x="294078" y="2143457"/>
                </a:lnTo>
                <a:lnTo>
                  <a:pt x="323486" y="2133427"/>
                </a:lnTo>
                <a:lnTo>
                  <a:pt x="352894" y="2123325"/>
                </a:lnTo>
                <a:lnTo>
                  <a:pt x="382301" y="2113153"/>
                </a:lnTo>
                <a:lnTo>
                  <a:pt x="411709" y="2102916"/>
                </a:lnTo>
                <a:lnTo>
                  <a:pt x="441117" y="2092616"/>
                </a:lnTo>
                <a:lnTo>
                  <a:pt x="470525" y="2082256"/>
                </a:lnTo>
                <a:lnTo>
                  <a:pt x="499933" y="2071838"/>
                </a:lnTo>
                <a:lnTo>
                  <a:pt x="529341" y="2061365"/>
                </a:lnTo>
                <a:lnTo>
                  <a:pt x="558748" y="2050840"/>
                </a:lnTo>
                <a:lnTo>
                  <a:pt x="588156" y="2040266"/>
                </a:lnTo>
                <a:lnTo>
                  <a:pt x="617564" y="2029643"/>
                </a:lnTo>
                <a:lnTo>
                  <a:pt x="646972" y="2018976"/>
                </a:lnTo>
                <a:lnTo>
                  <a:pt x="676380" y="2008266"/>
                </a:lnTo>
                <a:lnTo>
                  <a:pt x="705788" y="1997515"/>
                </a:lnTo>
                <a:lnTo>
                  <a:pt x="735195" y="1986724"/>
                </a:lnTo>
                <a:lnTo>
                  <a:pt x="764603" y="1975897"/>
                </a:lnTo>
                <a:lnTo>
                  <a:pt x="794011" y="1965035"/>
                </a:lnTo>
                <a:lnTo>
                  <a:pt x="823419" y="1954140"/>
                </a:lnTo>
                <a:lnTo>
                  <a:pt x="852827" y="1943213"/>
                </a:lnTo>
                <a:lnTo>
                  <a:pt x="882235" y="1932256"/>
                </a:lnTo>
                <a:lnTo>
                  <a:pt x="911643" y="1921270"/>
                </a:lnTo>
                <a:lnTo>
                  <a:pt x="941050" y="1910257"/>
                </a:lnTo>
                <a:lnTo>
                  <a:pt x="970458" y="1899219"/>
                </a:lnTo>
                <a:lnTo>
                  <a:pt x="999866" y="1888156"/>
                </a:lnTo>
                <a:lnTo>
                  <a:pt x="1029274" y="1877071"/>
                </a:lnTo>
                <a:lnTo>
                  <a:pt x="1058682" y="1865963"/>
                </a:lnTo>
                <a:lnTo>
                  <a:pt x="1088090" y="1854835"/>
                </a:lnTo>
                <a:lnTo>
                  <a:pt x="1117497" y="1843687"/>
                </a:lnTo>
                <a:lnTo>
                  <a:pt x="1146905" y="1832521"/>
                </a:lnTo>
                <a:lnTo>
                  <a:pt x="1176313" y="1821337"/>
                </a:lnTo>
                <a:lnTo>
                  <a:pt x="1205721" y="1810136"/>
                </a:lnTo>
                <a:lnTo>
                  <a:pt x="1235129" y="1798920"/>
                </a:lnTo>
                <a:lnTo>
                  <a:pt x="1264537" y="1787689"/>
                </a:lnTo>
                <a:lnTo>
                  <a:pt x="1293944" y="1776443"/>
                </a:lnTo>
                <a:lnTo>
                  <a:pt x="1323352" y="1765185"/>
                </a:lnTo>
                <a:lnTo>
                  <a:pt x="1352760" y="1753913"/>
                </a:lnTo>
                <a:lnTo>
                  <a:pt x="1382168" y="1742630"/>
                </a:lnTo>
                <a:lnTo>
                  <a:pt x="1411576" y="1731336"/>
                </a:lnTo>
                <a:lnTo>
                  <a:pt x="1440984" y="1720031"/>
                </a:lnTo>
                <a:lnTo>
                  <a:pt x="1470391" y="1708715"/>
                </a:lnTo>
                <a:lnTo>
                  <a:pt x="1499799" y="1697391"/>
                </a:lnTo>
                <a:lnTo>
                  <a:pt x="1529207" y="1686057"/>
                </a:lnTo>
                <a:lnTo>
                  <a:pt x="1558615" y="1674714"/>
                </a:lnTo>
                <a:lnTo>
                  <a:pt x="1588023" y="1663364"/>
                </a:lnTo>
                <a:lnTo>
                  <a:pt x="1617431" y="1652006"/>
                </a:lnTo>
                <a:lnTo>
                  <a:pt x="1646838" y="1640641"/>
                </a:lnTo>
                <a:lnTo>
                  <a:pt x="1676246" y="1629269"/>
                </a:lnTo>
                <a:lnTo>
                  <a:pt x="1705654" y="1617890"/>
                </a:lnTo>
                <a:lnTo>
                  <a:pt x="1735062" y="1606506"/>
                </a:lnTo>
                <a:lnTo>
                  <a:pt x="1764470" y="1595115"/>
                </a:lnTo>
                <a:lnTo>
                  <a:pt x="1793878" y="1583720"/>
                </a:lnTo>
                <a:lnTo>
                  <a:pt x="1823286" y="1572319"/>
                </a:lnTo>
                <a:lnTo>
                  <a:pt x="1852693" y="1560913"/>
                </a:lnTo>
                <a:lnTo>
                  <a:pt x="1882101" y="1549503"/>
                </a:lnTo>
                <a:lnTo>
                  <a:pt x="1911509" y="1538089"/>
                </a:lnTo>
                <a:lnTo>
                  <a:pt x="1940917" y="1526670"/>
                </a:lnTo>
                <a:lnTo>
                  <a:pt x="1970325" y="1515248"/>
                </a:lnTo>
                <a:lnTo>
                  <a:pt x="1999733" y="1503822"/>
                </a:lnTo>
                <a:lnTo>
                  <a:pt x="2029140" y="1492392"/>
                </a:lnTo>
                <a:lnTo>
                  <a:pt x="2058548" y="1480959"/>
                </a:lnTo>
                <a:lnTo>
                  <a:pt x="2087956" y="1469524"/>
                </a:lnTo>
                <a:lnTo>
                  <a:pt x="2117364" y="1458085"/>
                </a:lnTo>
                <a:lnTo>
                  <a:pt x="2146772" y="1446643"/>
                </a:lnTo>
                <a:lnTo>
                  <a:pt x="2176180" y="1435199"/>
                </a:lnTo>
                <a:lnTo>
                  <a:pt x="2205587" y="1423753"/>
                </a:lnTo>
                <a:lnTo>
                  <a:pt x="2234995" y="1412304"/>
                </a:lnTo>
                <a:lnTo>
                  <a:pt x="2264403" y="1400853"/>
                </a:lnTo>
                <a:lnTo>
                  <a:pt x="2293811" y="1389400"/>
                </a:lnTo>
                <a:lnTo>
                  <a:pt x="2323219" y="1377946"/>
                </a:lnTo>
                <a:lnTo>
                  <a:pt x="2352627" y="1366489"/>
                </a:lnTo>
                <a:lnTo>
                  <a:pt x="2382034" y="1355030"/>
                </a:lnTo>
                <a:lnTo>
                  <a:pt x="2411442" y="1343570"/>
                </a:lnTo>
                <a:lnTo>
                  <a:pt x="2440850" y="1332109"/>
                </a:lnTo>
                <a:lnTo>
                  <a:pt x="2470258" y="1320646"/>
                </a:lnTo>
                <a:lnTo>
                  <a:pt x="2499666" y="1309181"/>
                </a:lnTo>
                <a:lnTo>
                  <a:pt x="2529074" y="1297716"/>
                </a:lnTo>
                <a:lnTo>
                  <a:pt x="2558482" y="1286249"/>
                </a:lnTo>
                <a:lnTo>
                  <a:pt x="2587889" y="1274781"/>
                </a:lnTo>
                <a:lnTo>
                  <a:pt x="2617297" y="1263311"/>
                </a:lnTo>
                <a:lnTo>
                  <a:pt x="2646705" y="1251841"/>
                </a:lnTo>
                <a:lnTo>
                  <a:pt x="2676113" y="1240370"/>
                </a:lnTo>
                <a:lnTo>
                  <a:pt x="2705521" y="1228898"/>
                </a:lnTo>
                <a:lnTo>
                  <a:pt x="2734929" y="1217425"/>
                </a:lnTo>
                <a:lnTo>
                  <a:pt x="2764336" y="1205951"/>
                </a:lnTo>
                <a:lnTo>
                  <a:pt x="2793744" y="1194477"/>
                </a:lnTo>
                <a:lnTo>
                  <a:pt x="2823152" y="1183002"/>
                </a:lnTo>
                <a:lnTo>
                  <a:pt x="2852560" y="1171526"/>
                </a:lnTo>
                <a:lnTo>
                  <a:pt x="2881968" y="1160049"/>
                </a:lnTo>
                <a:lnTo>
                  <a:pt x="2911376" y="1148572"/>
                </a:lnTo>
                <a:lnTo>
                  <a:pt x="2940783" y="1137094"/>
                </a:lnTo>
                <a:lnTo>
                  <a:pt x="2970191" y="1125616"/>
                </a:lnTo>
                <a:lnTo>
                  <a:pt x="2999599" y="1114137"/>
                </a:lnTo>
                <a:lnTo>
                  <a:pt x="3029007" y="1102658"/>
                </a:lnTo>
                <a:lnTo>
                  <a:pt x="3058415" y="1091178"/>
                </a:lnTo>
                <a:lnTo>
                  <a:pt x="3087823" y="1079698"/>
                </a:lnTo>
                <a:lnTo>
                  <a:pt x="3117230" y="1068217"/>
                </a:lnTo>
                <a:lnTo>
                  <a:pt x="3146638" y="1056736"/>
                </a:lnTo>
                <a:lnTo>
                  <a:pt x="3176046" y="1045255"/>
                </a:lnTo>
                <a:lnTo>
                  <a:pt x="3205454" y="1033773"/>
                </a:lnTo>
                <a:lnTo>
                  <a:pt x="3234862" y="1022291"/>
                </a:lnTo>
                <a:lnTo>
                  <a:pt x="3264270" y="1010809"/>
                </a:lnTo>
                <a:lnTo>
                  <a:pt x="3293677" y="999326"/>
                </a:lnTo>
                <a:lnTo>
                  <a:pt x="3323085" y="987843"/>
                </a:lnTo>
                <a:lnTo>
                  <a:pt x="3352493" y="976360"/>
                </a:lnTo>
                <a:lnTo>
                  <a:pt x="3381901" y="964877"/>
                </a:lnTo>
                <a:lnTo>
                  <a:pt x="3411309" y="953393"/>
                </a:lnTo>
                <a:lnTo>
                  <a:pt x="3440717" y="941910"/>
                </a:lnTo>
                <a:lnTo>
                  <a:pt x="3470125" y="930426"/>
                </a:lnTo>
                <a:lnTo>
                  <a:pt x="3499532" y="918941"/>
                </a:lnTo>
                <a:lnTo>
                  <a:pt x="3528940" y="907457"/>
                </a:lnTo>
                <a:lnTo>
                  <a:pt x="3558348" y="895972"/>
                </a:lnTo>
                <a:lnTo>
                  <a:pt x="3587756" y="884488"/>
                </a:lnTo>
                <a:lnTo>
                  <a:pt x="3617164" y="873003"/>
                </a:lnTo>
                <a:lnTo>
                  <a:pt x="3646572" y="861518"/>
                </a:lnTo>
                <a:lnTo>
                  <a:pt x="3675979" y="850033"/>
                </a:lnTo>
                <a:lnTo>
                  <a:pt x="3705387" y="838547"/>
                </a:lnTo>
                <a:lnTo>
                  <a:pt x="3734795" y="827062"/>
                </a:lnTo>
                <a:lnTo>
                  <a:pt x="3764203" y="815576"/>
                </a:lnTo>
                <a:lnTo>
                  <a:pt x="3793611" y="804091"/>
                </a:lnTo>
                <a:lnTo>
                  <a:pt x="3823019" y="792605"/>
                </a:lnTo>
                <a:lnTo>
                  <a:pt x="3852426" y="781119"/>
                </a:lnTo>
                <a:lnTo>
                  <a:pt x="3881834" y="769633"/>
                </a:lnTo>
                <a:lnTo>
                  <a:pt x="3911242" y="758147"/>
                </a:lnTo>
                <a:lnTo>
                  <a:pt x="3940650" y="746661"/>
                </a:lnTo>
                <a:lnTo>
                  <a:pt x="3970058" y="735175"/>
                </a:lnTo>
                <a:lnTo>
                  <a:pt x="3999466" y="723689"/>
                </a:lnTo>
                <a:lnTo>
                  <a:pt x="4028873" y="712202"/>
                </a:lnTo>
                <a:lnTo>
                  <a:pt x="4058281" y="700716"/>
                </a:lnTo>
                <a:lnTo>
                  <a:pt x="4087689" y="689230"/>
                </a:lnTo>
                <a:lnTo>
                  <a:pt x="4117097" y="677743"/>
                </a:lnTo>
                <a:lnTo>
                  <a:pt x="4146505" y="666257"/>
                </a:lnTo>
                <a:lnTo>
                  <a:pt x="4175913" y="654770"/>
                </a:lnTo>
                <a:lnTo>
                  <a:pt x="4205321" y="643283"/>
                </a:lnTo>
                <a:lnTo>
                  <a:pt x="4234728" y="631797"/>
                </a:lnTo>
                <a:lnTo>
                  <a:pt x="4264136" y="620310"/>
                </a:lnTo>
                <a:lnTo>
                  <a:pt x="4293544" y="608823"/>
                </a:lnTo>
                <a:lnTo>
                  <a:pt x="4322952" y="597337"/>
                </a:lnTo>
                <a:lnTo>
                  <a:pt x="4352360" y="585850"/>
                </a:lnTo>
                <a:lnTo>
                  <a:pt x="4381768" y="574363"/>
                </a:lnTo>
                <a:lnTo>
                  <a:pt x="4411175" y="562876"/>
                </a:lnTo>
                <a:lnTo>
                  <a:pt x="4440583" y="551389"/>
                </a:lnTo>
                <a:lnTo>
                  <a:pt x="4469991" y="539902"/>
                </a:lnTo>
                <a:lnTo>
                  <a:pt x="4499399" y="528415"/>
                </a:lnTo>
                <a:lnTo>
                  <a:pt x="4528807" y="516928"/>
                </a:lnTo>
                <a:lnTo>
                  <a:pt x="4558215" y="505441"/>
                </a:lnTo>
                <a:lnTo>
                  <a:pt x="4587622" y="493954"/>
                </a:lnTo>
                <a:lnTo>
                  <a:pt x="4617030" y="482467"/>
                </a:lnTo>
                <a:lnTo>
                  <a:pt x="4646438" y="470980"/>
                </a:lnTo>
                <a:lnTo>
                  <a:pt x="4675846" y="459493"/>
                </a:lnTo>
                <a:lnTo>
                  <a:pt x="4705254" y="448005"/>
                </a:lnTo>
                <a:lnTo>
                  <a:pt x="4734662" y="436518"/>
                </a:lnTo>
                <a:lnTo>
                  <a:pt x="4764069" y="425031"/>
                </a:lnTo>
                <a:lnTo>
                  <a:pt x="4793477" y="413544"/>
                </a:lnTo>
                <a:lnTo>
                  <a:pt x="4822885" y="402057"/>
                </a:lnTo>
                <a:lnTo>
                  <a:pt x="4852293" y="390570"/>
                </a:lnTo>
                <a:lnTo>
                  <a:pt x="4881701" y="379082"/>
                </a:lnTo>
                <a:lnTo>
                  <a:pt x="4911109" y="367595"/>
                </a:lnTo>
                <a:lnTo>
                  <a:pt x="4940516" y="356108"/>
                </a:lnTo>
                <a:lnTo>
                  <a:pt x="4969924" y="344621"/>
                </a:lnTo>
                <a:lnTo>
                  <a:pt x="4999332" y="333133"/>
                </a:lnTo>
                <a:lnTo>
                  <a:pt x="5028740" y="321646"/>
                </a:lnTo>
                <a:lnTo>
                  <a:pt x="5058148" y="310159"/>
                </a:lnTo>
                <a:lnTo>
                  <a:pt x="5087556" y="298671"/>
                </a:lnTo>
                <a:lnTo>
                  <a:pt x="5116964" y="287184"/>
                </a:lnTo>
                <a:lnTo>
                  <a:pt x="5146371" y="275697"/>
                </a:lnTo>
                <a:lnTo>
                  <a:pt x="5175779" y="264210"/>
                </a:lnTo>
                <a:lnTo>
                  <a:pt x="5205187" y="252722"/>
                </a:lnTo>
                <a:lnTo>
                  <a:pt x="5234595" y="241235"/>
                </a:lnTo>
                <a:lnTo>
                  <a:pt x="5264003" y="229748"/>
                </a:lnTo>
                <a:lnTo>
                  <a:pt x="5293411" y="218260"/>
                </a:lnTo>
                <a:lnTo>
                  <a:pt x="5322818" y="206773"/>
                </a:lnTo>
                <a:lnTo>
                  <a:pt x="5352226" y="195286"/>
                </a:lnTo>
                <a:lnTo>
                  <a:pt x="5381634" y="183798"/>
                </a:lnTo>
                <a:lnTo>
                  <a:pt x="5411042" y="172311"/>
                </a:lnTo>
                <a:lnTo>
                  <a:pt x="5440450" y="160823"/>
                </a:lnTo>
                <a:lnTo>
                  <a:pt x="5469858" y="149336"/>
                </a:lnTo>
                <a:lnTo>
                  <a:pt x="5499265" y="137849"/>
                </a:lnTo>
                <a:lnTo>
                  <a:pt x="5528673" y="126361"/>
                </a:lnTo>
                <a:lnTo>
                  <a:pt x="5558081" y="114874"/>
                </a:lnTo>
                <a:lnTo>
                  <a:pt x="5587489" y="103387"/>
                </a:lnTo>
                <a:lnTo>
                  <a:pt x="5616897" y="91899"/>
                </a:lnTo>
                <a:lnTo>
                  <a:pt x="5646305" y="80412"/>
                </a:lnTo>
                <a:lnTo>
                  <a:pt x="5675712" y="68924"/>
                </a:lnTo>
                <a:lnTo>
                  <a:pt x="5705120" y="57437"/>
                </a:lnTo>
                <a:lnTo>
                  <a:pt x="5734528" y="45950"/>
                </a:lnTo>
                <a:lnTo>
                  <a:pt x="5763936" y="34462"/>
                </a:lnTo>
                <a:lnTo>
                  <a:pt x="5793344" y="22975"/>
                </a:lnTo>
                <a:lnTo>
                  <a:pt x="5822752" y="11487"/>
                </a:lnTo>
                <a:lnTo>
                  <a:pt x="5852160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A-E19 line 37" descr="sci-ppt:o037"/>
          <p:cNvCxnSpPr/>
          <p:nvPr/>
        </p:nvCxnSpPr>
        <p:spPr>
          <a:xfrm>
            <a:off x="914400" y="4434369"/>
            <a:ext cx="5852160" cy="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40" name="A-E19 text 38" descr="sci-ppt:o038"/>
          <p:cNvSpPr txBox="1"/>
          <p:nvPr/>
        </p:nvSpPr>
        <p:spPr>
          <a:xfrm>
            <a:off x="1545989" y="415664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cₛ = 4.47 m/s (shear)</a:t>
            </a:r>
          </a:p>
        </p:txBody>
      </p:sp>
      <p:sp>
        <p:nvSpPr>
          <p:cNvPr id="41" name="A-E19 ellipse 39" descr="sci-ppt:o039"/>
          <p:cNvSpPr/>
          <p:nvPr/>
        </p:nvSpPr>
        <p:spPr>
          <a:xfrm>
            <a:off x="5923758" y="2056289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-E19 text 40" descr="sci-ppt:o040"/>
          <p:cNvSpPr txBox="1"/>
          <p:nvPr/>
        </p:nvSpPr>
        <p:spPr>
          <a:xfrm>
            <a:off x="2613630" y="2220881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K = 2.2 GPa (assumed): c_L = 1483 m/s</a:t>
            </a:r>
          </a:p>
        </p:txBody>
      </p:sp>
      <p:sp>
        <p:nvSpPr>
          <p:cNvPr id="43" name="A-E19 round_rect 41" descr="sci-ppt:o041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-E19 text 42" descr="sci-ppt:o042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Compressional crossing</a:t>
            </a:r>
          </a:p>
        </p:txBody>
      </p:sp>
      <p:sp>
        <p:nvSpPr>
          <p:cNvPr id="45" name="A-E19 text 43" descr="sci-ppt:o043"/>
          <p:cNvSpPr txBox="1"/>
          <p:nvPr/>
        </p:nvSpPr>
        <p:spPr>
          <a:xfrm>
            <a:off x="7178040" y="182880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c_L ≃ √[(K_bulk + 4G_g/3)/ρ_g]</a:t>
            </a:r>
          </a:p>
        </p:txBody>
      </p:sp>
      <p:sp>
        <p:nvSpPr>
          <p:cNvPr id="46" name="A-E19 text 44" descr="sci-ppt:o044"/>
          <p:cNvSpPr txBox="1"/>
          <p:nvPr/>
        </p:nvSpPr>
        <p:spPr>
          <a:xfrm>
            <a:off x="7178040" y="233172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t_L = L_g / c_L,    M_w = |Ṙ| / c_L</a:t>
            </a:r>
          </a:p>
        </p:txBody>
      </p:sp>
      <p:sp>
        <p:nvSpPr>
          <p:cNvPr id="47" name="A-E19 text 45" descr="sci-ppt:o045"/>
          <p:cNvSpPr txBox="1"/>
          <p:nvPr/>
        </p:nvSpPr>
        <p:spPr>
          <a:xfrm>
            <a:off x="7178040" y="292608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t_L = 20.2 ns,   M_w = 0.0067  (|Ṙ| = 10 m/s)</a:t>
            </a:r>
          </a:p>
        </p:txBody>
      </p:sp>
      <p:sp>
        <p:nvSpPr>
          <p:cNvPr id="48" name="A-E19 text 46" descr="sci-ppt:o046"/>
          <p:cNvSpPr txBox="1"/>
          <p:nvPr/>
        </p:nvSpPr>
        <p:spPr>
          <a:xfrm>
            <a:off x="7178040" y="3566160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K_bulk = 2.2 GPa is an assumed water-like value for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illustration; the real gel must be characterised.</a:t>
            </a:r>
          </a:p>
        </p:txBody>
      </p:sp>
      <p:sp>
        <p:nvSpPr>
          <p:cNvPr id="49" name="A-E19 text 47" descr="sci-ppt:o047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Shear and longitudinal waves differ by about 330×: a water-rich gel answers compression almost instantly and shear slowly.</a:t>
            </a:r>
          </a:p>
        </p:txBody>
      </p:sp>
      <p:sp>
        <p:nvSpPr>
          <p:cNvPr id="50" name="A-E19 text 48" descr="sci-ppt:o04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Separate compressibility diagnostic of Eq. A-E19 (L_g = 30 µm).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2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A-E20 · Darcy/storage approximation and derived diffusion</a:t>
            </a:r>
          </a:p>
        </p:txBody>
      </p:sp>
      <p:cxnSp>
        <p:nvCxnSpPr>
          <p:cNvPr id="3" name="A-E20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20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20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20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20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1e-06</a:t>
            </a:r>
          </a:p>
        </p:txBody>
      </p:sp>
      <p:cxnSp>
        <p:nvCxnSpPr>
          <p:cNvPr id="8" name="A-E20 line 6" descr="sci-ppt:o006"/>
          <p:cNvCxnSpPr/>
          <p:nvPr/>
        </p:nvCxnSpPr>
        <p:spPr>
          <a:xfrm>
            <a:off x="2865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20 line 7" descr="sci-ppt:o007"/>
          <p:cNvCxnSpPr/>
          <p:nvPr/>
        </p:nvCxnSpPr>
        <p:spPr>
          <a:xfrm>
            <a:off x="2865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20 text 8" descr="sci-ppt:o008"/>
          <p:cNvSpPr txBox="1"/>
          <p:nvPr/>
        </p:nvSpPr>
        <p:spPr>
          <a:xfrm>
            <a:off x="2407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cxnSp>
        <p:nvCxnSpPr>
          <p:cNvPr id="11" name="A-E20 line 9" descr="sci-ppt:o009"/>
          <p:cNvCxnSpPr/>
          <p:nvPr/>
        </p:nvCxnSpPr>
        <p:spPr>
          <a:xfrm>
            <a:off x="48158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20 line 10" descr="sci-ppt:o010"/>
          <p:cNvCxnSpPr/>
          <p:nvPr/>
        </p:nvCxnSpPr>
        <p:spPr>
          <a:xfrm>
            <a:off x="48158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20 text 11" descr="sci-ppt:o011"/>
          <p:cNvSpPr txBox="1"/>
          <p:nvPr/>
        </p:nvSpPr>
        <p:spPr>
          <a:xfrm>
            <a:off x="43586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1e-04</a:t>
            </a:r>
          </a:p>
        </p:txBody>
      </p:sp>
      <p:cxnSp>
        <p:nvCxnSpPr>
          <p:cNvPr id="14" name="A-E20 line 12" descr="sci-ppt:o012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20 line 13" descr="sci-ppt:o013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20 text 14" descr="sci-ppt:o014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1e-03</a:t>
            </a:r>
          </a:p>
        </p:txBody>
      </p:sp>
      <p:cxnSp>
        <p:nvCxnSpPr>
          <p:cNvPr id="17" name="A-E20 line 15" descr="sci-ppt:o015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20 line 16" descr="sci-ppt:o016"/>
          <p:cNvCxnSpPr/>
          <p:nvPr/>
        </p:nvCxnSpPr>
        <p:spPr>
          <a:xfrm>
            <a:off x="850392" y="4114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20 line 17" descr="sci-ppt:o017"/>
          <p:cNvCxnSpPr/>
          <p:nvPr/>
        </p:nvCxnSpPr>
        <p:spPr>
          <a:xfrm>
            <a:off x="914400" y="41148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20 text 18" descr="sci-ppt:o018"/>
          <p:cNvSpPr txBox="1"/>
          <p:nvPr/>
        </p:nvSpPr>
        <p:spPr>
          <a:xfrm>
            <a:off x="45720" y="4032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1e-06</a:t>
            </a:r>
          </a:p>
        </p:txBody>
      </p:sp>
      <p:cxnSp>
        <p:nvCxnSpPr>
          <p:cNvPr id="21" name="A-E20 line 19" descr="sci-ppt:o019"/>
          <p:cNvCxnSpPr/>
          <p:nvPr/>
        </p:nvCxnSpPr>
        <p:spPr>
          <a:xfrm>
            <a:off x="85039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20 line 20" descr="sci-ppt:o020"/>
          <p:cNvCxnSpPr/>
          <p:nvPr/>
        </p:nvCxnSpPr>
        <p:spPr>
          <a:xfrm>
            <a:off x="914400" y="32004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20 text 21" descr="sci-ppt:o021"/>
          <p:cNvSpPr txBox="1"/>
          <p:nvPr/>
        </p:nvSpPr>
        <p:spPr>
          <a:xfrm>
            <a:off x="4572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1e-03</a:t>
            </a:r>
          </a:p>
        </p:txBody>
      </p:sp>
      <p:cxnSp>
        <p:nvCxnSpPr>
          <p:cNvPr id="24" name="A-E20 line 22" descr="sci-ppt:o022"/>
          <p:cNvCxnSpPr/>
          <p:nvPr/>
        </p:nvCxnSpPr>
        <p:spPr>
          <a:xfrm>
            <a:off x="850392" y="2286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20 line 23" descr="sci-ppt:o023"/>
          <p:cNvCxnSpPr/>
          <p:nvPr/>
        </p:nvCxnSpPr>
        <p:spPr>
          <a:xfrm>
            <a:off x="914400" y="22860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20 text 24" descr="sci-ppt:o024"/>
          <p:cNvSpPr txBox="1"/>
          <p:nvPr/>
        </p:nvSpPr>
        <p:spPr>
          <a:xfrm>
            <a:off x="45720" y="2203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1e+00</a:t>
            </a:r>
          </a:p>
        </p:txBody>
      </p:sp>
      <p:cxnSp>
        <p:nvCxnSpPr>
          <p:cNvPr id="27" name="A-E20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20 line 26" descr="sci-ppt:o026"/>
          <p:cNvCxnSpPr/>
          <p:nvPr/>
        </p:nvCxnSpPr>
        <p:spPr>
          <a:xfrm>
            <a:off x="91440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20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1e+03</a:t>
            </a:r>
          </a:p>
        </p:txBody>
      </p:sp>
      <p:sp>
        <p:nvSpPr>
          <p:cNvPr id="30" name="A-E20 text 28" descr="sci-ppt:o028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drainage length L_g  (m)</a:t>
            </a:r>
          </a:p>
        </p:txBody>
      </p:sp>
      <p:sp>
        <p:nvSpPr>
          <p:cNvPr id="31" name="A-E20 text 29" descr="sci-ppt:o029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tₚₒᵣₒ  (s)</a:t>
            </a:r>
          </a:p>
        </p:txBody>
      </p:sp>
      <p:sp>
        <p:nvSpPr>
          <p:cNvPr id="32" name="A-E20 polygon 30" descr="sci-ppt:o030"/>
          <p:cNvSpPr/>
          <p:nvPr/>
        </p:nvSpPr>
        <p:spPr>
          <a:xfrm>
            <a:off x="914400" y="1377871"/>
            <a:ext cx="5615709" cy="1754909"/>
          </a:xfrm>
          <a:custGeom>
            <a:avLst/>
            <a:gdLst/>
            <a:ahLst/>
            <a:cxnLst/>
            <a:rect l="l" t="t" r="r" b="b"/>
            <a:pathLst>
              <a:path w="5615709" h="1754909">
                <a:moveTo>
                  <a:pt x="0" y="1754909"/>
                </a:moveTo>
                <a:lnTo>
                  <a:pt x="59112" y="1736436"/>
                </a:lnTo>
                <a:lnTo>
                  <a:pt x="118225" y="1717964"/>
                </a:lnTo>
                <a:lnTo>
                  <a:pt x="177338" y="1699491"/>
                </a:lnTo>
                <a:lnTo>
                  <a:pt x="236450" y="1681018"/>
                </a:lnTo>
                <a:lnTo>
                  <a:pt x="295563" y="1662545"/>
                </a:lnTo>
                <a:lnTo>
                  <a:pt x="354676" y="1644073"/>
                </a:lnTo>
                <a:lnTo>
                  <a:pt x="413789" y="1625600"/>
                </a:lnTo>
                <a:lnTo>
                  <a:pt x="472901" y="1607127"/>
                </a:lnTo>
                <a:lnTo>
                  <a:pt x="532014" y="1588654"/>
                </a:lnTo>
                <a:lnTo>
                  <a:pt x="591127" y="1570182"/>
                </a:lnTo>
                <a:lnTo>
                  <a:pt x="650239" y="1551709"/>
                </a:lnTo>
                <a:lnTo>
                  <a:pt x="709352" y="1533236"/>
                </a:lnTo>
                <a:lnTo>
                  <a:pt x="768465" y="1514764"/>
                </a:lnTo>
                <a:lnTo>
                  <a:pt x="827578" y="1496291"/>
                </a:lnTo>
                <a:lnTo>
                  <a:pt x="886690" y="1477818"/>
                </a:lnTo>
                <a:lnTo>
                  <a:pt x="945803" y="1459345"/>
                </a:lnTo>
                <a:lnTo>
                  <a:pt x="1004916" y="1440873"/>
                </a:lnTo>
                <a:lnTo>
                  <a:pt x="1064029" y="1422400"/>
                </a:lnTo>
                <a:lnTo>
                  <a:pt x="1123141" y="1403927"/>
                </a:lnTo>
                <a:lnTo>
                  <a:pt x="1182254" y="1385454"/>
                </a:lnTo>
                <a:lnTo>
                  <a:pt x="1241367" y="1366982"/>
                </a:lnTo>
                <a:lnTo>
                  <a:pt x="1300480" y="1348509"/>
                </a:lnTo>
                <a:lnTo>
                  <a:pt x="1359592" y="1330036"/>
                </a:lnTo>
                <a:lnTo>
                  <a:pt x="1418705" y="1311564"/>
                </a:lnTo>
                <a:lnTo>
                  <a:pt x="1477818" y="1293091"/>
                </a:lnTo>
                <a:lnTo>
                  <a:pt x="1536930" y="1274618"/>
                </a:lnTo>
                <a:lnTo>
                  <a:pt x="1596043" y="1256145"/>
                </a:lnTo>
                <a:lnTo>
                  <a:pt x="1655156" y="1237673"/>
                </a:lnTo>
                <a:lnTo>
                  <a:pt x="1714269" y="1219200"/>
                </a:lnTo>
                <a:lnTo>
                  <a:pt x="1773381" y="1200727"/>
                </a:lnTo>
                <a:lnTo>
                  <a:pt x="1832494" y="1182254"/>
                </a:lnTo>
                <a:lnTo>
                  <a:pt x="1891607" y="1163782"/>
                </a:lnTo>
                <a:lnTo>
                  <a:pt x="1950720" y="1145309"/>
                </a:lnTo>
                <a:lnTo>
                  <a:pt x="2009832" y="1126836"/>
                </a:lnTo>
                <a:lnTo>
                  <a:pt x="2068945" y="1108364"/>
                </a:lnTo>
                <a:lnTo>
                  <a:pt x="2128058" y="1089891"/>
                </a:lnTo>
                <a:lnTo>
                  <a:pt x="2187170" y="1071418"/>
                </a:lnTo>
                <a:lnTo>
                  <a:pt x="2246283" y="1052945"/>
                </a:lnTo>
                <a:lnTo>
                  <a:pt x="2305396" y="1034473"/>
                </a:lnTo>
                <a:lnTo>
                  <a:pt x="2364509" y="1016000"/>
                </a:lnTo>
                <a:lnTo>
                  <a:pt x="2423621" y="997527"/>
                </a:lnTo>
                <a:lnTo>
                  <a:pt x="2482734" y="979054"/>
                </a:lnTo>
                <a:lnTo>
                  <a:pt x="2541847" y="960582"/>
                </a:lnTo>
                <a:lnTo>
                  <a:pt x="2600960" y="942109"/>
                </a:lnTo>
                <a:lnTo>
                  <a:pt x="2660072" y="923636"/>
                </a:lnTo>
                <a:lnTo>
                  <a:pt x="2719185" y="905164"/>
                </a:lnTo>
                <a:lnTo>
                  <a:pt x="2778298" y="886691"/>
                </a:lnTo>
                <a:lnTo>
                  <a:pt x="2837410" y="868218"/>
                </a:lnTo>
                <a:lnTo>
                  <a:pt x="2896523" y="849745"/>
                </a:lnTo>
                <a:lnTo>
                  <a:pt x="2955636" y="831273"/>
                </a:lnTo>
                <a:lnTo>
                  <a:pt x="3014749" y="812800"/>
                </a:lnTo>
                <a:lnTo>
                  <a:pt x="3073861" y="794327"/>
                </a:lnTo>
                <a:lnTo>
                  <a:pt x="3132974" y="775854"/>
                </a:lnTo>
                <a:lnTo>
                  <a:pt x="3192087" y="757382"/>
                </a:lnTo>
                <a:lnTo>
                  <a:pt x="3251200" y="738909"/>
                </a:lnTo>
                <a:lnTo>
                  <a:pt x="3310312" y="720436"/>
                </a:lnTo>
                <a:lnTo>
                  <a:pt x="3369425" y="701964"/>
                </a:lnTo>
                <a:lnTo>
                  <a:pt x="3428538" y="683491"/>
                </a:lnTo>
                <a:lnTo>
                  <a:pt x="3487650" y="665018"/>
                </a:lnTo>
                <a:lnTo>
                  <a:pt x="3546763" y="646545"/>
                </a:lnTo>
                <a:lnTo>
                  <a:pt x="3605876" y="628073"/>
                </a:lnTo>
                <a:lnTo>
                  <a:pt x="3664989" y="609600"/>
                </a:lnTo>
                <a:lnTo>
                  <a:pt x="3724101" y="591127"/>
                </a:lnTo>
                <a:lnTo>
                  <a:pt x="3783214" y="572654"/>
                </a:lnTo>
                <a:lnTo>
                  <a:pt x="3842327" y="554182"/>
                </a:lnTo>
                <a:lnTo>
                  <a:pt x="3901440" y="535709"/>
                </a:lnTo>
                <a:lnTo>
                  <a:pt x="3960552" y="517236"/>
                </a:lnTo>
                <a:lnTo>
                  <a:pt x="4019665" y="498764"/>
                </a:lnTo>
                <a:lnTo>
                  <a:pt x="4078778" y="480291"/>
                </a:lnTo>
                <a:lnTo>
                  <a:pt x="4137890" y="461818"/>
                </a:lnTo>
                <a:lnTo>
                  <a:pt x="4197003" y="443345"/>
                </a:lnTo>
                <a:lnTo>
                  <a:pt x="4256116" y="424873"/>
                </a:lnTo>
                <a:lnTo>
                  <a:pt x="4315229" y="406400"/>
                </a:lnTo>
                <a:lnTo>
                  <a:pt x="4374341" y="387927"/>
                </a:lnTo>
                <a:lnTo>
                  <a:pt x="4433454" y="369454"/>
                </a:lnTo>
                <a:lnTo>
                  <a:pt x="4492567" y="350982"/>
                </a:lnTo>
                <a:lnTo>
                  <a:pt x="4551680" y="332509"/>
                </a:lnTo>
                <a:lnTo>
                  <a:pt x="4610792" y="314036"/>
                </a:lnTo>
                <a:lnTo>
                  <a:pt x="4669905" y="295564"/>
                </a:lnTo>
                <a:lnTo>
                  <a:pt x="4729018" y="277091"/>
                </a:lnTo>
                <a:lnTo>
                  <a:pt x="4788130" y="258618"/>
                </a:lnTo>
                <a:lnTo>
                  <a:pt x="4847243" y="240145"/>
                </a:lnTo>
                <a:lnTo>
                  <a:pt x="4906356" y="221673"/>
                </a:lnTo>
                <a:lnTo>
                  <a:pt x="4965469" y="203200"/>
                </a:lnTo>
                <a:lnTo>
                  <a:pt x="5024581" y="184727"/>
                </a:lnTo>
                <a:lnTo>
                  <a:pt x="5083694" y="166254"/>
                </a:lnTo>
                <a:lnTo>
                  <a:pt x="5142807" y="147782"/>
                </a:lnTo>
                <a:lnTo>
                  <a:pt x="5201920" y="129309"/>
                </a:lnTo>
                <a:lnTo>
                  <a:pt x="5261032" y="110836"/>
                </a:lnTo>
                <a:lnTo>
                  <a:pt x="5320145" y="92364"/>
                </a:lnTo>
                <a:lnTo>
                  <a:pt x="5379258" y="73891"/>
                </a:lnTo>
                <a:lnTo>
                  <a:pt x="5438370" y="55418"/>
                </a:lnTo>
                <a:lnTo>
                  <a:pt x="5497483" y="36945"/>
                </a:lnTo>
                <a:lnTo>
                  <a:pt x="5556596" y="18473"/>
                </a:lnTo>
                <a:lnTo>
                  <a:pt x="5615709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A-E20 ellipse 31" descr="sci-ppt:o031"/>
          <p:cNvSpPr/>
          <p:nvPr/>
        </p:nvSpPr>
        <p:spPr>
          <a:xfrm>
            <a:off x="3722697" y="215917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-E20 text 32" descr="sci-ppt:o032"/>
          <p:cNvSpPr txBox="1"/>
          <p:nvPr/>
        </p:nvSpPr>
        <p:spPr>
          <a:xfrm>
            <a:off x="3933009" y="2598087"/>
            <a:ext cx="2560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tₚₒᵣₒ = 1.5 s at 30 µm</a:t>
            </a:r>
          </a:p>
        </p:txBody>
      </p:sp>
      <p:cxnSp>
        <p:nvCxnSpPr>
          <p:cNvPr id="35" name="A-E20 line 33" descr="sci-ppt:o033"/>
          <p:cNvCxnSpPr/>
          <p:nvPr/>
        </p:nvCxnSpPr>
        <p:spPr>
          <a:xfrm>
            <a:off x="914400" y="3969373"/>
            <a:ext cx="5852160" cy="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6" name="A-E20 text 34" descr="sci-ppt:o034"/>
          <p:cNvSpPr txBox="1"/>
          <p:nvPr/>
        </p:nvSpPr>
        <p:spPr>
          <a:xfrm>
            <a:off x="1331056" y="3557893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event time 3 µs</a:t>
            </a:r>
          </a:p>
        </p:txBody>
      </p:sp>
      <p:sp>
        <p:nvSpPr>
          <p:cNvPr id="37" name="A-E20 text 35" descr="sci-ppt:o035"/>
          <p:cNvSpPr txBox="1"/>
          <p:nvPr/>
        </p:nvSpPr>
        <p:spPr>
          <a:xfrm>
            <a:off x="3281776" y="167640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slope 2: t ∝ L_g²</a:t>
            </a:r>
          </a:p>
        </p:txBody>
      </p:sp>
      <p:sp>
        <p:nvSpPr>
          <p:cNvPr id="38" name="A-E20 round_rect 36" descr="sci-ppt:o036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-E20 text 37" descr="sci-ppt:o037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Darcy flow and diffusion</a:t>
            </a:r>
          </a:p>
        </p:txBody>
      </p:sp>
      <p:sp>
        <p:nvSpPr>
          <p:cNvPr id="40" name="A-E20 text 38" descr="sci-ppt:o038"/>
          <p:cNvSpPr txBox="1"/>
          <p:nvPr/>
        </p:nvSpPr>
        <p:spPr>
          <a:xfrm>
            <a:off x="7178040" y="182880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jₗ = −(k/μₗ) ∇pₚₒᵣₑ</a:t>
            </a:r>
          </a:p>
        </p:txBody>
      </p:sp>
      <p:sp>
        <p:nvSpPr>
          <p:cNvPr id="41" name="A-E20 text 39" descr="sci-ppt:o039"/>
          <p:cNvSpPr txBox="1"/>
          <p:nvPr/>
        </p:nvSpPr>
        <p:spPr>
          <a:xfrm>
            <a:off x="7178040" y="228600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∂p/∂t = Dₚₒᵣₒ ∇²p,   Dₚₒᵣₒ = k M_d / μₗ</a:t>
            </a:r>
          </a:p>
        </p:txBody>
      </p:sp>
      <p:sp>
        <p:nvSpPr>
          <p:cNvPr id="42" name="A-E20 text 40" descr="sci-ppt:o040"/>
          <p:cNvSpPr txBox="1"/>
          <p:nvPr/>
        </p:nvSpPr>
        <p:spPr>
          <a:xfrm>
            <a:off x="7178040" y="278892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tₚₒᵣₒ ~ L_g² / Dₚₒᵣₒ = μₗ L_g² / (k M_d)</a:t>
            </a:r>
          </a:p>
        </p:txBody>
      </p:sp>
      <p:sp>
        <p:nvSpPr>
          <p:cNvPr id="43" name="A-E20 text 41" descr="sci-ppt:o041"/>
          <p:cNvSpPr txBox="1"/>
          <p:nvPr/>
        </p:nvSpPr>
        <p:spPr>
          <a:xfrm>
            <a:off x="7178040" y="3337560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k = 10⁻¹⁷ m², M_d = 60 kPa, μₗ = 1 mPa s (prescribed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teaching values).</a:t>
            </a:r>
          </a:p>
        </p:txBody>
      </p:sp>
      <p:sp>
        <p:nvSpPr>
          <p:cNvPr id="44" name="A-E20 text 42" descr="sci-ppt:o042"/>
          <p:cNvSpPr txBox="1"/>
          <p:nvPr/>
        </p:nvSpPr>
        <p:spPr>
          <a:xfrm>
            <a:off x="7178040" y="3977639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A 3 µs event is approximately undrained at 30 µm; local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solvent motion remains possible.</a:t>
            </a:r>
          </a:p>
        </p:txBody>
      </p:sp>
      <p:sp>
        <p:nvSpPr>
          <p:cNvPr id="45" name="A-E20 text 43" descr="sci-ppt:o043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Permeability and modulus are inputs from characterisation; only the quadratic scaling with length is a result of the model.</a:t>
            </a:r>
          </a:p>
        </p:txBody>
      </p:sp>
      <p:sp>
        <p:nvSpPr>
          <p:cNvPr id="46" name="A-E20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Darcy/storage drainage time of Eq. A-E20.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2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A-E21 · Original radial control recalled</a:t>
            </a:r>
          </a:p>
        </p:txBody>
      </p:sp>
      <p:sp>
        <p:nvSpPr>
          <p:cNvPr id="3" name="A-E21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Recalled radial control: expansion and resistance, not an outlet</a:t>
            </a:r>
          </a:p>
        </p:txBody>
      </p:sp>
      <p:sp>
        <p:nvSpPr>
          <p:cNvPr id="4" name="A-E21 text 2" descr="sci-ppt:o002"/>
          <p:cNvSpPr txBox="1"/>
          <p:nvPr/>
        </p:nvSpPr>
        <p:spPr>
          <a:xfrm>
            <a:off x="457200" y="1371600"/>
            <a:ext cx="11247120" cy="29362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7F0F3"/>
                </a:solidFill>
                <a:latin typeface="Arial"/>
              </a:rPr>
              <a:t>ρ_g(RR̈ + 3Ṙ²/2) = p_b − p_∞ − 2σ/R − pₑₗ(R) − 4η_gṘ/R</a:t>
            </a:r>
          </a:p>
        </p:txBody>
      </p:sp>
      <p:sp>
        <p:nvSpPr>
          <p:cNvPr id="5" name="A-E21 round_rect 3" descr="sci-ppt:o003"/>
          <p:cNvSpPr/>
          <p:nvPr/>
        </p:nvSpPr>
        <p:spPr>
          <a:xfrm>
            <a:off x="457200" y="2286000"/>
            <a:ext cx="214884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A-E21 text 4" descr="sci-ppt:o004"/>
          <p:cNvSpPr txBox="1"/>
          <p:nvPr/>
        </p:nvSpPr>
        <p:spPr>
          <a:xfrm>
            <a:off x="566928" y="2340864"/>
            <a:ext cx="19293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inertia</a:t>
            </a:r>
          </a:p>
        </p:txBody>
      </p:sp>
      <p:sp>
        <p:nvSpPr>
          <p:cNvPr id="7" name="A-E21 text 5" descr="sci-ppt:o005"/>
          <p:cNvSpPr txBox="1"/>
          <p:nvPr/>
        </p:nvSpPr>
        <p:spPr>
          <a:xfrm>
            <a:off x="530352" y="2880360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ρ_g(RR̈ + 3Ṙ²/2)</a:t>
            </a:r>
          </a:p>
        </p:txBody>
      </p:sp>
      <p:sp>
        <p:nvSpPr>
          <p:cNvPr id="8" name="A-E21 round_rect 6" descr="sci-ppt:o006"/>
          <p:cNvSpPr/>
          <p:nvPr/>
        </p:nvSpPr>
        <p:spPr>
          <a:xfrm>
            <a:off x="2743200" y="2286000"/>
            <a:ext cx="214884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-E21 text 7" descr="sci-ppt:o007"/>
          <p:cNvSpPr txBox="1"/>
          <p:nvPr/>
        </p:nvSpPr>
        <p:spPr>
          <a:xfrm>
            <a:off x="2852928" y="2340864"/>
            <a:ext cx="19293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driving</a:t>
            </a:r>
          </a:p>
        </p:txBody>
      </p:sp>
      <p:sp>
        <p:nvSpPr>
          <p:cNvPr id="10" name="A-E21 text 8" descr="sci-ppt:o008"/>
          <p:cNvSpPr txBox="1"/>
          <p:nvPr/>
        </p:nvSpPr>
        <p:spPr>
          <a:xfrm>
            <a:off x="2816352" y="2880360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p_b − p_∞</a:t>
            </a:r>
          </a:p>
        </p:txBody>
      </p:sp>
      <p:sp>
        <p:nvSpPr>
          <p:cNvPr id="11" name="A-E21 round_rect 9" descr="sci-ppt:o009"/>
          <p:cNvSpPr/>
          <p:nvPr/>
        </p:nvSpPr>
        <p:spPr>
          <a:xfrm>
            <a:off x="5029200" y="2286000"/>
            <a:ext cx="214884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-E21 text 10" descr="sci-ppt:o010"/>
          <p:cNvSpPr txBox="1"/>
          <p:nvPr/>
        </p:nvSpPr>
        <p:spPr>
          <a:xfrm>
            <a:off x="5138928" y="2340864"/>
            <a:ext cx="19293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capillary</a:t>
            </a:r>
          </a:p>
        </p:txBody>
      </p:sp>
      <p:sp>
        <p:nvSpPr>
          <p:cNvPr id="13" name="A-E21 text 11" descr="sci-ppt:o011"/>
          <p:cNvSpPr txBox="1"/>
          <p:nvPr/>
        </p:nvSpPr>
        <p:spPr>
          <a:xfrm>
            <a:off x="5102352" y="2880360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2σ/R</a:t>
            </a:r>
          </a:p>
        </p:txBody>
      </p:sp>
      <p:sp>
        <p:nvSpPr>
          <p:cNvPr id="14" name="A-E21 round_rect 12" descr="sci-ppt:o012"/>
          <p:cNvSpPr/>
          <p:nvPr/>
        </p:nvSpPr>
        <p:spPr>
          <a:xfrm>
            <a:off x="7315200" y="2286000"/>
            <a:ext cx="214884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-E21 text 13" descr="sci-ppt:o013"/>
          <p:cNvSpPr txBox="1"/>
          <p:nvPr/>
        </p:nvSpPr>
        <p:spPr>
          <a:xfrm>
            <a:off x="7424927" y="2340864"/>
            <a:ext cx="19293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elastic</a:t>
            </a:r>
          </a:p>
        </p:txBody>
      </p:sp>
      <p:sp>
        <p:nvSpPr>
          <p:cNvPr id="16" name="A-E21 text 14" descr="sci-ppt:o014"/>
          <p:cNvSpPr txBox="1"/>
          <p:nvPr/>
        </p:nvSpPr>
        <p:spPr>
          <a:xfrm>
            <a:off x="7388352" y="2880360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pₑₗ(R)</a:t>
            </a:r>
          </a:p>
        </p:txBody>
      </p:sp>
      <p:sp>
        <p:nvSpPr>
          <p:cNvPr id="17" name="A-E21 round_rect 15" descr="sci-ppt:o015"/>
          <p:cNvSpPr/>
          <p:nvPr/>
        </p:nvSpPr>
        <p:spPr>
          <a:xfrm>
            <a:off x="9601200" y="2286000"/>
            <a:ext cx="214884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A8E6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A-E21 text 16" descr="sci-ppt:o016"/>
          <p:cNvSpPr txBox="1"/>
          <p:nvPr/>
        </p:nvSpPr>
        <p:spPr>
          <a:xfrm>
            <a:off x="9710928" y="2340864"/>
            <a:ext cx="19293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A8E6A1"/>
                </a:solidFill>
                <a:latin typeface="Arial"/>
              </a:rPr>
              <a:t>viscous</a:t>
            </a:r>
          </a:p>
        </p:txBody>
      </p:sp>
      <p:sp>
        <p:nvSpPr>
          <p:cNvPr id="19" name="A-E21 text 17" descr="sci-ppt:o017"/>
          <p:cNvSpPr txBox="1"/>
          <p:nvPr/>
        </p:nvSpPr>
        <p:spPr>
          <a:xfrm>
            <a:off x="9674352" y="2880360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4η_gṘ/R</a:t>
            </a:r>
          </a:p>
        </p:txBody>
      </p:sp>
      <p:sp>
        <p:nvSpPr>
          <p:cNvPr id="20" name="A-E21 round_rect 18" descr="sci-ppt:o018"/>
          <p:cNvSpPr/>
          <p:nvPr/>
        </p:nvSpPr>
        <p:spPr>
          <a:xfrm>
            <a:off x="457200" y="4114800"/>
            <a:ext cx="5486400" cy="1600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A-E21 text 19" descr="sci-ppt:o019"/>
          <p:cNvSpPr txBox="1"/>
          <p:nvPr/>
        </p:nvSpPr>
        <p:spPr>
          <a:xfrm>
            <a:off x="566928" y="4169663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What it describes</a:t>
            </a:r>
          </a:p>
        </p:txBody>
      </p:sp>
      <p:sp>
        <p:nvSpPr>
          <p:cNvPr id="22" name="A-E21 text 20" descr="sci-ppt:o020"/>
          <p:cNvSpPr txBox="1"/>
          <p:nvPr/>
        </p:nvSpPr>
        <p:spPr>
          <a:xfrm>
            <a:off x="594360" y="457200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Spherical expansion of a cavity and the resistance of the gel to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it.</a:t>
            </a:r>
          </a:p>
        </p:txBody>
      </p:sp>
      <p:sp>
        <p:nvSpPr>
          <p:cNvPr id="23" name="A-E21 round_rect 21" descr="sci-ppt:o021"/>
          <p:cNvSpPr/>
          <p:nvPr/>
        </p:nvSpPr>
        <p:spPr>
          <a:xfrm>
            <a:off x="6217920" y="4114800"/>
            <a:ext cx="5486400" cy="1600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-E21 text 22" descr="sci-ppt:o022"/>
          <p:cNvSpPr txBox="1"/>
          <p:nvPr/>
        </p:nvSpPr>
        <p:spPr>
          <a:xfrm>
            <a:off x="6327648" y="4169663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What it cannot do</a:t>
            </a:r>
          </a:p>
        </p:txBody>
      </p:sp>
      <p:sp>
        <p:nvSpPr>
          <p:cNvPr id="25" name="A-E21 text 23" descr="sci-ppt:o023"/>
          <p:cNvSpPr txBox="1"/>
          <p:nvPr/>
        </p:nvSpPr>
        <p:spPr>
          <a:xfrm>
            <a:off x="6355080" y="457200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It does not manufacture an outlet: no hole, no jet exit, no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directional flow.</a:t>
            </a:r>
          </a:p>
        </p:txBody>
      </p:sp>
      <p:sp>
        <p:nvSpPr>
          <p:cNvPr id="26" name="A-E21 text 24" descr="sci-ppt:o02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Original answer recalled: Eq. A-E11 (Defence 1).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2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A-E22 · Original pressure and work formulas recalled</a:t>
            </a:r>
          </a:p>
        </p:txBody>
      </p:sp>
      <p:cxnSp>
        <p:nvCxnSpPr>
          <p:cNvPr id="3" name="A-E22 line 1" descr="sci-ppt:o001"/>
          <p:cNvCxnSpPr/>
          <p:nvPr/>
        </p:nvCxnSpPr>
        <p:spPr>
          <a:xfrm>
            <a:off x="914400" y="484632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22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22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22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22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22 line 6" descr="sci-ppt:o006"/>
          <p:cNvCxnSpPr/>
          <p:nvPr/>
        </p:nvCxnSpPr>
        <p:spPr>
          <a:xfrm>
            <a:off x="2377439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22 line 7" descr="sci-ppt:o007"/>
          <p:cNvCxnSpPr/>
          <p:nvPr/>
        </p:nvCxnSpPr>
        <p:spPr>
          <a:xfrm>
            <a:off x="2377439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22 text 8" descr="sci-ppt:o008"/>
          <p:cNvSpPr txBox="1"/>
          <p:nvPr/>
        </p:nvSpPr>
        <p:spPr>
          <a:xfrm>
            <a:off x="1920239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11" name="A-E22 line 9" descr="sci-ppt:o009"/>
          <p:cNvCxnSpPr/>
          <p:nvPr/>
        </p:nvCxnSpPr>
        <p:spPr>
          <a:xfrm>
            <a:off x="42062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22 line 10" descr="sci-ppt:o010"/>
          <p:cNvCxnSpPr/>
          <p:nvPr/>
        </p:nvCxnSpPr>
        <p:spPr>
          <a:xfrm>
            <a:off x="42062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22 text 11" descr="sci-ppt:o011"/>
          <p:cNvSpPr txBox="1"/>
          <p:nvPr/>
        </p:nvSpPr>
        <p:spPr>
          <a:xfrm>
            <a:off x="3749039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4" name="A-E22 line 12" descr="sci-ppt:o012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22 line 13" descr="sci-ppt:o013"/>
          <p:cNvCxnSpPr/>
          <p:nvPr/>
        </p:nvCxnSpPr>
        <p:spPr>
          <a:xfrm>
            <a:off x="850392" y="360534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22 line 14" descr="sci-ppt:o014"/>
          <p:cNvCxnSpPr/>
          <p:nvPr/>
        </p:nvCxnSpPr>
        <p:spPr>
          <a:xfrm>
            <a:off x="914400" y="3605348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22 text 15" descr="sci-ppt:o015"/>
          <p:cNvSpPr txBox="1"/>
          <p:nvPr/>
        </p:nvSpPr>
        <p:spPr>
          <a:xfrm>
            <a:off x="45720" y="352305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8" name="A-E22 line 16" descr="sci-ppt:o016"/>
          <p:cNvCxnSpPr/>
          <p:nvPr/>
        </p:nvCxnSpPr>
        <p:spPr>
          <a:xfrm>
            <a:off x="850392" y="236437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22 line 17" descr="sci-ppt:o017"/>
          <p:cNvCxnSpPr/>
          <p:nvPr/>
        </p:nvCxnSpPr>
        <p:spPr>
          <a:xfrm>
            <a:off x="914400" y="2364377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22 text 18" descr="sci-ppt:o018"/>
          <p:cNvSpPr txBox="1"/>
          <p:nvPr/>
        </p:nvSpPr>
        <p:spPr>
          <a:xfrm>
            <a:off x="45720" y="228208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sp>
        <p:nvSpPr>
          <p:cNvPr id="21" name="A-E22 text 19" descr="sci-ppt:o019"/>
          <p:cNvSpPr txBox="1"/>
          <p:nvPr/>
        </p:nvSpPr>
        <p:spPr>
          <a:xfrm>
            <a:off x="914400" y="5129783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R_ref</a:t>
            </a:r>
          </a:p>
        </p:txBody>
      </p:sp>
      <p:sp>
        <p:nvSpPr>
          <p:cNvPr id="22" name="A-E22 text 20" descr="sci-ppt:o020"/>
          <p:cNvSpPr txBox="1"/>
          <p:nvPr/>
        </p:nvSpPr>
        <p:spPr>
          <a:xfrm>
            <a:off x="365760" y="1024128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pₑₗ / G_g</a:t>
            </a:r>
          </a:p>
        </p:txBody>
      </p:sp>
      <p:sp>
        <p:nvSpPr>
          <p:cNvPr id="23" name="A-E22 polygon 21" descr="sci-ppt:o021"/>
          <p:cNvSpPr/>
          <p:nvPr/>
        </p:nvSpPr>
        <p:spPr>
          <a:xfrm>
            <a:off x="914400" y="1992147"/>
            <a:ext cx="3291840" cy="2854173"/>
          </a:xfrm>
          <a:custGeom>
            <a:avLst/>
            <a:gdLst/>
            <a:ahLst/>
            <a:cxnLst/>
            <a:rect l="l" t="t" r="r" b="b"/>
            <a:pathLst>
              <a:path w="3291840" h="2854173">
                <a:moveTo>
                  <a:pt x="0" y="2854173"/>
                </a:moveTo>
                <a:lnTo>
                  <a:pt x="16541" y="2646160"/>
                </a:lnTo>
                <a:lnTo>
                  <a:pt x="33083" y="2466650"/>
                </a:lnTo>
                <a:lnTo>
                  <a:pt x="49625" y="2310173"/>
                </a:lnTo>
                <a:lnTo>
                  <a:pt x="66167" y="2172534"/>
                </a:lnTo>
                <a:lnTo>
                  <a:pt x="82709" y="2050478"/>
                </a:lnTo>
                <a:lnTo>
                  <a:pt x="99251" y="1941443"/>
                </a:lnTo>
                <a:lnTo>
                  <a:pt x="115793" y="1843393"/>
                </a:lnTo>
                <a:lnTo>
                  <a:pt x="132335" y="1754690"/>
                </a:lnTo>
                <a:lnTo>
                  <a:pt x="148877" y="1674007"/>
                </a:lnTo>
                <a:lnTo>
                  <a:pt x="165419" y="1600257"/>
                </a:lnTo>
                <a:lnTo>
                  <a:pt x="181961" y="1532538"/>
                </a:lnTo>
                <a:lnTo>
                  <a:pt x="198502" y="1470105"/>
                </a:lnTo>
                <a:lnTo>
                  <a:pt x="215044" y="1412327"/>
                </a:lnTo>
                <a:lnTo>
                  <a:pt x="231586" y="1358676"/>
                </a:lnTo>
                <a:lnTo>
                  <a:pt x="248128" y="1308698"/>
                </a:lnTo>
                <a:lnTo>
                  <a:pt x="264670" y="1262007"/>
                </a:lnTo>
                <a:lnTo>
                  <a:pt x="281212" y="1218271"/>
                </a:lnTo>
                <a:lnTo>
                  <a:pt x="297754" y="1177201"/>
                </a:lnTo>
                <a:lnTo>
                  <a:pt x="314296" y="1138547"/>
                </a:lnTo>
                <a:lnTo>
                  <a:pt x="330838" y="1102089"/>
                </a:lnTo>
                <a:lnTo>
                  <a:pt x="347380" y="1067635"/>
                </a:lnTo>
                <a:lnTo>
                  <a:pt x="363922" y="1035014"/>
                </a:lnTo>
                <a:lnTo>
                  <a:pt x="380463" y="1004076"/>
                </a:lnTo>
                <a:lnTo>
                  <a:pt x="397005" y="974686"/>
                </a:lnTo>
                <a:lnTo>
                  <a:pt x="413547" y="946726"/>
                </a:lnTo>
                <a:lnTo>
                  <a:pt x="430089" y="920088"/>
                </a:lnTo>
                <a:lnTo>
                  <a:pt x="446631" y="894675"/>
                </a:lnTo>
                <a:lnTo>
                  <a:pt x="463173" y="870401"/>
                </a:lnTo>
                <a:lnTo>
                  <a:pt x="479715" y="847187"/>
                </a:lnTo>
                <a:lnTo>
                  <a:pt x="496257" y="824962"/>
                </a:lnTo>
                <a:lnTo>
                  <a:pt x="512799" y="803661"/>
                </a:lnTo>
                <a:lnTo>
                  <a:pt x="529341" y="783225"/>
                </a:lnTo>
                <a:lnTo>
                  <a:pt x="545883" y="763601"/>
                </a:lnTo>
                <a:lnTo>
                  <a:pt x="562424" y="744738"/>
                </a:lnTo>
                <a:lnTo>
                  <a:pt x="578966" y="726593"/>
                </a:lnTo>
                <a:lnTo>
                  <a:pt x="595508" y="709122"/>
                </a:lnTo>
                <a:lnTo>
                  <a:pt x="612050" y="692288"/>
                </a:lnTo>
                <a:lnTo>
                  <a:pt x="628592" y="676055"/>
                </a:lnTo>
                <a:lnTo>
                  <a:pt x="645134" y="660390"/>
                </a:lnTo>
                <a:lnTo>
                  <a:pt x="661676" y="645263"/>
                </a:lnTo>
                <a:lnTo>
                  <a:pt x="678218" y="630647"/>
                </a:lnTo>
                <a:lnTo>
                  <a:pt x="694760" y="616514"/>
                </a:lnTo>
                <a:lnTo>
                  <a:pt x="711302" y="602840"/>
                </a:lnTo>
                <a:lnTo>
                  <a:pt x="727844" y="589603"/>
                </a:lnTo>
                <a:lnTo>
                  <a:pt x="744385" y="576781"/>
                </a:lnTo>
                <a:lnTo>
                  <a:pt x="760927" y="564356"/>
                </a:lnTo>
                <a:lnTo>
                  <a:pt x="777469" y="552307"/>
                </a:lnTo>
                <a:lnTo>
                  <a:pt x="794011" y="540618"/>
                </a:lnTo>
                <a:lnTo>
                  <a:pt x="810553" y="529273"/>
                </a:lnTo>
                <a:lnTo>
                  <a:pt x="827095" y="518256"/>
                </a:lnTo>
                <a:lnTo>
                  <a:pt x="843637" y="507553"/>
                </a:lnTo>
                <a:lnTo>
                  <a:pt x="860179" y="497150"/>
                </a:lnTo>
                <a:lnTo>
                  <a:pt x="876721" y="487035"/>
                </a:lnTo>
                <a:lnTo>
                  <a:pt x="893263" y="477195"/>
                </a:lnTo>
                <a:lnTo>
                  <a:pt x="909805" y="467620"/>
                </a:lnTo>
                <a:lnTo>
                  <a:pt x="926346" y="458298"/>
                </a:lnTo>
                <a:lnTo>
                  <a:pt x="942888" y="449219"/>
                </a:lnTo>
                <a:lnTo>
                  <a:pt x="959430" y="440375"/>
                </a:lnTo>
                <a:lnTo>
                  <a:pt x="975972" y="431755"/>
                </a:lnTo>
                <a:lnTo>
                  <a:pt x="992514" y="423351"/>
                </a:lnTo>
                <a:lnTo>
                  <a:pt x="1009056" y="415155"/>
                </a:lnTo>
                <a:lnTo>
                  <a:pt x="1025598" y="407160"/>
                </a:lnTo>
                <a:lnTo>
                  <a:pt x="1042140" y="399357"/>
                </a:lnTo>
                <a:lnTo>
                  <a:pt x="1058682" y="391740"/>
                </a:lnTo>
                <a:lnTo>
                  <a:pt x="1075224" y="384302"/>
                </a:lnTo>
                <a:lnTo>
                  <a:pt x="1091766" y="377038"/>
                </a:lnTo>
                <a:lnTo>
                  <a:pt x="1108307" y="369940"/>
                </a:lnTo>
                <a:lnTo>
                  <a:pt x="1124849" y="363003"/>
                </a:lnTo>
                <a:lnTo>
                  <a:pt x="1141391" y="356221"/>
                </a:lnTo>
                <a:lnTo>
                  <a:pt x="1157933" y="349590"/>
                </a:lnTo>
                <a:lnTo>
                  <a:pt x="1174475" y="343104"/>
                </a:lnTo>
                <a:lnTo>
                  <a:pt x="1191017" y="336759"/>
                </a:lnTo>
                <a:lnTo>
                  <a:pt x="1207559" y="330550"/>
                </a:lnTo>
                <a:lnTo>
                  <a:pt x="1224101" y="324472"/>
                </a:lnTo>
                <a:lnTo>
                  <a:pt x="1240643" y="318522"/>
                </a:lnTo>
                <a:lnTo>
                  <a:pt x="1257185" y="312695"/>
                </a:lnTo>
                <a:lnTo>
                  <a:pt x="1273727" y="306988"/>
                </a:lnTo>
                <a:lnTo>
                  <a:pt x="1290268" y="301397"/>
                </a:lnTo>
                <a:lnTo>
                  <a:pt x="1306810" y="295917"/>
                </a:lnTo>
                <a:lnTo>
                  <a:pt x="1323352" y="290547"/>
                </a:lnTo>
                <a:lnTo>
                  <a:pt x="1339894" y="285283"/>
                </a:lnTo>
                <a:lnTo>
                  <a:pt x="1356436" y="280121"/>
                </a:lnTo>
                <a:lnTo>
                  <a:pt x="1372978" y="275059"/>
                </a:lnTo>
                <a:lnTo>
                  <a:pt x="1389520" y="270093"/>
                </a:lnTo>
                <a:lnTo>
                  <a:pt x="1406062" y="265222"/>
                </a:lnTo>
                <a:lnTo>
                  <a:pt x="1422604" y="260442"/>
                </a:lnTo>
                <a:lnTo>
                  <a:pt x="1439146" y="255750"/>
                </a:lnTo>
                <a:lnTo>
                  <a:pt x="1455688" y="251145"/>
                </a:lnTo>
                <a:lnTo>
                  <a:pt x="1472229" y="246624"/>
                </a:lnTo>
                <a:lnTo>
                  <a:pt x="1488771" y="242184"/>
                </a:lnTo>
                <a:lnTo>
                  <a:pt x="1505313" y="237823"/>
                </a:lnTo>
                <a:lnTo>
                  <a:pt x="1521855" y="233540"/>
                </a:lnTo>
                <a:lnTo>
                  <a:pt x="1538397" y="229332"/>
                </a:lnTo>
                <a:lnTo>
                  <a:pt x="1554939" y="225198"/>
                </a:lnTo>
                <a:lnTo>
                  <a:pt x="1571481" y="221135"/>
                </a:lnTo>
                <a:lnTo>
                  <a:pt x="1588023" y="217141"/>
                </a:lnTo>
                <a:lnTo>
                  <a:pt x="1604565" y="213215"/>
                </a:lnTo>
                <a:lnTo>
                  <a:pt x="1621107" y="209354"/>
                </a:lnTo>
                <a:lnTo>
                  <a:pt x="1637649" y="205559"/>
                </a:lnTo>
                <a:lnTo>
                  <a:pt x="1654190" y="201826"/>
                </a:lnTo>
                <a:lnTo>
                  <a:pt x="1670732" y="198154"/>
                </a:lnTo>
                <a:lnTo>
                  <a:pt x="1687274" y="194541"/>
                </a:lnTo>
                <a:lnTo>
                  <a:pt x="1703816" y="190987"/>
                </a:lnTo>
                <a:lnTo>
                  <a:pt x="1720358" y="187490"/>
                </a:lnTo>
                <a:lnTo>
                  <a:pt x="1736900" y="184049"/>
                </a:lnTo>
                <a:lnTo>
                  <a:pt x="1753442" y="180661"/>
                </a:lnTo>
                <a:lnTo>
                  <a:pt x="1769984" y="177326"/>
                </a:lnTo>
                <a:lnTo>
                  <a:pt x="1786526" y="174043"/>
                </a:lnTo>
                <a:lnTo>
                  <a:pt x="1803068" y="170811"/>
                </a:lnTo>
                <a:lnTo>
                  <a:pt x="1819610" y="167627"/>
                </a:lnTo>
                <a:lnTo>
                  <a:pt x="1836151" y="164492"/>
                </a:lnTo>
                <a:lnTo>
                  <a:pt x="1852693" y="161404"/>
                </a:lnTo>
                <a:lnTo>
                  <a:pt x="1869235" y="158362"/>
                </a:lnTo>
                <a:lnTo>
                  <a:pt x="1885777" y="155365"/>
                </a:lnTo>
                <a:lnTo>
                  <a:pt x="1902319" y="152412"/>
                </a:lnTo>
                <a:lnTo>
                  <a:pt x="1918861" y="149502"/>
                </a:lnTo>
                <a:lnTo>
                  <a:pt x="1935403" y="146634"/>
                </a:lnTo>
                <a:lnTo>
                  <a:pt x="1951945" y="143807"/>
                </a:lnTo>
                <a:lnTo>
                  <a:pt x="1968487" y="141021"/>
                </a:lnTo>
                <a:lnTo>
                  <a:pt x="1985029" y="138274"/>
                </a:lnTo>
                <a:lnTo>
                  <a:pt x="2001571" y="135565"/>
                </a:lnTo>
                <a:lnTo>
                  <a:pt x="2018112" y="132895"/>
                </a:lnTo>
                <a:lnTo>
                  <a:pt x="2034654" y="130261"/>
                </a:lnTo>
                <a:lnTo>
                  <a:pt x="2051196" y="127664"/>
                </a:lnTo>
                <a:lnTo>
                  <a:pt x="2067738" y="125102"/>
                </a:lnTo>
                <a:lnTo>
                  <a:pt x="2084280" y="122575"/>
                </a:lnTo>
                <a:lnTo>
                  <a:pt x="2100822" y="120082"/>
                </a:lnTo>
                <a:lnTo>
                  <a:pt x="2117364" y="117622"/>
                </a:lnTo>
                <a:lnTo>
                  <a:pt x="2133906" y="115195"/>
                </a:lnTo>
                <a:lnTo>
                  <a:pt x="2150448" y="112800"/>
                </a:lnTo>
                <a:lnTo>
                  <a:pt x="2166990" y="110437"/>
                </a:lnTo>
                <a:lnTo>
                  <a:pt x="2183532" y="108104"/>
                </a:lnTo>
                <a:lnTo>
                  <a:pt x="2200073" y="105801"/>
                </a:lnTo>
                <a:lnTo>
                  <a:pt x="2216615" y="103529"/>
                </a:lnTo>
                <a:lnTo>
                  <a:pt x="2233157" y="101285"/>
                </a:lnTo>
                <a:lnTo>
                  <a:pt x="2249699" y="99070"/>
                </a:lnTo>
                <a:lnTo>
                  <a:pt x="2266241" y="96882"/>
                </a:lnTo>
                <a:lnTo>
                  <a:pt x="2282783" y="94722"/>
                </a:lnTo>
                <a:lnTo>
                  <a:pt x="2299325" y="92589"/>
                </a:lnTo>
                <a:lnTo>
                  <a:pt x="2315867" y="90483"/>
                </a:lnTo>
                <a:lnTo>
                  <a:pt x="2332409" y="88402"/>
                </a:lnTo>
                <a:lnTo>
                  <a:pt x="2348951" y="86347"/>
                </a:lnTo>
                <a:lnTo>
                  <a:pt x="2365493" y="84317"/>
                </a:lnTo>
                <a:lnTo>
                  <a:pt x="2382034" y="82311"/>
                </a:lnTo>
                <a:lnTo>
                  <a:pt x="2398576" y="80329"/>
                </a:lnTo>
                <a:lnTo>
                  <a:pt x="2415118" y="78372"/>
                </a:lnTo>
                <a:lnTo>
                  <a:pt x="2431660" y="76437"/>
                </a:lnTo>
                <a:lnTo>
                  <a:pt x="2448202" y="74525"/>
                </a:lnTo>
                <a:lnTo>
                  <a:pt x="2464744" y="72636"/>
                </a:lnTo>
                <a:lnTo>
                  <a:pt x="2481286" y="70768"/>
                </a:lnTo>
                <a:lnTo>
                  <a:pt x="2497828" y="68922"/>
                </a:lnTo>
                <a:lnTo>
                  <a:pt x="2514370" y="67098"/>
                </a:lnTo>
                <a:lnTo>
                  <a:pt x="2530912" y="65294"/>
                </a:lnTo>
                <a:lnTo>
                  <a:pt x="2547454" y="63511"/>
                </a:lnTo>
                <a:lnTo>
                  <a:pt x="2563995" y="61748"/>
                </a:lnTo>
                <a:lnTo>
                  <a:pt x="2580537" y="60005"/>
                </a:lnTo>
                <a:lnTo>
                  <a:pt x="2597079" y="58282"/>
                </a:lnTo>
                <a:lnTo>
                  <a:pt x="2613621" y="56577"/>
                </a:lnTo>
                <a:lnTo>
                  <a:pt x="2630163" y="54892"/>
                </a:lnTo>
                <a:lnTo>
                  <a:pt x="2646705" y="53225"/>
                </a:lnTo>
                <a:lnTo>
                  <a:pt x="2663247" y="51576"/>
                </a:lnTo>
                <a:lnTo>
                  <a:pt x="2679789" y="49946"/>
                </a:lnTo>
                <a:lnTo>
                  <a:pt x="2696331" y="48333"/>
                </a:lnTo>
                <a:lnTo>
                  <a:pt x="2712873" y="46737"/>
                </a:lnTo>
                <a:lnTo>
                  <a:pt x="2729415" y="45159"/>
                </a:lnTo>
                <a:lnTo>
                  <a:pt x="2745956" y="43597"/>
                </a:lnTo>
                <a:lnTo>
                  <a:pt x="2762498" y="42052"/>
                </a:lnTo>
                <a:lnTo>
                  <a:pt x="2779040" y="40523"/>
                </a:lnTo>
                <a:lnTo>
                  <a:pt x="2795582" y="39010"/>
                </a:lnTo>
                <a:lnTo>
                  <a:pt x="2812124" y="37513"/>
                </a:lnTo>
                <a:lnTo>
                  <a:pt x="2828666" y="36032"/>
                </a:lnTo>
                <a:lnTo>
                  <a:pt x="2845208" y="34565"/>
                </a:lnTo>
                <a:lnTo>
                  <a:pt x="2861750" y="33114"/>
                </a:lnTo>
                <a:lnTo>
                  <a:pt x="2878292" y="31678"/>
                </a:lnTo>
                <a:lnTo>
                  <a:pt x="2894834" y="30256"/>
                </a:lnTo>
                <a:lnTo>
                  <a:pt x="2911376" y="28849"/>
                </a:lnTo>
                <a:lnTo>
                  <a:pt x="2927917" y="27456"/>
                </a:lnTo>
                <a:lnTo>
                  <a:pt x="2944459" y="26077"/>
                </a:lnTo>
                <a:lnTo>
                  <a:pt x="2961001" y="24711"/>
                </a:lnTo>
                <a:lnTo>
                  <a:pt x="2977543" y="23359"/>
                </a:lnTo>
                <a:lnTo>
                  <a:pt x="2994085" y="22021"/>
                </a:lnTo>
                <a:lnTo>
                  <a:pt x="3010627" y="20695"/>
                </a:lnTo>
                <a:lnTo>
                  <a:pt x="3027169" y="19383"/>
                </a:lnTo>
                <a:lnTo>
                  <a:pt x="3043711" y="18083"/>
                </a:lnTo>
                <a:lnTo>
                  <a:pt x="3060253" y="16796"/>
                </a:lnTo>
                <a:lnTo>
                  <a:pt x="3076795" y="15521"/>
                </a:lnTo>
                <a:lnTo>
                  <a:pt x="3093337" y="14259"/>
                </a:lnTo>
                <a:lnTo>
                  <a:pt x="3109878" y="13008"/>
                </a:lnTo>
                <a:lnTo>
                  <a:pt x="3126420" y="11769"/>
                </a:lnTo>
                <a:lnTo>
                  <a:pt x="3142962" y="10543"/>
                </a:lnTo>
                <a:lnTo>
                  <a:pt x="3159504" y="9327"/>
                </a:lnTo>
                <a:lnTo>
                  <a:pt x="3176046" y="8123"/>
                </a:lnTo>
                <a:lnTo>
                  <a:pt x="3192588" y="6930"/>
                </a:lnTo>
                <a:lnTo>
                  <a:pt x="3209130" y="5748"/>
                </a:lnTo>
                <a:lnTo>
                  <a:pt x="3225672" y="4578"/>
                </a:lnTo>
                <a:lnTo>
                  <a:pt x="3242214" y="3418"/>
                </a:lnTo>
                <a:lnTo>
                  <a:pt x="3258756" y="2268"/>
                </a:lnTo>
                <a:lnTo>
                  <a:pt x="3275298" y="1129"/>
                </a:lnTo>
                <a:lnTo>
                  <a:pt x="32918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A-E22 line 22" descr="sci-ppt:o022"/>
          <p:cNvCxnSpPr/>
          <p:nvPr/>
        </p:nvCxnSpPr>
        <p:spPr>
          <a:xfrm>
            <a:off x="5303520" y="484632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5" name="A-E22 line 23" descr="sci-ppt:o023"/>
          <p:cNvCxnSpPr/>
          <p:nvPr/>
        </p:nvCxnSpPr>
        <p:spPr>
          <a:xfrm>
            <a:off x="530352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6" name="A-E22 line 24" descr="sci-ppt:o024"/>
          <p:cNvCxnSpPr/>
          <p:nvPr/>
        </p:nvCxnSpPr>
        <p:spPr>
          <a:xfrm>
            <a:off x="53035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A-E22 line 25" descr="sci-ppt:o025"/>
          <p:cNvCxnSpPr/>
          <p:nvPr/>
        </p:nvCxnSpPr>
        <p:spPr>
          <a:xfrm>
            <a:off x="53035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A-E22 text 26" descr="sci-ppt:o026"/>
          <p:cNvSpPr txBox="1"/>
          <p:nvPr/>
        </p:nvSpPr>
        <p:spPr>
          <a:xfrm>
            <a:off x="48463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9" name="A-E22 line 27" descr="sci-ppt:o027"/>
          <p:cNvCxnSpPr/>
          <p:nvPr/>
        </p:nvCxnSpPr>
        <p:spPr>
          <a:xfrm>
            <a:off x="6766559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A-E22 line 28" descr="sci-ppt:o028"/>
          <p:cNvCxnSpPr/>
          <p:nvPr/>
        </p:nvCxnSpPr>
        <p:spPr>
          <a:xfrm>
            <a:off x="6766559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A-E22 text 29" descr="sci-ppt:o029"/>
          <p:cNvSpPr txBox="1"/>
          <p:nvPr/>
        </p:nvSpPr>
        <p:spPr>
          <a:xfrm>
            <a:off x="6309359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32" name="A-E22 line 30" descr="sci-ppt:o030"/>
          <p:cNvCxnSpPr/>
          <p:nvPr/>
        </p:nvCxnSpPr>
        <p:spPr>
          <a:xfrm>
            <a:off x="859536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A-E22 line 31" descr="sci-ppt:o031"/>
          <p:cNvCxnSpPr/>
          <p:nvPr/>
        </p:nvCxnSpPr>
        <p:spPr>
          <a:xfrm>
            <a:off x="859536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A-E22 text 32" descr="sci-ppt:o032"/>
          <p:cNvSpPr txBox="1"/>
          <p:nvPr/>
        </p:nvSpPr>
        <p:spPr>
          <a:xfrm>
            <a:off x="813816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35" name="A-E22 line 33" descr="sci-ppt:o033"/>
          <p:cNvCxnSpPr/>
          <p:nvPr/>
        </p:nvCxnSpPr>
        <p:spPr>
          <a:xfrm>
            <a:off x="523951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A-E22 line 34" descr="sci-ppt:o034"/>
          <p:cNvCxnSpPr/>
          <p:nvPr/>
        </p:nvCxnSpPr>
        <p:spPr>
          <a:xfrm>
            <a:off x="5239512" y="384701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A-E22 line 35" descr="sci-ppt:o035"/>
          <p:cNvCxnSpPr/>
          <p:nvPr/>
        </p:nvCxnSpPr>
        <p:spPr>
          <a:xfrm>
            <a:off x="5303520" y="384701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A-E22 text 36" descr="sci-ppt:o036"/>
          <p:cNvSpPr txBox="1"/>
          <p:nvPr/>
        </p:nvSpPr>
        <p:spPr>
          <a:xfrm>
            <a:off x="4434840" y="376471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39" name="A-E22 line 37" descr="sci-ppt:o037"/>
          <p:cNvCxnSpPr/>
          <p:nvPr/>
        </p:nvCxnSpPr>
        <p:spPr>
          <a:xfrm>
            <a:off x="5239512" y="284770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A-E22 line 38" descr="sci-ppt:o038"/>
          <p:cNvCxnSpPr/>
          <p:nvPr/>
        </p:nvCxnSpPr>
        <p:spPr>
          <a:xfrm>
            <a:off x="5303520" y="2847701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A-E22 text 39" descr="sci-ppt:o039"/>
          <p:cNvSpPr txBox="1"/>
          <p:nvPr/>
        </p:nvSpPr>
        <p:spPr>
          <a:xfrm>
            <a:off x="4434840" y="276540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42" name="A-E22 line 40" descr="sci-ppt:o040"/>
          <p:cNvCxnSpPr/>
          <p:nvPr/>
        </p:nvCxnSpPr>
        <p:spPr>
          <a:xfrm>
            <a:off x="5239512" y="184839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A-E22 line 41" descr="sci-ppt:o041"/>
          <p:cNvCxnSpPr/>
          <p:nvPr/>
        </p:nvCxnSpPr>
        <p:spPr>
          <a:xfrm>
            <a:off x="5303520" y="1848391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A-E22 text 42" descr="sci-ppt:o042"/>
          <p:cNvSpPr txBox="1"/>
          <p:nvPr/>
        </p:nvSpPr>
        <p:spPr>
          <a:xfrm>
            <a:off x="4434840" y="176609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sp>
        <p:nvSpPr>
          <p:cNvPr id="45" name="A-E22 text 43" descr="sci-ppt:o043"/>
          <p:cNvSpPr txBox="1"/>
          <p:nvPr/>
        </p:nvSpPr>
        <p:spPr>
          <a:xfrm>
            <a:off x="5303520" y="5129783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R_ref</a:t>
            </a:r>
          </a:p>
        </p:txBody>
      </p:sp>
      <p:sp>
        <p:nvSpPr>
          <p:cNvPr id="46" name="A-E22 text 44" descr="sci-ppt:o044"/>
          <p:cNvSpPr txBox="1"/>
          <p:nvPr/>
        </p:nvSpPr>
        <p:spPr>
          <a:xfrm>
            <a:off x="4754880" y="1024128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W_g / (G_g R_ref³)</a:t>
            </a:r>
          </a:p>
        </p:txBody>
      </p:sp>
      <p:sp>
        <p:nvSpPr>
          <p:cNvPr id="47" name="A-E22 polygon 45" descr="sci-ppt:o045"/>
          <p:cNvSpPr/>
          <p:nvPr/>
        </p:nvSpPr>
        <p:spPr>
          <a:xfrm>
            <a:off x="5386229" y="1372549"/>
            <a:ext cx="2117364" cy="3344492"/>
          </a:xfrm>
          <a:custGeom>
            <a:avLst/>
            <a:gdLst/>
            <a:ahLst/>
            <a:cxnLst/>
            <a:rect l="l" t="t" r="r" b="b"/>
            <a:pathLst>
              <a:path w="2117364" h="3344492">
                <a:moveTo>
                  <a:pt x="0" y="3344492"/>
                </a:moveTo>
                <a:lnTo>
                  <a:pt x="16542" y="3181466"/>
                </a:lnTo>
                <a:lnTo>
                  <a:pt x="33084" y="3042742"/>
                </a:lnTo>
                <a:lnTo>
                  <a:pt x="49626" y="2921791"/>
                </a:lnTo>
                <a:lnTo>
                  <a:pt x="66168" y="2814406"/>
                </a:lnTo>
                <a:lnTo>
                  <a:pt x="82710" y="2717721"/>
                </a:lnTo>
                <a:lnTo>
                  <a:pt x="99252" y="2629693"/>
                </a:lnTo>
                <a:lnTo>
                  <a:pt x="115793" y="2548816"/>
                </a:lnTo>
                <a:lnTo>
                  <a:pt x="132335" y="2473948"/>
                </a:lnTo>
                <a:lnTo>
                  <a:pt x="148877" y="2404203"/>
                </a:lnTo>
                <a:lnTo>
                  <a:pt x="165419" y="2338877"/>
                </a:lnTo>
                <a:lnTo>
                  <a:pt x="181961" y="2277407"/>
                </a:lnTo>
                <a:lnTo>
                  <a:pt x="198503" y="2219330"/>
                </a:lnTo>
                <a:lnTo>
                  <a:pt x="215045" y="2164264"/>
                </a:lnTo>
                <a:lnTo>
                  <a:pt x="231587" y="2111889"/>
                </a:lnTo>
                <a:lnTo>
                  <a:pt x="248129" y="2061935"/>
                </a:lnTo>
                <a:lnTo>
                  <a:pt x="264671" y="2014169"/>
                </a:lnTo>
                <a:lnTo>
                  <a:pt x="281213" y="1968395"/>
                </a:lnTo>
                <a:lnTo>
                  <a:pt x="297754" y="1924439"/>
                </a:lnTo>
                <a:lnTo>
                  <a:pt x="314296" y="1882151"/>
                </a:lnTo>
                <a:lnTo>
                  <a:pt x="330838" y="1841401"/>
                </a:lnTo>
                <a:lnTo>
                  <a:pt x="347380" y="1802070"/>
                </a:lnTo>
                <a:lnTo>
                  <a:pt x="363922" y="1764057"/>
                </a:lnTo>
                <a:lnTo>
                  <a:pt x="380464" y="1727269"/>
                </a:lnTo>
                <a:lnTo>
                  <a:pt x="397006" y="1691624"/>
                </a:lnTo>
                <a:lnTo>
                  <a:pt x="413548" y="1657047"/>
                </a:lnTo>
                <a:lnTo>
                  <a:pt x="430090" y="1623473"/>
                </a:lnTo>
                <a:lnTo>
                  <a:pt x="446632" y="1590839"/>
                </a:lnTo>
                <a:lnTo>
                  <a:pt x="463174" y="1559092"/>
                </a:lnTo>
                <a:lnTo>
                  <a:pt x="479715" y="1528180"/>
                </a:lnTo>
                <a:lnTo>
                  <a:pt x="496257" y="1498059"/>
                </a:lnTo>
                <a:lnTo>
                  <a:pt x="512799" y="1468685"/>
                </a:lnTo>
                <a:lnTo>
                  <a:pt x="529341" y="1440021"/>
                </a:lnTo>
                <a:lnTo>
                  <a:pt x="545883" y="1412031"/>
                </a:lnTo>
                <a:lnTo>
                  <a:pt x="562425" y="1384681"/>
                </a:lnTo>
                <a:lnTo>
                  <a:pt x="578967" y="1357942"/>
                </a:lnTo>
                <a:lnTo>
                  <a:pt x="595509" y="1331784"/>
                </a:lnTo>
                <a:lnTo>
                  <a:pt x="612051" y="1306182"/>
                </a:lnTo>
                <a:lnTo>
                  <a:pt x="628593" y="1281112"/>
                </a:lnTo>
                <a:lnTo>
                  <a:pt x="645135" y="1256549"/>
                </a:lnTo>
                <a:lnTo>
                  <a:pt x="661676" y="1232474"/>
                </a:lnTo>
                <a:lnTo>
                  <a:pt x="678218" y="1208866"/>
                </a:lnTo>
                <a:lnTo>
                  <a:pt x="694760" y="1185705"/>
                </a:lnTo>
                <a:lnTo>
                  <a:pt x="711302" y="1162976"/>
                </a:lnTo>
                <a:lnTo>
                  <a:pt x="727844" y="1140661"/>
                </a:lnTo>
                <a:lnTo>
                  <a:pt x="744386" y="1118744"/>
                </a:lnTo>
                <a:lnTo>
                  <a:pt x="760928" y="1097211"/>
                </a:lnTo>
                <a:lnTo>
                  <a:pt x="777470" y="1076048"/>
                </a:lnTo>
                <a:lnTo>
                  <a:pt x="794012" y="1055242"/>
                </a:lnTo>
                <a:lnTo>
                  <a:pt x="810554" y="1034781"/>
                </a:lnTo>
                <a:lnTo>
                  <a:pt x="827096" y="1014653"/>
                </a:lnTo>
                <a:lnTo>
                  <a:pt x="843637" y="994846"/>
                </a:lnTo>
                <a:lnTo>
                  <a:pt x="860179" y="975350"/>
                </a:lnTo>
                <a:lnTo>
                  <a:pt x="876721" y="956155"/>
                </a:lnTo>
                <a:lnTo>
                  <a:pt x="893263" y="937252"/>
                </a:lnTo>
                <a:lnTo>
                  <a:pt x="909805" y="918632"/>
                </a:lnTo>
                <a:lnTo>
                  <a:pt x="926347" y="900285"/>
                </a:lnTo>
                <a:lnTo>
                  <a:pt x="942889" y="882204"/>
                </a:lnTo>
                <a:lnTo>
                  <a:pt x="959431" y="864381"/>
                </a:lnTo>
                <a:lnTo>
                  <a:pt x="975973" y="846808"/>
                </a:lnTo>
                <a:lnTo>
                  <a:pt x="992515" y="829478"/>
                </a:lnTo>
                <a:lnTo>
                  <a:pt x="1009057" y="812384"/>
                </a:lnTo>
                <a:lnTo>
                  <a:pt x="1025598" y="795520"/>
                </a:lnTo>
                <a:lnTo>
                  <a:pt x="1042140" y="778879"/>
                </a:lnTo>
                <a:lnTo>
                  <a:pt x="1058682" y="762455"/>
                </a:lnTo>
                <a:lnTo>
                  <a:pt x="1075224" y="746243"/>
                </a:lnTo>
                <a:lnTo>
                  <a:pt x="1091766" y="730237"/>
                </a:lnTo>
                <a:lnTo>
                  <a:pt x="1108308" y="714431"/>
                </a:lnTo>
                <a:lnTo>
                  <a:pt x="1124850" y="698821"/>
                </a:lnTo>
                <a:lnTo>
                  <a:pt x="1141392" y="683402"/>
                </a:lnTo>
                <a:lnTo>
                  <a:pt x="1157934" y="668168"/>
                </a:lnTo>
                <a:lnTo>
                  <a:pt x="1174476" y="653116"/>
                </a:lnTo>
                <a:lnTo>
                  <a:pt x="1191018" y="638241"/>
                </a:lnTo>
                <a:lnTo>
                  <a:pt x="1207559" y="623538"/>
                </a:lnTo>
                <a:lnTo>
                  <a:pt x="1224101" y="609004"/>
                </a:lnTo>
                <a:lnTo>
                  <a:pt x="1240643" y="594635"/>
                </a:lnTo>
                <a:lnTo>
                  <a:pt x="1257185" y="580427"/>
                </a:lnTo>
                <a:lnTo>
                  <a:pt x="1273727" y="566376"/>
                </a:lnTo>
                <a:lnTo>
                  <a:pt x="1290269" y="552478"/>
                </a:lnTo>
                <a:lnTo>
                  <a:pt x="1306811" y="538732"/>
                </a:lnTo>
                <a:lnTo>
                  <a:pt x="1323353" y="525132"/>
                </a:lnTo>
                <a:lnTo>
                  <a:pt x="1339895" y="511676"/>
                </a:lnTo>
                <a:lnTo>
                  <a:pt x="1356437" y="498360"/>
                </a:lnTo>
                <a:lnTo>
                  <a:pt x="1372979" y="485183"/>
                </a:lnTo>
                <a:lnTo>
                  <a:pt x="1389520" y="472140"/>
                </a:lnTo>
                <a:lnTo>
                  <a:pt x="1406062" y="459230"/>
                </a:lnTo>
                <a:lnTo>
                  <a:pt x="1422604" y="446449"/>
                </a:lnTo>
                <a:lnTo>
                  <a:pt x="1439146" y="433794"/>
                </a:lnTo>
                <a:lnTo>
                  <a:pt x="1455688" y="421264"/>
                </a:lnTo>
                <a:lnTo>
                  <a:pt x="1472230" y="408856"/>
                </a:lnTo>
                <a:lnTo>
                  <a:pt x="1488772" y="396567"/>
                </a:lnTo>
                <a:lnTo>
                  <a:pt x="1505314" y="384395"/>
                </a:lnTo>
                <a:lnTo>
                  <a:pt x="1521856" y="372338"/>
                </a:lnTo>
                <a:lnTo>
                  <a:pt x="1538398" y="360394"/>
                </a:lnTo>
                <a:lnTo>
                  <a:pt x="1554940" y="348560"/>
                </a:lnTo>
                <a:lnTo>
                  <a:pt x="1571481" y="336835"/>
                </a:lnTo>
                <a:lnTo>
                  <a:pt x="1588023" y="325216"/>
                </a:lnTo>
                <a:lnTo>
                  <a:pt x="1604565" y="313702"/>
                </a:lnTo>
                <a:lnTo>
                  <a:pt x="1621107" y="302290"/>
                </a:lnTo>
                <a:lnTo>
                  <a:pt x="1637649" y="290979"/>
                </a:lnTo>
                <a:lnTo>
                  <a:pt x="1654191" y="279767"/>
                </a:lnTo>
                <a:lnTo>
                  <a:pt x="1670733" y="268652"/>
                </a:lnTo>
                <a:lnTo>
                  <a:pt x="1687275" y="257633"/>
                </a:lnTo>
                <a:lnTo>
                  <a:pt x="1703817" y="246707"/>
                </a:lnTo>
                <a:lnTo>
                  <a:pt x="1720359" y="235874"/>
                </a:lnTo>
                <a:lnTo>
                  <a:pt x="1736901" y="225131"/>
                </a:lnTo>
                <a:lnTo>
                  <a:pt x="1753442" y="214478"/>
                </a:lnTo>
                <a:lnTo>
                  <a:pt x="1769984" y="203912"/>
                </a:lnTo>
                <a:lnTo>
                  <a:pt x="1786526" y="193433"/>
                </a:lnTo>
                <a:lnTo>
                  <a:pt x="1803068" y="183038"/>
                </a:lnTo>
                <a:lnTo>
                  <a:pt x="1819610" y="172727"/>
                </a:lnTo>
                <a:lnTo>
                  <a:pt x="1836152" y="162498"/>
                </a:lnTo>
                <a:lnTo>
                  <a:pt x="1852694" y="152350"/>
                </a:lnTo>
                <a:lnTo>
                  <a:pt x="1869236" y="142281"/>
                </a:lnTo>
                <a:lnTo>
                  <a:pt x="1885778" y="132290"/>
                </a:lnTo>
                <a:lnTo>
                  <a:pt x="1902320" y="122376"/>
                </a:lnTo>
                <a:lnTo>
                  <a:pt x="1918862" y="112539"/>
                </a:lnTo>
                <a:lnTo>
                  <a:pt x="1935403" y="102775"/>
                </a:lnTo>
                <a:lnTo>
                  <a:pt x="1951945" y="93086"/>
                </a:lnTo>
                <a:lnTo>
                  <a:pt x="1968487" y="83469"/>
                </a:lnTo>
                <a:lnTo>
                  <a:pt x="1985029" y="73923"/>
                </a:lnTo>
                <a:lnTo>
                  <a:pt x="2001571" y="64447"/>
                </a:lnTo>
                <a:lnTo>
                  <a:pt x="2018113" y="55040"/>
                </a:lnTo>
                <a:lnTo>
                  <a:pt x="2034655" y="45702"/>
                </a:lnTo>
                <a:lnTo>
                  <a:pt x="2051197" y="36431"/>
                </a:lnTo>
                <a:lnTo>
                  <a:pt x="2067739" y="27226"/>
                </a:lnTo>
                <a:lnTo>
                  <a:pt x="2084281" y="18087"/>
                </a:lnTo>
                <a:lnTo>
                  <a:pt x="2100823" y="9012"/>
                </a:lnTo>
                <a:lnTo>
                  <a:pt x="2117364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A-E22 round_rect 46" descr="sci-ppt:o046"/>
          <p:cNvSpPr/>
          <p:nvPr/>
        </p:nvSpPr>
        <p:spPr>
          <a:xfrm>
            <a:off x="8778240" y="1371600"/>
            <a:ext cx="3063240" cy="34747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A-E22 text 47" descr="sci-ppt:o047"/>
          <p:cNvSpPr txBox="1"/>
          <p:nvPr/>
        </p:nvSpPr>
        <p:spPr>
          <a:xfrm>
            <a:off x="8887967" y="1426464"/>
            <a:ext cx="284378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Formulas</a:t>
            </a:r>
          </a:p>
        </p:txBody>
      </p:sp>
      <p:sp>
        <p:nvSpPr>
          <p:cNvPr id="50" name="A-E22 text 48" descr="sci-ppt:o048"/>
          <p:cNvSpPr txBox="1"/>
          <p:nvPr/>
        </p:nvSpPr>
        <p:spPr>
          <a:xfrm>
            <a:off x="8869680" y="1828800"/>
            <a:ext cx="288036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E7F0F3"/>
                </a:solidFill>
                <a:latin typeface="Arial"/>
              </a:rPr>
              <a:t>pₑₗ = (G_g/2)[5 − 4R_ref/R − (R_ref/R)⁴]</a:t>
            </a:r>
          </a:p>
        </p:txBody>
      </p:sp>
      <p:sp>
        <p:nvSpPr>
          <p:cNvPr id="51" name="A-E22 text 49" descr="sci-ppt:o049"/>
          <p:cNvSpPr txBox="1"/>
          <p:nvPr/>
        </p:nvSpPr>
        <p:spPr>
          <a:xfrm>
            <a:off x="8869680" y="2743200"/>
            <a:ext cx="2880360" cy="37109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B880"/>
                </a:solidFill>
                <a:latin typeface="Arial"/>
              </a:rPr>
              <a:t>W_g = 2πG_g[5R³/3 − 2R_refR² + R_ref⁴/R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2B880"/>
                </a:solidFill>
                <a:latin typeface="Arial"/>
              </a:rPr>
              <a:t>− 2R_ref³/3]</a:t>
            </a:r>
          </a:p>
        </p:txBody>
      </p:sp>
      <p:sp>
        <p:nvSpPr>
          <p:cNvPr id="52" name="A-E22 text 50" descr="sci-ppt:o050"/>
          <p:cNvSpPr txBox="1"/>
          <p:nvPr/>
        </p:nvSpPr>
        <p:spPr>
          <a:xfrm>
            <a:off x="8869680" y="3931920"/>
            <a:ext cx="288036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pressure saturates; work keeps growing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as R³</a:t>
            </a:r>
          </a:p>
        </p:txBody>
      </p:sp>
      <p:sp>
        <p:nvSpPr>
          <p:cNvPr id="53" name="A-E22 text 51" descr="sci-ppt:o051"/>
          <p:cNvSpPr txBox="1"/>
          <p:nvPr/>
        </p:nvSpPr>
        <p:spPr>
          <a:xfrm>
            <a:off x="914400" y="5486400"/>
            <a:ext cx="1097280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Defence 2: resistance pressure and elastic work answer different parts of the feasibility question: a modest pressure can still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cost a finite work.</a:t>
            </a:r>
          </a:p>
        </p:txBody>
      </p:sp>
      <p:sp>
        <p:nvSpPr>
          <p:cNvPr id="54" name="A-E22 text 52" descr="sci-ppt:o05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Original pressure and work formulas recalled: Eqs. A-E05 and A-E07 (Defence 2).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2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A-E23 · Original event-response formulas recalled</a:t>
            </a:r>
          </a:p>
        </p:txBody>
      </p:sp>
      <p:sp>
        <p:nvSpPr>
          <p:cNvPr id="3" name="A-E23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Three timescale comparisons, three assumptions</a:t>
            </a:r>
          </a:p>
        </p:txBody>
      </p:sp>
      <p:sp>
        <p:nvSpPr>
          <p:cNvPr id="4" name="A-E23 round_rect 2" descr="sci-ppt:o002"/>
          <p:cNvSpPr/>
          <p:nvPr/>
        </p:nvSpPr>
        <p:spPr>
          <a:xfrm>
            <a:off x="457200" y="1371600"/>
            <a:ext cx="3611880" cy="31089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-E23 text 3" descr="sci-ppt:o003"/>
          <p:cNvSpPr txBox="1"/>
          <p:nvPr/>
        </p:nvSpPr>
        <p:spPr>
          <a:xfrm>
            <a:off x="566928" y="1426464"/>
            <a:ext cx="3392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Deborah number</a:t>
            </a:r>
          </a:p>
        </p:txBody>
      </p:sp>
      <p:sp>
        <p:nvSpPr>
          <p:cNvPr id="6" name="A-E23 text 4" descr="sci-ppt:o004"/>
          <p:cNvSpPr txBox="1"/>
          <p:nvPr/>
        </p:nvSpPr>
        <p:spPr>
          <a:xfrm>
            <a:off x="548640" y="192024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De = τᵣₑₗ / τₑ</a:t>
            </a:r>
          </a:p>
        </p:txBody>
      </p:sp>
      <p:sp>
        <p:nvSpPr>
          <p:cNvPr id="7" name="A-E23 text 5" descr="sci-ppt:o005"/>
          <p:cNvSpPr txBox="1"/>
          <p:nvPr/>
        </p:nvSpPr>
        <p:spPr>
          <a:xfrm>
            <a:off x="548640" y="292608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does the network relax during the event?</a:t>
            </a:r>
          </a:p>
        </p:txBody>
      </p:sp>
      <p:sp>
        <p:nvSpPr>
          <p:cNvPr id="8" name="A-E23 text 6" descr="sci-ppt:o006"/>
          <p:cNvSpPr txBox="1"/>
          <p:nvPr/>
        </p:nvSpPr>
        <p:spPr>
          <a:xfrm>
            <a:off x="548640" y="3749039"/>
            <a:ext cx="3429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viscoelastic response</a:t>
            </a:r>
          </a:p>
        </p:txBody>
      </p:sp>
      <p:sp>
        <p:nvSpPr>
          <p:cNvPr id="9" name="A-E23 round_rect 7" descr="sci-ppt:o007"/>
          <p:cNvSpPr/>
          <p:nvPr/>
        </p:nvSpPr>
        <p:spPr>
          <a:xfrm>
            <a:off x="4251960" y="1371600"/>
            <a:ext cx="3611880" cy="31089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A-E23 text 8" descr="sci-ppt:o008"/>
          <p:cNvSpPr txBox="1"/>
          <p:nvPr/>
        </p:nvSpPr>
        <p:spPr>
          <a:xfrm>
            <a:off x="4361688" y="1426464"/>
            <a:ext cx="3392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Shear crossing</a:t>
            </a:r>
          </a:p>
        </p:txBody>
      </p:sp>
      <p:sp>
        <p:nvSpPr>
          <p:cNvPr id="11" name="A-E23 text 9" descr="sci-ppt:o009"/>
          <p:cNvSpPr txBox="1"/>
          <p:nvPr/>
        </p:nvSpPr>
        <p:spPr>
          <a:xfrm>
            <a:off x="4343400" y="192024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tₛ = L_g / √(G_g/ρ_g) = 6.71 µs</a:t>
            </a:r>
          </a:p>
        </p:txBody>
      </p:sp>
      <p:sp>
        <p:nvSpPr>
          <p:cNvPr id="12" name="A-E23 text 10" descr="sci-ppt:o010"/>
          <p:cNvSpPr txBox="1"/>
          <p:nvPr/>
        </p:nvSpPr>
        <p:spPr>
          <a:xfrm>
            <a:off x="4343400" y="292608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is the gel quasi-static over the event?</a:t>
            </a:r>
          </a:p>
        </p:txBody>
      </p:sp>
      <p:sp>
        <p:nvSpPr>
          <p:cNvPr id="13" name="A-E23 text 11" descr="sci-ppt:o011"/>
          <p:cNvSpPr txBox="1"/>
          <p:nvPr/>
        </p:nvSpPr>
        <p:spPr>
          <a:xfrm>
            <a:off x="4343400" y="3749039"/>
            <a:ext cx="3429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inertia / wave travel</a:t>
            </a:r>
          </a:p>
        </p:txBody>
      </p:sp>
      <p:sp>
        <p:nvSpPr>
          <p:cNvPr id="14" name="A-E23 round_rect 12" descr="sci-ppt:o012"/>
          <p:cNvSpPr/>
          <p:nvPr/>
        </p:nvSpPr>
        <p:spPr>
          <a:xfrm>
            <a:off x="8046720" y="1371600"/>
            <a:ext cx="3611880" cy="31089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-E23 text 13" descr="sci-ppt:o013"/>
          <p:cNvSpPr txBox="1"/>
          <p:nvPr/>
        </p:nvSpPr>
        <p:spPr>
          <a:xfrm>
            <a:off x="8156448" y="1426464"/>
            <a:ext cx="3392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Drainage</a:t>
            </a:r>
          </a:p>
        </p:txBody>
      </p:sp>
      <p:sp>
        <p:nvSpPr>
          <p:cNvPr id="16" name="A-E23 text 14" descr="sci-ppt:o014"/>
          <p:cNvSpPr txBox="1"/>
          <p:nvPr/>
        </p:nvSpPr>
        <p:spPr>
          <a:xfrm>
            <a:off x="8138160" y="192024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tₚₒᵣₒ ~ μₗ L_g² / (k M_d) = 1.5 s</a:t>
            </a:r>
          </a:p>
        </p:txBody>
      </p:sp>
      <p:sp>
        <p:nvSpPr>
          <p:cNvPr id="17" name="A-E23 text 15" descr="sci-ppt:o015"/>
          <p:cNvSpPr txBox="1"/>
          <p:nvPr/>
        </p:nvSpPr>
        <p:spPr>
          <a:xfrm>
            <a:off x="8138160" y="2926080"/>
            <a:ext cx="3429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can solvent leave during the event?</a:t>
            </a:r>
          </a:p>
        </p:txBody>
      </p:sp>
      <p:sp>
        <p:nvSpPr>
          <p:cNvPr id="18" name="A-E23 text 16" descr="sci-ppt:o016"/>
          <p:cNvSpPr txBox="1"/>
          <p:nvPr/>
        </p:nvSpPr>
        <p:spPr>
          <a:xfrm>
            <a:off x="8138160" y="3749039"/>
            <a:ext cx="3429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poroelastic transport</a:t>
            </a:r>
          </a:p>
        </p:txBody>
      </p:sp>
      <p:sp>
        <p:nvSpPr>
          <p:cNvPr id="19" name="A-E23 text 17" descr="sci-ppt:o017"/>
          <p:cNvSpPr txBox="1"/>
          <p:nvPr/>
        </p:nvSpPr>
        <p:spPr>
          <a:xfrm>
            <a:off x="457200" y="484632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Each ratio against the event time constrains a different physical assumption; one passing test does not cover the others.</a:t>
            </a:r>
          </a:p>
        </p:txBody>
      </p:sp>
      <p:sp>
        <p:nvSpPr>
          <p:cNvPr id="20" name="A-E23 text 18" descr="sci-ppt:o01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Original event-response formulas recalled: Eqs. A-E16, A-E18, A-E20 (Defence 3).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2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A-E24 · Original load and interface-work accounting</a:t>
            </a:r>
          </a:p>
        </p:txBody>
      </p:sp>
      <p:sp>
        <p:nvSpPr>
          <p:cNvPr id="3" name="A-E24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Follow the delivered load to the intended interface and the final placement</a:t>
            </a:r>
          </a:p>
        </p:txBody>
      </p:sp>
      <p:sp>
        <p:nvSpPr>
          <p:cNvPr id="4" name="A-E24 round_rect 2" descr="sci-ppt:o002"/>
          <p:cNvSpPr/>
          <p:nvPr/>
        </p:nvSpPr>
        <p:spPr>
          <a:xfrm>
            <a:off x="457200" y="1463040"/>
            <a:ext cx="2434590" cy="1371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-E24 text 3" descr="sci-ppt:o003"/>
          <p:cNvSpPr txBox="1"/>
          <p:nvPr/>
        </p:nvSpPr>
        <p:spPr>
          <a:xfrm>
            <a:off x="530352" y="1517904"/>
            <a:ext cx="228828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load</a:t>
            </a:r>
          </a:p>
        </p:txBody>
      </p:sp>
      <p:sp>
        <p:nvSpPr>
          <p:cNvPr id="6" name="A-E24 text 4" descr="sci-ppt:o004"/>
          <p:cNvSpPr txBox="1"/>
          <p:nvPr/>
        </p:nvSpPr>
        <p:spPr>
          <a:xfrm>
            <a:off x="530352" y="1791081"/>
            <a:ext cx="228828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t_load on Aₜ</a:t>
            </a:r>
          </a:p>
        </p:txBody>
      </p:sp>
      <p:cxnSp>
        <p:nvCxnSpPr>
          <p:cNvPr id="7" name="A-E24 arrow 5" descr="sci-ppt:o005"/>
          <p:cNvCxnSpPr/>
          <p:nvPr/>
        </p:nvCxnSpPr>
        <p:spPr>
          <a:xfrm>
            <a:off x="2919222" y="2148840"/>
            <a:ext cx="44805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A-E24 round_rect 6" descr="sci-ppt:o006"/>
          <p:cNvSpPr/>
          <p:nvPr/>
        </p:nvSpPr>
        <p:spPr>
          <a:xfrm>
            <a:off x="3394710" y="1463040"/>
            <a:ext cx="2434590" cy="1371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-E24 text 7" descr="sci-ppt:o007"/>
          <p:cNvSpPr txBox="1"/>
          <p:nvPr/>
        </p:nvSpPr>
        <p:spPr>
          <a:xfrm>
            <a:off x="3467862" y="1517904"/>
            <a:ext cx="228828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impulse</a:t>
            </a:r>
          </a:p>
        </p:txBody>
      </p:sp>
      <p:sp>
        <p:nvSpPr>
          <p:cNvPr id="10" name="A-E24 text 8" descr="sci-ppt:o008"/>
          <p:cNvSpPr txBox="1"/>
          <p:nvPr/>
        </p:nvSpPr>
        <p:spPr>
          <a:xfrm>
            <a:off x="3467862" y="1791081"/>
            <a:ext cx="228828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J_target = ∫∫ t_load dA dt</a:t>
            </a:r>
          </a:p>
        </p:txBody>
      </p:sp>
      <p:cxnSp>
        <p:nvCxnSpPr>
          <p:cNvPr id="11" name="A-E24 arrow 9" descr="sci-ppt:o009"/>
          <p:cNvCxnSpPr/>
          <p:nvPr/>
        </p:nvCxnSpPr>
        <p:spPr>
          <a:xfrm>
            <a:off x="5856732" y="2148840"/>
            <a:ext cx="44805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A-E24 round_rect 10" descr="sci-ppt:o010"/>
          <p:cNvSpPr/>
          <p:nvPr/>
        </p:nvSpPr>
        <p:spPr>
          <a:xfrm>
            <a:off x="6332220" y="1463040"/>
            <a:ext cx="2434590" cy="1371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A-E24 text 11" descr="sci-ppt:o011"/>
          <p:cNvSpPr txBox="1"/>
          <p:nvPr/>
        </p:nvSpPr>
        <p:spPr>
          <a:xfrm>
            <a:off x="6405372" y="1517904"/>
            <a:ext cx="228828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interface</a:t>
            </a:r>
          </a:p>
        </p:txBody>
      </p:sp>
      <p:sp>
        <p:nvSpPr>
          <p:cNvPr id="14" name="A-E24 text 12" descr="sci-ppt:o012"/>
          <p:cNvSpPr txBox="1"/>
          <p:nvPr/>
        </p:nvSpPr>
        <p:spPr>
          <a:xfrm>
            <a:off x="6405372" y="1791081"/>
            <a:ext cx="228828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Wₛₑₚ,min = ∫ Γ_c dA</a:t>
            </a:r>
          </a:p>
        </p:txBody>
      </p:sp>
      <p:cxnSp>
        <p:nvCxnSpPr>
          <p:cNvPr id="15" name="A-E24 arrow 13" descr="sci-ppt:o013"/>
          <p:cNvCxnSpPr/>
          <p:nvPr/>
        </p:nvCxnSpPr>
        <p:spPr>
          <a:xfrm>
            <a:off x="8794242" y="2148840"/>
            <a:ext cx="44805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A-E24 round_rect 14" descr="sci-ppt:o014"/>
          <p:cNvSpPr/>
          <p:nvPr/>
        </p:nvSpPr>
        <p:spPr>
          <a:xfrm>
            <a:off x="9269730" y="1463040"/>
            <a:ext cx="2434590" cy="1371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A8E6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A-E24 text 15" descr="sci-ppt:o015"/>
          <p:cNvSpPr txBox="1"/>
          <p:nvPr/>
        </p:nvSpPr>
        <p:spPr>
          <a:xfrm>
            <a:off x="9342882" y="1517904"/>
            <a:ext cx="228828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A8E6A1"/>
                </a:solidFill>
                <a:latin typeface="Arial"/>
              </a:rPr>
              <a:t>placement</a:t>
            </a:r>
          </a:p>
        </p:txBody>
      </p:sp>
      <p:sp>
        <p:nvSpPr>
          <p:cNvPr id="18" name="A-E24 text 16" descr="sci-ppt:o016"/>
          <p:cNvSpPr txBox="1"/>
          <p:nvPr/>
        </p:nvSpPr>
        <p:spPr>
          <a:xfrm>
            <a:off x="9342882" y="1791081"/>
            <a:ext cx="228828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final position</a:t>
            </a:r>
          </a:p>
        </p:txBody>
      </p:sp>
      <p:sp>
        <p:nvSpPr>
          <p:cNvPr id="19" name="A-E24 round_rect 17" descr="sci-ppt:o017"/>
          <p:cNvSpPr/>
          <p:nvPr/>
        </p:nvSpPr>
        <p:spPr>
          <a:xfrm>
            <a:off x="457200" y="3200400"/>
            <a:ext cx="5486400" cy="2194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A-E24 text 18" descr="sci-ppt:o018"/>
          <p:cNvSpPr txBox="1"/>
          <p:nvPr/>
        </p:nvSpPr>
        <p:spPr>
          <a:xfrm>
            <a:off x="566928" y="325526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Delivered</a:t>
            </a:r>
          </a:p>
        </p:txBody>
      </p:sp>
      <p:sp>
        <p:nvSpPr>
          <p:cNvPr id="21" name="A-E24 text 19" descr="sci-ppt:o019"/>
          <p:cNvSpPr txBox="1"/>
          <p:nvPr/>
        </p:nvSpPr>
        <p:spPr>
          <a:xfrm>
            <a:off x="594360" y="365760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J_target = ∫_{t₀}^{t₁} ∫_{A_t} t_load dA dt</a:t>
            </a:r>
          </a:p>
        </p:txBody>
      </p:sp>
      <p:sp>
        <p:nvSpPr>
          <p:cNvPr id="22" name="A-E24 text 20" descr="sci-ppt:o020"/>
          <p:cNvSpPr txBox="1"/>
          <p:nvPr/>
        </p:nvSpPr>
        <p:spPr>
          <a:xfrm>
            <a:off x="594360" y="429768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load that actually reaches the target footprint Aₜ over its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time window</a:t>
            </a:r>
          </a:p>
        </p:txBody>
      </p:sp>
      <p:sp>
        <p:nvSpPr>
          <p:cNvPr id="23" name="A-E24 round_rect 21" descr="sci-ppt:o021"/>
          <p:cNvSpPr/>
          <p:nvPr/>
        </p:nvSpPr>
        <p:spPr>
          <a:xfrm>
            <a:off x="6217920" y="3200400"/>
            <a:ext cx="5486400" cy="2194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-E24 text 22" descr="sci-ppt:o022"/>
          <p:cNvSpPr txBox="1"/>
          <p:nvPr/>
        </p:nvSpPr>
        <p:spPr>
          <a:xfrm>
            <a:off x="6327648" y="325526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Required</a:t>
            </a:r>
          </a:p>
        </p:txBody>
      </p:sp>
      <p:sp>
        <p:nvSpPr>
          <p:cNvPr id="25" name="A-E24 text 23" descr="sci-ppt:o023"/>
          <p:cNvSpPr txBox="1"/>
          <p:nvPr/>
        </p:nvSpPr>
        <p:spPr>
          <a:xfrm>
            <a:off x="6355080" y="365760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Wₛₑₚ,min = ∫_{A_rel} Γ_c dA</a:t>
            </a:r>
          </a:p>
        </p:txBody>
      </p:sp>
      <p:sp>
        <p:nvSpPr>
          <p:cNvPr id="26" name="A-E24 text 24" descr="sci-ppt:o024"/>
          <p:cNvSpPr txBox="1"/>
          <p:nvPr/>
        </p:nvSpPr>
        <p:spPr>
          <a:xfrm>
            <a:off x="6355080" y="42976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least energy to separate the intended release area</a:t>
            </a:r>
          </a:p>
        </p:txBody>
      </p:sp>
      <p:sp>
        <p:nvSpPr>
          <p:cNvPr id="27" name="A-E24 text 25" descr="sci-ppt:o025"/>
          <p:cNvSpPr txBox="1"/>
          <p:nvPr/>
        </p:nvSpPr>
        <p:spPr>
          <a:xfrm>
            <a:off x="457200" y="566928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fair comparison with the gel path must use the same load, interface and placement accounting.</a:t>
            </a:r>
          </a:p>
        </p:txBody>
      </p:sp>
      <p:sp>
        <p:nvSpPr>
          <p:cNvPr id="28" name="A-E24 text 26" descr="sci-ppt:o02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Original load and interface-work accounting: Eq. A-E24 (Defence 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