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69916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olygon 1: plot geometry" descr="sci-ppt:obj-0001"/>
          <p:cNvSpPr/>
          <p:nvPr/>
        </p:nvSpPr>
        <p:spPr>
          <a:xfrm>
            <a:off x="0" y="0"/>
            <a:ext cx="12191695" cy="6699166"/>
          </a:xfrm>
          <a:custGeom>
            <a:avLst/>
            <a:gdLst/>
            <a:ahLst/>
            <a:cxnLst/>
            <a:rect l="l" t="t" r="r" b="b"/>
            <a:pathLst>
              <a:path w="12191695" h="6699166">
                <a:moveTo>
                  <a:pt x="0" y="6699166"/>
                </a:moveTo>
                <a:lnTo>
                  <a:pt x="12191695" y="6699166"/>
                </a:lnTo>
                <a:lnTo>
                  <a:pt x="12191695" y="0"/>
                </a:lnTo>
                <a:lnTo>
                  <a:pt x="0" y="0"/>
                </a:lnTo>
                <a:lnTo>
                  <a:pt x="0" y="669916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polygon 2: plot geometry" descr="sci-ppt:obj-0002"/>
          <p:cNvSpPr/>
          <p:nvPr/>
        </p:nvSpPr>
        <p:spPr>
          <a:xfrm>
            <a:off x="875004" y="412966"/>
            <a:ext cx="3912641" cy="4205948"/>
          </a:xfrm>
          <a:custGeom>
            <a:avLst/>
            <a:gdLst/>
            <a:ahLst/>
            <a:cxnLst/>
            <a:rect l="l" t="t" r="r" b="b"/>
            <a:pathLst>
              <a:path w="3912641" h="4205948">
                <a:moveTo>
                  <a:pt x="0" y="4205948"/>
                </a:moveTo>
                <a:lnTo>
                  <a:pt x="3912641" y="4205948"/>
                </a:lnTo>
                <a:lnTo>
                  <a:pt x="3912641" y="0"/>
                </a:lnTo>
                <a:lnTo>
                  <a:pt x="0" y="0"/>
                </a:lnTo>
                <a:lnTo>
                  <a:pt x="0" y="42059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polygon 3: plot geometry" descr="sci-ppt:obj-0003"/>
          <p:cNvSpPr/>
          <p:nvPr/>
        </p:nvSpPr>
        <p:spPr>
          <a:xfrm>
            <a:off x="1052852" y="4618914"/>
            <a:ext cx="1580864" cy="0"/>
          </a:xfrm>
          <a:custGeom>
            <a:avLst/>
            <a:gdLst/>
            <a:ahLst/>
            <a:cxnLst/>
            <a:rect l="l" t="t" r="r" b="b"/>
            <a:pathLst>
              <a:path w="1580864" h="0">
                <a:moveTo>
                  <a:pt x="0" y="0"/>
                </a:moveTo>
                <a:lnTo>
                  <a:pt x="1580864" y="0"/>
                </a:lnTo>
                <a:lnTo>
                  <a:pt x="1580864" y="0"/>
                </a:lnTo>
                <a:lnTo>
                  <a:pt x="0" y="0"/>
                </a:lnTo>
                <a:close/>
              </a:path>
            </a:pathLst>
          </a:custGeom>
          <a:solidFill>
            <a:srgbClr val="3479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olygon 4: plot geometry" descr="sci-ppt:obj-0004"/>
          <p:cNvSpPr/>
          <p:nvPr/>
        </p:nvSpPr>
        <p:spPr>
          <a:xfrm>
            <a:off x="3028933" y="4618914"/>
            <a:ext cx="1580864" cy="0"/>
          </a:xfrm>
          <a:custGeom>
            <a:avLst/>
            <a:gdLst/>
            <a:ahLst/>
            <a:cxnLst/>
            <a:rect l="l" t="t" r="r" b="b"/>
            <a:pathLst>
              <a:path w="1580864" h="0">
                <a:moveTo>
                  <a:pt x="0" y="0"/>
                </a:moveTo>
                <a:lnTo>
                  <a:pt x="1580864" y="0"/>
                </a:lnTo>
                <a:lnTo>
                  <a:pt x="1580864" y="0"/>
                </a:lnTo>
                <a:lnTo>
                  <a:pt x="0" y="0"/>
                </a:lnTo>
                <a:close/>
              </a:path>
            </a:pathLst>
          </a:custGeom>
          <a:solidFill>
            <a:srgbClr val="3479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olygon 5: plot geometry" descr="sci-ppt:obj-0005"/>
          <p:cNvSpPr/>
          <p:nvPr/>
        </p:nvSpPr>
        <p:spPr>
          <a:xfrm>
            <a:off x="1052852" y="4618914"/>
            <a:ext cx="1580864" cy="0"/>
          </a:xfrm>
          <a:custGeom>
            <a:avLst/>
            <a:gdLst/>
            <a:ahLst/>
            <a:cxnLst/>
            <a:rect l="l" t="t" r="r" b="b"/>
            <a:pathLst>
              <a:path w="1580864" h="0">
                <a:moveTo>
                  <a:pt x="0" y="0"/>
                </a:moveTo>
                <a:lnTo>
                  <a:pt x="1580864" y="0"/>
                </a:lnTo>
                <a:lnTo>
                  <a:pt x="1580864" y="0"/>
                </a:lnTo>
                <a:lnTo>
                  <a:pt x="0" y="0"/>
                </a:lnTo>
                <a:close/>
              </a:path>
            </a:pathLst>
          </a:custGeom>
          <a:solidFill>
            <a:srgbClr val="9460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 6: plot geometry" descr="sci-ppt:obj-0006"/>
          <p:cNvSpPr/>
          <p:nvPr/>
        </p:nvSpPr>
        <p:spPr>
          <a:xfrm>
            <a:off x="3028933" y="4004860"/>
            <a:ext cx="1580864" cy="614054"/>
          </a:xfrm>
          <a:custGeom>
            <a:avLst/>
            <a:gdLst/>
            <a:ahLst/>
            <a:cxnLst/>
            <a:rect l="l" t="t" r="r" b="b"/>
            <a:pathLst>
              <a:path w="1580864" h="614054">
                <a:moveTo>
                  <a:pt x="0" y="614054"/>
                </a:moveTo>
                <a:lnTo>
                  <a:pt x="1580864" y="614054"/>
                </a:lnTo>
                <a:lnTo>
                  <a:pt x="1580864" y="0"/>
                </a:lnTo>
                <a:lnTo>
                  <a:pt x="0" y="0"/>
                </a:lnTo>
                <a:lnTo>
                  <a:pt x="0" y="614054"/>
                </a:lnTo>
                <a:close/>
              </a:path>
            </a:pathLst>
          </a:custGeom>
          <a:solidFill>
            <a:srgbClr val="9460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 7: plot geometry" descr="sci-ppt:obj-0007"/>
          <p:cNvSpPr/>
          <p:nvPr/>
        </p:nvSpPr>
        <p:spPr>
          <a:xfrm>
            <a:off x="1052852" y="4618914"/>
            <a:ext cx="1580864" cy="0"/>
          </a:xfrm>
          <a:custGeom>
            <a:avLst/>
            <a:gdLst/>
            <a:ahLst/>
            <a:cxnLst/>
            <a:rect l="l" t="t" r="r" b="b"/>
            <a:pathLst>
              <a:path w="1580864" h="0">
                <a:moveTo>
                  <a:pt x="0" y="0"/>
                </a:moveTo>
                <a:lnTo>
                  <a:pt x="1580864" y="0"/>
                </a:lnTo>
                <a:lnTo>
                  <a:pt x="1580864" y="0"/>
                </a:lnTo>
                <a:lnTo>
                  <a:pt x="0" y="0"/>
                </a:lnTo>
                <a:close/>
              </a:path>
            </a:pathLst>
          </a:custGeom>
          <a:solidFill>
            <a:srgbClr val="8AB3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 8: plot geometry" descr="sci-ppt:obj-0008"/>
          <p:cNvSpPr/>
          <p:nvPr/>
        </p:nvSpPr>
        <p:spPr>
          <a:xfrm>
            <a:off x="3028933" y="3405120"/>
            <a:ext cx="1580864" cy="599740"/>
          </a:xfrm>
          <a:custGeom>
            <a:avLst/>
            <a:gdLst/>
            <a:ahLst/>
            <a:cxnLst/>
            <a:rect l="l" t="t" r="r" b="b"/>
            <a:pathLst>
              <a:path w="1580864" h="599740">
                <a:moveTo>
                  <a:pt x="0" y="599740"/>
                </a:moveTo>
                <a:lnTo>
                  <a:pt x="1580864" y="599740"/>
                </a:lnTo>
                <a:lnTo>
                  <a:pt x="1580864" y="0"/>
                </a:lnTo>
                <a:lnTo>
                  <a:pt x="0" y="0"/>
                </a:lnTo>
                <a:lnTo>
                  <a:pt x="0" y="599740"/>
                </a:lnTo>
                <a:close/>
              </a:path>
            </a:pathLst>
          </a:custGeom>
          <a:solidFill>
            <a:srgbClr val="8AB3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 9: plot geometry" descr="sci-ppt:obj-0009"/>
          <p:cNvSpPr/>
          <p:nvPr/>
        </p:nvSpPr>
        <p:spPr>
          <a:xfrm>
            <a:off x="1052852" y="4618914"/>
            <a:ext cx="1580864" cy="0"/>
          </a:xfrm>
          <a:custGeom>
            <a:avLst/>
            <a:gdLst/>
            <a:ahLst/>
            <a:cxnLst/>
            <a:rect l="l" t="t" r="r" b="b"/>
            <a:pathLst>
              <a:path w="1580864" h="0">
                <a:moveTo>
                  <a:pt x="0" y="0"/>
                </a:moveTo>
                <a:lnTo>
                  <a:pt x="1580864" y="0"/>
                </a:lnTo>
                <a:lnTo>
                  <a:pt x="1580864" y="0"/>
                </a:lnTo>
                <a:lnTo>
                  <a:pt x="0" y="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 10: plot geometry" descr="sci-ppt:obj-0010"/>
          <p:cNvSpPr/>
          <p:nvPr/>
        </p:nvSpPr>
        <p:spPr>
          <a:xfrm>
            <a:off x="3028933" y="3047761"/>
            <a:ext cx="1580864" cy="357359"/>
          </a:xfrm>
          <a:custGeom>
            <a:avLst/>
            <a:gdLst/>
            <a:ahLst/>
            <a:cxnLst/>
            <a:rect l="l" t="t" r="r" b="b"/>
            <a:pathLst>
              <a:path w="1580864" h="357359">
                <a:moveTo>
                  <a:pt x="0" y="357359"/>
                </a:moveTo>
                <a:lnTo>
                  <a:pt x="1580864" y="357359"/>
                </a:lnTo>
                <a:lnTo>
                  <a:pt x="1580864" y="0"/>
                </a:lnTo>
                <a:lnTo>
                  <a:pt x="0" y="0"/>
                </a:lnTo>
                <a:lnTo>
                  <a:pt x="0" y="357359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 11: plot geometry" descr="sci-ppt:obj-0011"/>
          <p:cNvSpPr/>
          <p:nvPr/>
        </p:nvSpPr>
        <p:spPr>
          <a:xfrm>
            <a:off x="1052852" y="1692951"/>
            <a:ext cx="1580864" cy="2925963"/>
          </a:xfrm>
          <a:custGeom>
            <a:avLst/>
            <a:gdLst/>
            <a:ahLst/>
            <a:cxnLst/>
            <a:rect l="l" t="t" r="r" b="b"/>
            <a:pathLst>
              <a:path w="1580864" h="2925963">
                <a:moveTo>
                  <a:pt x="0" y="2925963"/>
                </a:moveTo>
                <a:lnTo>
                  <a:pt x="1580864" y="2925963"/>
                </a:lnTo>
                <a:lnTo>
                  <a:pt x="1580864" y="0"/>
                </a:lnTo>
                <a:lnTo>
                  <a:pt x="0" y="0"/>
                </a:lnTo>
                <a:lnTo>
                  <a:pt x="0" y="2925963"/>
                </a:lnTo>
                <a:close/>
              </a:path>
            </a:pathLst>
          </a:custGeom>
          <a:solidFill>
            <a:srgbClr val="D16B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 12: plot geometry" descr="sci-ppt:obj-0012"/>
          <p:cNvSpPr/>
          <p:nvPr/>
        </p:nvSpPr>
        <p:spPr>
          <a:xfrm>
            <a:off x="3028933" y="3047475"/>
            <a:ext cx="1580864" cy="286"/>
          </a:xfrm>
          <a:custGeom>
            <a:avLst/>
            <a:gdLst/>
            <a:ahLst/>
            <a:cxnLst/>
            <a:rect l="l" t="t" r="r" b="b"/>
            <a:pathLst>
              <a:path w="1580864" h="286">
                <a:moveTo>
                  <a:pt x="0" y="286"/>
                </a:moveTo>
                <a:lnTo>
                  <a:pt x="1580864" y="286"/>
                </a:lnTo>
                <a:lnTo>
                  <a:pt x="1580864" y="0"/>
                </a:lnTo>
                <a:lnTo>
                  <a:pt x="0" y="0"/>
                </a:lnTo>
                <a:lnTo>
                  <a:pt x="0" y="286"/>
                </a:lnTo>
                <a:close/>
              </a:path>
            </a:pathLst>
          </a:custGeom>
          <a:solidFill>
            <a:srgbClr val="D16B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 13: plot geometry" descr="sci-ppt:obj-0013"/>
          <p:cNvSpPr/>
          <p:nvPr/>
        </p:nvSpPr>
        <p:spPr>
          <a:xfrm>
            <a:off x="1052852" y="423017"/>
            <a:ext cx="1580864" cy="1269934"/>
          </a:xfrm>
          <a:custGeom>
            <a:avLst/>
            <a:gdLst/>
            <a:ahLst/>
            <a:cxnLst/>
            <a:rect l="l" t="t" r="r" b="b"/>
            <a:pathLst>
              <a:path w="1580864" h="1269934">
                <a:moveTo>
                  <a:pt x="0" y="1269934"/>
                </a:moveTo>
                <a:lnTo>
                  <a:pt x="1580864" y="1269934"/>
                </a:lnTo>
                <a:lnTo>
                  <a:pt x="1580864" y="0"/>
                </a:lnTo>
                <a:lnTo>
                  <a:pt x="0" y="0"/>
                </a:lnTo>
                <a:lnTo>
                  <a:pt x="0" y="1269934"/>
                </a:lnTo>
                <a:close/>
              </a:path>
            </a:pathLst>
          </a:custGeom>
          <a:solidFill>
            <a:srgbClr val="D6BD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 14: plot geometry" descr="sci-ppt:obj-0014"/>
          <p:cNvSpPr/>
          <p:nvPr/>
        </p:nvSpPr>
        <p:spPr>
          <a:xfrm>
            <a:off x="3028933" y="3038019"/>
            <a:ext cx="1580864" cy="9456"/>
          </a:xfrm>
          <a:custGeom>
            <a:avLst/>
            <a:gdLst/>
            <a:ahLst/>
            <a:cxnLst/>
            <a:rect l="l" t="t" r="r" b="b"/>
            <a:pathLst>
              <a:path w="1580864" h="9456">
                <a:moveTo>
                  <a:pt x="0" y="9456"/>
                </a:moveTo>
                <a:lnTo>
                  <a:pt x="1580864" y="9456"/>
                </a:lnTo>
                <a:lnTo>
                  <a:pt x="1580864" y="0"/>
                </a:lnTo>
                <a:lnTo>
                  <a:pt x="0" y="0"/>
                </a:lnTo>
                <a:lnTo>
                  <a:pt x="0" y="9456"/>
                </a:lnTo>
                <a:close/>
              </a:path>
            </a:pathLst>
          </a:custGeom>
          <a:solidFill>
            <a:srgbClr val="D6BD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 15: plot geometry" descr="sci-ppt:obj-0015"/>
          <p:cNvSpPr/>
          <p:nvPr/>
        </p:nvSpPr>
        <p:spPr>
          <a:xfrm>
            <a:off x="1052852" y="412966"/>
            <a:ext cx="1580864" cy="10051"/>
          </a:xfrm>
          <a:custGeom>
            <a:avLst/>
            <a:gdLst/>
            <a:ahLst/>
            <a:cxnLst/>
            <a:rect l="l" t="t" r="r" b="b"/>
            <a:pathLst>
              <a:path w="1580864" h="10051">
                <a:moveTo>
                  <a:pt x="0" y="10051"/>
                </a:moveTo>
                <a:lnTo>
                  <a:pt x="1580864" y="10051"/>
                </a:lnTo>
                <a:lnTo>
                  <a:pt x="1580864" y="0"/>
                </a:lnTo>
                <a:lnTo>
                  <a:pt x="0" y="0"/>
                </a:lnTo>
                <a:lnTo>
                  <a:pt x="0" y="10051"/>
                </a:lnTo>
                <a:close/>
              </a:path>
            </a:pathLst>
          </a:custGeom>
          <a:solidFill>
            <a:srgbClr val="EEF0F5"/>
          </a:solidFill>
          <a:ln w="18503">
            <a:solidFill>
              <a:srgbClr val="CCCC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 16: plot geometry" descr="sci-ppt:obj-0016"/>
          <p:cNvSpPr/>
          <p:nvPr/>
        </p:nvSpPr>
        <p:spPr>
          <a:xfrm>
            <a:off x="3028933" y="412966"/>
            <a:ext cx="1580864" cy="2625053"/>
          </a:xfrm>
          <a:custGeom>
            <a:avLst/>
            <a:gdLst/>
            <a:ahLst/>
            <a:cxnLst/>
            <a:rect l="l" t="t" r="r" b="b"/>
            <a:pathLst>
              <a:path w="1580864" h="2625053">
                <a:moveTo>
                  <a:pt x="0" y="2625053"/>
                </a:moveTo>
                <a:lnTo>
                  <a:pt x="1580864" y="2625053"/>
                </a:lnTo>
                <a:lnTo>
                  <a:pt x="1580864" y="0"/>
                </a:lnTo>
                <a:lnTo>
                  <a:pt x="0" y="0"/>
                </a:lnTo>
                <a:lnTo>
                  <a:pt x="0" y="2625053"/>
                </a:lnTo>
                <a:close/>
              </a:path>
            </a:pathLst>
          </a:custGeom>
          <a:solidFill>
            <a:srgbClr val="EEF0F5"/>
          </a:solidFill>
          <a:ln w="18503">
            <a:solidFill>
              <a:srgbClr val="CCCC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" name="line 17: plot geometry" descr="sci-ppt:obj-0017"/>
          <p:cNvCxnSpPr/>
          <p:nvPr/>
        </p:nvCxnSpPr>
        <p:spPr>
          <a:xfrm flipV="1">
            <a:off x="1843284" y="412966"/>
            <a:ext cx="0" cy="4205948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19" name="line 18: plot geometry" descr="sci-ppt:obj-0018"/>
          <p:cNvCxnSpPr/>
          <p:nvPr/>
        </p:nvCxnSpPr>
        <p:spPr>
          <a:xfrm>
            <a:off x="1843284" y="4618914"/>
            <a:ext cx="0" cy="64763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20" name="text 19: Rigid" descr="sci-ppt:obj-0019"/>
          <p:cNvSpPr txBox="1"/>
          <p:nvPr/>
        </p:nvSpPr>
        <p:spPr>
          <a:xfrm>
            <a:off x="1582692" y="4698451"/>
            <a:ext cx="619008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Rigid</a:t>
            </a:r>
          </a:p>
        </p:txBody>
      </p:sp>
      <p:cxnSp>
        <p:nvCxnSpPr>
          <p:cNvPr id="21" name="line 20: plot geometry" descr="sci-ppt:obj-0020"/>
          <p:cNvCxnSpPr/>
          <p:nvPr/>
        </p:nvCxnSpPr>
        <p:spPr>
          <a:xfrm flipV="1">
            <a:off x="3819365" y="412966"/>
            <a:ext cx="0" cy="4205948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2" name="line 21: plot geometry" descr="sci-ppt:obj-0021"/>
          <p:cNvCxnSpPr/>
          <p:nvPr/>
        </p:nvCxnSpPr>
        <p:spPr>
          <a:xfrm>
            <a:off x="3819365" y="4618914"/>
            <a:ext cx="0" cy="64763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23" name="text 22: Open gel" descr="sci-ppt:obj-0022"/>
          <p:cNvSpPr txBox="1"/>
          <p:nvPr/>
        </p:nvSpPr>
        <p:spPr>
          <a:xfrm>
            <a:off x="3374040" y="4698451"/>
            <a:ext cx="946523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Open gel</a:t>
            </a:r>
          </a:p>
        </p:txBody>
      </p:sp>
      <p:cxnSp>
        <p:nvCxnSpPr>
          <p:cNvPr id="24" name="line 23: plot geometry" descr="sci-ppt:obj-0023"/>
          <p:cNvCxnSpPr/>
          <p:nvPr/>
        </p:nvCxnSpPr>
        <p:spPr>
          <a:xfrm>
            <a:off x="875004" y="4618914"/>
            <a:ext cx="3912641" cy="0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5" name="line 24: plot geometry" descr="sci-ppt:obj-0024"/>
          <p:cNvCxnSpPr/>
          <p:nvPr/>
        </p:nvCxnSpPr>
        <p:spPr>
          <a:xfrm flipH="1">
            <a:off x="810241" y="4618914"/>
            <a:ext cx="64763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26" name="text 25: 0" descr="sci-ppt:obj-0025"/>
          <p:cNvSpPr txBox="1"/>
          <p:nvPr/>
        </p:nvSpPr>
        <p:spPr>
          <a:xfrm>
            <a:off x="600317" y="4498619"/>
            <a:ext cx="182323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27" name="line 26: plot geometry" descr="sci-ppt:obj-0026"/>
          <p:cNvCxnSpPr/>
          <p:nvPr/>
        </p:nvCxnSpPr>
        <p:spPr>
          <a:xfrm>
            <a:off x="875004" y="3777724"/>
            <a:ext cx="3912641" cy="0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28" name="line 27: plot geometry" descr="sci-ppt:obj-0027"/>
          <p:cNvCxnSpPr/>
          <p:nvPr/>
        </p:nvCxnSpPr>
        <p:spPr>
          <a:xfrm flipH="1">
            <a:off x="810241" y="3777724"/>
            <a:ext cx="64763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29" name="text 28: 20" descr="sci-ppt:obj-0028"/>
          <p:cNvSpPr txBox="1"/>
          <p:nvPr/>
        </p:nvSpPr>
        <p:spPr>
          <a:xfrm>
            <a:off x="482588" y="3657429"/>
            <a:ext cx="291494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cxnSp>
        <p:nvCxnSpPr>
          <p:cNvPr id="30" name="line 29: plot geometry" descr="sci-ppt:obj-0029"/>
          <p:cNvCxnSpPr/>
          <p:nvPr/>
        </p:nvCxnSpPr>
        <p:spPr>
          <a:xfrm>
            <a:off x="875004" y="2936535"/>
            <a:ext cx="3912641" cy="0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1" name="line 30: plot geometry" descr="sci-ppt:obj-0030"/>
          <p:cNvCxnSpPr/>
          <p:nvPr/>
        </p:nvCxnSpPr>
        <p:spPr>
          <a:xfrm flipH="1">
            <a:off x="810241" y="2936535"/>
            <a:ext cx="64763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32" name="text 31: 40" descr="sci-ppt:obj-0031"/>
          <p:cNvSpPr txBox="1"/>
          <p:nvPr/>
        </p:nvSpPr>
        <p:spPr>
          <a:xfrm>
            <a:off x="482588" y="2816239"/>
            <a:ext cx="291494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cxnSp>
        <p:nvCxnSpPr>
          <p:cNvPr id="33" name="line 32: plot geometry" descr="sci-ppt:obj-0032"/>
          <p:cNvCxnSpPr/>
          <p:nvPr/>
        </p:nvCxnSpPr>
        <p:spPr>
          <a:xfrm>
            <a:off x="875004" y="2095345"/>
            <a:ext cx="3912641" cy="0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4" name="line 33: plot geometry" descr="sci-ppt:obj-0033"/>
          <p:cNvCxnSpPr/>
          <p:nvPr/>
        </p:nvCxnSpPr>
        <p:spPr>
          <a:xfrm flipH="1">
            <a:off x="810241" y="2095345"/>
            <a:ext cx="64763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35" name="text 34: 60" descr="sci-ppt:obj-0034"/>
          <p:cNvSpPr txBox="1"/>
          <p:nvPr/>
        </p:nvSpPr>
        <p:spPr>
          <a:xfrm>
            <a:off x="482588" y="1975050"/>
            <a:ext cx="291494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cxnSp>
        <p:nvCxnSpPr>
          <p:cNvPr id="36" name="line 35: plot geometry" descr="sci-ppt:obj-0035"/>
          <p:cNvCxnSpPr/>
          <p:nvPr/>
        </p:nvCxnSpPr>
        <p:spPr>
          <a:xfrm>
            <a:off x="875004" y="1254155"/>
            <a:ext cx="3912641" cy="0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37" name="line 36: plot geometry" descr="sci-ppt:obj-0036"/>
          <p:cNvCxnSpPr/>
          <p:nvPr/>
        </p:nvCxnSpPr>
        <p:spPr>
          <a:xfrm flipH="1">
            <a:off x="810241" y="1254155"/>
            <a:ext cx="64763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38" name="text 37: 80" descr="sci-ppt:obj-0037"/>
          <p:cNvSpPr txBox="1"/>
          <p:nvPr/>
        </p:nvSpPr>
        <p:spPr>
          <a:xfrm>
            <a:off x="482588" y="1133860"/>
            <a:ext cx="291494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80</a:t>
            </a:r>
          </a:p>
        </p:txBody>
      </p:sp>
      <p:cxnSp>
        <p:nvCxnSpPr>
          <p:cNvPr id="39" name="line 38: plot geometry" descr="sci-ppt:obj-0038"/>
          <p:cNvCxnSpPr/>
          <p:nvPr/>
        </p:nvCxnSpPr>
        <p:spPr>
          <a:xfrm>
            <a:off x="875004" y="412966"/>
            <a:ext cx="3912641" cy="0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40" name="line 39: plot geometry" descr="sci-ppt:obj-0039"/>
          <p:cNvCxnSpPr/>
          <p:nvPr/>
        </p:nvCxnSpPr>
        <p:spPr>
          <a:xfrm flipH="1">
            <a:off x="810241" y="412966"/>
            <a:ext cx="64763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41" name="text 40: 100" descr="sci-ppt:obj-0040"/>
          <p:cNvSpPr txBox="1"/>
          <p:nvPr/>
        </p:nvSpPr>
        <p:spPr>
          <a:xfrm>
            <a:off x="364859" y="292670"/>
            <a:ext cx="400666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42" name="text 41: Share of 2 nJ source availability (%)" descr="sci-ppt:obj-0041"/>
          <p:cNvSpPr txBox="1"/>
          <p:nvPr/>
        </p:nvSpPr>
        <p:spPr>
          <a:xfrm rot="16200000">
            <a:off x="-1693946" y="2391040"/>
            <a:ext cx="3760682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Share of 2 nJ source availability (%)</a:t>
            </a:r>
          </a:p>
        </p:txBody>
      </p:sp>
      <p:cxnSp>
        <p:nvCxnSpPr>
          <p:cNvPr id="43" name="line 42: plot geometry" descr="sci-ppt:obj-0042"/>
          <p:cNvCxnSpPr/>
          <p:nvPr/>
        </p:nvCxnSpPr>
        <p:spPr>
          <a:xfrm flipV="1">
            <a:off x="875004" y="412966"/>
            <a:ext cx="0" cy="4205948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cxnSp>
        <p:nvCxnSpPr>
          <p:cNvPr id="44" name="line 43: plot geometry" descr="sci-ppt:obj-0043"/>
          <p:cNvCxnSpPr/>
          <p:nvPr/>
        </p:nvCxnSpPr>
        <p:spPr>
          <a:xfrm>
            <a:off x="875004" y="4618914"/>
            <a:ext cx="3912641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45" name="text 44: Energy at first-ejection endpoints" descr="sci-ppt:obj-0044"/>
          <p:cNvSpPr txBox="1"/>
          <p:nvPr/>
        </p:nvSpPr>
        <p:spPr>
          <a:xfrm>
            <a:off x="949482" y="73239"/>
            <a:ext cx="4527344" cy="2997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48" b="0" i="0">
                <a:solidFill>
                  <a:srgbClr val="000000"/>
                </a:solidFill>
                <a:latin typeface="Arial"/>
              </a:rPr>
              <a:t>Energy at first-ejection endpoints</a:t>
            </a:r>
          </a:p>
        </p:txBody>
      </p:sp>
      <p:sp>
        <p:nvSpPr>
          <p:cNvPr id="46" name="polygon 45: plot geometry" descr="sci-ppt:obj-0045"/>
          <p:cNvSpPr/>
          <p:nvPr/>
        </p:nvSpPr>
        <p:spPr>
          <a:xfrm>
            <a:off x="8113389" y="412966"/>
            <a:ext cx="3912641" cy="4205948"/>
          </a:xfrm>
          <a:custGeom>
            <a:avLst/>
            <a:gdLst/>
            <a:ahLst/>
            <a:cxnLst/>
            <a:rect l="l" t="t" r="r" b="b"/>
            <a:pathLst>
              <a:path w="3912641" h="4205948">
                <a:moveTo>
                  <a:pt x="0" y="4205948"/>
                </a:moveTo>
                <a:lnTo>
                  <a:pt x="3912641" y="4205948"/>
                </a:lnTo>
                <a:lnTo>
                  <a:pt x="3912641" y="0"/>
                </a:lnTo>
                <a:lnTo>
                  <a:pt x="0" y="0"/>
                </a:lnTo>
                <a:lnTo>
                  <a:pt x="0" y="42059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olygon 46: plot geometry" descr="sci-ppt:obj-0046"/>
          <p:cNvSpPr/>
          <p:nvPr/>
        </p:nvSpPr>
        <p:spPr>
          <a:xfrm>
            <a:off x="8113389" y="3622768"/>
            <a:ext cx="3130113" cy="804967"/>
          </a:xfrm>
          <a:custGeom>
            <a:avLst/>
            <a:gdLst/>
            <a:ahLst/>
            <a:cxnLst/>
            <a:rect l="l" t="t" r="r" b="b"/>
            <a:pathLst>
              <a:path w="3130113" h="804967">
                <a:moveTo>
                  <a:pt x="0" y="804967"/>
                </a:moveTo>
                <a:lnTo>
                  <a:pt x="3130113" y="804967"/>
                </a:lnTo>
                <a:lnTo>
                  <a:pt x="3130113" y="0"/>
                </a:lnTo>
                <a:lnTo>
                  <a:pt x="0" y="0"/>
                </a:lnTo>
                <a:lnTo>
                  <a:pt x="0" y="804967"/>
                </a:lnTo>
                <a:close/>
              </a:path>
            </a:pathLst>
          </a:custGeom>
          <a:solidFill>
            <a:srgbClr val="3479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olygon 47: plot geometry" descr="sci-ppt:obj-0047"/>
          <p:cNvSpPr/>
          <p:nvPr/>
        </p:nvSpPr>
        <p:spPr>
          <a:xfrm>
            <a:off x="8113389" y="2616561"/>
            <a:ext cx="220472" cy="804966"/>
          </a:xfrm>
          <a:custGeom>
            <a:avLst/>
            <a:gdLst/>
            <a:ahLst/>
            <a:cxnLst/>
            <a:rect l="l" t="t" r="r" b="b"/>
            <a:pathLst>
              <a:path w="220472" h="804966">
                <a:moveTo>
                  <a:pt x="0" y="804966"/>
                </a:moveTo>
                <a:lnTo>
                  <a:pt x="220472" y="804966"/>
                </a:lnTo>
                <a:lnTo>
                  <a:pt x="220472" y="0"/>
                </a:lnTo>
                <a:lnTo>
                  <a:pt x="0" y="0"/>
                </a:lnTo>
                <a:lnTo>
                  <a:pt x="0" y="804966"/>
                </a:lnTo>
                <a:close/>
              </a:path>
            </a:pathLst>
          </a:custGeom>
          <a:solidFill>
            <a:srgbClr val="8AB3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olygon 48: plot geometry" descr="sci-ppt:obj-0048"/>
          <p:cNvSpPr/>
          <p:nvPr/>
        </p:nvSpPr>
        <p:spPr>
          <a:xfrm>
            <a:off x="8113389" y="1610353"/>
            <a:ext cx="2901" cy="804966"/>
          </a:xfrm>
          <a:custGeom>
            <a:avLst/>
            <a:gdLst/>
            <a:ahLst/>
            <a:cxnLst/>
            <a:rect l="l" t="t" r="r" b="b"/>
            <a:pathLst>
              <a:path w="2901" h="804966">
                <a:moveTo>
                  <a:pt x="0" y="804966"/>
                </a:moveTo>
                <a:lnTo>
                  <a:pt x="2901" y="804966"/>
                </a:lnTo>
                <a:lnTo>
                  <a:pt x="2901" y="0"/>
                </a:lnTo>
                <a:lnTo>
                  <a:pt x="0" y="0"/>
                </a:lnTo>
                <a:lnTo>
                  <a:pt x="0" y="804966"/>
                </a:lnTo>
                <a:close/>
              </a:path>
            </a:pathLst>
          </a:custGeom>
          <a:solidFill>
            <a:srgbClr val="D16B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gon 49: plot geometry" descr="sci-ppt:obj-0049"/>
          <p:cNvSpPr/>
          <p:nvPr/>
        </p:nvSpPr>
        <p:spPr>
          <a:xfrm>
            <a:off x="8113389" y="604145"/>
            <a:ext cx="25852" cy="804966"/>
          </a:xfrm>
          <a:custGeom>
            <a:avLst/>
            <a:gdLst/>
            <a:ahLst/>
            <a:cxnLst/>
            <a:rect l="l" t="t" r="r" b="b"/>
            <a:pathLst>
              <a:path w="25852" h="804966">
                <a:moveTo>
                  <a:pt x="0" y="804966"/>
                </a:moveTo>
                <a:lnTo>
                  <a:pt x="25852" y="804966"/>
                </a:lnTo>
                <a:lnTo>
                  <a:pt x="25852" y="0"/>
                </a:lnTo>
                <a:lnTo>
                  <a:pt x="0" y="0"/>
                </a:lnTo>
                <a:lnTo>
                  <a:pt x="0" y="804966"/>
                </a:lnTo>
                <a:close/>
              </a:path>
            </a:pathLst>
          </a:custGeom>
          <a:solidFill>
            <a:srgbClr val="9460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1" name="line 50: plot geometry" descr="sci-ppt:obj-0050"/>
          <p:cNvCxnSpPr/>
          <p:nvPr/>
        </p:nvCxnSpPr>
        <p:spPr>
          <a:xfrm flipV="1">
            <a:off x="8113389" y="412966"/>
            <a:ext cx="0" cy="4205948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52" name="line 51: plot geometry" descr="sci-ppt:obj-0051"/>
          <p:cNvCxnSpPr/>
          <p:nvPr/>
        </p:nvCxnSpPr>
        <p:spPr>
          <a:xfrm>
            <a:off x="8113389" y="4618914"/>
            <a:ext cx="0" cy="64763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53" name="text 52: 0" descr="sci-ppt:obj-0052"/>
          <p:cNvSpPr txBox="1"/>
          <p:nvPr/>
        </p:nvSpPr>
        <p:spPr>
          <a:xfrm>
            <a:off x="8027093" y="4698436"/>
            <a:ext cx="182323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54" name="line 53: plot geometry" descr="sci-ppt:obj-0053"/>
          <p:cNvCxnSpPr/>
          <p:nvPr/>
        </p:nvCxnSpPr>
        <p:spPr>
          <a:xfrm flipV="1">
            <a:off x="8705604" y="412966"/>
            <a:ext cx="0" cy="4205948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55" name="line 54: plot geometry" descr="sci-ppt:obj-0054"/>
          <p:cNvCxnSpPr/>
          <p:nvPr/>
        </p:nvCxnSpPr>
        <p:spPr>
          <a:xfrm>
            <a:off x="8705604" y="4618914"/>
            <a:ext cx="0" cy="64763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56" name="text 55: 2" descr="sci-ppt:obj-0055"/>
          <p:cNvSpPr txBox="1"/>
          <p:nvPr/>
        </p:nvSpPr>
        <p:spPr>
          <a:xfrm>
            <a:off x="8619307" y="4698436"/>
            <a:ext cx="182323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cxnSp>
        <p:nvCxnSpPr>
          <p:cNvPr id="57" name="line 56: plot geometry" descr="sci-ppt:obj-0056"/>
          <p:cNvCxnSpPr/>
          <p:nvPr/>
        </p:nvCxnSpPr>
        <p:spPr>
          <a:xfrm flipV="1">
            <a:off x="9297819" y="412966"/>
            <a:ext cx="0" cy="4205948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58" name="line 57: plot geometry" descr="sci-ppt:obj-0057"/>
          <p:cNvCxnSpPr/>
          <p:nvPr/>
        </p:nvCxnSpPr>
        <p:spPr>
          <a:xfrm>
            <a:off x="9297819" y="4618914"/>
            <a:ext cx="0" cy="64763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59" name="text 58: 4" descr="sci-ppt:obj-0058"/>
          <p:cNvSpPr txBox="1"/>
          <p:nvPr/>
        </p:nvSpPr>
        <p:spPr>
          <a:xfrm>
            <a:off x="9211522" y="4698436"/>
            <a:ext cx="182323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cxnSp>
        <p:nvCxnSpPr>
          <p:cNvPr id="60" name="line 59: plot geometry" descr="sci-ppt:obj-0059"/>
          <p:cNvCxnSpPr/>
          <p:nvPr/>
        </p:nvCxnSpPr>
        <p:spPr>
          <a:xfrm flipV="1">
            <a:off x="9890034" y="412966"/>
            <a:ext cx="0" cy="4205948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61" name="line 60: plot geometry" descr="sci-ppt:obj-0060"/>
          <p:cNvCxnSpPr/>
          <p:nvPr/>
        </p:nvCxnSpPr>
        <p:spPr>
          <a:xfrm>
            <a:off x="9890034" y="4618914"/>
            <a:ext cx="0" cy="64763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62" name="text 61: 6" descr="sci-ppt:obj-0061"/>
          <p:cNvSpPr txBox="1"/>
          <p:nvPr/>
        </p:nvSpPr>
        <p:spPr>
          <a:xfrm>
            <a:off x="9803737" y="4698436"/>
            <a:ext cx="182323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cxnSp>
        <p:nvCxnSpPr>
          <p:cNvPr id="63" name="line 62: plot geometry" descr="sci-ppt:obj-0062"/>
          <p:cNvCxnSpPr/>
          <p:nvPr/>
        </p:nvCxnSpPr>
        <p:spPr>
          <a:xfrm flipV="1">
            <a:off x="10482249" y="412966"/>
            <a:ext cx="0" cy="4205948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64" name="line 63: plot geometry" descr="sci-ppt:obj-0063"/>
          <p:cNvCxnSpPr/>
          <p:nvPr/>
        </p:nvCxnSpPr>
        <p:spPr>
          <a:xfrm>
            <a:off x="10482249" y="4618914"/>
            <a:ext cx="0" cy="64763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65" name="text 64: 8" descr="sci-ppt:obj-0064"/>
          <p:cNvSpPr txBox="1"/>
          <p:nvPr/>
        </p:nvSpPr>
        <p:spPr>
          <a:xfrm>
            <a:off x="10395952" y="4698436"/>
            <a:ext cx="182323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cxnSp>
        <p:nvCxnSpPr>
          <p:cNvPr id="66" name="line 65: plot geometry" descr="sci-ppt:obj-0065"/>
          <p:cNvCxnSpPr/>
          <p:nvPr/>
        </p:nvCxnSpPr>
        <p:spPr>
          <a:xfrm flipV="1">
            <a:off x="11074464" y="412966"/>
            <a:ext cx="0" cy="4205948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67" name="line 66: plot geometry" descr="sci-ppt:obj-0066"/>
          <p:cNvCxnSpPr/>
          <p:nvPr/>
        </p:nvCxnSpPr>
        <p:spPr>
          <a:xfrm>
            <a:off x="11074464" y="4618914"/>
            <a:ext cx="0" cy="64763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68" name="text 67: 10" descr="sci-ppt:obj-0067"/>
          <p:cNvSpPr txBox="1"/>
          <p:nvPr/>
        </p:nvSpPr>
        <p:spPr>
          <a:xfrm>
            <a:off x="10929303" y="4698436"/>
            <a:ext cx="291494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cxnSp>
        <p:nvCxnSpPr>
          <p:cNvPr id="69" name="line 68: plot geometry" descr="sci-ppt:obj-0068"/>
          <p:cNvCxnSpPr/>
          <p:nvPr/>
        </p:nvCxnSpPr>
        <p:spPr>
          <a:xfrm flipV="1">
            <a:off x="11666679" y="412966"/>
            <a:ext cx="0" cy="4205948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0" name="line 69: plot geometry" descr="sci-ppt:obj-0069"/>
          <p:cNvCxnSpPr/>
          <p:nvPr/>
        </p:nvCxnSpPr>
        <p:spPr>
          <a:xfrm>
            <a:off x="11666679" y="4618914"/>
            <a:ext cx="0" cy="64763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71" name="text 70: 12" descr="sci-ppt:obj-0070"/>
          <p:cNvSpPr txBox="1"/>
          <p:nvPr/>
        </p:nvSpPr>
        <p:spPr>
          <a:xfrm>
            <a:off x="11521518" y="4698436"/>
            <a:ext cx="291494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72" name="text 71: Open-gel / matched rigid output (%)" descr="sci-ppt:obj-0071"/>
          <p:cNvSpPr txBox="1"/>
          <p:nvPr/>
        </p:nvSpPr>
        <p:spPr>
          <a:xfrm>
            <a:off x="8361816" y="4957502"/>
            <a:ext cx="3894150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Open-gel / matched rigid output (%)</a:t>
            </a:r>
          </a:p>
        </p:txBody>
      </p:sp>
      <p:cxnSp>
        <p:nvCxnSpPr>
          <p:cNvPr id="73" name="line 72: plot geometry" descr="sci-ppt:obj-0072"/>
          <p:cNvCxnSpPr/>
          <p:nvPr/>
        </p:nvCxnSpPr>
        <p:spPr>
          <a:xfrm>
            <a:off x="8113389" y="4025252"/>
            <a:ext cx="3912641" cy="0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4" name="line 73: plot geometry" descr="sci-ppt:obj-0073"/>
          <p:cNvCxnSpPr/>
          <p:nvPr/>
        </p:nvCxnSpPr>
        <p:spPr>
          <a:xfrm flipH="1">
            <a:off x="8048626" y="4025252"/>
            <a:ext cx="64763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75" name="text 74: Peak speed" descr="sci-ppt:obj-0074"/>
          <p:cNvSpPr txBox="1"/>
          <p:nvPr/>
        </p:nvSpPr>
        <p:spPr>
          <a:xfrm>
            <a:off x="6899210" y="3904963"/>
            <a:ext cx="1164865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Peak speed</a:t>
            </a:r>
          </a:p>
        </p:txBody>
      </p:sp>
      <p:cxnSp>
        <p:nvCxnSpPr>
          <p:cNvPr id="76" name="line 75: plot geometry" descr="sci-ppt:obj-0075"/>
          <p:cNvCxnSpPr/>
          <p:nvPr/>
        </p:nvCxnSpPr>
        <p:spPr>
          <a:xfrm>
            <a:off x="8113389" y="3019044"/>
            <a:ext cx="3912641" cy="0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77" name="line 76: plot geometry" descr="sci-ppt:obj-0076"/>
          <p:cNvCxnSpPr/>
          <p:nvPr/>
        </p:nvCxnSpPr>
        <p:spPr>
          <a:xfrm flipH="1">
            <a:off x="8048626" y="3019044"/>
            <a:ext cx="64763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78" name="text 77: Emitted mass" descr="sci-ppt:obj-0077"/>
          <p:cNvSpPr txBox="1"/>
          <p:nvPr/>
        </p:nvSpPr>
        <p:spPr>
          <a:xfrm>
            <a:off x="6686245" y="2898756"/>
            <a:ext cx="1383208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Emitted mass</a:t>
            </a:r>
          </a:p>
        </p:txBody>
      </p:sp>
      <p:cxnSp>
        <p:nvCxnSpPr>
          <p:cNvPr id="79" name="line 78: plot geometry" descr="sci-ppt:obj-0078"/>
          <p:cNvCxnSpPr/>
          <p:nvPr/>
        </p:nvCxnSpPr>
        <p:spPr>
          <a:xfrm>
            <a:off x="8113389" y="2012836"/>
            <a:ext cx="3912641" cy="0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0" name="line 79: plot geometry" descr="sci-ppt:obj-0079"/>
          <p:cNvCxnSpPr/>
          <p:nvPr/>
        </p:nvCxnSpPr>
        <p:spPr>
          <a:xfrm flipH="1">
            <a:off x="8048626" y="2012836"/>
            <a:ext cx="64763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81" name="text 80: Emitted energy" descr="sci-ppt:obj-0080"/>
          <p:cNvSpPr txBox="1"/>
          <p:nvPr/>
        </p:nvSpPr>
        <p:spPr>
          <a:xfrm>
            <a:off x="6527865" y="1892548"/>
            <a:ext cx="1601551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Emitted energy</a:t>
            </a:r>
          </a:p>
        </p:txBody>
      </p:sp>
      <p:cxnSp>
        <p:nvCxnSpPr>
          <p:cNvPr id="82" name="line 81: plot geometry" descr="sci-ppt:obj-0081"/>
          <p:cNvCxnSpPr/>
          <p:nvPr/>
        </p:nvCxnSpPr>
        <p:spPr>
          <a:xfrm>
            <a:off x="8113389" y="1006628"/>
            <a:ext cx="3912641" cy="0"/>
          </a:xfrm>
          <a:prstGeom prst="line">
            <a:avLst/>
          </a:prstGeom>
          <a:ln w="14802">
            <a:solidFill>
              <a:srgbClr val="B0B0B0">
                <a:alpha val="18000"/>
              </a:srgbClr>
            </a:solidFill>
          </a:ln>
          <a:effectLst/>
        </p:spPr>
      </p:cxnSp>
      <p:cxnSp>
        <p:nvCxnSpPr>
          <p:cNvPr id="83" name="line 82: plot geometry" descr="sci-ppt:obj-0082"/>
          <p:cNvCxnSpPr/>
          <p:nvPr/>
        </p:nvCxnSpPr>
        <p:spPr>
          <a:xfrm flipH="1">
            <a:off x="8048626" y="1006628"/>
            <a:ext cx="64763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84" name="text 83: Emitted impulse" descr="sci-ppt:obj-0083"/>
          <p:cNvSpPr txBox="1"/>
          <p:nvPr/>
        </p:nvSpPr>
        <p:spPr>
          <a:xfrm>
            <a:off x="6444628" y="886340"/>
            <a:ext cx="1710722" cy="249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6" b="0" i="0">
                <a:solidFill>
                  <a:srgbClr val="000000"/>
                </a:solidFill>
                <a:latin typeface="Arial"/>
              </a:rPr>
              <a:t>Emitted impulse</a:t>
            </a:r>
          </a:p>
        </p:txBody>
      </p:sp>
      <p:cxnSp>
        <p:nvCxnSpPr>
          <p:cNvPr id="85" name="line 84: plot geometry" descr="sci-ppt:obj-0084"/>
          <p:cNvCxnSpPr/>
          <p:nvPr/>
        </p:nvCxnSpPr>
        <p:spPr>
          <a:xfrm flipV="1">
            <a:off x="8113389" y="412966"/>
            <a:ext cx="0" cy="4205948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cxnSp>
        <p:nvCxnSpPr>
          <p:cNvPr id="86" name="line 85: plot geometry" descr="sci-ppt:obj-0085"/>
          <p:cNvCxnSpPr/>
          <p:nvPr/>
        </p:nvCxnSpPr>
        <p:spPr>
          <a:xfrm>
            <a:off x="8113389" y="4618914"/>
            <a:ext cx="3912641" cy="0"/>
          </a:xfrm>
          <a:prstGeom prst="line">
            <a:avLst/>
          </a:prstGeom>
          <a:ln w="14802">
            <a:solidFill>
              <a:srgbClr val="000000"/>
            </a:solidFill>
          </a:ln>
          <a:effectLst/>
        </p:spPr>
      </p:cxnSp>
      <p:sp>
        <p:nvSpPr>
          <p:cNvPr id="87" name="text 86: 10.571%" descr="sci-ppt:obj-0086"/>
          <p:cNvSpPr txBox="1"/>
          <p:nvPr/>
        </p:nvSpPr>
        <p:spPr>
          <a:xfrm>
            <a:off x="11290096" y="3896982"/>
            <a:ext cx="760931" cy="2248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11" b="0" i="0">
                <a:solidFill>
                  <a:srgbClr val="000000"/>
                </a:solidFill>
                <a:latin typeface="Arial"/>
              </a:rPr>
              <a:t>10.571%</a:t>
            </a:r>
          </a:p>
        </p:txBody>
      </p:sp>
      <p:sp>
        <p:nvSpPr>
          <p:cNvPr id="88" name="text 87: 0.745%" descr="sci-ppt:obj-0087"/>
          <p:cNvSpPr txBox="1"/>
          <p:nvPr/>
        </p:nvSpPr>
        <p:spPr>
          <a:xfrm>
            <a:off x="8380456" y="2890775"/>
            <a:ext cx="662677" cy="2248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11" b="0" i="0">
                <a:solidFill>
                  <a:srgbClr val="000000"/>
                </a:solidFill>
                <a:latin typeface="Arial"/>
              </a:rPr>
              <a:t>0.745%</a:t>
            </a:r>
          </a:p>
        </p:txBody>
      </p:sp>
      <p:sp>
        <p:nvSpPr>
          <p:cNvPr id="89" name="text 88: 0.010%" descr="sci-ppt:obj-0088"/>
          <p:cNvSpPr txBox="1"/>
          <p:nvPr/>
        </p:nvSpPr>
        <p:spPr>
          <a:xfrm>
            <a:off x="8162885" y="1884567"/>
            <a:ext cx="662677" cy="2248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11" b="0" i="0">
                <a:solidFill>
                  <a:srgbClr val="000000"/>
                </a:solidFill>
                <a:latin typeface="Arial"/>
              </a:rPr>
              <a:t>0.010%</a:t>
            </a:r>
          </a:p>
        </p:txBody>
      </p:sp>
      <p:sp>
        <p:nvSpPr>
          <p:cNvPr id="90" name="text 89: 0.087%" descr="sci-ppt:obj-0089"/>
          <p:cNvSpPr txBox="1"/>
          <p:nvPr/>
        </p:nvSpPr>
        <p:spPr>
          <a:xfrm>
            <a:off x="8185836" y="878359"/>
            <a:ext cx="662677" cy="2248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11" b="0" i="0">
                <a:solidFill>
                  <a:srgbClr val="000000"/>
                </a:solidFill>
                <a:latin typeface="Arial"/>
              </a:rPr>
              <a:t>0.087%</a:t>
            </a:r>
          </a:p>
        </p:txBody>
      </p:sp>
      <p:sp>
        <p:nvSpPr>
          <p:cNvPr id="91" name="text 90: Finite-output transmission" descr="sci-ppt:obj-0090"/>
          <p:cNvSpPr txBox="1"/>
          <p:nvPr/>
        </p:nvSpPr>
        <p:spPr>
          <a:xfrm>
            <a:off x="8589853" y="73239"/>
            <a:ext cx="3479299" cy="2997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48" b="0" i="0">
                <a:solidFill>
                  <a:srgbClr val="000000"/>
                </a:solidFill>
                <a:latin typeface="Arial"/>
              </a:rPr>
              <a:t>Finite-output transmission</a:t>
            </a:r>
          </a:p>
        </p:txBody>
      </p:sp>
      <p:sp>
        <p:nvSpPr>
          <p:cNvPr id="92" name="polygon 91: plot geometry" descr="sci-ppt:obj-0091"/>
          <p:cNvSpPr/>
          <p:nvPr/>
        </p:nvSpPr>
        <p:spPr>
          <a:xfrm>
            <a:off x="3052719" y="5923436"/>
            <a:ext cx="296058" cy="103620"/>
          </a:xfrm>
          <a:custGeom>
            <a:avLst/>
            <a:gdLst/>
            <a:ahLst/>
            <a:cxnLst/>
            <a:rect l="l" t="t" r="r" b="b"/>
            <a:pathLst>
              <a:path w="296058" h="103620">
                <a:moveTo>
                  <a:pt x="0" y="103620"/>
                </a:moveTo>
                <a:lnTo>
                  <a:pt x="296058" y="103620"/>
                </a:lnTo>
                <a:lnTo>
                  <a:pt x="296058" y="0"/>
                </a:lnTo>
                <a:lnTo>
                  <a:pt x="0" y="0"/>
                </a:lnTo>
                <a:lnTo>
                  <a:pt x="0" y="103620"/>
                </a:lnTo>
                <a:close/>
              </a:path>
            </a:pathLst>
          </a:custGeom>
          <a:solidFill>
            <a:srgbClr val="3479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 92: Column storage" descr="sci-ppt:obj-0092"/>
          <p:cNvSpPr txBox="1"/>
          <p:nvPr/>
        </p:nvSpPr>
        <p:spPr>
          <a:xfrm>
            <a:off x="3439768" y="5874586"/>
            <a:ext cx="1295871" cy="19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5" b="0" i="0">
                <a:solidFill>
                  <a:srgbClr val="000000"/>
                </a:solidFill>
                <a:latin typeface="Arial"/>
              </a:rPr>
              <a:t>Column storage</a:t>
            </a:r>
          </a:p>
        </p:txBody>
      </p:sp>
      <p:sp>
        <p:nvSpPr>
          <p:cNvPr id="94" name="polygon 93: plot geometry" descr="sci-ppt:obj-0093"/>
          <p:cNvSpPr/>
          <p:nvPr/>
        </p:nvSpPr>
        <p:spPr>
          <a:xfrm>
            <a:off x="3052719" y="6145491"/>
            <a:ext cx="296058" cy="103620"/>
          </a:xfrm>
          <a:custGeom>
            <a:avLst/>
            <a:gdLst/>
            <a:ahLst/>
            <a:cxnLst/>
            <a:rect l="l" t="t" r="r" b="b"/>
            <a:pathLst>
              <a:path w="296058" h="103620">
                <a:moveTo>
                  <a:pt x="0" y="103620"/>
                </a:moveTo>
                <a:lnTo>
                  <a:pt x="296058" y="103620"/>
                </a:lnTo>
                <a:lnTo>
                  <a:pt x="296058" y="0"/>
                </a:lnTo>
                <a:lnTo>
                  <a:pt x="0" y="0"/>
                </a:lnTo>
                <a:lnTo>
                  <a:pt x="0" y="103620"/>
                </a:lnTo>
                <a:close/>
              </a:path>
            </a:pathLst>
          </a:custGeom>
          <a:solidFill>
            <a:srgbClr val="9460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 94: Gel radial motion" descr="sci-ppt:obj-0094"/>
          <p:cNvSpPr txBox="1"/>
          <p:nvPr/>
        </p:nvSpPr>
        <p:spPr>
          <a:xfrm>
            <a:off x="3439768" y="6096641"/>
            <a:ext cx="1557882" cy="19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5" b="0" i="0">
                <a:solidFill>
                  <a:srgbClr val="000000"/>
                </a:solidFill>
                <a:latin typeface="Arial"/>
              </a:rPr>
              <a:t>Gel radial motion</a:t>
            </a:r>
          </a:p>
        </p:txBody>
      </p:sp>
      <p:sp>
        <p:nvSpPr>
          <p:cNvPr id="96" name="polygon 95: plot geometry" descr="sci-ppt:obj-0095"/>
          <p:cNvSpPr/>
          <p:nvPr/>
        </p:nvSpPr>
        <p:spPr>
          <a:xfrm>
            <a:off x="3052719" y="6367546"/>
            <a:ext cx="296058" cy="103620"/>
          </a:xfrm>
          <a:custGeom>
            <a:avLst/>
            <a:gdLst/>
            <a:ahLst/>
            <a:cxnLst/>
            <a:rect l="l" t="t" r="r" b="b"/>
            <a:pathLst>
              <a:path w="296058" h="103620">
                <a:moveTo>
                  <a:pt x="0" y="103620"/>
                </a:moveTo>
                <a:lnTo>
                  <a:pt x="296058" y="103620"/>
                </a:lnTo>
                <a:lnTo>
                  <a:pt x="296058" y="0"/>
                </a:lnTo>
                <a:lnTo>
                  <a:pt x="0" y="0"/>
                </a:lnTo>
                <a:lnTo>
                  <a:pt x="0" y="103620"/>
                </a:lnTo>
                <a:close/>
              </a:path>
            </a:pathLst>
          </a:custGeom>
          <a:solidFill>
            <a:srgbClr val="8AB3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 96: Gel elastic work" descr="sci-ppt:obj-0096"/>
          <p:cNvSpPr txBox="1"/>
          <p:nvPr/>
        </p:nvSpPr>
        <p:spPr>
          <a:xfrm>
            <a:off x="3439768" y="6318697"/>
            <a:ext cx="1470545" cy="19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5" b="0" i="0">
                <a:solidFill>
                  <a:srgbClr val="000000"/>
                </a:solidFill>
                <a:latin typeface="Arial"/>
              </a:rPr>
              <a:t>Gel elastic work</a:t>
            </a:r>
          </a:p>
        </p:txBody>
      </p:sp>
      <p:sp>
        <p:nvSpPr>
          <p:cNvPr id="98" name="polygon 97: plot geometry" descr="sci-ppt:obj-0097"/>
          <p:cNvSpPr/>
          <p:nvPr/>
        </p:nvSpPr>
        <p:spPr>
          <a:xfrm>
            <a:off x="5041073" y="5923436"/>
            <a:ext cx="296058" cy="103620"/>
          </a:xfrm>
          <a:custGeom>
            <a:avLst/>
            <a:gdLst/>
            <a:ahLst/>
            <a:cxnLst/>
            <a:rect l="l" t="t" r="r" b="b"/>
            <a:pathLst>
              <a:path w="296058" h="103620">
                <a:moveTo>
                  <a:pt x="0" y="103620"/>
                </a:moveTo>
                <a:lnTo>
                  <a:pt x="296058" y="103620"/>
                </a:lnTo>
                <a:lnTo>
                  <a:pt x="296058" y="0"/>
                </a:lnTo>
                <a:lnTo>
                  <a:pt x="0" y="0"/>
                </a:lnTo>
                <a:lnTo>
                  <a:pt x="0" y="103620"/>
                </a:lnTo>
                <a:close/>
              </a:path>
            </a:pathLst>
          </a:custGeom>
          <a:solidFill>
            <a:srgbClr val="9B9B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 98: Irreversible loss" descr="sci-ppt:obj-0098"/>
          <p:cNvSpPr txBox="1"/>
          <p:nvPr/>
        </p:nvSpPr>
        <p:spPr>
          <a:xfrm>
            <a:off x="5428122" y="5874586"/>
            <a:ext cx="1557882" cy="19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5" b="0" i="0">
                <a:solidFill>
                  <a:srgbClr val="000000"/>
                </a:solidFill>
                <a:latin typeface="Arial"/>
              </a:rPr>
              <a:t>Irreversible loss</a:t>
            </a:r>
          </a:p>
        </p:txBody>
      </p:sp>
      <p:sp>
        <p:nvSpPr>
          <p:cNvPr id="100" name="polygon 99: plot geometry" descr="sci-ppt:obj-0099"/>
          <p:cNvSpPr/>
          <p:nvPr/>
        </p:nvSpPr>
        <p:spPr>
          <a:xfrm>
            <a:off x="5041073" y="6145491"/>
            <a:ext cx="296058" cy="103620"/>
          </a:xfrm>
          <a:custGeom>
            <a:avLst/>
            <a:gdLst/>
            <a:ahLst/>
            <a:cxnLst/>
            <a:rect l="l" t="t" r="r" b="b"/>
            <a:pathLst>
              <a:path w="296058" h="103620">
                <a:moveTo>
                  <a:pt x="0" y="103620"/>
                </a:moveTo>
                <a:lnTo>
                  <a:pt x="296058" y="103620"/>
                </a:lnTo>
                <a:lnTo>
                  <a:pt x="296058" y="0"/>
                </a:lnTo>
                <a:lnTo>
                  <a:pt x="0" y="0"/>
                </a:lnTo>
                <a:lnTo>
                  <a:pt x="0" y="103620"/>
                </a:lnTo>
                <a:close/>
              </a:path>
            </a:pathLst>
          </a:custGeom>
          <a:solidFill>
            <a:srgbClr val="D16B3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 100: Emitted jet" descr="sci-ppt:obj-0100"/>
          <p:cNvSpPr txBox="1"/>
          <p:nvPr/>
        </p:nvSpPr>
        <p:spPr>
          <a:xfrm>
            <a:off x="5428122" y="6096641"/>
            <a:ext cx="1033860" cy="19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5" b="0" i="0">
                <a:solidFill>
                  <a:srgbClr val="000000"/>
                </a:solidFill>
                <a:latin typeface="Arial"/>
              </a:rPr>
              <a:t>Emitted jet</a:t>
            </a:r>
          </a:p>
        </p:txBody>
      </p:sp>
      <p:sp>
        <p:nvSpPr>
          <p:cNvPr id="102" name="polygon 101: plot geometry" descr="sci-ppt:obj-0101"/>
          <p:cNvSpPr/>
          <p:nvPr/>
        </p:nvSpPr>
        <p:spPr>
          <a:xfrm>
            <a:off x="6919168" y="5923436"/>
            <a:ext cx="296058" cy="103620"/>
          </a:xfrm>
          <a:custGeom>
            <a:avLst/>
            <a:gdLst/>
            <a:ahLst/>
            <a:cxnLst/>
            <a:rect l="l" t="t" r="r" b="b"/>
            <a:pathLst>
              <a:path w="296058" h="103620">
                <a:moveTo>
                  <a:pt x="0" y="103620"/>
                </a:moveTo>
                <a:lnTo>
                  <a:pt x="296058" y="103620"/>
                </a:lnTo>
                <a:lnTo>
                  <a:pt x="296058" y="0"/>
                </a:lnTo>
                <a:lnTo>
                  <a:pt x="0" y="0"/>
                </a:lnTo>
                <a:lnTo>
                  <a:pt x="0" y="103620"/>
                </a:lnTo>
                <a:close/>
              </a:path>
            </a:pathLst>
          </a:custGeom>
          <a:solidFill>
            <a:srgbClr val="D6BD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 102: Meniscus work" descr="sci-ppt:obj-0102"/>
          <p:cNvSpPr txBox="1"/>
          <p:nvPr/>
        </p:nvSpPr>
        <p:spPr>
          <a:xfrm>
            <a:off x="7306217" y="5874586"/>
            <a:ext cx="1208534" cy="19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5" b="0" i="0">
                <a:solidFill>
                  <a:srgbClr val="000000"/>
                </a:solidFill>
                <a:latin typeface="Arial"/>
              </a:rPr>
              <a:t>Meniscus work</a:t>
            </a:r>
          </a:p>
        </p:txBody>
      </p:sp>
      <p:sp>
        <p:nvSpPr>
          <p:cNvPr id="104" name="polygon 103: plot geometry" descr="sci-ppt:obj-0103"/>
          <p:cNvSpPr/>
          <p:nvPr/>
        </p:nvSpPr>
        <p:spPr>
          <a:xfrm>
            <a:off x="6919168" y="6145491"/>
            <a:ext cx="296058" cy="103620"/>
          </a:xfrm>
          <a:custGeom>
            <a:avLst/>
            <a:gdLst/>
            <a:ahLst/>
            <a:cxnLst/>
            <a:rect l="l" t="t" r="r" b="b"/>
            <a:pathLst>
              <a:path w="296058" h="103620">
                <a:moveTo>
                  <a:pt x="0" y="103620"/>
                </a:moveTo>
                <a:lnTo>
                  <a:pt x="296058" y="103620"/>
                </a:lnTo>
                <a:lnTo>
                  <a:pt x="296058" y="0"/>
                </a:lnTo>
                <a:lnTo>
                  <a:pt x="0" y="0"/>
                </a:lnTo>
                <a:lnTo>
                  <a:pt x="0" y="103620"/>
                </a:lnTo>
                <a:close/>
              </a:path>
            </a:pathLst>
          </a:custGeom>
          <a:solidFill>
            <a:srgbClr val="EEF0F5"/>
          </a:solidFill>
          <a:ln w="18503">
            <a:solidFill>
              <a:srgbClr val="CCCCC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 104: Source availability remaining" descr="sci-ppt:obj-0104"/>
          <p:cNvSpPr txBox="1"/>
          <p:nvPr/>
        </p:nvSpPr>
        <p:spPr>
          <a:xfrm>
            <a:off x="7306217" y="6096641"/>
            <a:ext cx="2605928" cy="19983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65" b="0" i="0">
                <a:solidFill>
                  <a:srgbClr val="000000"/>
                </a:solidFill>
                <a:latin typeface="Arial"/>
              </a:rPr>
              <a:t>Source availability remaining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