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13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A-E13 · Teaching-input substitution</a:t>
            </a:r>
          </a:p>
        </p:txBody>
      </p:sp>
      <p:sp>
        <p:nvSpPr>
          <p:cNvPr id="3" name="A-E13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Teaching inputs: G_g = 20 kPa, R_ref = 5 µm, R = 30 µm (sixfold expansion)</a:t>
            </a:r>
          </a:p>
        </p:txBody>
      </p:sp>
      <p:sp>
        <p:nvSpPr>
          <p:cNvPr id="4" name="A-E13 round_rect 2" descr="sci-ppt:o002"/>
          <p:cNvSpPr/>
          <p:nvPr/>
        </p:nvSpPr>
        <p:spPr>
          <a:xfrm>
            <a:off x="457200" y="1371600"/>
            <a:ext cx="54864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A-E13 text 3" descr="sci-ppt:o003"/>
          <p:cNvSpPr txBox="1"/>
          <p:nvPr/>
        </p:nvSpPr>
        <p:spPr>
          <a:xfrm>
            <a:off x="56692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Elastic resistance</a:t>
            </a:r>
          </a:p>
        </p:txBody>
      </p:sp>
      <p:sp>
        <p:nvSpPr>
          <p:cNvPr id="6" name="A-E13 text 4" descr="sci-ppt:o004"/>
          <p:cNvSpPr txBox="1"/>
          <p:nvPr/>
        </p:nvSpPr>
        <p:spPr>
          <a:xfrm>
            <a:off x="594360" y="1828800"/>
            <a:ext cx="52120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pₑₗ = (G_g/2)[5 − 4(5/30) − (5/30)⁴]</a:t>
            </a:r>
          </a:p>
        </p:txBody>
      </p:sp>
      <p:sp>
        <p:nvSpPr>
          <p:cNvPr id="7" name="A-E13 text 5" descr="sci-ppt:o005"/>
          <p:cNvSpPr txBox="1"/>
          <p:nvPr/>
        </p:nvSpPr>
        <p:spPr>
          <a:xfrm>
            <a:off x="594360" y="2331720"/>
            <a:ext cx="5212080" cy="29362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FC8F8"/>
                </a:solidFill>
                <a:latin typeface="Arial"/>
              </a:rPr>
              <a:t>pₑₗ = 43325.6173 Pa</a:t>
            </a:r>
          </a:p>
        </p:txBody>
      </p:sp>
      <p:sp>
        <p:nvSpPr>
          <p:cNvPr id="8" name="A-E13 text 6" descr="sci-ppt:o006"/>
          <p:cNvSpPr txBox="1"/>
          <p:nvPr/>
        </p:nvSpPr>
        <p:spPr>
          <a:xfrm>
            <a:off x="594360" y="29260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about 43 kPa: well below 100 kPa</a:t>
            </a:r>
          </a:p>
        </p:txBody>
      </p:sp>
      <p:sp>
        <p:nvSpPr>
          <p:cNvPr id="9" name="A-E13 round_rect 7" descr="sci-ppt:o007"/>
          <p:cNvSpPr/>
          <p:nvPr/>
        </p:nvSpPr>
        <p:spPr>
          <a:xfrm>
            <a:off x="6217920" y="1371600"/>
            <a:ext cx="548640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A-E13 text 8" descr="sci-ppt:o008"/>
          <p:cNvSpPr txBox="1"/>
          <p:nvPr/>
        </p:nvSpPr>
        <p:spPr>
          <a:xfrm>
            <a:off x="6327648" y="1426464"/>
            <a:ext cx="52669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Stored work</a:t>
            </a:r>
          </a:p>
        </p:txBody>
      </p:sp>
      <p:sp>
        <p:nvSpPr>
          <p:cNvPr id="11" name="A-E13 text 9" descr="sci-ppt:o009"/>
          <p:cNvSpPr txBox="1"/>
          <p:nvPr/>
        </p:nvSpPr>
        <p:spPr>
          <a:xfrm>
            <a:off x="6355080" y="1828800"/>
            <a:ext cx="521208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7F0F3"/>
                </a:solidFill>
                <a:latin typeface="Arial"/>
              </a:rPr>
              <a:t>W_g = 2πG_g[5R³/3 − 2R_refR² + R_ref⁴/R − 2R_ref³/3]</a:t>
            </a:r>
          </a:p>
        </p:txBody>
      </p:sp>
      <p:sp>
        <p:nvSpPr>
          <p:cNvPr id="12" name="A-E13 text 10" descr="sci-ppt:o010"/>
          <p:cNvSpPr txBox="1"/>
          <p:nvPr/>
        </p:nvSpPr>
        <p:spPr>
          <a:xfrm>
            <a:off x="6355080" y="2331720"/>
            <a:ext cx="5212080" cy="27813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880"/>
                </a:solidFill>
                <a:latin typeface="Arial"/>
              </a:rPr>
              <a:t>W_g = 4.51603944e-09 J = 4.5160 nJ</a:t>
            </a:r>
          </a:p>
        </p:txBody>
      </p:sp>
      <p:sp>
        <p:nvSpPr>
          <p:cNvPr id="13" name="A-E13 text 11" descr="sci-ppt:o011"/>
          <p:cNvSpPr txBox="1"/>
          <p:nvPr/>
        </p:nvSpPr>
        <p:spPr>
          <a:xfrm>
            <a:off x="6355080" y="2926080"/>
            <a:ext cx="521208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several nanojoules for a soft network</a:t>
            </a:r>
          </a:p>
        </p:txBody>
      </p:sp>
      <p:sp>
        <p:nvSpPr>
          <p:cNvPr id="14" name="A-E13 round_rect 12" descr="sci-ppt:o012"/>
          <p:cNvSpPr/>
          <p:nvPr/>
        </p:nvSpPr>
        <p:spPr>
          <a:xfrm>
            <a:off x="457200" y="4114800"/>
            <a:ext cx="33832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-E13 text 13" descr="sci-ppt:o013"/>
          <p:cNvSpPr txBox="1"/>
          <p:nvPr/>
        </p:nvSpPr>
        <p:spPr>
          <a:xfrm>
            <a:off x="530352" y="4169663"/>
            <a:ext cx="32369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B4C7D2"/>
                </a:solidFill>
                <a:latin typeface="Arial"/>
              </a:rPr>
              <a:t>R/R_ref</a:t>
            </a:r>
          </a:p>
        </p:txBody>
      </p:sp>
      <p:sp>
        <p:nvSpPr>
          <p:cNvPr id="16" name="A-E13 text 14" descr="sci-ppt:o014"/>
          <p:cNvSpPr txBox="1"/>
          <p:nvPr/>
        </p:nvSpPr>
        <p:spPr>
          <a:xfrm>
            <a:off x="530352" y="4442840"/>
            <a:ext cx="32369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30 / 5 = 6</a:t>
            </a:r>
          </a:p>
        </p:txBody>
      </p:sp>
      <p:cxnSp>
        <p:nvCxnSpPr>
          <p:cNvPr id="17" name="A-E13 arrow 15" descr="sci-ppt:o015"/>
          <p:cNvCxnSpPr/>
          <p:nvPr/>
        </p:nvCxnSpPr>
        <p:spPr>
          <a:xfrm>
            <a:off x="3867912" y="4617720"/>
            <a:ext cx="49377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18" name="A-E13 round_rect 16" descr="sci-ppt:o016"/>
          <p:cNvSpPr/>
          <p:nvPr/>
        </p:nvSpPr>
        <p:spPr>
          <a:xfrm>
            <a:off x="4389120" y="4114800"/>
            <a:ext cx="33832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A-E13 text 17" descr="sci-ppt:o017"/>
          <p:cNvSpPr txBox="1"/>
          <p:nvPr/>
        </p:nvSpPr>
        <p:spPr>
          <a:xfrm>
            <a:off x="4462272" y="4169663"/>
            <a:ext cx="32369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7FC8F8"/>
                </a:solidFill>
                <a:latin typeface="Arial"/>
              </a:rPr>
              <a:t>pₑₗ</a:t>
            </a:r>
          </a:p>
        </p:txBody>
      </p:sp>
      <p:sp>
        <p:nvSpPr>
          <p:cNvPr id="20" name="A-E13 text 18" descr="sci-ppt:o018"/>
          <p:cNvSpPr txBox="1"/>
          <p:nvPr/>
        </p:nvSpPr>
        <p:spPr>
          <a:xfrm>
            <a:off x="4462272" y="4442840"/>
            <a:ext cx="32369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43.33 kPa</a:t>
            </a:r>
          </a:p>
        </p:txBody>
      </p:sp>
      <p:cxnSp>
        <p:nvCxnSpPr>
          <p:cNvPr id="21" name="A-E13 arrow 19" descr="sci-ppt:o019"/>
          <p:cNvCxnSpPr/>
          <p:nvPr/>
        </p:nvCxnSpPr>
        <p:spPr>
          <a:xfrm>
            <a:off x="7799832" y="4617720"/>
            <a:ext cx="493776" cy="0"/>
          </a:xfrm>
          <a:prstGeom prst="line">
            <a:avLst/>
          </a:prstGeom>
          <a:ln w="27940">
            <a:solidFill>
              <a:srgbClr val="B4C7D2"/>
            </a:solidFill>
            <a:headEnd type="none" w="med" len="med"/>
            <a:tailEnd type="triangle" w="med" len="med"/>
          </a:ln>
          <a:effectLst/>
        </p:spPr>
      </p:cxnSp>
      <p:sp>
        <p:nvSpPr>
          <p:cNvPr id="22" name="A-E13 round_rect 20" descr="sci-ppt:o020"/>
          <p:cNvSpPr/>
          <p:nvPr/>
        </p:nvSpPr>
        <p:spPr>
          <a:xfrm>
            <a:off x="8321040" y="4114800"/>
            <a:ext cx="3383280" cy="10058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-E13 text 21" descr="sci-ppt:o021"/>
          <p:cNvSpPr txBox="1"/>
          <p:nvPr/>
        </p:nvSpPr>
        <p:spPr>
          <a:xfrm>
            <a:off x="8394192" y="4169663"/>
            <a:ext cx="3236976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W_g</a:t>
            </a:r>
          </a:p>
        </p:txBody>
      </p:sp>
      <p:sp>
        <p:nvSpPr>
          <p:cNvPr id="24" name="A-E13 text 22" descr="sci-ppt:o022"/>
          <p:cNvSpPr txBox="1"/>
          <p:nvPr/>
        </p:nvSpPr>
        <p:spPr>
          <a:xfrm>
            <a:off x="8394192" y="4442840"/>
            <a:ext cx="3236976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4.516 nJ</a:t>
            </a:r>
          </a:p>
        </p:txBody>
      </p:sp>
      <p:sp>
        <p:nvSpPr>
          <p:cNvPr id="25" name="A-E13 text 23" descr="sci-ppt:o023"/>
          <p:cNvSpPr txBox="1"/>
          <p:nvPr/>
        </p:nvSpPr>
        <p:spPr>
          <a:xfrm>
            <a:off x="457200" y="5486400"/>
            <a:ext cx="112471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 pressure alone looks harmless; the work, accumulated over the whole expansion, is a finite share of the budget (next figure).</a:t>
            </a:r>
          </a:p>
        </p:txBody>
      </p:sp>
      <p:sp>
        <p:nvSpPr>
          <p:cNvPr id="26" name="A-E13 text 24" descr="sci-ppt:o02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Teaching-input substitution of Eq. A-E13 (values recomputed from the closed forms).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