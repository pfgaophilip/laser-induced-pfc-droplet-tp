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08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A-E08 · Work-conjugacy and small-deformation checks</a:t>
            </a:r>
          </a:p>
        </p:txBody>
      </p:sp>
      <p:cxnSp>
        <p:nvCxnSpPr>
          <p:cNvPr id="3" name="A-E08 line 1" descr="sci-ppt:o001"/>
          <p:cNvCxnSpPr/>
          <p:nvPr/>
        </p:nvCxnSpPr>
        <p:spPr>
          <a:xfrm>
            <a:off x="914400" y="4846320"/>
            <a:ext cx="32918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A-E08 line 2" descr="sci-ppt:o002"/>
          <p:cNvCxnSpPr/>
          <p:nvPr/>
        </p:nvCxnSpPr>
        <p:spPr>
          <a:xfrm>
            <a:off x="914400" y="1371600"/>
            <a:ext cx="0" cy="34747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08 line 3" descr="sci-ppt:o003"/>
          <p:cNvCxnSpPr/>
          <p:nvPr/>
        </p:nvCxnSpPr>
        <p:spPr>
          <a:xfrm>
            <a:off x="91440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A-E08 line 4" descr="sci-ppt:o004"/>
          <p:cNvCxnSpPr/>
          <p:nvPr/>
        </p:nvCxnSpPr>
        <p:spPr>
          <a:xfrm>
            <a:off x="91440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A-E08 text 5" descr="sci-ppt:o005"/>
          <p:cNvSpPr txBox="1"/>
          <p:nvPr/>
        </p:nvSpPr>
        <p:spPr>
          <a:xfrm>
            <a:off x="45720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8" name="A-E08 line 6" descr="sci-ppt:o006"/>
          <p:cNvCxnSpPr/>
          <p:nvPr/>
        </p:nvCxnSpPr>
        <p:spPr>
          <a:xfrm>
            <a:off x="256032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A-E08 line 7" descr="sci-ppt:o007"/>
          <p:cNvCxnSpPr/>
          <p:nvPr/>
        </p:nvCxnSpPr>
        <p:spPr>
          <a:xfrm>
            <a:off x="256032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A-E08 text 8" descr="sci-ppt:o008"/>
          <p:cNvSpPr txBox="1"/>
          <p:nvPr/>
        </p:nvSpPr>
        <p:spPr>
          <a:xfrm>
            <a:off x="210312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11" name="A-E08 line 9" descr="sci-ppt:o009"/>
          <p:cNvCxnSpPr/>
          <p:nvPr/>
        </p:nvCxnSpPr>
        <p:spPr>
          <a:xfrm>
            <a:off x="420624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A-E08 line 10" descr="sci-ppt:o010"/>
          <p:cNvCxnSpPr/>
          <p:nvPr/>
        </p:nvCxnSpPr>
        <p:spPr>
          <a:xfrm>
            <a:off x="420624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A-E08 text 11" descr="sci-ppt:o011"/>
          <p:cNvSpPr txBox="1"/>
          <p:nvPr/>
        </p:nvSpPr>
        <p:spPr>
          <a:xfrm>
            <a:off x="3749039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14" name="A-E08 line 12" descr="sci-ppt:o012"/>
          <p:cNvCxnSpPr/>
          <p:nvPr/>
        </p:nvCxnSpPr>
        <p:spPr>
          <a:xfrm>
            <a:off x="850392" y="48463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A-E08 line 13" descr="sci-ppt:o013"/>
          <p:cNvCxnSpPr/>
          <p:nvPr/>
        </p:nvCxnSpPr>
        <p:spPr>
          <a:xfrm>
            <a:off x="850392" y="397763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A-E08 line 14" descr="sci-ppt:o014"/>
          <p:cNvCxnSpPr/>
          <p:nvPr/>
        </p:nvCxnSpPr>
        <p:spPr>
          <a:xfrm>
            <a:off x="914400" y="3977639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7" name="A-E08 text 15" descr="sci-ppt:o015"/>
          <p:cNvSpPr txBox="1"/>
          <p:nvPr/>
        </p:nvSpPr>
        <p:spPr>
          <a:xfrm>
            <a:off x="45720" y="38953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18" name="A-E08 line 16" descr="sci-ppt:o016"/>
          <p:cNvCxnSpPr/>
          <p:nvPr/>
        </p:nvCxnSpPr>
        <p:spPr>
          <a:xfrm>
            <a:off x="850392" y="31089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A-E08 line 17" descr="sci-ppt:o017"/>
          <p:cNvCxnSpPr/>
          <p:nvPr/>
        </p:nvCxnSpPr>
        <p:spPr>
          <a:xfrm>
            <a:off x="914400" y="3108960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A-E08 text 18" descr="sci-ppt:o018"/>
          <p:cNvSpPr txBox="1"/>
          <p:nvPr/>
        </p:nvSpPr>
        <p:spPr>
          <a:xfrm>
            <a:off x="45720" y="302666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20</a:t>
            </a:r>
          </a:p>
        </p:txBody>
      </p:sp>
      <p:cxnSp>
        <p:nvCxnSpPr>
          <p:cNvPr id="21" name="A-E08 line 19" descr="sci-ppt:o019"/>
          <p:cNvCxnSpPr/>
          <p:nvPr/>
        </p:nvCxnSpPr>
        <p:spPr>
          <a:xfrm>
            <a:off x="850392" y="22402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A-E08 line 20" descr="sci-ppt:o020"/>
          <p:cNvCxnSpPr/>
          <p:nvPr/>
        </p:nvCxnSpPr>
        <p:spPr>
          <a:xfrm>
            <a:off x="914400" y="2240280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A-E08 text 21" descr="sci-ppt:o021"/>
          <p:cNvSpPr txBox="1"/>
          <p:nvPr/>
        </p:nvSpPr>
        <p:spPr>
          <a:xfrm>
            <a:off x="45720" y="21579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30</a:t>
            </a:r>
          </a:p>
        </p:txBody>
      </p:sp>
      <p:cxnSp>
        <p:nvCxnSpPr>
          <p:cNvPr id="24" name="A-E08 line 22" descr="sci-ppt:o022"/>
          <p:cNvCxnSpPr/>
          <p:nvPr/>
        </p:nvCxnSpPr>
        <p:spPr>
          <a:xfrm>
            <a:off x="8503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A-E08 line 23" descr="sci-ppt:o023"/>
          <p:cNvCxnSpPr/>
          <p:nvPr/>
        </p:nvCxnSpPr>
        <p:spPr>
          <a:xfrm>
            <a:off x="914400" y="1371600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A-E08 text 24" descr="sci-ppt:o024"/>
          <p:cNvSpPr txBox="1"/>
          <p:nvPr/>
        </p:nvSpPr>
        <p:spPr>
          <a:xfrm>
            <a:off x="457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40</a:t>
            </a:r>
          </a:p>
        </p:txBody>
      </p:sp>
      <p:sp>
        <p:nvSpPr>
          <p:cNvPr id="27" name="A-E08 text 25" descr="sci-ppt:o025"/>
          <p:cNvSpPr txBox="1"/>
          <p:nvPr/>
        </p:nvSpPr>
        <p:spPr>
          <a:xfrm>
            <a:off x="914400" y="5129783"/>
            <a:ext cx="3291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δR / R_ref</a:t>
            </a:r>
          </a:p>
        </p:txBody>
      </p:sp>
      <p:sp>
        <p:nvSpPr>
          <p:cNvPr id="28" name="A-E08 text 26" descr="sci-ppt:o026"/>
          <p:cNvSpPr txBox="1"/>
          <p:nvPr/>
        </p:nvSpPr>
        <p:spPr>
          <a:xfrm>
            <a:off x="365760" y="1024128"/>
            <a:ext cx="3291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pₑₗ  (kPa)</a:t>
            </a:r>
          </a:p>
        </p:txBody>
      </p:sp>
      <p:sp>
        <p:nvSpPr>
          <p:cNvPr id="29" name="A-E08 polygon 27" descr="sci-ppt:o027"/>
          <p:cNvSpPr/>
          <p:nvPr/>
        </p:nvSpPr>
        <p:spPr>
          <a:xfrm>
            <a:off x="914400" y="2990991"/>
            <a:ext cx="3291840" cy="1855329"/>
          </a:xfrm>
          <a:custGeom>
            <a:avLst/>
            <a:gdLst/>
            <a:ahLst/>
            <a:cxnLst/>
            <a:rect l="l" t="t" r="r" b="b"/>
            <a:pathLst>
              <a:path w="3291840" h="1855329">
                <a:moveTo>
                  <a:pt x="0" y="1855329"/>
                </a:moveTo>
                <a:lnTo>
                  <a:pt x="33250" y="1820538"/>
                </a:lnTo>
                <a:lnTo>
                  <a:pt x="66501" y="1786352"/>
                </a:lnTo>
                <a:lnTo>
                  <a:pt x="99752" y="1752755"/>
                </a:lnTo>
                <a:lnTo>
                  <a:pt x="133003" y="1719733"/>
                </a:lnTo>
                <a:lnTo>
                  <a:pt x="166254" y="1687270"/>
                </a:lnTo>
                <a:lnTo>
                  <a:pt x="199505" y="1655354"/>
                </a:lnTo>
                <a:lnTo>
                  <a:pt x="232756" y="1623971"/>
                </a:lnTo>
                <a:lnTo>
                  <a:pt x="266007" y="1593106"/>
                </a:lnTo>
                <a:lnTo>
                  <a:pt x="299258" y="1562749"/>
                </a:lnTo>
                <a:lnTo>
                  <a:pt x="332509" y="1532886"/>
                </a:lnTo>
                <a:lnTo>
                  <a:pt x="365760" y="1503506"/>
                </a:lnTo>
                <a:lnTo>
                  <a:pt x="399010" y="1474598"/>
                </a:lnTo>
                <a:lnTo>
                  <a:pt x="432261" y="1446149"/>
                </a:lnTo>
                <a:lnTo>
                  <a:pt x="465512" y="1418149"/>
                </a:lnTo>
                <a:lnTo>
                  <a:pt x="498763" y="1390588"/>
                </a:lnTo>
                <a:lnTo>
                  <a:pt x="532014" y="1363455"/>
                </a:lnTo>
                <a:lnTo>
                  <a:pt x="565265" y="1336740"/>
                </a:lnTo>
                <a:lnTo>
                  <a:pt x="598516" y="1310435"/>
                </a:lnTo>
                <a:lnTo>
                  <a:pt x="631767" y="1284528"/>
                </a:lnTo>
                <a:lnTo>
                  <a:pt x="665018" y="1259013"/>
                </a:lnTo>
                <a:lnTo>
                  <a:pt x="698269" y="1233879"/>
                </a:lnTo>
                <a:lnTo>
                  <a:pt x="731520" y="1209117"/>
                </a:lnTo>
                <a:lnTo>
                  <a:pt x="764770" y="1184721"/>
                </a:lnTo>
                <a:lnTo>
                  <a:pt x="798021" y="1160682"/>
                </a:lnTo>
                <a:lnTo>
                  <a:pt x="831272" y="1136991"/>
                </a:lnTo>
                <a:lnTo>
                  <a:pt x="864523" y="1113641"/>
                </a:lnTo>
                <a:lnTo>
                  <a:pt x="897774" y="1090625"/>
                </a:lnTo>
                <a:lnTo>
                  <a:pt x="931025" y="1067936"/>
                </a:lnTo>
                <a:lnTo>
                  <a:pt x="964276" y="1045567"/>
                </a:lnTo>
                <a:lnTo>
                  <a:pt x="997527" y="1023510"/>
                </a:lnTo>
                <a:lnTo>
                  <a:pt x="1030778" y="1001760"/>
                </a:lnTo>
                <a:lnTo>
                  <a:pt x="1064029" y="980309"/>
                </a:lnTo>
                <a:lnTo>
                  <a:pt x="1097280" y="959152"/>
                </a:lnTo>
                <a:lnTo>
                  <a:pt x="1130530" y="938282"/>
                </a:lnTo>
                <a:lnTo>
                  <a:pt x="1163781" y="917693"/>
                </a:lnTo>
                <a:lnTo>
                  <a:pt x="1197032" y="897381"/>
                </a:lnTo>
                <a:lnTo>
                  <a:pt x="1230283" y="877338"/>
                </a:lnTo>
                <a:lnTo>
                  <a:pt x="1263534" y="857560"/>
                </a:lnTo>
                <a:lnTo>
                  <a:pt x="1296785" y="838041"/>
                </a:lnTo>
                <a:lnTo>
                  <a:pt x="1330036" y="818776"/>
                </a:lnTo>
                <a:lnTo>
                  <a:pt x="1363287" y="799761"/>
                </a:lnTo>
                <a:lnTo>
                  <a:pt x="1396538" y="780989"/>
                </a:lnTo>
                <a:lnTo>
                  <a:pt x="1429789" y="762456"/>
                </a:lnTo>
                <a:lnTo>
                  <a:pt x="1463040" y="744159"/>
                </a:lnTo>
                <a:lnTo>
                  <a:pt x="1496290" y="726091"/>
                </a:lnTo>
                <a:lnTo>
                  <a:pt x="1529541" y="708249"/>
                </a:lnTo>
                <a:lnTo>
                  <a:pt x="1562792" y="690628"/>
                </a:lnTo>
                <a:lnTo>
                  <a:pt x="1596043" y="673224"/>
                </a:lnTo>
                <a:lnTo>
                  <a:pt x="1629294" y="656033"/>
                </a:lnTo>
                <a:lnTo>
                  <a:pt x="1662545" y="639051"/>
                </a:lnTo>
                <a:lnTo>
                  <a:pt x="1695796" y="622274"/>
                </a:lnTo>
                <a:lnTo>
                  <a:pt x="1729047" y="605698"/>
                </a:lnTo>
                <a:lnTo>
                  <a:pt x="1762298" y="589319"/>
                </a:lnTo>
                <a:lnTo>
                  <a:pt x="1795549" y="573135"/>
                </a:lnTo>
                <a:lnTo>
                  <a:pt x="1828800" y="557140"/>
                </a:lnTo>
                <a:lnTo>
                  <a:pt x="1862050" y="541333"/>
                </a:lnTo>
                <a:lnTo>
                  <a:pt x="1895301" y="525708"/>
                </a:lnTo>
                <a:lnTo>
                  <a:pt x="1928552" y="510264"/>
                </a:lnTo>
                <a:lnTo>
                  <a:pt x="1961803" y="494997"/>
                </a:lnTo>
                <a:lnTo>
                  <a:pt x="1995054" y="479904"/>
                </a:lnTo>
                <a:lnTo>
                  <a:pt x="2028305" y="464981"/>
                </a:lnTo>
                <a:lnTo>
                  <a:pt x="2061556" y="450226"/>
                </a:lnTo>
                <a:lnTo>
                  <a:pt x="2094807" y="435635"/>
                </a:lnTo>
                <a:lnTo>
                  <a:pt x="2128058" y="421207"/>
                </a:lnTo>
                <a:lnTo>
                  <a:pt x="2161309" y="406937"/>
                </a:lnTo>
                <a:lnTo>
                  <a:pt x="2194560" y="392824"/>
                </a:lnTo>
                <a:lnTo>
                  <a:pt x="2227810" y="378865"/>
                </a:lnTo>
                <a:lnTo>
                  <a:pt x="2261061" y="365056"/>
                </a:lnTo>
                <a:lnTo>
                  <a:pt x="2294312" y="351397"/>
                </a:lnTo>
                <a:lnTo>
                  <a:pt x="2327563" y="337883"/>
                </a:lnTo>
                <a:lnTo>
                  <a:pt x="2360814" y="324512"/>
                </a:lnTo>
                <a:lnTo>
                  <a:pt x="2394065" y="311283"/>
                </a:lnTo>
                <a:lnTo>
                  <a:pt x="2427316" y="298193"/>
                </a:lnTo>
                <a:lnTo>
                  <a:pt x="2460567" y="285239"/>
                </a:lnTo>
                <a:lnTo>
                  <a:pt x="2493818" y="272419"/>
                </a:lnTo>
                <a:lnTo>
                  <a:pt x="2527069" y="259732"/>
                </a:lnTo>
                <a:lnTo>
                  <a:pt x="2560320" y="247175"/>
                </a:lnTo>
                <a:lnTo>
                  <a:pt x="2593570" y="234745"/>
                </a:lnTo>
                <a:lnTo>
                  <a:pt x="2626821" y="222442"/>
                </a:lnTo>
                <a:lnTo>
                  <a:pt x="2660072" y="210262"/>
                </a:lnTo>
                <a:lnTo>
                  <a:pt x="2693323" y="198204"/>
                </a:lnTo>
                <a:lnTo>
                  <a:pt x="2726574" y="186266"/>
                </a:lnTo>
                <a:lnTo>
                  <a:pt x="2759825" y="174446"/>
                </a:lnTo>
                <a:lnTo>
                  <a:pt x="2793076" y="162743"/>
                </a:lnTo>
                <a:lnTo>
                  <a:pt x="2826327" y="151154"/>
                </a:lnTo>
                <a:lnTo>
                  <a:pt x="2859578" y="139678"/>
                </a:lnTo>
                <a:lnTo>
                  <a:pt x="2892829" y="128312"/>
                </a:lnTo>
                <a:lnTo>
                  <a:pt x="2926080" y="117056"/>
                </a:lnTo>
                <a:lnTo>
                  <a:pt x="2959330" y="105908"/>
                </a:lnTo>
                <a:lnTo>
                  <a:pt x="2992581" y="94865"/>
                </a:lnTo>
                <a:lnTo>
                  <a:pt x="3025832" y="83927"/>
                </a:lnTo>
                <a:lnTo>
                  <a:pt x="3059083" y="73092"/>
                </a:lnTo>
                <a:lnTo>
                  <a:pt x="3092334" y="62358"/>
                </a:lnTo>
                <a:lnTo>
                  <a:pt x="3125585" y="51724"/>
                </a:lnTo>
                <a:lnTo>
                  <a:pt x="3158836" y="41188"/>
                </a:lnTo>
                <a:lnTo>
                  <a:pt x="3192087" y="30749"/>
                </a:lnTo>
                <a:lnTo>
                  <a:pt x="3225338" y="20405"/>
                </a:lnTo>
                <a:lnTo>
                  <a:pt x="3258589" y="10156"/>
                </a:lnTo>
                <a:lnTo>
                  <a:pt x="3291840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A-E08 polygon 28" descr="sci-ppt:o028"/>
          <p:cNvSpPr/>
          <p:nvPr/>
        </p:nvSpPr>
        <p:spPr>
          <a:xfrm>
            <a:off x="914400" y="1371600"/>
            <a:ext cx="3291840" cy="3474720"/>
          </a:xfrm>
          <a:custGeom>
            <a:avLst/>
            <a:gdLst/>
            <a:ahLst/>
            <a:cxnLst/>
            <a:rect l="l" t="t" r="r" b="b"/>
            <a:pathLst>
              <a:path w="3291840" h="3474720">
                <a:moveTo>
                  <a:pt x="0" y="3474720"/>
                </a:moveTo>
                <a:lnTo>
                  <a:pt x="33250" y="3439621"/>
                </a:lnTo>
                <a:lnTo>
                  <a:pt x="66501" y="3404523"/>
                </a:lnTo>
                <a:lnTo>
                  <a:pt x="99752" y="3369425"/>
                </a:lnTo>
                <a:lnTo>
                  <a:pt x="133003" y="3334327"/>
                </a:lnTo>
                <a:lnTo>
                  <a:pt x="166254" y="3299229"/>
                </a:lnTo>
                <a:lnTo>
                  <a:pt x="199505" y="3264130"/>
                </a:lnTo>
                <a:lnTo>
                  <a:pt x="232756" y="3229032"/>
                </a:lnTo>
                <a:lnTo>
                  <a:pt x="266007" y="3193934"/>
                </a:lnTo>
                <a:lnTo>
                  <a:pt x="299258" y="3158836"/>
                </a:lnTo>
                <a:lnTo>
                  <a:pt x="332509" y="3123738"/>
                </a:lnTo>
                <a:lnTo>
                  <a:pt x="365760" y="3088640"/>
                </a:lnTo>
                <a:lnTo>
                  <a:pt x="399010" y="3053541"/>
                </a:lnTo>
                <a:lnTo>
                  <a:pt x="432261" y="3018443"/>
                </a:lnTo>
                <a:lnTo>
                  <a:pt x="465512" y="2983345"/>
                </a:lnTo>
                <a:lnTo>
                  <a:pt x="498763" y="2948247"/>
                </a:lnTo>
                <a:lnTo>
                  <a:pt x="532014" y="2913149"/>
                </a:lnTo>
                <a:lnTo>
                  <a:pt x="565265" y="2878050"/>
                </a:lnTo>
                <a:lnTo>
                  <a:pt x="598516" y="2842952"/>
                </a:lnTo>
                <a:lnTo>
                  <a:pt x="631767" y="2807854"/>
                </a:lnTo>
                <a:lnTo>
                  <a:pt x="665018" y="2772756"/>
                </a:lnTo>
                <a:lnTo>
                  <a:pt x="698269" y="2737658"/>
                </a:lnTo>
                <a:lnTo>
                  <a:pt x="731520" y="2702560"/>
                </a:lnTo>
                <a:lnTo>
                  <a:pt x="764770" y="2667461"/>
                </a:lnTo>
                <a:lnTo>
                  <a:pt x="798021" y="2632363"/>
                </a:lnTo>
                <a:lnTo>
                  <a:pt x="831272" y="2597265"/>
                </a:lnTo>
                <a:lnTo>
                  <a:pt x="864523" y="2562167"/>
                </a:lnTo>
                <a:lnTo>
                  <a:pt x="897774" y="2527069"/>
                </a:lnTo>
                <a:lnTo>
                  <a:pt x="931025" y="2491970"/>
                </a:lnTo>
                <a:lnTo>
                  <a:pt x="964276" y="2456872"/>
                </a:lnTo>
                <a:lnTo>
                  <a:pt x="997527" y="2421774"/>
                </a:lnTo>
                <a:lnTo>
                  <a:pt x="1030778" y="2386676"/>
                </a:lnTo>
                <a:lnTo>
                  <a:pt x="1064029" y="2351578"/>
                </a:lnTo>
                <a:lnTo>
                  <a:pt x="1097280" y="2316480"/>
                </a:lnTo>
                <a:lnTo>
                  <a:pt x="1130530" y="2281381"/>
                </a:lnTo>
                <a:lnTo>
                  <a:pt x="1163781" y="2246283"/>
                </a:lnTo>
                <a:lnTo>
                  <a:pt x="1197032" y="2211185"/>
                </a:lnTo>
                <a:lnTo>
                  <a:pt x="1230283" y="2176087"/>
                </a:lnTo>
                <a:lnTo>
                  <a:pt x="1263534" y="2140989"/>
                </a:lnTo>
                <a:lnTo>
                  <a:pt x="1296785" y="2105890"/>
                </a:lnTo>
                <a:lnTo>
                  <a:pt x="1330036" y="2070792"/>
                </a:lnTo>
                <a:lnTo>
                  <a:pt x="1363287" y="2035694"/>
                </a:lnTo>
                <a:lnTo>
                  <a:pt x="1396538" y="2000596"/>
                </a:lnTo>
                <a:lnTo>
                  <a:pt x="1429789" y="1965498"/>
                </a:lnTo>
                <a:lnTo>
                  <a:pt x="1463040" y="1930399"/>
                </a:lnTo>
                <a:lnTo>
                  <a:pt x="1496290" y="1895301"/>
                </a:lnTo>
                <a:lnTo>
                  <a:pt x="1529541" y="1860203"/>
                </a:lnTo>
                <a:lnTo>
                  <a:pt x="1562792" y="1825105"/>
                </a:lnTo>
                <a:lnTo>
                  <a:pt x="1596043" y="1790007"/>
                </a:lnTo>
                <a:lnTo>
                  <a:pt x="1629294" y="1754909"/>
                </a:lnTo>
                <a:lnTo>
                  <a:pt x="1662545" y="1719810"/>
                </a:lnTo>
                <a:lnTo>
                  <a:pt x="1695796" y="1684712"/>
                </a:lnTo>
                <a:lnTo>
                  <a:pt x="1729047" y="1649614"/>
                </a:lnTo>
                <a:lnTo>
                  <a:pt x="1762298" y="1614516"/>
                </a:lnTo>
                <a:lnTo>
                  <a:pt x="1795549" y="1579418"/>
                </a:lnTo>
                <a:lnTo>
                  <a:pt x="1828800" y="1544320"/>
                </a:lnTo>
                <a:lnTo>
                  <a:pt x="1862050" y="1509221"/>
                </a:lnTo>
                <a:lnTo>
                  <a:pt x="1895301" y="1474123"/>
                </a:lnTo>
                <a:lnTo>
                  <a:pt x="1928552" y="1439025"/>
                </a:lnTo>
                <a:lnTo>
                  <a:pt x="1961803" y="1403927"/>
                </a:lnTo>
                <a:lnTo>
                  <a:pt x="1995054" y="1368829"/>
                </a:lnTo>
                <a:lnTo>
                  <a:pt x="2028305" y="1333730"/>
                </a:lnTo>
                <a:lnTo>
                  <a:pt x="2061556" y="1298632"/>
                </a:lnTo>
                <a:lnTo>
                  <a:pt x="2094807" y="1263534"/>
                </a:lnTo>
                <a:lnTo>
                  <a:pt x="2128058" y="1228436"/>
                </a:lnTo>
                <a:lnTo>
                  <a:pt x="2161309" y="1193338"/>
                </a:lnTo>
                <a:lnTo>
                  <a:pt x="2194560" y="1158239"/>
                </a:lnTo>
                <a:lnTo>
                  <a:pt x="2227810" y="1123141"/>
                </a:lnTo>
                <a:lnTo>
                  <a:pt x="2261061" y="1088043"/>
                </a:lnTo>
                <a:lnTo>
                  <a:pt x="2294312" y="1052945"/>
                </a:lnTo>
                <a:lnTo>
                  <a:pt x="2327563" y="1017847"/>
                </a:lnTo>
                <a:lnTo>
                  <a:pt x="2360814" y="982749"/>
                </a:lnTo>
                <a:lnTo>
                  <a:pt x="2394065" y="947650"/>
                </a:lnTo>
                <a:lnTo>
                  <a:pt x="2427316" y="912552"/>
                </a:lnTo>
                <a:lnTo>
                  <a:pt x="2460567" y="877454"/>
                </a:lnTo>
                <a:lnTo>
                  <a:pt x="2493818" y="842356"/>
                </a:lnTo>
                <a:lnTo>
                  <a:pt x="2527069" y="807258"/>
                </a:lnTo>
                <a:lnTo>
                  <a:pt x="2560320" y="772159"/>
                </a:lnTo>
                <a:lnTo>
                  <a:pt x="2593570" y="737061"/>
                </a:lnTo>
                <a:lnTo>
                  <a:pt x="2626821" y="701963"/>
                </a:lnTo>
                <a:lnTo>
                  <a:pt x="2660072" y="666865"/>
                </a:lnTo>
                <a:lnTo>
                  <a:pt x="2693323" y="631767"/>
                </a:lnTo>
                <a:lnTo>
                  <a:pt x="2726574" y="596669"/>
                </a:lnTo>
                <a:lnTo>
                  <a:pt x="2759825" y="561570"/>
                </a:lnTo>
                <a:lnTo>
                  <a:pt x="2793076" y="526472"/>
                </a:lnTo>
                <a:lnTo>
                  <a:pt x="2826327" y="491374"/>
                </a:lnTo>
                <a:lnTo>
                  <a:pt x="2859578" y="456276"/>
                </a:lnTo>
                <a:lnTo>
                  <a:pt x="2892829" y="421178"/>
                </a:lnTo>
                <a:lnTo>
                  <a:pt x="2926080" y="386079"/>
                </a:lnTo>
                <a:lnTo>
                  <a:pt x="2959330" y="350981"/>
                </a:lnTo>
                <a:lnTo>
                  <a:pt x="2992581" y="315883"/>
                </a:lnTo>
                <a:lnTo>
                  <a:pt x="3025832" y="280785"/>
                </a:lnTo>
                <a:lnTo>
                  <a:pt x="3059083" y="245687"/>
                </a:lnTo>
                <a:lnTo>
                  <a:pt x="3092334" y="210589"/>
                </a:lnTo>
                <a:lnTo>
                  <a:pt x="3125585" y="175490"/>
                </a:lnTo>
                <a:lnTo>
                  <a:pt x="3158836" y="140392"/>
                </a:lnTo>
                <a:lnTo>
                  <a:pt x="3192087" y="105294"/>
                </a:lnTo>
                <a:lnTo>
                  <a:pt x="3225338" y="70196"/>
                </a:lnTo>
                <a:lnTo>
                  <a:pt x="3258589" y="35098"/>
                </a:lnTo>
                <a:lnTo>
                  <a:pt x="3291840" y="0"/>
                </a:lnTo>
              </a:path>
            </a:pathLst>
          </a:custGeom>
          <a:noFill/>
          <a:ln w="25400">
            <a:solidFill>
              <a:srgbClr val="F2B88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-E08 text 29" descr="sci-ppt:o029"/>
          <p:cNvSpPr txBox="1"/>
          <p:nvPr/>
        </p:nvSpPr>
        <p:spPr>
          <a:xfrm>
            <a:off x="1119225" y="1627631"/>
            <a:ext cx="8229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exact</a:t>
            </a:r>
          </a:p>
        </p:txBody>
      </p:sp>
      <p:sp>
        <p:nvSpPr>
          <p:cNvPr id="32" name="A-E08 text 30" descr="sci-ppt:o030"/>
          <p:cNvSpPr txBox="1"/>
          <p:nvPr/>
        </p:nvSpPr>
        <p:spPr>
          <a:xfrm>
            <a:off x="1119225" y="2061972"/>
            <a:ext cx="20116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linear 4G_g δR/R_ref</a:t>
            </a:r>
          </a:p>
        </p:txBody>
      </p:sp>
      <p:cxnSp>
        <p:nvCxnSpPr>
          <p:cNvPr id="33" name="A-E08 line 31" descr="sci-ppt:o031"/>
          <p:cNvCxnSpPr/>
          <p:nvPr/>
        </p:nvCxnSpPr>
        <p:spPr>
          <a:xfrm>
            <a:off x="5212080" y="4846320"/>
            <a:ext cx="32918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4" name="A-E08 line 32" descr="sci-ppt:o032"/>
          <p:cNvCxnSpPr/>
          <p:nvPr/>
        </p:nvCxnSpPr>
        <p:spPr>
          <a:xfrm>
            <a:off x="5212080" y="1371600"/>
            <a:ext cx="0" cy="34747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5" name="A-E08 line 33" descr="sci-ppt:o033"/>
          <p:cNvCxnSpPr/>
          <p:nvPr/>
        </p:nvCxnSpPr>
        <p:spPr>
          <a:xfrm>
            <a:off x="521208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6" name="A-E08 line 34" descr="sci-ppt:o034"/>
          <p:cNvCxnSpPr/>
          <p:nvPr/>
        </p:nvCxnSpPr>
        <p:spPr>
          <a:xfrm>
            <a:off x="521208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7" name="A-E08 text 35" descr="sci-ppt:o035"/>
          <p:cNvSpPr txBox="1"/>
          <p:nvPr/>
        </p:nvSpPr>
        <p:spPr>
          <a:xfrm>
            <a:off x="475488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38" name="A-E08 line 36" descr="sci-ppt:o036"/>
          <p:cNvCxnSpPr/>
          <p:nvPr/>
        </p:nvCxnSpPr>
        <p:spPr>
          <a:xfrm>
            <a:off x="685800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9" name="A-E08 line 37" descr="sci-ppt:o037"/>
          <p:cNvCxnSpPr/>
          <p:nvPr/>
        </p:nvCxnSpPr>
        <p:spPr>
          <a:xfrm>
            <a:off x="685800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0" name="A-E08 text 38" descr="sci-ppt:o038"/>
          <p:cNvSpPr txBox="1"/>
          <p:nvPr/>
        </p:nvSpPr>
        <p:spPr>
          <a:xfrm>
            <a:off x="640080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41" name="A-E08 line 39" descr="sci-ppt:o039"/>
          <p:cNvCxnSpPr/>
          <p:nvPr/>
        </p:nvCxnSpPr>
        <p:spPr>
          <a:xfrm>
            <a:off x="850392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2" name="A-E08 line 40" descr="sci-ppt:o040"/>
          <p:cNvCxnSpPr/>
          <p:nvPr/>
        </p:nvCxnSpPr>
        <p:spPr>
          <a:xfrm>
            <a:off x="850392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3" name="A-E08 text 41" descr="sci-ppt:o041"/>
          <p:cNvSpPr txBox="1"/>
          <p:nvPr/>
        </p:nvSpPr>
        <p:spPr>
          <a:xfrm>
            <a:off x="804672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44" name="A-E08 line 42" descr="sci-ppt:o042"/>
          <p:cNvCxnSpPr/>
          <p:nvPr/>
        </p:nvCxnSpPr>
        <p:spPr>
          <a:xfrm>
            <a:off x="5148072" y="48463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5" name="A-E08 line 43" descr="sci-ppt:o043"/>
          <p:cNvCxnSpPr/>
          <p:nvPr/>
        </p:nvCxnSpPr>
        <p:spPr>
          <a:xfrm>
            <a:off x="5148072" y="397763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6" name="A-E08 line 44" descr="sci-ppt:o044"/>
          <p:cNvCxnSpPr/>
          <p:nvPr/>
        </p:nvCxnSpPr>
        <p:spPr>
          <a:xfrm>
            <a:off x="5212080" y="3977639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7" name="A-E08 text 45" descr="sci-ppt:o045"/>
          <p:cNvSpPr txBox="1"/>
          <p:nvPr/>
        </p:nvSpPr>
        <p:spPr>
          <a:xfrm>
            <a:off x="4343400" y="38953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0.005</a:t>
            </a:r>
          </a:p>
        </p:txBody>
      </p:sp>
      <p:cxnSp>
        <p:nvCxnSpPr>
          <p:cNvPr id="48" name="A-E08 line 46" descr="sci-ppt:o046"/>
          <p:cNvCxnSpPr/>
          <p:nvPr/>
        </p:nvCxnSpPr>
        <p:spPr>
          <a:xfrm>
            <a:off x="5148072" y="31089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9" name="A-E08 line 47" descr="sci-ppt:o047"/>
          <p:cNvCxnSpPr/>
          <p:nvPr/>
        </p:nvCxnSpPr>
        <p:spPr>
          <a:xfrm>
            <a:off x="5212080" y="3108960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0" name="A-E08 text 48" descr="sci-ppt:o048"/>
          <p:cNvSpPr txBox="1"/>
          <p:nvPr/>
        </p:nvSpPr>
        <p:spPr>
          <a:xfrm>
            <a:off x="4343400" y="302666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0.010</a:t>
            </a:r>
          </a:p>
        </p:txBody>
      </p:sp>
      <p:cxnSp>
        <p:nvCxnSpPr>
          <p:cNvPr id="51" name="A-E08 line 49" descr="sci-ppt:o049"/>
          <p:cNvCxnSpPr/>
          <p:nvPr/>
        </p:nvCxnSpPr>
        <p:spPr>
          <a:xfrm>
            <a:off x="5148072" y="22402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2" name="A-E08 line 50" descr="sci-ppt:o050"/>
          <p:cNvCxnSpPr/>
          <p:nvPr/>
        </p:nvCxnSpPr>
        <p:spPr>
          <a:xfrm>
            <a:off x="5212080" y="2240280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3" name="A-E08 text 51" descr="sci-ppt:o051"/>
          <p:cNvSpPr txBox="1"/>
          <p:nvPr/>
        </p:nvSpPr>
        <p:spPr>
          <a:xfrm>
            <a:off x="4343400" y="21579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0.015</a:t>
            </a:r>
          </a:p>
        </p:txBody>
      </p:sp>
      <p:cxnSp>
        <p:nvCxnSpPr>
          <p:cNvPr id="54" name="A-E08 line 52" descr="sci-ppt:o052"/>
          <p:cNvCxnSpPr/>
          <p:nvPr/>
        </p:nvCxnSpPr>
        <p:spPr>
          <a:xfrm>
            <a:off x="514807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5" name="A-E08 line 53" descr="sci-ppt:o053"/>
          <p:cNvCxnSpPr/>
          <p:nvPr/>
        </p:nvCxnSpPr>
        <p:spPr>
          <a:xfrm>
            <a:off x="5212080" y="1371600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6" name="A-E08 text 54" descr="sci-ppt:o054"/>
          <p:cNvSpPr txBox="1"/>
          <p:nvPr/>
        </p:nvSpPr>
        <p:spPr>
          <a:xfrm>
            <a:off x="434340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0.020</a:t>
            </a:r>
          </a:p>
        </p:txBody>
      </p:sp>
      <p:sp>
        <p:nvSpPr>
          <p:cNvPr id="57" name="A-E08 text 55" descr="sci-ppt:o055"/>
          <p:cNvSpPr txBox="1"/>
          <p:nvPr/>
        </p:nvSpPr>
        <p:spPr>
          <a:xfrm>
            <a:off x="5212080" y="5129783"/>
            <a:ext cx="3291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δR / R_ref</a:t>
            </a:r>
          </a:p>
        </p:txBody>
      </p:sp>
      <p:sp>
        <p:nvSpPr>
          <p:cNvPr id="58" name="A-E08 text 56" descr="sci-ppt:o056"/>
          <p:cNvSpPr txBox="1"/>
          <p:nvPr/>
        </p:nvSpPr>
        <p:spPr>
          <a:xfrm>
            <a:off x="4663440" y="1024128"/>
            <a:ext cx="3291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W_g  (nJ)</a:t>
            </a:r>
          </a:p>
        </p:txBody>
      </p:sp>
      <p:sp>
        <p:nvSpPr>
          <p:cNvPr id="59" name="A-E08 polygon 57" descr="sci-ppt:o057"/>
          <p:cNvSpPr/>
          <p:nvPr/>
        </p:nvSpPr>
        <p:spPr>
          <a:xfrm>
            <a:off x="5212080" y="1776151"/>
            <a:ext cx="3291840" cy="3070169"/>
          </a:xfrm>
          <a:custGeom>
            <a:avLst/>
            <a:gdLst/>
            <a:ahLst/>
            <a:cxnLst/>
            <a:rect l="l" t="t" r="r" b="b"/>
            <a:pathLst>
              <a:path w="3291840" h="3070169">
                <a:moveTo>
                  <a:pt x="0" y="3070169"/>
                </a:moveTo>
                <a:lnTo>
                  <a:pt x="33250" y="3069890"/>
                </a:lnTo>
                <a:lnTo>
                  <a:pt x="66501" y="3069053"/>
                </a:lnTo>
                <a:lnTo>
                  <a:pt x="99752" y="3067656"/>
                </a:lnTo>
                <a:lnTo>
                  <a:pt x="133003" y="3065698"/>
                </a:lnTo>
                <a:lnTo>
                  <a:pt x="166254" y="3063177"/>
                </a:lnTo>
                <a:lnTo>
                  <a:pt x="199505" y="3060092"/>
                </a:lnTo>
                <a:lnTo>
                  <a:pt x="232756" y="3056440"/>
                </a:lnTo>
                <a:lnTo>
                  <a:pt x="266007" y="3052221"/>
                </a:lnTo>
                <a:lnTo>
                  <a:pt x="299258" y="3047432"/>
                </a:lnTo>
                <a:lnTo>
                  <a:pt x="332509" y="3042073"/>
                </a:lnTo>
                <a:lnTo>
                  <a:pt x="365760" y="3036140"/>
                </a:lnTo>
                <a:lnTo>
                  <a:pt x="399010" y="3029633"/>
                </a:lnTo>
                <a:lnTo>
                  <a:pt x="432261" y="3022549"/>
                </a:lnTo>
                <a:lnTo>
                  <a:pt x="465512" y="3014886"/>
                </a:lnTo>
                <a:lnTo>
                  <a:pt x="498763" y="3006644"/>
                </a:lnTo>
                <a:lnTo>
                  <a:pt x="532014" y="2997819"/>
                </a:lnTo>
                <a:lnTo>
                  <a:pt x="565265" y="2988410"/>
                </a:lnTo>
                <a:lnTo>
                  <a:pt x="598516" y="2978415"/>
                </a:lnTo>
                <a:lnTo>
                  <a:pt x="631767" y="2967831"/>
                </a:lnTo>
                <a:lnTo>
                  <a:pt x="665018" y="2956657"/>
                </a:lnTo>
                <a:lnTo>
                  <a:pt x="698269" y="2944891"/>
                </a:lnTo>
                <a:lnTo>
                  <a:pt x="731520" y="2932531"/>
                </a:lnTo>
                <a:lnTo>
                  <a:pt x="764770" y="2919574"/>
                </a:lnTo>
                <a:lnTo>
                  <a:pt x="798021" y="2906019"/>
                </a:lnTo>
                <a:lnTo>
                  <a:pt x="831272" y="2891862"/>
                </a:lnTo>
                <a:lnTo>
                  <a:pt x="864523" y="2877103"/>
                </a:lnTo>
                <a:lnTo>
                  <a:pt x="897774" y="2861738"/>
                </a:lnTo>
                <a:lnTo>
                  <a:pt x="931025" y="2845766"/>
                </a:lnTo>
                <a:lnTo>
                  <a:pt x="964276" y="2829185"/>
                </a:lnTo>
                <a:lnTo>
                  <a:pt x="997527" y="2811991"/>
                </a:lnTo>
                <a:lnTo>
                  <a:pt x="1030778" y="2794183"/>
                </a:lnTo>
                <a:lnTo>
                  <a:pt x="1064029" y="2775758"/>
                </a:lnTo>
                <a:lnTo>
                  <a:pt x="1097280" y="2756714"/>
                </a:lnTo>
                <a:lnTo>
                  <a:pt x="1130530" y="2737049"/>
                </a:lnTo>
                <a:lnTo>
                  <a:pt x="1163781" y="2716760"/>
                </a:lnTo>
                <a:lnTo>
                  <a:pt x="1197032" y="2695845"/>
                </a:lnTo>
                <a:lnTo>
                  <a:pt x="1230283" y="2674301"/>
                </a:lnTo>
                <a:lnTo>
                  <a:pt x="1263534" y="2652127"/>
                </a:lnTo>
                <a:lnTo>
                  <a:pt x="1296785" y="2629319"/>
                </a:lnTo>
                <a:lnTo>
                  <a:pt x="1330036" y="2605875"/>
                </a:lnTo>
                <a:lnTo>
                  <a:pt x="1363287" y="2581792"/>
                </a:lnTo>
                <a:lnTo>
                  <a:pt x="1396538" y="2557069"/>
                </a:lnTo>
                <a:lnTo>
                  <a:pt x="1429789" y="2531702"/>
                </a:lnTo>
                <a:lnTo>
                  <a:pt x="1463040" y="2505688"/>
                </a:lnTo>
                <a:lnTo>
                  <a:pt x="1496290" y="2479027"/>
                </a:lnTo>
                <a:lnTo>
                  <a:pt x="1529541" y="2451714"/>
                </a:lnTo>
                <a:lnTo>
                  <a:pt x="1562792" y="2423747"/>
                </a:lnTo>
                <a:lnTo>
                  <a:pt x="1596043" y="2395124"/>
                </a:lnTo>
                <a:lnTo>
                  <a:pt x="1629294" y="2365842"/>
                </a:lnTo>
                <a:lnTo>
                  <a:pt x="1662545" y="2335898"/>
                </a:lnTo>
                <a:lnTo>
                  <a:pt x="1695796" y="2305290"/>
                </a:lnTo>
                <a:lnTo>
                  <a:pt x="1729047" y="2274015"/>
                </a:lnTo>
                <a:lnTo>
                  <a:pt x="1762298" y="2242071"/>
                </a:lnTo>
                <a:lnTo>
                  <a:pt x="1795549" y="2209454"/>
                </a:lnTo>
                <a:lnTo>
                  <a:pt x="1828800" y="2176162"/>
                </a:lnTo>
                <a:lnTo>
                  <a:pt x="1862050" y="2142192"/>
                </a:lnTo>
                <a:lnTo>
                  <a:pt x="1895301" y="2107541"/>
                </a:lnTo>
                <a:lnTo>
                  <a:pt x="1928552" y="2072208"/>
                </a:lnTo>
                <a:lnTo>
                  <a:pt x="1961803" y="2036188"/>
                </a:lnTo>
                <a:lnTo>
                  <a:pt x="1995054" y="1999480"/>
                </a:lnTo>
                <a:lnTo>
                  <a:pt x="2028305" y="1962080"/>
                </a:lnTo>
                <a:lnTo>
                  <a:pt x="2061556" y="1923986"/>
                </a:lnTo>
                <a:lnTo>
                  <a:pt x="2094807" y="1885195"/>
                </a:lnTo>
                <a:lnTo>
                  <a:pt x="2128058" y="1845703"/>
                </a:lnTo>
                <a:lnTo>
                  <a:pt x="2161309" y="1805509"/>
                </a:lnTo>
                <a:lnTo>
                  <a:pt x="2194560" y="1764610"/>
                </a:lnTo>
                <a:lnTo>
                  <a:pt x="2227810" y="1723002"/>
                </a:lnTo>
                <a:lnTo>
                  <a:pt x="2261061" y="1680682"/>
                </a:lnTo>
                <a:lnTo>
                  <a:pt x="2294312" y="1637649"/>
                </a:lnTo>
                <a:lnTo>
                  <a:pt x="2327563" y="1593898"/>
                </a:lnTo>
                <a:lnTo>
                  <a:pt x="2360814" y="1549428"/>
                </a:lnTo>
                <a:lnTo>
                  <a:pt x="2394065" y="1504235"/>
                </a:lnTo>
                <a:lnTo>
                  <a:pt x="2427316" y="1458316"/>
                </a:lnTo>
                <a:lnTo>
                  <a:pt x="2460567" y="1411668"/>
                </a:lnTo>
                <a:lnTo>
                  <a:pt x="2493818" y="1364289"/>
                </a:lnTo>
                <a:lnTo>
                  <a:pt x="2527069" y="1316176"/>
                </a:lnTo>
                <a:lnTo>
                  <a:pt x="2560320" y="1267325"/>
                </a:lnTo>
                <a:lnTo>
                  <a:pt x="2593570" y="1217733"/>
                </a:lnTo>
                <a:lnTo>
                  <a:pt x="2626821" y="1167399"/>
                </a:lnTo>
                <a:lnTo>
                  <a:pt x="2660072" y="1116318"/>
                </a:lnTo>
                <a:lnTo>
                  <a:pt x="2693323" y="1064488"/>
                </a:lnTo>
                <a:lnTo>
                  <a:pt x="2726574" y="1011905"/>
                </a:lnTo>
                <a:lnTo>
                  <a:pt x="2759825" y="958568"/>
                </a:lnTo>
                <a:lnTo>
                  <a:pt x="2793076" y="904472"/>
                </a:lnTo>
                <a:lnTo>
                  <a:pt x="2826327" y="849616"/>
                </a:lnTo>
                <a:lnTo>
                  <a:pt x="2859578" y="793995"/>
                </a:lnTo>
                <a:lnTo>
                  <a:pt x="2892829" y="737606"/>
                </a:lnTo>
                <a:lnTo>
                  <a:pt x="2926080" y="680448"/>
                </a:lnTo>
                <a:lnTo>
                  <a:pt x="2959330" y="622516"/>
                </a:lnTo>
                <a:lnTo>
                  <a:pt x="2992581" y="563808"/>
                </a:lnTo>
                <a:lnTo>
                  <a:pt x="3025832" y="504321"/>
                </a:lnTo>
                <a:lnTo>
                  <a:pt x="3059083" y="444051"/>
                </a:lnTo>
                <a:lnTo>
                  <a:pt x="3092334" y="382996"/>
                </a:lnTo>
                <a:lnTo>
                  <a:pt x="3125585" y="321153"/>
                </a:lnTo>
                <a:lnTo>
                  <a:pt x="3158836" y="258517"/>
                </a:lnTo>
                <a:lnTo>
                  <a:pt x="3192087" y="195088"/>
                </a:lnTo>
                <a:lnTo>
                  <a:pt x="3225338" y="130860"/>
                </a:lnTo>
                <a:lnTo>
                  <a:pt x="3258589" y="65832"/>
                </a:lnTo>
                <a:lnTo>
                  <a:pt x="3291840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A-E08 polygon 58" descr="sci-ppt:o058"/>
          <p:cNvSpPr/>
          <p:nvPr/>
        </p:nvSpPr>
        <p:spPr>
          <a:xfrm>
            <a:off x="5212080" y="2117281"/>
            <a:ext cx="3291840" cy="2729039"/>
          </a:xfrm>
          <a:custGeom>
            <a:avLst/>
            <a:gdLst/>
            <a:ahLst/>
            <a:cxnLst/>
            <a:rect l="l" t="t" r="r" b="b"/>
            <a:pathLst>
              <a:path w="3291840" h="2729039">
                <a:moveTo>
                  <a:pt x="0" y="2729039"/>
                </a:moveTo>
                <a:lnTo>
                  <a:pt x="33250" y="2728760"/>
                </a:lnTo>
                <a:lnTo>
                  <a:pt x="66501" y="2727925"/>
                </a:lnTo>
                <a:lnTo>
                  <a:pt x="99752" y="2726532"/>
                </a:lnTo>
                <a:lnTo>
                  <a:pt x="133003" y="2724583"/>
                </a:lnTo>
                <a:lnTo>
                  <a:pt x="166254" y="2722077"/>
                </a:lnTo>
                <a:lnTo>
                  <a:pt x="199505" y="2719014"/>
                </a:lnTo>
                <a:lnTo>
                  <a:pt x="232756" y="2715395"/>
                </a:lnTo>
                <a:lnTo>
                  <a:pt x="266007" y="2711218"/>
                </a:lnTo>
                <a:lnTo>
                  <a:pt x="299258" y="2706484"/>
                </a:lnTo>
                <a:lnTo>
                  <a:pt x="332509" y="2701194"/>
                </a:lnTo>
                <a:lnTo>
                  <a:pt x="365760" y="2695347"/>
                </a:lnTo>
                <a:lnTo>
                  <a:pt x="399010" y="2688942"/>
                </a:lnTo>
                <a:lnTo>
                  <a:pt x="432261" y="2681981"/>
                </a:lnTo>
                <a:lnTo>
                  <a:pt x="465512" y="2674463"/>
                </a:lnTo>
                <a:lnTo>
                  <a:pt x="498763" y="2666388"/>
                </a:lnTo>
                <a:lnTo>
                  <a:pt x="532014" y="2657757"/>
                </a:lnTo>
                <a:lnTo>
                  <a:pt x="565265" y="2648568"/>
                </a:lnTo>
                <a:lnTo>
                  <a:pt x="598516" y="2638822"/>
                </a:lnTo>
                <a:lnTo>
                  <a:pt x="631767" y="2628520"/>
                </a:lnTo>
                <a:lnTo>
                  <a:pt x="665018" y="2617661"/>
                </a:lnTo>
                <a:lnTo>
                  <a:pt x="698269" y="2606244"/>
                </a:lnTo>
                <a:lnTo>
                  <a:pt x="731520" y="2594271"/>
                </a:lnTo>
                <a:lnTo>
                  <a:pt x="764770" y="2581741"/>
                </a:lnTo>
                <a:lnTo>
                  <a:pt x="798021" y="2568654"/>
                </a:lnTo>
                <a:lnTo>
                  <a:pt x="831272" y="2555010"/>
                </a:lnTo>
                <a:lnTo>
                  <a:pt x="864523" y="2540810"/>
                </a:lnTo>
                <a:lnTo>
                  <a:pt x="897774" y="2526052"/>
                </a:lnTo>
                <a:lnTo>
                  <a:pt x="931025" y="2510738"/>
                </a:lnTo>
                <a:lnTo>
                  <a:pt x="964276" y="2494866"/>
                </a:lnTo>
                <a:lnTo>
                  <a:pt x="997527" y="2478438"/>
                </a:lnTo>
                <a:lnTo>
                  <a:pt x="1030778" y="2461453"/>
                </a:lnTo>
                <a:lnTo>
                  <a:pt x="1064029" y="2443911"/>
                </a:lnTo>
                <a:lnTo>
                  <a:pt x="1097280" y="2425812"/>
                </a:lnTo>
                <a:lnTo>
                  <a:pt x="1130530" y="2407156"/>
                </a:lnTo>
                <a:lnTo>
                  <a:pt x="1163781" y="2387943"/>
                </a:lnTo>
                <a:lnTo>
                  <a:pt x="1197032" y="2368174"/>
                </a:lnTo>
                <a:lnTo>
                  <a:pt x="1230283" y="2347847"/>
                </a:lnTo>
                <a:lnTo>
                  <a:pt x="1263534" y="2326964"/>
                </a:lnTo>
                <a:lnTo>
                  <a:pt x="1296785" y="2305524"/>
                </a:lnTo>
                <a:lnTo>
                  <a:pt x="1330036" y="2283527"/>
                </a:lnTo>
                <a:lnTo>
                  <a:pt x="1363287" y="2260973"/>
                </a:lnTo>
                <a:lnTo>
                  <a:pt x="1396538" y="2237862"/>
                </a:lnTo>
                <a:lnTo>
                  <a:pt x="1429789" y="2214194"/>
                </a:lnTo>
                <a:lnTo>
                  <a:pt x="1463040" y="2189969"/>
                </a:lnTo>
                <a:lnTo>
                  <a:pt x="1496290" y="2165188"/>
                </a:lnTo>
                <a:lnTo>
                  <a:pt x="1529541" y="2139849"/>
                </a:lnTo>
                <a:lnTo>
                  <a:pt x="1562792" y="2113954"/>
                </a:lnTo>
                <a:lnTo>
                  <a:pt x="1596043" y="2087501"/>
                </a:lnTo>
                <a:lnTo>
                  <a:pt x="1629294" y="2060492"/>
                </a:lnTo>
                <a:lnTo>
                  <a:pt x="1662545" y="2032926"/>
                </a:lnTo>
                <a:lnTo>
                  <a:pt x="1695796" y="2004803"/>
                </a:lnTo>
                <a:lnTo>
                  <a:pt x="1729047" y="1976123"/>
                </a:lnTo>
                <a:lnTo>
                  <a:pt x="1762298" y="1946887"/>
                </a:lnTo>
                <a:lnTo>
                  <a:pt x="1795549" y="1917093"/>
                </a:lnTo>
                <a:lnTo>
                  <a:pt x="1828800" y="1886743"/>
                </a:lnTo>
                <a:lnTo>
                  <a:pt x="1862050" y="1855835"/>
                </a:lnTo>
                <a:lnTo>
                  <a:pt x="1895301" y="1824371"/>
                </a:lnTo>
                <a:lnTo>
                  <a:pt x="1928552" y="1792350"/>
                </a:lnTo>
                <a:lnTo>
                  <a:pt x="1961803" y="1759772"/>
                </a:lnTo>
                <a:lnTo>
                  <a:pt x="1995054" y="1726637"/>
                </a:lnTo>
                <a:lnTo>
                  <a:pt x="2028305" y="1692945"/>
                </a:lnTo>
                <a:lnTo>
                  <a:pt x="2061556" y="1658696"/>
                </a:lnTo>
                <a:lnTo>
                  <a:pt x="2094807" y="1623891"/>
                </a:lnTo>
                <a:lnTo>
                  <a:pt x="2128058" y="1588528"/>
                </a:lnTo>
                <a:lnTo>
                  <a:pt x="2161309" y="1552609"/>
                </a:lnTo>
                <a:lnTo>
                  <a:pt x="2194560" y="1516132"/>
                </a:lnTo>
                <a:lnTo>
                  <a:pt x="2227810" y="1479099"/>
                </a:lnTo>
                <a:lnTo>
                  <a:pt x="2261061" y="1441509"/>
                </a:lnTo>
                <a:lnTo>
                  <a:pt x="2294312" y="1403362"/>
                </a:lnTo>
                <a:lnTo>
                  <a:pt x="2327563" y="1364658"/>
                </a:lnTo>
                <a:lnTo>
                  <a:pt x="2360814" y="1325398"/>
                </a:lnTo>
                <a:lnTo>
                  <a:pt x="2394065" y="1285580"/>
                </a:lnTo>
                <a:lnTo>
                  <a:pt x="2427316" y="1245205"/>
                </a:lnTo>
                <a:lnTo>
                  <a:pt x="2460567" y="1204274"/>
                </a:lnTo>
                <a:lnTo>
                  <a:pt x="2493818" y="1162786"/>
                </a:lnTo>
                <a:lnTo>
                  <a:pt x="2527069" y="1120741"/>
                </a:lnTo>
                <a:lnTo>
                  <a:pt x="2560320" y="1078139"/>
                </a:lnTo>
                <a:lnTo>
                  <a:pt x="2593570" y="1034980"/>
                </a:lnTo>
                <a:lnTo>
                  <a:pt x="2626821" y="991264"/>
                </a:lnTo>
                <a:lnTo>
                  <a:pt x="2660072" y="946991"/>
                </a:lnTo>
                <a:lnTo>
                  <a:pt x="2693323" y="902161"/>
                </a:lnTo>
                <a:lnTo>
                  <a:pt x="2726574" y="856775"/>
                </a:lnTo>
                <a:lnTo>
                  <a:pt x="2759825" y="810831"/>
                </a:lnTo>
                <a:lnTo>
                  <a:pt x="2793076" y="764331"/>
                </a:lnTo>
                <a:lnTo>
                  <a:pt x="2826327" y="717274"/>
                </a:lnTo>
                <a:lnTo>
                  <a:pt x="2859578" y="669660"/>
                </a:lnTo>
                <a:lnTo>
                  <a:pt x="2892829" y="621489"/>
                </a:lnTo>
                <a:lnTo>
                  <a:pt x="2926080" y="572761"/>
                </a:lnTo>
                <a:lnTo>
                  <a:pt x="2959330" y="523476"/>
                </a:lnTo>
                <a:lnTo>
                  <a:pt x="2992581" y="473635"/>
                </a:lnTo>
                <a:lnTo>
                  <a:pt x="3025832" y="423236"/>
                </a:lnTo>
                <a:lnTo>
                  <a:pt x="3059083" y="372281"/>
                </a:lnTo>
                <a:lnTo>
                  <a:pt x="3092334" y="320768"/>
                </a:lnTo>
                <a:lnTo>
                  <a:pt x="3125585" y="268699"/>
                </a:lnTo>
                <a:lnTo>
                  <a:pt x="3158836" y="216073"/>
                </a:lnTo>
                <a:lnTo>
                  <a:pt x="3192087" y="162890"/>
                </a:lnTo>
                <a:lnTo>
                  <a:pt x="3225338" y="109150"/>
                </a:lnTo>
                <a:lnTo>
                  <a:pt x="3258589" y="54853"/>
                </a:lnTo>
                <a:lnTo>
                  <a:pt x="3291840" y="0"/>
                </a:lnTo>
              </a:path>
            </a:pathLst>
          </a:custGeom>
          <a:noFill/>
          <a:ln w="25400">
            <a:solidFill>
              <a:srgbClr val="F2B88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A-E08 text 59" descr="sci-ppt:o059"/>
          <p:cNvSpPr txBox="1"/>
          <p:nvPr/>
        </p:nvSpPr>
        <p:spPr>
          <a:xfrm>
            <a:off x="5416905" y="1540764"/>
            <a:ext cx="8229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exact</a:t>
            </a:r>
          </a:p>
        </p:txBody>
      </p:sp>
      <p:sp>
        <p:nvSpPr>
          <p:cNvPr id="62" name="A-E08 text 60" descr="sci-ppt:o060"/>
          <p:cNvSpPr txBox="1"/>
          <p:nvPr/>
        </p:nvSpPr>
        <p:spPr>
          <a:xfrm>
            <a:off x="5416905" y="1979675"/>
            <a:ext cx="29260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quadratic 8πG_g R_ref δR²</a:t>
            </a:r>
          </a:p>
        </p:txBody>
      </p:sp>
      <p:sp>
        <p:nvSpPr>
          <p:cNvPr id="63" name="A-E08 round_rect 61" descr="sci-ppt:o061"/>
          <p:cNvSpPr/>
          <p:nvPr/>
        </p:nvSpPr>
        <p:spPr>
          <a:xfrm>
            <a:off x="8778240" y="1371600"/>
            <a:ext cx="3063240" cy="34747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A-E08 text 62" descr="sci-ppt:o062"/>
          <p:cNvSpPr txBox="1"/>
          <p:nvPr/>
        </p:nvSpPr>
        <p:spPr>
          <a:xfrm>
            <a:off x="8887967" y="1426464"/>
            <a:ext cx="284378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Work conjugacy</a:t>
            </a:r>
          </a:p>
        </p:txBody>
      </p:sp>
      <p:sp>
        <p:nvSpPr>
          <p:cNvPr id="65" name="A-E08 text 63" descr="sci-ppt:o063"/>
          <p:cNvSpPr txBox="1"/>
          <p:nvPr/>
        </p:nvSpPr>
        <p:spPr>
          <a:xfrm>
            <a:off x="8869680" y="1828800"/>
            <a:ext cx="28803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dW_g/dR = 4πR² pₑₗ</a:t>
            </a:r>
          </a:p>
        </p:txBody>
      </p:sp>
      <p:sp>
        <p:nvSpPr>
          <p:cNvPr id="66" name="A-E08 text 64" descr="sci-ppt:o064"/>
          <p:cNvSpPr txBox="1"/>
          <p:nvPr/>
        </p:nvSpPr>
        <p:spPr>
          <a:xfrm>
            <a:off x="8869680" y="2423160"/>
            <a:ext cx="28803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pₑₗ ≈ 4G_g δR/R_ref</a:t>
            </a:r>
          </a:p>
        </p:txBody>
      </p:sp>
      <p:sp>
        <p:nvSpPr>
          <p:cNvPr id="67" name="A-E08 text 65" descr="sci-ppt:o065"/>
          <p:cNvSpPr txBox="1"/>
          <p:nvPr/>
        </p:nvSpPr>
        <p:spPr>
          <a:xfrm>
            <a:off x="8869680" y="3017520"/>
            <a:ext cx="28803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W_g ≈ 8πG_g R_ref δR²</a:t>
            </a:r>
          </a:p>
        </p:txBody>
      </p:sp>
      <p:sp>
        <p:nvSpPr>
          <p:cNvPr id="68" name="A-E08 text 66" descr="sci-ppt:o066"/>
          <p:cNvSpPr txBox="1"/>
          <p:nvPr/>
        </p:nvSpPr>
        <p:spPr>
          <a:xfrm>
            <a:off x="8869680" y="3657600"/>
            <a:ext cx="28803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Linear pressure, quadratic work.</a:t>
            </a:r>
          </a:p>
        </p:txBody>
      </p:sp>
      <p:sp>
        <p:nvSpPr>
          <p:cNvPr id="69" name="A-E08 text 67" descr="sci-ppt:o067"/>
          <p:cNvSpPr txBox="1"/>
          <p:nvPr/>
        </p:nvSpPr>
        <p:spPr>
          <a:xfrm>
            <a:off x="914400" y="5486400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 dashed small-deformation laws are tangent to the exact curves at δR = 0 and drift away only as the stretch grows.</a:t>
            </a:r>
          </a:p>
        </p:txBody>
      </p:sp>
      <p:sp>
        <p:nvSpPr>
          <p:cNvPr id="70" name="A-E08 text 68" descr="sci-ppt:o068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Work conjugacy and small-deformation limits of Eq. A-E08.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