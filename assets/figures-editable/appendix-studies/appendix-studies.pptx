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809619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A-E01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Rref: reference wall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R: current wall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r₀ → r: material shell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λr = r₀²/r²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λθ = λφ = r/r₀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Network material volume is unchanged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Radial direction points outward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A-E02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Gg: polymer network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Tᵉrr: radial traction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Tᵉθθ: tangential stress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r₀ → r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λr, λθ, F, B, χ, I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Equal χ cancels in the stress difference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Tensile stress is positive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A-E03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R: cavity surface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pb: cavity pressure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2σ/R: interface jump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p∞: far field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pel: integrated network resistance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r, r₀, Tᵉrr, Tᵉθθ, Gg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Integrate from the wall to the far field</a:t>
            </a:r>
          </a:p>
        </p:txBody>
      </p:sp>
      <p:sp>
        <p:nvSpPr>
          <p:cNvPr id="32" name="text 30" descr="sci-ppt:obj-030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Dynamic inertia is introduced later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A-E04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qwall = Rref/R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q → 1 far away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r₀/r = q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R, Rref, r, r₀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dr/r ↔ q²dq/(1−q³)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Mapped limits retain the wall and infinity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Factorization removes the apparent endpoint singularity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A-E05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pel(R): inward resistance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Gg: network modulus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Rref/R: wall stretch inverse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q: stress-integral coordinate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Integrate 1 and q³ term by term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Constitutive result for an intact infinite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A-E06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Rref: zero resistance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 increasing → pel increasing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large R → 5Gg/2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dpel/dR &gt; 0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Expansion requires positive additional pressure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Pressure plateau does not cap stored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A-E07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941832" y="932688"/>
            <a:ext cx="1408176" cy="1408176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380744" y="1371600"/>
            <a:ext cx="530352" cy="530352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645920" y="1636776"/>
            <a:ext cx="704088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2011680" y="1252728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005840" y="2459736"/>
            <a:ext cx="21945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 → R</a:t>
            </a:r>
          </a:p>
        </p:txBody>
      </p:sp>
      <p:sp>
        <p:nvSpPr>
          <p:cNvPr id="8" name="text 6" descr="sci-ppt:obj-006"/>
          <p:cNvSpPr txBox="1"/>
          <p:nvPr/>
        </p:nvSpPr>
        <p:spPr>
          <a:xfrm>
            <a:off x="749808" y="649224"/>
            <a:ext cx="35661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Cavity pressure work: pb dV</a:t>
            </a:r>
          </a:p>
        </p:txBody>
      </p:sp>
      <p:sp>
        <p:nvSpPr>
          <p:cNvPr id="9" name="rect 7" descr="sci-ppt:obj-007"/>
          <p:cNvSpPr/>
          <p:nvPr/>
        </p:nvSpPr>
        <p:spPr>
          <a:xfrm>
            <a:off x="3986784" y="1143000"/>
            <a:ext cx="3749039" cy="112471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4197096" y="1307592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Elastic storage: Wg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4197096" y="1700784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Viscous loss: Ḋg ≥ 0</a:t>
            </a:r>
          </a:p>
        </p:txBody>
      </p:sp>
      <p:cxnSp>
        <p:nvCxnSpPr>
          <p:cNvPr id="12" name="arrow 10" descr="sci-ppt:obj-010"/>
          <p:cNvCxnSpPr/>
          <p:nvPr/>
        </p:nvCxnSpPr>
        <p:spPr>
          <a:xfrm>
            <a:off x="2496312" y="1645920"/>
            <a:ext cx="1444751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text 11" descr="sci-ppt:obj-011"/>
          <p:cNvSpPr txBox="1"/>
          <p:nvPr/>
        </p:nvSpPr>
        <p:spPr>
          <a:xfrm>
            <a:off x="3986784" y="2432304"/>
            <a:ext cx="4114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 ; intact network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749808" y="2871216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4" b="0" i="0">
                <a:solidFill>
                  <a:srgbClr val="E7F0F3"/>
                </a:solidFill>
                <a:latin typeface="Arial"/>
              </a:rPr>
              <a:t>Jet energy requires a separate load path and budget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Rref → R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pel(ξ): cavity work pressure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4πξ²dξ: volume increment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Wg: network energy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Gg, π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Use pressure times displaced volume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Elastic work can return during recoil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A-E08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δR = R−Rref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small δR: pel ∝ δR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Wg ∝ δR²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4πR²pel = dWg/dR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Gg, O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Zero reference work and zero initial slope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Elastic energy is nonnegative for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A-E09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Ṙ: wall material speed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ur = R²Ṙ/r²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ηg: viscous network/medium contribution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Drr, Dθθ, Dφφ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T, Tᵉ, r, R, t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Dashpot stress follows the velocity gradient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Use one effective viscosity for each represented resistance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A-E10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R, Ṙ, R̈: wall motion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ar: material acceleration at r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ρg: exterior inertia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Trr, Tθθ: total stresses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4ηgṘ/R: signed resistance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ur, t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Both Eulerian and convective acceleration are retained</a:t>
            </a:r>
          </a:p>
        </p:txBody>
      </p:sp>
      <p:sp>
        <p:nvSpPr>
          <p:cNvPr id="32" name="text 30" descr="sci-ppt:obj-030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The infinite exterior supplies effective inertia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A-E11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pb: inner driving pressure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p∞: exterior pressure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2σ/R: capillary resistance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pel(R): network resistance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−4ηgṘ/R: viscous term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ρg, R, Ṙ, R̈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Spherical motion has no directional jet</a:t>
            </a:r>
          </a:p>
        </p:txBody>
      </p:sp>
      <p:sp>
        <p:nvSpPr>
          <p:cNvPr id="32" name="text 30" descr="sci-ppt:obj-030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A liquid pocket requires a separate layered problem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A-E12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941832" y="932688"/>
            <a:ext cx="1408176" cy="1408176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380744" y="1371600"/>
            <a:ext cx="530352" cy="530352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645920" y="1636776"/>
            <a:ext cx="704088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2011680" y="1252728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005840" y="2459736"/>
            <a:ext cx="21945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 → R</a:t>
            </a:r>
          </a:p>
        </p:txBody>
      </p:sp>
      <p:sp>
        <p:nvSpPr>
          <p:cNvPr id="8" name="text 6" descr="sci-ppt:obj-006"/>
          <p:cNvSpPr txBox="1"/>
          <p:nvPr/>
        </p:nvSpPr>
        <p:spPr>
          <a:xfrm>
            <a:off x="749808" y="649224"/>
            <a:ext cx="35661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Cavity pressure work: pb dV</a:t>
            </a:r>
          </a:p>
        </p:txBody>
      </p:sp>
      <p:sp>
        <p:nvSpPr>
          <p:cNvPr id="9" name="rect 7" descr="sci-ppt:obj-007"/>
          <p:cNvSpPr/>
          <p:nvPr/>
        </p:nvSpPr>
        <p:spPr>
          <a:xfrm>
            <a:off x="3986784" y="1143000"/>
            <a:ext cx="3749039" cy="112471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4197096" y="1307592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Elastic storage: Wg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4197096" y="1700784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Viscous loss: Ḋg ≥ 0</a:t>
            </a:r>
          </a:p>
        </p:txBody>
      </p:sp>
      <p:cxnSp>
        <p:nvCxnSpPr>
          <p:cNvPr id="12" name="arrow 10" descr="sci-ppt:obj-010"/>
          <p:cNvCxnSpPr/>
          <p:nvPr/>
        </p:nvCxnSpPr>
        <p:spPr>
          <a:xfrm>
            <a:off x="2496312" y="1645920"/>
            <a:ext cx="1444751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text 11" descr="sci-ppt:obj-011"/>
          <p:cNvSpPr txBox="1"/>
          <p:nvPr/>
        </p:nvSpPr>
        <p:spPr>
          <a:xfrm>
            <a:off x="3986784" y="2432304"/>
            <a:ext cx="4114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 ; intact network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749808" y="2871216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4" b="0" i="0">
                <a:solidFill>
                  <a:srgbClr val="E7F0F3"/>
                </a:solidFill>
                <a:latin typeface="Arial"/>
              </a:rPr>
              <a:t>Jet energy requires a separate load path and budget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(pb−p∞)V̇: pressure work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Kg: moving exterior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Wg: network storage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Eσ: cavity surface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Pdis ≥ 0: irreversible loss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R, Ṙ, ρg, ηg, σ, t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Network work can return; dashpot loss cannot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Volume rate fixes work signs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A-E13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Gg = 20 kPa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Rref = 5 µm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 = 30 µm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pel = 43.3256 kPa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Wg = 4.51604 nJ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Sixfold wall stretch: intactness is unverified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Values are not PFC formulation measurements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A-E14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941832" y="932688"/>
            <a:ext cx="1408176" cy="1408176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380744" y="1371600"/>
            <a:ext cx="530352" cy="530352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645920" y="1636776"/>
            <a:ext cx="704088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2011680" y="1252728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005840" y="2459736"/>
            <a:ext cx="21945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 → R</a:t>
            </a:r>
          </a:p>
        </p:txBody>
      </p:sp>
      <p:sp>
        <p:nvSpPr>
          <p:cNvPr id="8" name="text 6" descr="sci-ppt:obj-006"/>
          <p:cNvSpPr txBox="1"/>
          <p:nvPr/>
        </p:nvSpPr>
        <p:spPr>
          <a:xfrm>
            <a:off x="749808" y="649224"/>
            <a:ext cx="35661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Cavity pressure work: pb dV</a:t>
            </a:r>
          </a:p>
        </p:txBody>
      </p:sp>
      <p:sp>
        <p:nvSpPr>
          <p:cNvPr id="9" name="rect 7" descr="sci-ppt:obj-007"/>
          <p:cNvSpPr/>
          <p:nvPr/>
        </p:nvSpPr>
        <p:spPr>
          <a:xfrm>
            <a:off x="3986784" y="1143000"/>
            <a:ext cx="3749039" cy="112471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4197096" y="1307592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Elastic storage: Wg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4197096" y="1700784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Viscous loss: Ḋg ≥ 0</a:t>
            </a:r>
          </a:p>
        </p:txBody>
      </p:sp>
      <p:cxnSp>
        <p:nvCxnSpPr>
          <p:cNvPr id="12" name="arrow 10" descr="sci-ppt:obj-010"/>
          <p:cNvCxnSpPr/>
          <p:nvPr/>
        </p:nvCxnSpPr>
        <p:spPr>
          <a:xfrm>
            <a:off x="2496312" y="1645920"/>
            <a:ext cx="1444751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text 11" descr="sci-ppt:obj-011"/>
          <p:cNvSpPr txBox="1"/>
          <p:nvPr/>
        </p:nvSpPr>
        <p:spPr>
          <a:xfrm>
            <a:off x="3986784" y="2432304"/>
            <a:ext cx="4114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 ; intact network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749808" y="2871216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4" b="0" i="0">
                <a:solidFill>
                  <a:srgbClr val="E7F0F3"/>
                </a:solidFill>
                <a:latin typeface="Arial"/>
              </a:rPr>
              <a:t>Jet energy requires a separate load path and budget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Δpw = 100 kPa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ΔV: same cavity expansion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W100 = 11.2574 nJ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Wg = 4.51604 nJ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residual = 6.74133 nJ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R, Rref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Compare energy at the same displaced volume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Residual is not automatically an emitted jet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A-E15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Ṙ = −10 m/s: inward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 = 30 µm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ηg = 0.010 Pa s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pvisc,RHS = +13.3333 kPa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Pdis = +1.50796 mW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Viscosity opposes collapse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Dissipation is positive for either speed 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A-E16 · Physical variable map</a:t>
            </a:r>
          </a:p>
        </p:txBody>
      </p:sp>
      <p:sp>
        <p:nvSpPr>
          <p:cNvPr id="3" name="text 1" descr="sci-ppt:obj-001"/>
          <p:cNvSpPr txBox="1"/>
          <p:nvPr/>
        </p:nvSpPr>
        <p:spPr>
          <a:xfrm>
            <a:off x="905256" y="612648"/>
            <a:ext cx="749807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Response times and dimensionless comparisons</a:t>
            </a:r>
          </a:p>
        </p:txBody>
      </p:sp>
      <p:sp>
        <p:nvSpPr>
          <p:cNvPr id="4" name="rect 2" descr="sci-ppt:obj-002"/>
          <p:cNvSpPr/>
          <p:nvPr/>
        </p:nvSpPr>
        <p:spPr>
          <a:xfrm>
            <a:off x="996696" y="1069848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3" descr="sci-ppt:obj-003"/>
          <p:cNvSpPr txBox="1"/>
          <p:nvPr/>
        </p:nvSpPr>
        <p:spPr>
          <a:xfrm>
            <a:off x="1179576" y="1106424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τe: transient event duration</a:t>
            </a:r>
          </a:p>
        </p:txBody>
      </p:sp>
      <p:sp>
        <p:nvSpPr>
          <p:cNvPr id="6" name="rect 4" descr="sci-ppt:obj-004"/>
          <p:cNvSpPr/>
          <p:nvPr/>
        </p:nvSpPr>
        <p:spPr>
          <a:xfrm>
            <a:off x="996696" y="1645920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179576" y="1682496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τrel: material stress memory</a:t>
            </a:r>
          </a:p>
        </p:txBody>
      </p:sp>
      <p:sp>
        <p:nvSpPr>
          <p:cNvPr id="8" name="rect 6" descr="sci-ppt:obj-006"/>
          <p:cNvSpPr/>
          <p:nvPr/>
        </p:nvSpPr>
        <p:spPr>
          <a:xfrm>
            <a:off x="996696" y="2221992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7" descr="sci-ppt:obj-007"/>
          <p:cNvSpPr txBox="1"/>
          <p:nvPr/>
        </p:nvSpPr>
        <p:spPr>
          <a:xfrm>
            <a:off x="1179576" y="2258568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 = τrel / τe</a:t>
            </a:r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1005840" y="2862072"/>
            <a:ext cx="7680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Equal boxes list definitions; lengths do not encode time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2" name="text 10" descr="sci-ppt:obj-010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τe: cavity/jet duration</a:t>
            </a:r>
          </a:p>
        </p:txBody>
      </p:sp>
      <p:sp>
        <p:nvSpPr>
          <p:cNvPr id="13" name="text 11" descr="sci-ppt:obj-011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τrel: stress memory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De = τrel/τe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Memory persistence differs from stiffness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Use the actual transient event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A-E17 · Physical variable map</a:t>
            </a:r>
          </a:p>
        </p:txBody>
      </p:sp>
      <p:sp>
        <p:nvSpPr>
          <p:cNvPr id="3" name="text 1" descr="sci-ppt:obj-001"/>
          <p:cNvSpPr txBox="1"/>
          <p:nvPr/>
        </p:nvSpPr>
        <p:spPr>
          <a:xfrm>
            <a:off x="905256" y="612648"/>
            <a:ext cx="749807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Response times and dimensionless comparisons</a:t>
            </a:r>
          </a:p>
        </p:txBody>
      </p:sp>
      <p:sp>
        <p:nvSpPr>
          <p:cNvPr id="4" name="rect 2" descr="sci-ppt:obj-002"/>
          <p:cNvSpPr/>
          <p:nvPr/>
        </p:nvSpPr>
        <p:spPr>
          <a:xfrm>
            <a:off x="996696" y="1069848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3" descr="sci-ppt:obj-003"/>
          <p:cNvSpPr txBox="1"/>
          <p:nvPr/>
        </p:nvSpPr>
        <p:spPr>
          <a:xfrm>
            <a:off x="1179576" y="1106424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Unloaded Kelvin–Voigt shear: Tsh = 0</a:t>
            </a:r>
          </a:p>
        </p:txBody>
      </p:sp>
      <p:sp>
        <p:nvSpPr>
          <p:cNvPr id="6" name="rect 4" descr="sci-ppt:obj-004"/>
          <p:cNvSpPr/>
          <p:nvPr/>
        </p:nvSpPr>
        <p:spPr>
          <a:xfrm>
            <a:off x="996696" y="1645920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179576" y="1682496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Strain recovers after unloading</a:t>
            </a:r>
          </a:p>
        </p:txBody>
      </p:sp>
      <p:sp>
        <p:nvSpPr>
          <p:cNvPr id="8" name="rect 6" descr="sci-ppt:obj-006"/>
          <p:cNvSpPr/>
          <p:nvPr/>
        </p:nvSpPr>
        <p:spPr>
          <a:xfrm>
            <a:off x="996696" y="2221992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7" descr="sci-ppt:obj-007"/>
          <p:cNvSpPr txBox="1"/>
          <p:nvPr/>
        </p:nvSpPr>
        <p:spPr>
          <a:xfrm>
            <a:off x="1179576" y="2258568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τKV = ηg / Gg</a:t>
            </a:r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1005840" y="2862072"/>
            <a:ext cx="7680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Equal boxes list definitions; lengths do not encode time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2" name="text 10" descr="sci-ppt:obj-010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Tsh = 0 after unloading</a:t>
            </a:r>
          </a:p>
        </p:txBody>
      </p:sp>
      <p:sp>
        <p:nvSpPr>
          <p:cNvPr id="13" name="text 11" descr="sci-ppt:obj-011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γ₀ → γ(t)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Gg, ηg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τKV = ηg/Gg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γ̇, t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Zero-stress strain recovery is not held-strain stress relaxation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No periodic forcing is assumed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A-E18 · Physical variable map</a:t>
            </a:r>
          </a:p>
        </p:txBody>
      </p:sp>
      <p:sp>
        <p:nvSpPr>
          <p:cNvPr id="3" name="text 1" descr="sci-ppt:obj-001"/>
          <p:cNvSpPr txBox="1"/>
          <p:nvPr/>
        </p:nvSpPr>
        <p:spPr>
          <a:xfrm>
            <a:off x="886968" y="612648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Comparison of two declared controls</a:t>
            </a:r>
          </a:p>
        </p:txBody>
      </p:sp>
      <p:sp>
        <p:nvSpPr>
          <p:cNvPr id="4" name="rect 2" descr="sci-ppt:obj-002"/>
          <p:cNvSpPr/>
          <p:nvPr/>
        </p:nvSpPr>
        <p:spPr>
          <a:xfrm>
            <a:off x="996696" y="1088136"/>
            <a:ext cx="5577840" cy="365760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3" descr="sci-ppt:obj-003"/>
          <p:cNvSpPr txBox="1"/>
          <p:nvPr/>
        </p:nvSpPr>
        <p:spPr>
          <a:xfrm>
            <a:off x="1188720" y="1143000"/>
            <a:ext cx="51206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ts = 6.70820 µs — shear transit</a:t>
            </a:r>
          </a:p>
        </p:txBody>
      </p:sp>
      <p:sp>
        <p:nvSpPr>
          <p:cNvPr id="6" name="rect 4" descr="sci-ppt:obj-004"/>
          <p:cNvSpPr/>
          <p:nvPr/>
        </p:nvSpPr>
        <p:spPr>
          <a:xfrm>
            <a:off x="996696" y="1892807"/>
            <a:ext cx="2286000" cy="365760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188720" y="1947672"/>
            <a:ext cx="21031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tc,liq = 2.74404 µs</a:t>
            </a:r>
          </a:p>
        </p:txBody>
      </p:sp>
      <p:sp>
        <p:nvSpPr>
          <p:cNvPr id="8" name="text 6" descr="sci-ppt:obj-006"/>
          <p:cNvSpPr txBox="1"/>
          <p:nvPr/>
        </p:nvSpPr>
        <p:spPr>
          <a:xfrm>
            <a:off x="3566160" y="1965960"/>
            <a:ext cx="374903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4" b="0" i="0">
                <a:solidFill>
                  <a:srgbClr val="E7F0F3"/>
                </a:solidFill>
                <a:latin typeface="Arial"/>
              </a:rPr>
              <a:t>Ideal liquid collapse</a:t>
            </a:r>
          </a:p>
        </p:txBody>
      </p:sp>
      <p:sp>
        <p:nvSpPr>
          <p:cNvPr id="9" name="text 7" descr="sci-ppt:obj-007"/>
          <p:cNvSpPr txBox="1"/>
          <p:nvPr/>
        </p:nvSpPr>
        <p:spPr>
          <a:xfrm>
            <a:off x="1005840" y="2670048"/>
            <a:ext cx="749807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ts / tc,liq = 2.44464 ; Lg = Rmax = 30 µm</a:t>
            </a:r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Lg = Rmax = 30 µm</a:t>
            </a:r>
          </a:p>
        </p:txBody>
      </p:sp>
      <p:sp>
        <p:nvSpPr>
          <p:cNvPr id="12" name="text 10" descr="sci-ppt:obj-010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Gg = 20 kPa</a:t>
            </a:r>
          </a:p>
        </p:txBody>
      </p:sp>
      <p:sp>
        <p:nvSpPr>
          <p:cNvPr id="13" name="text 11" descr="sci-ppt:obj-011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ρg = ρl = 1000 kg/m³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cs = 4.47214 m/s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ts = 6.70820 µs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tc,liq = 2.74404 µs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Δpc = 100 kPa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Compare two distinct controls, not an actual gel-collapse prediction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365760" y="549554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Support deformation need not equilibrate during the event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A-E19 · Physical variable map</a:t>
            </a:r>
          </a:p>
        </p:txBody>
      </p:sp>
      <p:sp>
        <p:nvSpPr>
          <p:cNvPr id="3" name="text 1" descr="sci-ppt:obj-001"/>
          <p:cNvSpPr txBox="1"/>
          <p:nvPr/>
        </p:nvSpPr>
        <p:spPr>
          <a:xfrm>
            <a:off x="905256" y="612648"/>
            <a:ext cx="749807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Response times and dimensionless comparisons</a:t>
            </a:r>
          </a:p>
        </p:txBody>
      </p:sp>
      <p:sp>
        <p:nvSpPr>
          <p:cNvPr id="4" name="rect 2" descr="sci-ppt:obj-002"/>
          <p:cNvSpPr/>
          <p:nvPr/>
        </p:nvSpPr>
        <p:spPr>
          <a:xfrm>
            <a:off x="996696" y="1069848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3" descr="sci-ppt:obj-003"/>
          <p:cNvSpPr txBox="1"/>
          <p:nvPr/>
        </p:nvSpPr>
        <p:spPr>
          <a:xfrm>
            <a:off x="1179576" y="1106424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cL: longitudinal wave speed</a:t>
            </a:r>
          </a:p>
        </p:txBody>
      </p:sp>
      <p:sp>
        <p:nvSpPr>
          <p:cNvPr id="6" name="rect 4" descr="sci-ppt:obj-004"/>
          <p:cNvSpPr/>
          <p:nvPr/>
        </p:nvSpPr>
        <p:spPr>
          <a:xfrm>
            <a:off x="996696" y="1645920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179576" y="1682496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tL = Lg / cL</a:t>
            </a:r>
          </a:p>
        </p:txBody>
      </p:sp>
      <p:sp>
        <p:nvSpPr>
          <p:cNvPr id="8" name="rect 6" descr="sci-ppt:obj-006"/>
          <p:cNvSpPr/>
          <p:nvPr/>
        </p:nvSpPr>
        <p:spPr>
          <a:xfrm>
            <a:off x="996696" y="2221992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7" descr="sci-ppt:obj-007"/>
          <p:cNvSpPr txBox="1"/>
          <p:nvPr/>
        </p:nvSpPr>
        <p:spPr>
          <a:xfrm>
            <a:off x="1179576" y="2258568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Mw = |Ṙ| / cL</a:t>
            </a:r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1005840" y="2862072"/>
            <a:ext cx="7680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Equal boxes list definitions; lengths do not encode time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2" name="text 10" descr="sci-ppt:obj-010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cL: bulk and shear response</a:t>
            </a:r>
          </a:p>
        </p:txBody>
      </p:sp>
      <p:sp>
        <p:nvSpPr>
          <p:cNvPr id="13" name="text 11" descr="sci-ppt:obj-011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Kgᵇᵘˡᵏ, Gg, ρg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Lg/cL = tL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|Ṙ|/cL = Mw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Small shear stiffness does not establish small longitudinal impedance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Do not compute shock load from the incompressible control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A-E20 · Physical variable map</a:t>
            </a:r>
          </a:p>
        </p:txBody>
      </p:sp>
      <p:cxnSp>
        <p:nvCxnSpPr>
          <p:cNvPr id="3" name="line 1" descr="sci-ppt:obj-001"/>
          <p:cNvCxnSpPr/>
          <p:nvPr/>
        </p:nvCxnSpPr>
        <p:spPr>
          <a:xfrm>
            <a:off x="96012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4" name="line 2" descr="sci-ppt:obj-002"/>
          <p:cNvCxnSpPr/>
          <p:nvPr/>
        </p:nvCxnSpPr>
        <p:spPr>
          <a:xfrm>
            <a:off x="137160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5" name="line 3" descr="sci-ppt:obj-003"/>
          <p:cNvCxnSpPr/>
          <p:nvPr/>
        </p:nvCxnSpPr>
        <p:spPr>
          <a:xfrm>
            <a:off x="178308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6" name="line 4" descr="sci-ppt:obj-004"/>
          <p:cNvCxnSpPr/>
          <p:nvPr/>
        </p:nvCxnSpPr>
        <p:spPr>
          <a:xfrm>
            <a:off x="219456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7" name="line 5" descr="sci-ppt:obj-005"/>
          <p:cNvCxnSpPr/>
          <p:nvPr/>
        </p:nvCxnSpPr>
        <p:spPr>
          <a:xfrm>
            <a:off x="260604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8" name="line 6" descr="sci-ppt:obj-006"/>
          <p:cNvCxnSpPr/>
          <p:nvPr/>
        </p:nvCxnSpPr>
        <p:spPr>
          <a:xfrm>
            <a:off x="301752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9" name="line 7" descr="sci-ppt:obj-007"/>
          <p:cNvCxnSpPr/>
          <p:nvPr/>
        </p:nvCxnSpPr>
        <p:spPr>
          <a:xfrm>
            <a:off x="342900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10" name="line 8" descr="sci-ppt:obj-008"/>
          <p:cNvCxnSpPr/>
          <p:nvPr/>
        </p:nvCxnSpPr>
        <p:spPr>
          <a:xfrm>
            <a:off x="384048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11" name="line 9" descr="sci-ppt:obj-009"/>
          <p:cNvCxnSpPr/>
          <p:nvPr/>
        </p:nvCxnSpPr>
        <p:spPr>
          <a:xfrm>
            <a:off x="425196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12" name="line 10" descr="sci-ppt:obj-010"/>
          <p:cNvCxnSpPr/>
          <p:nvPr/>
        </p:nvCxnSpPr>
        <p:spPr>
          <a:xfrm>
            <a:off x="466344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13" name="line 11" descr="sci-ppt:obj-011"/>
          <p:cNvCxnSpPr/>
          <p:nvPr/>
        </p:nvCxnSpPr>
        <p:spPr>
          <a:xfrm>
            <a:off x="507492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14" name="line 12" descr="sci-ppt:obj-012"/>
          <p:cNvCxnSpPr/>
          <p:nvPr/>
        </p:nvCxnSpPr>
        <p:spPr>
          <a:xfrm>
            <a:off x="5486400" y="1024128"/>
            <a:ext cx="0" cy="1408176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15" name="line 13" descr="sci-ppt:obj-013"/>
          <p:cNvCxnSpPr/>
          <p:nvPr/>
        </p:nvCxnSpPr>
        <p:spPr>
          <a:xfrm>
            <a:off x="877824" y="1060704"/>
            <a:ext cx="4809744" cy="0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16" name="line 14" descr="sci-ppt:obj-014"/>
          <p:cNvCxnSpPr/>
          <p:nvPr/>
        </p:nvCxnSpPr>
        <p:spPr>
          <a:xfrm>
            <a:off x="877824" y="1408176"/>
            <a:ext cx="4809744" cy="0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17" name="line 15" descr="sci-ppt:obj-015"/>
          <p:cNvCxnSpPr/>
          <p:nvPr/>
        </p:nvCxnSpPr>
        <p:spPr>
          <a:xfrm>
            <a:off x="877824" y="1755648"/>
            <a:ext cx="4809744" cy="0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18" name="line 16" descr="sci-ppt:obj-016"/>
          <p:cNvCxnSpPr/>
          <p:nvPr/>
        </p:nvCxnSpPr>
        <p:spPr>
          <a:xfrm>
            <a:off x="877824" y="2103120"/>
            <a:ext cx="4809744" cy="0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19" name="line 17" descr="sci-ppt:obj-017"/>
          <p:cNvCxnSpPr/>
          <p:nvPr/>
        </p:nvCxnSpPr>
        <p:spPr>
          <a:xfrm>
            <a:off x="877824" y="2450592"/>
            <a:ext cx="4809744" cy="0"/>
          </a:xfrm>
          <a:prstGeom prst="line">
            <a:avLst/>
          </a:prstGeom>
          <a:ln w="21590">
            <a:solidFill>
              <a:srgbClr val="B4C7D2"/>
            </a:solidFill>
          </a:ln>
          <a:effectLst/>
        </p:spPr>
      </p:cxnSp>
      <p:cxnSp>
        <p:nvCxnSpPr>
          <p:cNvPr id="20" name="arrow 18" descr="sci-ppt:obj-018"/>
          <p:cNvCxnSpPr/>
          <p:nvPr/>
        </p:nvCxnSpPr>
        <p:spPr>
          <a:xfrm>
            <a:off x="1078992" y="1280160"/>
            <a:ext cx="5413248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21" name="arrow 19" descr="sci-ppt:obj-019"/>
          <p:cNvCxnSpPr/>
          <p:nvPr/>
        </p:nvCxnSpPr>
        <p:spPr>
          <a:xfrm>
            <a:off x="1078992" y="1764792"/>
            <a:ext cx="5413248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22" name="arrow 20" descr="sci-ppt:obj-020"/>
          <p:cNvCxnSpPr/>
          <p:nvPr/>
        </p:nvCxnSpPr>
        <p:spPr>
          <a:xfrm>
            <a:off x="1078992" y="2231136"/>
            <a:ext cx="5413248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23" name="text 21" descr="sci-ppt:obj-021"/>
          <p:cNvSpPr txBox="1"/>
          <p:nvPr/>
        </p:nvSpPr>
        <p:spPr>
          <a:xfrm>
            <a:off x="960120" y="612648"/>
            <a:ext cx="74066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Solvent flow relative to an intact network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6720840" y="1453896"/>
            <a:ext cx="1554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jl →</a:t>
            </a:r>
          </a:p>
        </p:txBody>
      </p:sp>
      <p:cxnSp>
        <p:nvCxnSpPr>
          <p:cNvPr id="25" name="arrow 23" descr="sci-ppt:obj-023"/>
          <p:cNvCxnSpPr/>
          <p:nvPr/>
        </p:nvCxnSpPr>
        <p:spPr>
          <a:xfrm flipH="1">
            <a:off x="1965960" y="2651760"/>
            <a:ext cx="269748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26" name="text 24" descr="sci-ppt:obj-024"/>
          <p:cNvSpPr txBox="1"/>
          <p:nvPr/>
        </p:nvSpPr>
        <p:spPr>
          <a:xfrm>
            <a:off x="5120640" y="2532888"/>
            <a:ext cx="2926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∇ppore ←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1426464" y="2862072"/>
            <a:ext cx="67665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Lg , kperm , μl , Md ; tporo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ppore: solvent pressure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jl: solvent relative to network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kperm: network permeability</a:t>
            </a:r>
          </a:p>
        </p:txBody>
      </p:sp>
      <p:sp>
        <p:nvSpPr>
          <p:cNvPr id="32" name="text 30" descr="sci-ppt:obj-030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μl: solvent resistance</a:t>
            </a:r>
          </a:p>
        </p:txBody>
      </p:sp>
      <p:sp>
        <p:nvSpPr>
          <p:cNvPr id="33" name="text 31" descr="sci-ppt:obj-031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Md: storage modulus</a:t>
            </a:r>
          </a:p>
        </p:txBody>
      </p:sp>
      <p:sp>
        <p:nvSpPr>
          <p:cNvPr id="34" name="text 32" descr="sci-ppt:obj-032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Lg, tporo, Dporo, t</a:t>
            </a:r>
          </a:p>
        </p:txBody>
      </p:sp>
      <p:sp>
        <p:nvSpPr>
          <p:cNvPr id="35" name="text 33" descr="sci-ppt:obj-033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Drainage redistributes solvent over Lg</a:t>
            </a:r>
          </a:p>
        </p:txBody>
      </p:sp>
      <p:sp>
        <p:nvSpPr>
          <p:cNvPr id="36" name="text 34" descr="sci-ppt:obj-034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Small perturbation and constant-coefficient assumptions are separate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A-E21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pb → radial cavity motion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R, Ṙ, R̈, ρg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p∞, 2σ/R, pel, ηg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Radial growth alone has no preferred jet direction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An outlet or a deforming solid supplies another problem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A-E22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941832" y="932688"/>
            <a:ext cx="1408176" cy="1408176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380744" y="1371600"/>
            <a:ext cx="530352" cy="530352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645920" y="1636776"/>
            <a:ext cx="704088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2011680" y="1252728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005840" y="2459736"/>
            <a:ext cx="21945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 → R</a:t>
            </a:r>
          </a:p>
        </p:txBody>
      </p:sp>
      <p:sp>
        <p:nvSpPr>
          <p:cNvPr id="8" name="text 6" descr="sci-ppt:obj-006"/>
          <p:cNvSpPr txBox="1"/>
          <p:nvPr/>
        </p:nvSpPr>
        <p:spPr>
          <a:xfrm>
            <a:off x="749808" y="649224"/>
            <a:ext cx="35661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Cavity pressure work: pb dV</a:t>
            </a:r>
          </a:p>
        </p:txBody>
      </p:sp>
      <p:sp>
        <p:nvSpPr>
          <p:cNvPr id="9" name="rect 7" descr="sci-ppt:obj-007"/>
          <p:cNvSpPr/>
          <p:nvPr/>
        </p:nvSpPr>
        <p:spPr>
          <a:xfrm>
            <a:off x="3986784" y="1143000"/>
            <a:ext cx="3749039" cy="112471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4197096" y="1307592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Elastic storage: Wg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4197096" y="1700784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Viscous loss: Ḋg ≥ 0</a:t>
            </a:r>
          </a:p>
        </p:txBody>
      </p:sp>
      <p:cxnSp>
        <p:nvCxnSpPr>
          <p:cNvPr id="12" name="arrow 10" descr="sci-ppt:obj-010"/>
          <p:cNvCxnSpPr/>
          <p:nvPr/>
        </p:nvCxnSpPr>
        <p:spPr>
          <a:xfrm>
            <a:off x="2496312" y="1645920"/>
            <a:ext cx="1444751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text 11" descr="sci-ppt:obj-011"/>
          <p:cNvSpPr txBox="1"/>
          <p:nvPr/>
        </p:nvSpPr>
        <p:spPr>
          <a:xfrm>
            <a:off x="3986784" y="2432304"/>
            <a:ext cx="4114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 ; intact network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749808" y="2871216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4" b="0" i="0">
                <a:solidFill>
                  <a:srgbClr val="E7F0F3"/>
                </a:solidFill>
                <a:latin typeface="Arial"/>
              </a:rPr>
              <a:t>Jet energy requires a separate load path and budget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Gg, Rref, R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pel → 5Gg/2 at large R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Wg grows with displaced volume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π: sphere geometry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Pressure plateau is not a fracture threshold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Stored work is not automatically lost heat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A-E23 · Physical variable map</a:t>
            </a:r>
          </a:p>
        </p:txBody>
      </p:sp>
      <p:sp>
        <p:nvSpPr>
          <p:cNvPr id="3" name="text 1" descr="sci-ppt:obj-001"/>
          <p:cNvSpPr txBox="1"/>
          <p:nvPr/>
        </p:nvSpPr>
        <p:spPr>
          <a:xfrm>
            <a:off x="905256" y="612648"/>
            <a:ext cx="749807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Response times and dimensionless comparisons</a:t>
            </a:r>
          </a:p>
        </p:txBody>
      </p:sp>
      <p:sp>
        <p:nvSpPr>
          <p:cNvPr id="4" name="rect 2" descr="sci-ppt:obj-002"/>
          <p:cNvSpPr/>
          <p:nvPr/>
        </p:nvSpPr>
        <p:spPr>
          <a:xfrm>
            <a:off x="996696" y="1069848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3" descr="sci-ppt:obj-003"/>
          <p:cNvSpPr txBox="1"/>
          <p:nvPr/>
        </p:nvSpPr>
        <p:spPr>
          <a:xfrm>
            <a:off x="1179576" y="1106424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 = τrel / τe</a:t>
            </a:r>
          </a:p>
        </p:txBody>
      </p:sp>
      <p:sp>
        <p:nvSpPr>
          <p:cNvPr id="6" name="rect 4" descr="sci-ppt:obj-004"/>
          <p:cNvSpPr/>
          <p:nvPr/>
        </p:nvSpPr>
        <p:spPr>
          <a:xfrm>
            <a:off x="996696" y="1645920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179576" y="1682496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ts = Lg √(ρg / Gg)</a:t>
            </a:r>
          </a:p>
        </p:txBody>
      </p:sp>
      <p:sp>
        <p:nvSpPr>
          <p:cNvPr id="8" name="rect 6" descr="sci-ppt:obj-006"/>
          <p:cNvSpPr/>
          <p:nvPr/>
        </p:nvSpPr>
        <p:spPr>
          <a:xfrm>
            <a:off x="996696" y="2221992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7" descr="sci-ppt:obj-007"/>
          <p:cNvSpPr txBox="1"/>
          <p:nvPr/>
        </p:nvSpPr>
        <p:spPr>
          <a:xfrm>
            <a:off x="1179576" y="2258568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tporo ≈ μl Lg² / (kperm Md)</a:t>
            </a:r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1005840" y="2862072"/>
            <a:ext cx="7680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Equal boxes list definitions; lengths do not encode time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2" name="text 10" descr="sci-ppt:obj-010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τrel/τe = De</a:t>
            </a:r>
          </a:p>
        </p:txBody>
      </p:sp>
      <p:sp>
        <p:nvSpPr>
          <p:cNvPr id="13" name="text 11" descr="sci-ppt:obj-011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Lg√(ρg/Gg) = ts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μlLg²/(kpermMd) ≈ tporo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Match material response to the transient event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Do not substitute slow stiffness for every rate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A-E24 · Physical variable map</a:t>
            </a:r>
          </a:p>
        </p:txBody>
      </p:sp>
      <p:sp>
        <p:nvSpPr>
          <p:cNvPr id="3" name="rect 1" descr="sci-ppt:obj-001"/>
          <p:cNvSpPr/>
          <p:nvPr/>
        </p:nvSpPr>
        <p:spPr>
          <a:xfrm>
            <a:off x="978408" y="2103120"/>
            <a:ext cx="6949440" cy="502920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 2" descr="sci-ppt:obj-002"/>
          <p:cNvSpPr/>
          <p:nvPr/>
        </p:nvSpPr>
        <p:spPr>
          <a:xfrm>
            <a:off x="978408" y="1371600"/>
            <a:ext cx="6949440" cy="146304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3" descr="sci-ppt:obj-003"/>
          <p:cNvSpPr txBox="1"/>
          <p:nvPr/>
        </p:nvSpPr>
        <p:spPr>
          <a:xfrm>
            <a:off x="987552" y="7223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Target film: loaded footprint At</a:t>
            </a:r>
          </a:p>
        </p:txBody>
      </p:sp>
      <p:cxnSp>
        <p:nvCxnSpPr>
          <p:cNvPr id="6" name="arrow 4" descr="sci-ppt:obj-004"/>
          <p:cNvCxnSpPr/>
          <p:nvPr/>
        </p:nvCxnSpPr>
        <p:spPr>
          <a:xfrm flipV="1">
            <a:off x="2377440" y="1572768"/>
            <a:ext cx="0" cy="48463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7" name="arrow 5" descr="sci-ppt:obj-005"/>
          <p:cNvCxnSpPr/>
          <p:nvPr/>
        </p:nvCxnSpPr>
        <p:spPr>
          <a:xfrm flipV="1">
            <a:off x="4114800" y="1572768"/>
            <a:ext cx="0" cy="48463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arrow 6" descr="sci-ppt:obj-006"/>
          <p:cNvCxnSpPr/>
          <p:nvPr/>
        </p:nvCxnSpPr>
        <p:spPr>
          <a:xfrm flipV="1">
            <a:off x="5852160" y="1572768"/>
            <a:ext cx="0" cy="48463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text 7" descr="sci-ppt:obj-007"/>
          <p:cNvSpPr txBox="1"/>
          <p:nvPr/>
        </p:nvSpPr>
        <p:spPr>
          <a:xfrm>
            <a:off x="2743200" y="1728216"/>
            <a:ext cx="3931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tload ; t₀ → t₁</a:t>
            </a:r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1097280" y="2688336"/>
            <a:ext cx="2743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Donor / support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4754880" y="2688336"/>
            <a:ext cx="374903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Release area Arel ; Γc</a:t>
            </a:r>
          </a:p>
        </p:txBody>
      </p:sp>
      <p:sp>
        <p:nvSpPr>
          <p:cNvPr id="12" name="text 10" descr="sci-ppt:obj-010"/>
          <p:cNvSpPr txBox="1"/>
          <p:nvPr/>
        </p:nvSpPr>
        <p:spPr>
          <a:xfrm>
            <a:off x="987552" y="3035808"/>
            <a:ext cx="749807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4" b="0" i="0">
                <a:solidFill>
                  <a:srgbClr val="E7F0F3"/>
                </a:solidFill>
                <a:latin typeface="Arial"/>
              </a:rPr>
              <a:t>Impulse: Jtarget     Minimum separation work: Wsep,min</a:t>
            </a:r>
          </a:p>
        </p:txBody>
      </p:sp>
      <p:sp>
        <p:nvSpPr>
          <p:cNvPr id="13" name="text 11" descr="sci-ppt:obj-011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tload: target traction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At: loaded footprint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t₀ → t₁: observation interval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Jtarget: delivered impulse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Arel, Γc: intended release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Wsep,min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Observe the actual direct or PVC-transmitted load path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Release work is necessary, not sufficient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5233784"/>
          </a:xfrm>
          <a:custGeom>
            <a:avLst/>
            <a:gdLst/>
            <a:ahLst/>
            <a:cxnLst/>
            <a:rect l="l" t="t" r="r" b="b"/>
            <a:pathLst>
              <a:path w="12191695" h="5233784">
                <a:moveTo>
                  <a:pt x="0" y="5233784"/>
                </a:moveTo>
                <a:lnTo>
                  <a:pt x="12191695" y="5233784"/>
                </a:lnTo>
                <a:lnTo>
                  <a:pt x="12191695" y="0"/>
                </a:lnTo>
                <a:lnTo>
                  <a:pt x="0" y="0"/>
                </a:lnTo>
                <a:lnTo>
                  <a:pt x="0" y="52337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758812" y="413804"/>
            <a:ext cx="5078936" cy="4111693"/>
          </a:xfrm>
          <a:custGeom>
            <a:avLst/>
            <a:gdLst/>
            <a:ahLst/>
            <a:cxnLst/>
            <a:rect l="l" t="t" r="r" b="b"/>
            <a:pathLst>
              <a:path w="5078936" h="4111693">
                <a:moveTo>
                  <a:pt x="0" y="4111693"/>
                </a:moveTo>
                <a:lnTo>
                  <a:pt x="5078936" y="4111693"/>
                </a:lnTo>
                <a:lnTo>
                  <a:pt x="5078936" y="0"/>
                </a:lnTo>
                <a:lnTo>
                  <a:pt x="0" y="0"/>
                </a:lnTo>
                <a:lnTo>
                  <a:pt x="0" y="41116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989673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989673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6" name="text 5: 0" descr="sci-ppt:obj-0005"/>
          <p:cNvSpPr txBox="1"/>
          <p:nvPr/>
        </p:nvSpPr>
        <p:spPr>
          <a:xfrm>
            <a:off x="903256" y="4605180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7" name="line 6: plot geometry" descr="sci-ppt:obj-0006"/>
          <p:cNvCxnSpPr/>
          <p:nvPr/>
        </p:nvCxnSpPr>
        <p:spPr>
          <a:xfrm flipV="1">
            <a:off x="1670979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" name="line 7: plot geometry" descr="sci-ppt:obj-0007"/>
          <p:cNvCxnSpPr/>
          <p:nvPr/>
        </p:nvCxnSpPr>
        <p:spPr>
          <a:xfrm>
            <a:off x="1670979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9" name="text 8: 5" descr="sci-ppt:obj-0008"/>
          <p:cNvSpPr txBox="1"/>
          <p:nvPr/>
        </p:nvSpPr>
        <p:spPr>
          <a:xfrm>
            <a:off x="1584563" y="4605180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10" name="line 9: plot geometry" descr="sci-ppt:obj-0009"/>
          <p:cNvCxnSpPr/>
          <p:nvPr/>
        </p:nvCxnSpPr>
        <p:spPr>
          <a:xfrm flipV="1">
            <a:off x="2352286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1" name="line 10: plot geometry" descr="sci-ppt:obj-0010"/>
          <p:cNvCxnSpPr/>
          <p:nvPr/>
        </p:nvCxnSpPr>
        <p:spPr>
          <a:xfrm>
            <a:off x="2352286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2" name="text 11: 10" descr="sci-ppt:obj-0011"/>
          <p:cNvSpPr txBox="1"/>
          <p:nvPr/>
        </p:nvSpPr>
        <p:spPr>
          <a:xfrm>
            <a:off x="2206885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13" name="line 12: plot geometry" descr="sci-ppt:obj-0012"/>
          <p:cNvCxnSpPr/>
          <p:nvPr/>
        </p:nvCxnSpPr>
        <p:spPr>
          <a:xfrm flipV="1">
            <a:off x="3033592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4" name="line 13: plot geometry" descr="sci-ppt:obj-0013"/>
          <p:cNvCxnSpPr/>
          <p:nvPr/>
        </p:nvCxnSpPr>
        <p:spPr>
          <a:xfrm>
            <a:off x="3033592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5" name="text 14: 15" descr="sci-ppt:obj-0014"/>
          <p:cNvSpPr txBox="1"/>
          <p:nvPr/>
        </p:nvSpPr>
        <p:spPr>
          <a:xfrm>
            <a:off x="2888192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cxnSp>
        <p:nvCxnSpPr>
          <p:cNvPr id="16" name="line 15: plot geometry" descr="sci-ppt:obj-0015"/>
          <p:cNvCxnSpPr/>
          <p:nvPr/>
        </p:nvCxnSpPr>
        <p:spPr>
          <a:xfrm flipV="1">
            <a:off x="3714899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7" name="line 16: plot geometry" descr="sci-ppt:obj-0016"/>
          <p:cNvCxnSpPr/>
          <p:nvPr/>
        </p:nvCxnSpPr>
        <p:spPr>
          <a:xfrm>
            <a:off x="3714899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8" name="text 17: 20" descr="sci-ppt:obj-0017"/>
          <p:cNvSpPr txBox="1"/>
          <p:nvPr/>
        </p:nvSpPr>
        <p:spPr>
          <a:xfrm>
            <a:off x="3569498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19" name="line 18: plot geometry" descr="sci-ppt:obj-0018"/>
          <p:cNvCxnSpPr/>
          <p:nvPr/>
        </p:nvCxnSpPr>
        <p:spPr>
          <a:xfrm flipV="1">
            <a:off x="4396205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0" name="line 19: plot geometry" descr="sci-ppt:obj-0019"/>
          <p:cNvCxnSpPr/>
          <p:nvPr/>
        </p:nvCxnSpPr>
        <p:spPr>
          <a:xfrm>
            <a:off x="4396205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21" name="text 20: 25" descr="sci-ppt:obj-0020"/>
          <p:cNvSpPr txBox="1"/>
          <p:nvPr/>
        </p:nvSpPr>
        <p:spPr>
          <a:xfrm>
            <a:off x="4250805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cxnSp>
        <p:nvCxnSpPr>
          <p:cNvPr id="22" name="line 21: plot geometry" descr="sci-ppt:obj-0021"/>
          <p:cNvCxnSpPr/>
          <p:nvPr/>
        </p:nvCxnSpPr>
        <p:spPr>
          <a:xfrm flipV="1">
            <a:off x="5077512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3" name="line 22: plot geometry" descr="sci-ppt:obj-0022"/>
          <p:cNvCxnSpPr/>
          <p:nvPr/>
        </p:nvCxnSpPr>
        <p:spPr>
          <a:xfrm>
            <a:off x="5077512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24" name="text 23: 30" descr="sci-ppt:obj-0023"/>
          <p:cNvSpPr txBox="1"/>
          <p:nvPr/>
        </p:nvSpPr>
        <p:spPr>
          <a:xfrm>
            <a:off x="4932112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25" name="line 24: plot geometry" descr="sci-ppt:obj-0024"/>
          <p:cNvCxnSpPr/>
          <p:nvPr/>
        </p:nvCxnSpPr>
        <p:spPr>
          <a:xfrm flipV="1">
            <a:off x="5758818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6" name="line 25: plot geometry" descr="sci-ppt:obj-0025"/>
          <p:cNvCxnSpPr/>
          <p:nvPr/>
        </p:nvCxnSpPr>
        <p:spPr>
          <a:xfrm>
            <a:off x="5758818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27" name="text 26: 35" descr="sci-ppt:obj-0026"/>
          <p:cNvSpPr txBox="1"/>
          <p:nvPr/>
        </p:nvSpPr>
        <p:spPr>
          <a:xfrm>
            <a:off x="5613418" y="4605180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28" name="text 27: Time after initialization (µs)" descr="sci-ppt:obj-0027"/>
          <p:cNvSpPr txBox="1"/>
          <p:nvPr/>
        </p:nvSpPr>
        <p:spPr>
          <a:xfrm>
            <a:off x="1992926" y="4864771"/>
            <a:ext cx="3354941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Time after initialization (µs)</a:t>
            </a:r>
          </a:p>
        </p:txBody>
      </p:sp>
      <p:cxnSp>
        <p:nvCxnSpPr>
          <p:cNvPr id="29" name="line 28: plot geometry" descr="sci-ppt:obj-0028"/>
          <p:cNvCxnSpPr/>
          <p:nvPr/>
        </p:nvCxnSpPr>
        <p:spPr>
          <a:xfrm>
            <a:off x="758812" y="4338602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0" name="line 29: plot geometry" descr="sci-ppt:obj-0029"/>
          <p:cNvCxnSpPr/>
          <p:nvPr/>
        </p:nvCxnSpPr>
        <p:spPr>
          <a:xfrm flipH="1">
            <a:off x="693918" y="4338602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31" name="text 30: 0" descr="sci-ppt:obj-0030"/>
          <p:cNvSpPr txBox="1"/>
          <p:nvPr/>
        </p:nvSpPr>
        <p:spPr>
          <a:xfrm>
            <a:off x="483623" y="4218062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32" name="line 31: plot geometry" descr="sci-ppt:obj-0031"/>
          <p:cNvCxnSpPr/>
          <p:nvPr/>
        </p:nvCxnSpPr>
        <p:spPr>
          <a:xfrm>
            <a:off x="758812" y="3852405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3" name="line 32: plot geometry" descr="sci-ppt:obj-0032"/>
          <p:cNvCxnSpPr/>
          <p:nvPr/>
        </p:nvCxnSpPr>
        <p:spPr>
          <a:xfrm flipH="1">
            <a:off x="693918" y="3852405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34" name="text 33: 2" descr="sci-ppt:obj-0033"/>
          <p:cNvSpPr txBox="1"/>
          <p:nvPr/>
        </p:nvSpPr>
        <p:spPr>
          <a:xfrm>
            <a:off x="483623" y="3731865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35" name="line 34: plot geometry" descr="sci-ppt:obj-0034"/>
          <p:cNvCxnSpPr/>
          <p:nvPr/>
        </p:nvCxnSpPr>
        <p:spPr>
          <a:xfrm>
            <a:off x="758812" y="3366207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6" name="line 35: plot geometry" descr="sci-ppt:obj-0035"/>
          <p:cNvCxnSpPr/>
          <p:nvPr/>
        </p:nvCxnSpPr>
        <p:spPr>
          <a:xfrm flipH="1">
            <a:off x="693918" y="3366207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37" name="text 36: 4" descr="sci-ppt:obj-0036"/>
          <p:cNvSpPr txBox="1"/>
          <p:nvPr/>
        </p:nvSpPr>
        <p:spPr>
          <a:xfrm>
            <a:off x="483623" y="3245668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38" name="line 37: plot geometry" descr="sci-ppt:obj-0037"/>
          <p:cNvCxnSpPr/>
          <p:nvPr/>
        </p:nvCxnSpPr>
        <p:spPr>
          <a:xfrm>
            <a:off x="758812" y="2880010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9" name="line 38: plot geometry" descr="sci-ppt:obj-0038"/>
          <p:cNvCxnSpPr/>
          <p:nvPr/>
        </p:nvCxnSpPr>
        <p:spPr>
          <a:xfrm flipH="1">
            <a:off x="693918" y="2880010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40" name="text 39: 6" descr="sci-ppt:obj-0039"/>
          <p:cNvSpPr txBox="1"/>
          <p:nvPr/>
        </p:nvSpPr>
        <p:spPr>
          <a:xfrm>
            <a:off x="483623" y="2759471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41" name="line 40: plot geometry" descr="sci-ppt:obj-0040"/>
          <p:cNvCxnSpPr/>
          <p:nvPr/>
        </p:nvCxnSpPr>
        <p:spPr>
          <a:xfrm>
            <a:off x="758812" y="2393813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2" name="line 41: plot geometry" descr="sci-ppt:obj-0041"/>
          <p:cNvCxnSpPr/>
          <p:nvPr/>
        </p:nvCxnSpPr>
        <p:spPr>
          <a:xfrm flipH="1">
            <a:off x="693918" y="2393813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43" name="text 42: 8" descr="sci-ppt:obj-0042"/>
          <p:cNvSpPr txBox="1"/>
          <p:nvPr/>
        </p:nvSpPr>
        <p:spPr>
          <a:xfrm>
            <a:off x="483623" y="2273274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44" name="line 43: plot geometry" descr="sci-ppt:obj-0043"/>
          <p:cNvCxnSpPr/>
          <p:nvPr/>
        </p:nvCxnSpPr>
        <p:spPr>
          <a:xfrm>
            <a:off x="758812" y="1907616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 flipH="1">
            <a:off x="693918" y="1907616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46" name="text 45: 10" descr="sci-ppt:obj-0045"/>
          <p:cNvSpPr txBox="1"/>
          <p:nvPr/>
        </p:nvSpPr>
        <p:spPr>
          <a:xfrm>
            <a:off x="365655" y="1787077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47" name="line 46: plot geometry" descr="sci-ppt:obj-0046"/>
          <p:cNvCxnSpPr/>
          <p:nvPr/>
        </p:nvCxnSpPr>
        <p:spPr>
          <a:xfrm>
            <a:off x="758812" y="1421419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8" name="line 47: plot geometry" descr="sci-ppt:obj-0047"/>
          <p:cNvCxnSpPr/>
          <p:nvPr/>
        </p:nvCxnSpPr>
        <p:spPr>
          <a:xfrm flipH="1">
            <a:off x="693918" y="1421419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49" name="text 48: 12" descr="sci-ppt:obj-0048"/>
          <p:cNvSpPr txBox="1"/>
          <p:nvPr/>
        </p:nvSpPr>
        <p:spPr>
          <a:xfrm>
            <a:off x="365655" y="1300879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cxnSp>
        <p:nvCxnSpPr>
          <p:cNvPr id="50" name="line 49: plot geometry" descr="sci-ppt:obj-0049"/>
          <p:cNvCxnSpPr/>
          <p:nvPr/>
        </p:nvCxnSpPr>
        <p:spPr>
          <a:xfrm>
            <a:off x="758812" y="935222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1" name="line 50: plot geometry" descr="sci-ppt:obj-0050"/>
          <p:cNvCxnSpPr/>
          <p:nvPr/>
        </p:nvCxnSpPr>
        <p:spPr>
          <a:xfrm flipH="1">
            <a:off x="693918" y="935222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52" name="text 51: 14" descr="sci-ppt:obj-0051"/>
          <p:cNvSpPr txBox="1"/>
          <p:nvPr/>
        </p:nvSpPr>
        <p:spPr>
          <a:xfrm>
            <a:off x="365655" y="814682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cxnSp>
        <p:nvCxnSpPr>
          <p:cNvPr id="53" name="line 52: plot geometry" descr="sci-ppt:obj-0052"/>
          <p:cNvCxnSpPr/>
          <p:nvPr/>
        </p:nvCxnSpPr>
        <p:spPr>
          <a:xfrm>
            <a:off x="758812" y="449025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4" name="line 53: plot geometry" descr="sci-ppt:obj-0053"/>
          <p:cNvCxnSpPr/>
          <p:nvPr/>
        </p:nvCxnSpPr>
        <p:spPr>
          <a:xfrm flipH="1">
            <a:off x="693918" y="449025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55" name="text 54: 16" descr="sci-ppt:obj-0054"/>
          <p:cNvSpPr txBox="1"/>
          <p:nvPr/>
        </p:nvSpPr>
        <p:spPr>
          <a:xfrm>
            <a:off x="365655" y="328485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56" name="text 55: Outlet speed (m/s)" descr="sci-ppt:obj-0055"/>
          <p:cNvSpPr txBox="1"/>
          <p:nvPr/>
        </p:nvSpPr>
        <p:spPr>
          <a:xfrm rot="16200000">
            <a:off x="-812799" y="2344497"/>
            <a:ext cx="1999145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Outlet speed (m/s)</a:t>
            </a:r>
          </a:p>
        </p:txBody>
      </p:sp>
      <p:sp>
        <p:nvSpPr>
          <p:cNvPr id="57" name="polygon 56: plot geometry" descr="sci-ppt:obj-0056"/>
          <p:cNvSpPr/>
          <p:nvPr/>
        </p:nvSpPr>
        <p:spPr>
          <a:xfrm>
            <a:off x="989673" y="600702"/>
            <a:ext cx="4617214" cy="3737900"/>
          </a:xfrm>
          <a:custGeom>
            <a:avLst/>
            <a:gdLst/>
            <a:ahLst/>
            <a:cxnLst/>
            <a:rect l="l" t="t" r="r" b="b"/>
            <a:pathLst>
              <a:path w="4617214" h="3737900">
                <a:moveTo>
                  <a:pt x="0" y="3737900"/>
                </a:moveTo>
                <a:lnTo>
                  <a:pt x="113778" y="2738102"/>
                </a:lnTo>
                <a:lnTo>
                  <a:pt x="174823" y="2238771"/>
                </a:lnTo>
                <a:lnTo>
                  <a:pt x="226193" y="1851499"/>
                </a:lnTo>
                <a:lnTo>
                  <a:pt x="272250" y="1534768"/>
                </a:lnTo>
                <a:lnTo>
                  <a:pt x="314763" y="1270312"/>
                </a:lnTo>
                <a:lnTo>
                  <a:pt x="354552" y="1048054"/>
                </a:lnTo>
                <a:lnTo>
                  <a:pt x="392296" y="859965"/>
                </a:lnTo>
                <a:lnTo>
                  <a:pt x="428269" y="701055"/>
                </a:lnTo>
                <a:lnTo>
                  <a:pt x="462743" y="566882"/>
                </a:lnTo>
                <a:lnTo>
                  <a:pt x="495991" y="453615"/>
                </a:lnTo>
                <a:lnTo>
                  <a:pt x="528012" y="358783"/>
                </a:lnTo>
                <a:lnTo>
                  <a:pt x="558944" y="279738"/>
                </a:lnTo>
                <a:lnTo>
                  <a:pt x="588785" y="214479"/>
                </a:lnTo>
                <a:lnTo>
                  <a:pt x="617672" y="160947"/>
                </a:lnTo>
                <a:lnTo>
                  <a:pt x="645606" y="117605"/>
                </a:lnTo>
                <a:lnTo>
                  <a:pt x="672722" y="82914"/>
                </a:lnTo>
                <a:lnTo>
                  <a:pt x="699156" y="55606"/>
                </a:lnTo>
                <a:lnTo>
                  <a:pt x="725046" y="34649"/>
                </a:lnTo>
                <a:lnTo>
                  <a:pt x="750663" y="19138"/>
                </a:lnTo>
                <a:lnTo>
                  <a:pt x="776144" y="8481"/>
                </a:lnTo>
                <a:lnTo>
                  <a:pt x="801761" y="2198"/>
                </a:lnTo>
                <a:lnTo>
                  <a:pt x="828060" y="0"/>
                </a:lnTo>
                <a:lnTo>
                  <a:pt x="855312" y="1888"/>
                </a:lnTo>
                <a:lnTo>
                  <a:pt x="884063" y="8066"/>
                </a:lnTo>
                <a:lnTo>
                  <a:pt x="914858" y="18990"/>
                </a:lnTo>
                <a:lnTo>
                  <a:pt x="948106" y="35258"/>
                </a:lnTo>
                <a:lnTo>
                  <a:pt x="984488" y="57762"/>
                </a:lnTo>
                <a:lnTo>
                  <a:pt x="1024821" y="87702"/>
                </a:lnTo>
                <a:lnTo>
                  <a:pt x="1069923" y="126472"/>
                </a:lnTo>
                <a:lnTo>
                  <a:pt x="1121158" y="176126"/>
                </a:lnTo>
                <a:lnTo>
                  <a:pt x="1180431" y="239518"/>
                </a:lnTo>
                <a:lnTo>
                  <a:pt x="1251015" y="321293"/>
                </a:lnTo>
                <a:lnTo>
                  <a:pt x="1339312" y="430233"/>
                </a:lnTo>
                <a:lnTo>
                  <a:pt x="1463991" y="591187"/>
                </a:lnTo>
                <a:lnTo>
                  <a:pt x="1877680" y="1129597"/>
                </a:lnTo>
                <a:lnTo>
                  <a:pt x="2027840" y="1315835"/>
                </a:lnTo>
                <a:lnTo>
                  <a:pt x="2171187" y="1487098"/>
                </a:lnTo>
                <a:lnTo>
                  <a:pt x="2313308" y="1650492"/>
                </a:lnTo>
                <a:lnTo>
                  <a:pt x="2457064" y="1809485"/>
                </a:lnTo>
                <a:lnTo>
                  <a:pt x="2604226" y="1966090"/>
                </a:lnTo>
                <a:lnTo>
                  <a:pt x="2756566" y="2122168"/>
                </a:lnTo>
                <a:lnTo>
                  <a:pt x="2915719" y="2279295"/>
                </a:lnTo>
                <a:lnTo>
                  <a:pt x="3083457" y="2439062"/>
                </a:lnTo>
                <a:lnTo>
                  <a:pt x="3261959" y="2603342"/>
                </a:lnTo>
                <a:lnTo>
                  <a:pt x="3454496" y="2774874"/>
                </a:lnTo>
                <a:lnTo>
                  <a:pt x="3665974" y="2957672"/>
                </a:lnTo>
                <a:lnTo>
                  <a:pt x="3905112" y="3158804"/>
                </a:lnTo>
                <a:lnTo>
                  <a:pt x="4192079" y="3394559"/>
                </a:lnTo>
                <a:lnTo>
                  <a:pt x="4617214" y="3737858"/>
                </a:lnTo>
                <a:lnTo>
                  <a:pt x="4617214" y="3737858"/>
                </a:lnTo>
              </a:path>
            </a:pathLst>
          </a:custGeom>
          <a:noFill/>
          <a:ln w="27811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gon 57: plot geometry" descr="sci-ppt:obj-0057"/>
          <p:cNvSpPr/>
          <p:nvPr/>
        </p:nvSpPr>
        <p:spPr>
          <a:xfrm>
            <a:off x="989673" y="3943519"/>
            <a:ext cx="263938" cy="395083"/>
          </a:xfrm>
          <a:custGeom>
            <a:avLst/>
            <a:gdLst/>
            <a:ahLst/>
            <a:cxnLst/>
            <a:rect l="l" t="t" r="r" b="b"/>
            <a:pathLst>
              <a:path w="263938" h="395083">
                <a:moveTo>
                  <a:pt x="0" y="395083"/>
                </a:moveTo>
                <a:lnTo>
                  <a:pt x="25208" y="187884"/>
                </a:lnTo>
                <a:lnTo>
                  <a:pt x="39515" y="103489"/>
                </a:lnTo>
                <a:lnTo>
                  <a:pt x="51915" y="53242"/>
                </a:lnTo>
                <a:lnTo>
                  <a:pt x="62952" y="24206"/>
                </a:lnTo>
                <a:lnTo>
                  <a:pt x="72899" y="8565"/>
                </a:lnTo>
                <a:lnTo>
                  <a:pt x="81893" y="1519"/>
                </a:lnTo>
                <a:lnTo>
                  <a:pt x="90205" y="0"/>
                </a:lnTo>
                <a:lnTo>
                  <a:pt x="98925" y="2734"/>
                </a:lnTo>
                <a:lnTo>
                  <a:pt x="109009" y="10506"/>
                </a:lnTo>
                <a:lnTo>
                  <a:pt x="121545" y="25795"/>
                </a:lnTo>
                <a:lnTo>
                  <a:pt x="137351" y="52065"/>
                </a:lnTo>
                <a:lnTo>
                  <a:pt x="157654" y="94375"/>
                </a:lnTo>
                <a:lnTo>
                  <a:pt x="184089" y="159655"/>
                </a:lnTo>
                <a:lnTo>
                  <a:pt x="219380" y="258568"/>
                </a:lnTo>
                <a:lnTo>
                  <a:pt x="263938" y="394899"/>
                </a:lnTo>
                <a:lnTo>
                  <a:pt x="263938" y="394899"/>
                </a:lnTo>
              </a:path>
            </a:pathLst>
          </a:custGeom>
          <a:noFill/>
          <a:ln w="27811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olygon 58: plot geometry" descr="sci-ppt:obj-0058"/>
          <p:cNvSpPr/>
          <p:nvPr/>
        </p:nvSpPr>
        <p:spPr>
          <a:xfrm>
            <a:off x="989673" y="4338602"/>
            <a:ext cx="333976" cy="0"/>
          </a:xfrm>
          <a:custGeom>
            <a:avLst/>
            <a:gdLst/>
            <a:ahLst/>
            <a:cxnLst/>
            <a:rect l="l" t="t" r="r" b="b"/>
            <a:pathLst>
              <a:path w="333976" h="0">
                <a:moveTo>
                  <a:pt x="0" y="0"/>
                </a:moveTo>
                <a:lnTo>
                  <a:pt x="333976" y="0"/>
                </a:lnTo>
                <a:lnTo>
                  <a:pt x="333976" y="0"/>
                </a:lnTo>
              </a:path>
            </a:pathLst>
          </a:custGeom>
          <a:noFill/>
          <a:ln w="27811">
            <a:solidFill>
              <a:srgbClr val="7575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line 59: plot geometry" descr="sci-ppt:obj-0059"/>
          <p:cNvCxnSpPr/>
          <p:nvPr/>
        </p:nvCxnSpPr>
        <p:spPr>
          <a:xfrm flipV="1">
            <a:off x="758812" y="413804"/>
            <a:ext cx="0" cy="4111693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cxnSp>
        <p:nvCxnSpPr>
          <p:cNvPr id="61" name="line 60: plot geometry" descr="sci-ppt:obj-0060"/>
          <p:cNvCxnSpPr/>
          <p:nvPr/>
        </p:nvCxnSpPr>
        <p:spPr>
          <a:xfrm>
            <a:off x="758812" y="4525497"/>
            <a:ext cx="5078936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62" name="text 61: First outward ejection" descr="sci-ppt:obj-0061"/>
          <p:cNvSpPr txBox="1"/>
          <p:nvPr/>
        </p:nvSpPr>
        <p:spPr>
          <a:xfrm>
            <a:off x="2068232" y="73388"/>
            <a:ext cx="2961126" cy="3003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1" b="0" i="0">
                <a:solidFill>
                  <a:srgbClr val="000000"/>
                </a:solidFill>
                <a:latin typeface="Arial"/>
              </a:rPr>
              <a:t>First outward ejection</a:t>
            </a:r>
          </a:p>
        </p:txBody>
      </p:sp>
      <p:sp>
        <p:nvSpPr>
          <p:cNvPr id="63" name="polygon 62: plot geometry" descr="sci-ppt:obj-0062"/>
          <p:cNvSpPr/>
          <p:nvPr/>
        </p:nvSpPr>
        <p:spPr>
          <a:xfrm>
            <a:off x="3674035" y="632378"/>
            <a:ext cx="333741" cy="0"/>
          </a:xfrm>
          <a:custGeom>
            <a:avLst/>
            <a:gdLst/>
            <a:ahLst/>
            <a:cxnLst/>
            <a:rect l="l" t="t" r="r" b="b"/>
            <a:pathLst>
              <a:path w="333741" h="0">
                <a:moveTo>
                  <a:pt x="0" y="0"/>
                </a:moveTo>
                <a:lnTo>
                  <a:pt x="166871" y="0"/>
                </a:lnTo>
                <a:lnTo>
                  <a:pt x="333741" y="0"/>
                </a:lnTo>
              </a:path>
            </a:pathLst>
          </a:custGeom>
          <a:noFill/>
          <a:ln w="27811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 63: Rigid chamber" descr="sci-ppt:obj-0063"/>
          <p:cNvSpPr txBox="1"/>
          <p:nvPr/>
        </p:nvSpPr>
        <p:spPr>
          <a:xfrm>
            <a:off x="4113841" y="518906"/>
            <a:ext cx="1353049" cy="2252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3" b="0" i="0">
                <a:solidFill>
                  <a:srgbClr val="000000"/>
                </a:solidFill>
                <a:latin typeface="Arial"/>
              </a:rPr>
              <a:t>Rigid chamber</a:t>
            </a:r>
          </a:p>
        </p:txBody>
      </p:sp>
      <p:sp>
        <p:nvSpPr>
          <p:cNvPr id="65" name="polygon 64: plot geometry" descr="sci-ppt:obj-0064"/>
          <p:cNvSpPr/>
          <p:nvPr/>
        </p:nvSpPr>
        <p:spPr>
          <a:xfrm>
            <a:off x="3674035" y="882697"/>
            <a:ext cx="333741" cy="0"/>
          </a:xfrm>
          <a:custGeom>
            <a:avLst/>
            <a:gdLst/>
            <a:ahLst/>
            <a:cxnLst/>
            <a:rect l="l" t="t" r="r" b="b"/>
            <a:pathLst>
              <a:path w="333741" h="0">
                <a:moveTo>
                  <a:pt x="0" y="0"/>
                </a:moveTo>
                <a:lnTo>
                  <a:pt x="166871" y="0"/>
                </a:lnTo>
                <a:lnTo>
                  <a:pt x="333741" y="0"/>
                </a:lnTo>
              </a:path>
            </a:pathLst>
          </a:custGeom>
          <a:noFill/>
          <a:ln w="27811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 65: Open gel chamber" descr="sci-ppt:obj-0065"/>
          <p:cNvSpPr txBox="1"/>
          <p:nvPr/>
        </p:nvSpPr>
        <p:spPr>
          <a:xfrm>
            <a:off x="4113841" y="769225"/>
            <a:ext cx="1648410" cy="2252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3" b="0" i="0">
                <a:solidFill>
                  <a:srgbClr val="000000"/>
                </a:solidFill>
                <a:latin typeface="Arial"/>
              </a:rPr>
              <a:t>Open gel chamber</a:t>
            </a:r>
          </a:p>
        </p:txBody>
      </p:sp>
      <p:sp>
        <p:nvSpPr>
          <p:cNvPr id="67" name="polygon 66: plot geometry" descr="sci-ppt:obj-0066"/>
          <p:cNvSpPr/>
          <p:nvPr/>
        </p:nvSpPr>
        <p:spPr>
          <a:xfrm>
            <a:off x="3674035" y="1133016"/>
            <a:ext cx="333741" cy="0"/>
          </a:xfrm>
          <a:custGeom>
            <a:avLst/>
            <a:gdLst/>
            <a:ahLst/>
            <a:cxnLst/>
            <a:rect l="l" t="t" r="r" b="b"/>
            <a:pathLst>
              <a:path w="333741" h="0">
                <a:moveTo>
                  <a:pt x="0" y="0"/>
                </a:moveTo>
                <a:lnTo>
                  <a:pt x="166871" y="0"/>
                </a:lnTo>
                <a:lnTo>
                  <a:pt x="333741" y="0"/>
                </a:lnTo>
              </a:path>
            </a:pathLst>
          </a:custGeom>
          <a:noFill/>
          <a:ln w="27811">
            <a:solidFill>
              <a:srgbClr val="7575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 67: Sealed gel control" descr="sci-ppt:obj-0067"/>
          <p:cNvSpPr txBox="1"/>
          <p:nvPr/>
        </p:nvSpPr>
        <p:spPr>
          <a:xfrm>
            <a:off x="4113841" y="1019544"/>
            <a:ext cx="1845318" cy="2252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3" b="0" i="0">
                <a:solidFill>
                  <a:srgbClr val="000000"/>
                </a:solidFill>
                <a:latin typeface="Arial"/>
              </a:rPr>
              <a:t>Sealed gel control</a:t>
            </a:r>
          </a:p>
        </p:txBody>
      </p:sp>
      <p:sp>
        <p:nvSpPr>
          <p:cNvPr id="69" name="polygon 68: plot geometry" descr="sci-ppt:obj-0068"/>
          <p:cNvSpPr/>
          <p:nvPr/>
        </p:nvSpPr>
        <p:spPr>
          <a:xfrm>
            <a:off x="6853535" y="413804"/>
            <a:ext cx="5078936" cy="4111693"/>
          </a:xfrm>
          <a:custGeom>
            <a:avLst/>
            <a:gdLst/>
            <a:ahLst/>
            <a:cxnLst/>
            <a:rect l="l" t="t" r="r" b="b"/>
            <a:pathLst>
              <a:path w="5078936" h="4111693">
                <a:moveTo>
                  <a:pt x="0" y="4111693"/>
                </a:moveTo>
                <a:lnTo>
                  <a:pt x="5078936" y="4111693"/>
                </a:lnTo>
                <a:lnTo>
                  <a:pt x="5078936" y="0"/>
                </a:lnTo>
                <a:lnTo>
                  <a:pt x="0" y="0"/>
                </a:lnTo>
                <a:lnTo>
                  <a:pt x="0" y="41116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line 69: plot geometry" descr="sci-ppt:obj-0069"/>
          <p:cNvCxnSpPr/>
          <p:nvPr/>
        </p:nvCxnSpPr>
        <p:spPr>
          <a:xfrm flipV="1">
            <a:off x="7084396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1" name="line 70: plot geometry" descr="sci-ppt:obj-0070"/>
          <p:cNvCxnSpPr/>
          <p:nvPr/>
        </p:nvCxnSpPr>
        <p:spPr>
          <a:xfrm>
            <a:off x="7084396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72" name="text 71: 0.00" descr="sci-ppt:obj-0071"/>
          <p:cNvSpPr txBox="1"/>
          <p:nvPr/>
        </p:nvSpPr>
        <p:spPr>
          <a:xfrm>
            <a:off x="6850548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cxnSp>
        <p:nvCxnSpPr>
          <p:cNvPr id="73" name="line 72: plot geometry" descr="sci-ppt:obj-0072"/>
          <p:cNvCxnSpPr/>
          <p:nvPr/>
        </p:nvCxnSpPr>
        <p:spPr>
          <a:xfrm flipV="1">
            <a:off x="7680319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4" name="line 73: plot geometry" descr="sci-ppt:obj-0073"/>
          <p:cNvCxnSpPr/>
          <p:nvPr/>
        </p:nvCxnSpPr>
        <p:spPr>
          <a:xfrm>
            <a:off x="7680319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75" name="text 74: 0.25" descr="sci-ppt:obj-0074"/>
          <p:cNvSpPr txBox="1"/>
          <p:nvPr/>
        </p:nvSpPr>
        <p:spPr>
          <a:xfrm>
            <a:off x="7446471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cxnSp>
        <p:nvCxnSpPr>
          <p:cNvPr id="76" name="line 75: plot geometry" descr="sci-ppt:obj-0075"/>
          <p:cNvCxnSpPr/>
          <p:nvPr/>
        </p:nvCxnSpPr>
        <p:spPr>
          <a:xfrm flipV="1">
            <a:off x="8276242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7" name="line 76: plot geometry" descr="sci-ppt:obj-0076"/>
          <p:cNvCxnSpPr/>
          <p:nvPr/>
        </p:nvCxnSpPr>
        <p:spPr>
          <a:xfrm>
            <a:off x="8276242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78" name="text 77: 0.50" descr="sci-ppt:obj-0077"/>
          <p:cNvSpPr txBox="1"/>
          <p:nvPr/>
        </p:nvSpPr>
        <p:spPr>
          <a:xfrm>
            <a:off x="8042395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cxnSp>
        <p:nvCxnSpPr>
          <p:cNvPr id="79" name="line 78: plot geometry" descr="sci-ppt:obj-0078"/>
          <p:cNvCxnSpPr/>
          <p:nvPr/>
        </p:nvCxnSpPr>
        <p:spPr>
          <a:xfrm flipV="1">
            <a:off x="8872166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0" name="line 79: plot geometry" descr="sci-ppt:obj-0079"/>
          <p:cNvCxnSpPr/>
          <p:nvPr/>
        </p:nvCxnSpPr>
        <p:spPr>
          <a:xfrm>
            <a:off x="8872166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81" name="text 80: 0.75" descr="sci-ppt:obj-0080"/>
          <p:cNvSpPr txBox="1"/>
          <p:nvPr/>
        </p:nvSpPr>
        <p:spPr>
          <a:xfrm>
            <a:off x="8638318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cxnSp>
        <p:nvCxnSpPr>
          <p:cNvPr id="82" name="line 81: plot geometry" descr="sci-ppt:obj-0081"/>
          <p:cNvCxnSpPr/>
          <p:nvPr/>
        </p:nvCxnSpPr>
        <p:spPr>
          <a:xfrm flipV="1">
            <a:off x="9468089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3" name="line 82: plot geometry" descr="sci-ppt:obj-0082"/>
          <p:cNvCxnSpPr/>
          <p:nvPr/>
        </p:nvCxnSpPr>
        <p:spPr>
          <a:xfrm>
            <a:off x="9468089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84" name="text 83: 1.00" descr="sci-ppt:obj-0083"/>
          <p:cNvSpPr txBox="1"/>
          <p:nvPr/>
        </p:nvSpPr>
        <p:spPr>
          <a:xfrm>
            <a:off x="9234242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cxnSp>
        <p:nvCxnSpPr>
          <p:cNvPr id="85" name="line 84: plot geometry" descr="sci-ppt:obj-0084"/>
          <p:cNvCxnSpPr/>
          <p:nvPr/>
        </p:nvCxnSpPr>
        <p:spPr>
          <a:xfrm flipV="1">
            <a:off x="10064013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6" name="line 85: plot geometry" descr="sci-ppt:obj-0085"/>
          <p:cNvCxnSpPr/>
          <p:nvPr/>
        </p:nvCxnSpPr>
        <p:spPr>
          <a:xfrm>
            <a:off x="10064013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87" name="text 86: 1.25" descr="sci-ppt:obj-0086"/>
          <p:cNvSpPr txBox="1"/>
          <p:nvPr/>
        </p:nvSpPr>
        <p:spPr>
          <a:xfrm>
            <a:off x="9830165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1.25</a:t>
            </a:r>
          </a:p>
        </p:txBody>
      </p:sp>
      <p:cxnSp>
        <p:nvCxnSpPr>
          <p:cNvPr id="88" name="line 87: plot geometry" descr="sci-ppt:obj-0087"/>
          <p:cNvCxnSpPr/>
          <p:nvPr/>
        </p:nvCxnSpPr>
        <p:spPr>
          <a:xfrm flipV="1">
            <a:off x="10659936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9" name="line 88: plot geometry" descr="sci-ppt:obj-0088"/>
          <p:cNvCxnSpPr/>
          <p:nvPr/>
        </p:nvCxnSpPr>
        <p:spPr>
          <a:xfrm>
            <a:off x="10659936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90" name="text 89: 1.50" descr="sci-ppt:obj-0089"/>
          <p:cNvSpPr txBox="1"/>
          <p:nvPr/>
        </p:nvSpPr>
        <p:spPr>
          <a:xfrm>
            <a:off x="10426088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1.50</a:t>
            </a:r>
          </a:p>
        </p:txBody>
      </p:sp>
      <p:cxnSp>
        <p:nvCxnSpPr>
          <p:cNvPr id="91" name="line 90: plot geometry" descr="sci-ppt:obj-0090"/>
          <p:cNvCxnSpPr/>
          <p:nvPr/>
        </p:nvCxnSpPr>
        <p:spPr>
          <a:xfrm flipV="1">
            <a:off x="11255859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2" name="line 91: plot geometry" descr="sci-ppt:obj-0091"/>
          <p:cNvCxnSpPr/>
          <p:nvPr/>
        </p:nvCxnSpPr>
        <p:spPr>
          <a:xfrm>
            <a:off x="11255859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93" name="text 92: 1.75" descr="sci-ppt:obj-0092"/>
          <p:cNvSpPr txBox="1"/>
          <p:nvPr/>
        </p:nvSpPr>
        <p:spPr>
          <a:xfrm>
            <a:off x="11022012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1.75</a:t>
            </a:r>
          </a:p>
        </p:txBody>
      </p:sp>
      <p:cxnSp>
        <p:nvCxnSpPr>
          <p:cNvPr id="94" name="line 93: plot geometry" descr="sci-ppt:obj-0093"/>
          <p:cNvCxnSpPr/>
          <p:nvPr/>
        </p:nvCxnSpPr>
        <p:spPr>
          <a:xfrm flipV="1">
            <a:off x="11851783" y="413804"/>
            <a:ext cx="0" cy="4111693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5" name="line 94: plot geometry" descr="sci-ppt:obj-0094"/>
          <p:cNvCxnSpPr/>
          <p:nvPr/>
        </p:nvCxnSpPr>
        <p:spPr>
          <a:xfrm>
            <a:off x="11851783" y="4525497"/>
            <a:ext cx="0" cy="64894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96" name="text 95: 2.00" descr="sci-ppt:obj-0095"/>
          <p:cNvSpPr txBox="1"/>
          <p:nvPr/>
        </p:nvSpPr>
        <p:spPr>
          <a:xfrm>
            <a:off x="11617935" y="4605180"/>
            <a:ext cx="510723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2.00</a:t>
            </a:r>
          </a:p>
        </p:txBody>
      </p:sp>
      <p:sp>
        <p:nvSpPr>
          <p:cNvPr id="97" name="text 96: Time after initialization (µs)" descr="sci-ppt:obj-0096"/>
          <p:cNvSpPr txBox="1"/>
          <p:nvPr/>
        </p:nvSpPr>
        <p:spPr>
          <a:xfrm>
            <a:off x="8087649" y="4864771"/>
            <a:ext cx="3354941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Time after initialization (µs)</a:t>
            </a:r>
          </a:p>
        </p:txBody>
      </p:sp>
      <p:cxnSp>
        <p:nvCxnSpPr>
          <p:cNvPr id="98" name="line 97: plot geometry" descr="sci-ppt:obj-0097"/>
          <p:cNvCxnSpPr/>
          <p:nvPr/>
        </p:nvCxnSpPr>
        <p:spPr>
          <a:xfrm>
            <a:off x="6853535" y="4338602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9" name="line 98: plot geometry" descr="sci-ppt:obj-0098"/>
          <p:cNvCxnSpPr/>
          <p:nvPr/>
        </p:nvCxnSpPr>
        <p:spPr>
          <a:xfrm flipH="1">
            <a:off x="6788641" y="4338602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00" name="text 99: 0" descr="sci-ppt:obj-0099"/>
          <p:cNvSpPr txBox="1"/>
          <p:nvPr/>
        </p:nvSpPr>
        <p:spPr>
          <a:xfrm>
            <a:off x="6578346" y="4218062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01" name="line 100: plot geometry" descr="sci-ppt:obj-0100"/>
          <p:cNvCxnSpPr/>
          <p:nvPr/>
        </p:nvCxnSpPr>
        <p:spPr>
          <a:xfrm>
            <a:off x="6853535" y="3623398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2" name="line 101: plot geometry" descr="sci-ppt:obj-0101"/>
          <p:cNvCxnSpPr/>
          <p:nvPr/>
        </p:nvCxnSpPr>
        <p:spPr>
          <a:xfrm flipH="1">
            <a:off x="6788641" y="3623398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03" name="text 102: 2" descr="sci-ppt:obj-0102"/>
          <p:cNvSpPr txBox="1"/>
          <p:nvPr/>
        </p:nvSpPr>
        <p:spPr>
          <a:xfrm>
            <a:off x="6578346" y="3502859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04" name="line 103: plot geometry" descr="sci-ppt:obj-0103"/>
          <p:cNvCxnSpPr/>
          <p:nvPr/>
        </p:nvCxnSpPr>
        <p:spPr>
          <a:xfrm>
            <a:off x="6853535" y="2908195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5" name="line 104: plot geometry" descr="sci-ppt:obj-0104"/>
          <p:cNvCxnSpPr/>
          <p:nvPr/>
        </p:nvCxnSpPr>
        <p:spPr>
          <a:xfrm flipH="1">
            <a:off x="6788641" y="2908195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06" name="text 105: 4" descr="sci-ppt:obj-0105"/>
          <p:cNvSpPr txBox="1"/>
          <p:nvPr/>
        </p:nvSpPr>
        <p:spPr>
          <a:xfrm>
            <a:off x="6578346" y="2787656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107" name="line 106: plot geometry" descr="sci-ppt:obj-0106"/>
          <p:cNvCxnSpPr/>
          <p:nvPr/>
        </p:nvCxnSpPr>
        <p:spPr>
          <a:xfrm>
            <a:off x="6853535" y="2192992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8" name="line 107: plot geometry" descr="sci-ppt:obj-0107"/>
          <p:cNvCxnSpPr/>
          <p:nvPr/>
        </p:nvCxnSpPr>
        <p:spPr>
          <a:xfrm flipH="1">
            <a:off x="6788641" y="2192992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09" name="text 108: 6" descr="sci-ppt:obj-0108"/>
          <p:cNvSpPr txBox="1"/>
          <p:nvPr/>
        </p:nvSpPr>
        <p:spPr>
          <a:xfrm>
            <a:off x="6578346" y="2072452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110" name="line 109: plot geometry" descr="sci-ppt:obj-0109"/>
          <p:cNvCxnSpPr/>
          <p:nvPr/>
        </p:nvCxnSpPr>
        <p:spPr>
          <a:xfrm>
            <a:off x="6853535" y="1477788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11" name="line 110: plot geometry" descr="sci-ppt:obj-0110"/>
          <p:cNvCxnSpPr/>
          <p:nvPr/>
        </p:nvCxnSpPr>
        <p:spPr>
          <a:xfrm flipH="1">
            <a:off x="6788641" y="1477788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12" name="text 111: 8" descr="sci-ppt:obj-0111"/>
          <p:cNvSpPr txBox="1"/>
          <p:nvPr/>
        </p:nvSpPr>
        <p:spPr>
          <a:xfrm>
            <a:off x="6578346" y="1357249"/>
            <a:ext cx="182544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113" name="line 112: plot geometry" descr="sci-ppt:obj-0112"/>
          <p:cNvCxnSpPr/>
          <p:nvPr/>
        </p:nvCxnSpPr>
        <p:spPr>
          <a:xfrm>
            <a:off x="6853535" y="762585"/>
            <a:ext cx="5078936" cy="0"/>
          </a:xfrm>
          <a:prstGeom prst="line">
            <a:avLst/>
          </a:prstGeom>
          <a:ln w="1483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14" name="line 113: plot geometry" descr="sci-ppt:obj-0113"/>
          <p:cNvCxnSpPr/>
          <p:nvPr/>
        </p:nvCxnSpPr>
        <p:spPr>
          <a:xfrm flipH="1">
            <a:off x="6788641" y="762585"/>
            <a:ext cx="64894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15" name="text 114: 10" descr="sci-ppt:obj-0114"/>
          <p:cNvSpPr txBox="1"/>
          <p:nvPr/>
        </p:nvSpPr>
        <p:spPr>
          <a:xfrm>
            <a:off x="6460378" y="642046"/>
            <a:ext cx="291937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16" name="text 115: Pressure scale (kPa)" descr="sci-ppt:obj-0115"/>
          <p:cNvSpPr txBox="1"/>
          <p:nvPr/>
        </p:nvSpPr>
        <p:spPr>
          <a:xfrm rot="16200000">
            <a:off x="5214322" y="2344497"/>
            <a:ext cx="2134348" cy="2503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9" b="0" i="0">
                <a:solidFill>
                  <a:srgbClr val="000000"/>
                </a:solidFill>
                <a:latin typeface="Arial"/>
              </a:rPr>
              <a:t>Pressure scale (kPa)</a:t>
            </a:r>
          </a:p>
        </p:txBody>
      </p:sp>
      <p:sp>
        <p:nvSpPr>
          <p:cNvPr id="117" name="polygon 116: plot geometry" descr="sci-ppt:obj-0116"/>
          <p:cNvSpPr/>
          <p:nvPr/>
        </p:nvSpPr>
        <p:spPr>
          <a:xfrm>
            <a:off x="7084396" y="1069045"/>
            <a:ext cx="4617214" cy="3269557"/>
          </a:xfrm>
          <a:custGeom>
            <a:avLst/>
            <a:gdLst/>
            <a:ahLst/>
            <a:cxnLst/>
            <a:rect l="l" t="t" r="r" b="b"/>
            <a:pathLst>
              <a:path w="4617214" h="3269557">
                <a:moveTo>
                  <a:pt x="0" y="3269557"/>
                </a:moveTo>
                <a:lnTo>
                  <a:pt x="52441" y="3267408"/>
                </a:lnTo>
                <a:lnTo>
                  <a:pt x="104882" y="3260984"/>
                </a:lnTo>
                <a:lnTo>
                  <a:pt x="157323" y="3250347"/>
                </a:lnTo>
                <a:lnTo>
                  <a:pt x="209765" y="3235595"/>
                </a:lnTo>
                <a:lnTo>
                  <a:pt x="264590" y="3215914"/>
                </a:lnTo>
                <a:lnTo>
                  <a:pt x="321798" y="3190935"/>
                </a:lnTo>
                <a:lnTo>
                  <a:pt x="381391" y="3160348"/>
                </a:lnTo>
                <a:lnTo>
                  <a:pt x="443367" y="3123918"/>
                </a:lnTo>
                <a:lnTo>
                  <a:pt x="510110" y="3079834"/>
                </a:lnTo>
                <a:lnTo>
                  <a:pt x="581621" y="3027552"/>
                </a:lnTo>
                <a:lnTo>
                  <a:pt x="660283" y="2964702"/>
                </a:lnTo>
                <a:lnTo>
                  <a:pt x="746096" y="2890654"/>
                </a:lnTo>
                <a:lnTo>
                  <a:pt x="841443" y="2802814"/>
                </a:lnTo>
                <a:lnTo>
                  <a:pt x="953477" y="2693736"/>
                </a:lnTo>
                <a:lnTo>
                  <a:pt x="1089348" y="2555394"/>
                </a:lnTo>
                <a:lnTo>
                  <a:pt x="1284810" y="2349838"/>
                </a:lnTo>
                <a:lnTo>
                  <a:pt x="1699573" y="1912493"/>
                </a:lnTo>
                <a:lnTo>
                  <a:pt x="1880734" y="1728374"/>
                </a:lnTo>
                <a:lnTo>
                  <a:pt x="2042825" y="1569481"/>
                </a:lnTo>
                <a:lnTo>
                  <a:pt x="2192998" y="1427946"/>
                </a:lnTo>
                <a:lnTo>
                  <a:pt x="2338403" y="1296534"/>
                </a:lnTo>
                <a:lnTo>
                  <a:pt x="2479041" y="1174949"/>
                </a:lnTo>
                <a:lnTo>
                  <a:pt x="2617295" y="1060856"/>
                </a:lnTo>
                <a:lnTo>
                  <a:pt x="2753166" y="954047"/>
                </a:lnTo>
                <a:lnTo>
                  <a:pt x="2886652" y="854268"/>
                </a:lnTo>
                <a:lnTo>
                  <a:pt x="3020139" y="759589"/>
                </a:lnTo>
                <a:lnTo>
                  <a:pt x="3153626" y="669973"/>
                </a:lnTo>
                <a:lnTo>
                  <a:pt x="3287113" y="585370"/>
                </a:lnTo>
                <a:lnTo>
                  <a:pt x="3420600" y="505715"/>
                </a:lnTo>
                <a:lnTo>
                  <a:pt x="3551703" y="432227"/>
                </a:lnTo>
                <a:lnTo>
                  <a:pt x="3685190" y="362158"/>
                </a:lnTo>
                <a:lnTo>
                  <a:pt x="3818677" y="296806"/>
                </a:lnTo>
                <a:lnTo>
                  <a:pt x="3952163" y="236091"/>
                </a:lnTo>
                <a:lnTo>
                  <a:pt x="4085650" y="179932"/>
                </a:lnTo>
                <a:lnTo>
                  <a:pt x="4219137" y="128250"/>
                </a:lnTo>
                <a:lnTo>
                  <a:pt x="4352624" y="80972"/>
                </a:lnTo>
                <a:lnTo>
                  <a:pt x="4486111" y="38026"/>
                </a:lnTo>
                <a:lnTo>
                  <a:pt x="4617214" y="0"/>
                </a:lnTo>
                <a:lnTo>
                  <a:pt x="4617214" y="0"/>
                </a:lnTo>
              </a:path>
            </a:pathLst>
          </a:custGeom>
          <a:noFill/>
          <a:ln w="27811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polygon 117: plot geometry" descr="sci-ppt:obj-0117"/>
          <p:cNvSpPr/>
          <p:nvPr/>
        </p:nvSpPr>
        <p:spPr>
          <a:xfrm>
            <a:off x="7084396" y="600724"/>
            <a:ext cx="4617214" cy="3737878"/>
          </a:xfrm>
          <a:custGeom>
            <a:avLst/>
            <a:gdLst/>
            <a:ahLst/>
            <a:cxnLst/>
            <a:rect l="l" t="t" r="r" b="b"/>
            <a:pathLst>
              <a:path w="4617214" h="3737878">
                <a:moveTo>
                  <a:pt x="0" y="3737878"/>
                </a:moveTo>
                <a:lnTo>
                  <a:pt x="78661" y="3586931"/>
                </a:lnTo>
                <a:lnTo>
                  <a:pt x="178777" y="3385402"/>
                </a:lnTo>
                <a:lnTo>
                  <a:pt x="579237" y="2569147"/>
                </a:lnTo>
                <a:lnTo>
                  <a:pt x="679352" y="2379877"/>
                </a:lnTo>
                <a:lnTo>
                  <a:pt x="772316" y="2212645"/>
                </a:lnTo>
                <a:lnTo>
                  <a:pt x="862897" y="2058021"/>
                </a:lnTo>
                <a:lnTo>
                  <a:pt x="951093" y="1915446"/>
                </a:lnTo>
                <a:lnTo>
                  <a:pt x="1039290" y="1780637"/>
                </a:lnTo>
                <a:lnTo>
                  <a:pt x="1127487" y="1653367"/>
                </a:lnTo>
                <a:lnTo>
                  <a:pt x="1215683" y="1533339"/>
                </a:lnTo>
                <a:lnTo>
                  <a:pt x="1303880" y="1420218"/>
                </a:lnTo>
                <a:lnTo>
                  <a:pt x="1392077" y="1313654"/>
                </a:lnTo>
                <a:lnTo>
                  <a:pt x="1482657" y="1210671"/>
                </a:lnTo>
                <a:lnTo>
                  <a:pt x="1573237" y="1113872"/>
                </a:lnTo>
                <a:lnTo>
                  <a:pt x="1666201" y="1020594"/>
                </a:lnTo>
                <a:lnTo>
                  <a:pt x="1759165" y="933114"/>
                </a:lnTo>
                <a:lnTo>
                  <a:pt x="1854513" y="849070"/>
                </a:lnTo>
                <a:lnTo>
                  <a:pt x="1949861" y="770455"/>
                </a:lnTo>
                <a:lnTo>
                  <a:pt x="2047592" y="695196"/>
                </a:lnTo>
                <a:lnTo>
                  <a:pt x="2147707" y="623381"/>
                </a:lnTo>
                <a:lnTo>
                  <a:pt x="2247823" y="556621"/>
                </a:lnTo>
                <a:lnTo>
                  <a:pt x="2350321" y="493233"/>
                </a:lnTo>
                <a:lnTo>
                  <a:pt x="2455204" y="433298"/>
                </a:lnTo>
                <a:lnTo>
                  <a:pt x="2560086" y="378096"/>
                </a:lnTo>
                <a:lnTo>
                  <a:pt x="2667353" y="326298"/>
                </a:lnTo>
                <a:lnTo>
                  <a:pt x="2777003" y="277984"/>
                </a:lnTo>
                <a:lnTo>
                  <a:pt x="2886652" y="234143"/>
                </a:lnTo>
                <a:lnTo>
                  <a:pt x="2998686" y="193762"/>
                </a:lnTo>
                <a:lnTo>
                  <a:pt x="3113103" y="156928"/>
                </a:lnTo>
                <a:lnTo>
                  <a:pt x="3229904" y="123731"/>
                </a:lnTo>
                <a:lnTo>
                  <a:pt x="3346705" y="94805"/>
                </a:lnTo>
                <a:lnTo>
                  <a:pt x="3465890" y="69525"/>
                </a:lnTo>
                <a:lnTo>
                  <a:pt x="3587458" y="47988"/>
                </a:lnTo>
                <a:lnTo>
                  <a:pt x="3709027" y="30594"/>
                </a:lnTo>
                <a:lnTo>
                  <a:pt x="3832979" y="16987"/>
                </a:lnTo>
                <a:lnTo>
                  <a:pt x="3959315" y="7277"/>
                </a:lnTo>
                <a:lnTo>
                  <a:pt x="4088034" y="1578"/>
                </a:lnTo>
                <a:lnTo>
                  <a:pt x="4216753" y="0"/>
                </a:lnTo>
                <a:lnTo>
                  <a:pt x="4347857" y="2525"/>
                </a:lnTo>
                <a:lnTo>
                  <a:pt x="4481343" y="9285"/>
                </a:lnTo>
                <a:lnTo>
                  <a:pt x="4614830" y="20187"/>
                </a:lnTo>
                <a:lnTo>
                  <a:pt x="4617214" y="20419"/>
                </a:lnTo>
                <a:lnTo>
                  <a:pt x="4617214" y="20419"/>
                </a:lnTo>
              </a:path>
            </a:pathLst>
          </a:custGeom>
          <a:noFill/>
          <a:ln w="27811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polygon 118: plot geometry" descr="sci-ppt:obj-0118"/>
          <p:cNvSpPr/>
          <p:nvPr/>
        </p:nvSpPr>
        <p:spPr>
          <a:xfrm>
            <a:off x="7084396" y="3866573"/>
            <a:ext cx="4617214" cy="472029"/>
          </a:xfrm>
          <a:custGeom>
            <a:avLst/>
            <a:gdLst/>
            <a:ahLst/>
            <a:cxnLst/>
            <a:rect l="l" t="t" r="r" b="b"/>
            <a:pathLst>
              <a:path w="4617214" h="472029">
                <a:moveTo>
                  <a:pt x="0" y="472029"/>
                </a:moveTo>
                <a:lnTo>
                  <a:pt x="50057" y="470049"/>
                </a:lnTo>
                <a:lnTo>
                  <a:pt x="102498" y="463790"/>
                </a:lnTo>
                <a:lnTo>
                  <a:pt x="154940" y="453436"/>
                </a:lnTo>
                <a:lnTo>
                  <a:pt x="212148" y="437832"/>
                </a:lnTo>
                <a:lnTo>
                  <a:pt x="274124" y="416456"/>
                </a:lnTo>
                <a:lnTo>
                  <a:pt x="343251" y="388086"/>
                </a:lnTo>
                <a:lnTo>
                  <a:pt x="426681" y="349175"/>
                </a:lnTo>
                <a:lnTo>
                  <a:pt x="553016" y="285089"/>
                </a:lnTo>
                <a:lnTo>
                  <a:pt x="729410" y="196246"/>
                </a:lnTo>
                <a:lnTo>
                  <a:pt x="829525" y="150611"/>
                </a:lnTo>
                <a:lnTo>
                  <a:pt x="917722" y="114830"/>
                </a:lnTo>
                <a:lnTo>
                  <a:pt x="1001151" y="85339"/>
                </a:lnTo>
                <a:lnTo>
                  <a:pt x="1082196" y="60976"/>
                </a:lnTo>
                <a:lnTo>
                  <a:pt x="1163242" y="40891"/>
                </a:lnTo>
                <a:lnTo>
                  <a:pt x="1244288" y="25013"/>
                </a:lnTo>
                <a:lnTo>
                  <a:pt x="1327717" y="12899"/>
                </a:lnTo>
                <a:lnTo>
                  <a:pt x="1413530" y="4669"/>
                </a:lnTo>
                <a:lnTo>
                  <a:pt x="1501727" y="366"/>
                </a:lnTo>
                <a:lnTo>
                  <a:pt x="1594691" y="0"/>
                </a:lnTo>
                <a:lnTo>
                  <a:pt x="1692422" y="3765"/>
                </a:lnTo>
                <a:lnTo>
                  <a:pt x="1797305" y="11978"/>
                </a:lnTo>
                <a:lnTo>
                  <a:pt x="1911722" y="25181"/>
                </a:lnTo>
                <a:lnTo>
                  <a:pt x="2038058" y="44051"/>
                </a:lnTo>
                <a:lnTo>
                  <a:pt x="2181079" y="69746"/>
                </a:lnTo>
                <a:lnTo>
                  <a:pt x="2350321" y="104544"/>
                </a:lnTo>
                <a:lnTo>
                  <a:pt x="2572005" y="154639"/>
                </a:lnTo>
                <a:lnTo>
                  <a:pt x="3253741" y="311455"/>
                </a:lnTo>
                <a:lnTo>
                  <a:pt x="3458739" y="352789"/>
                </a:lnTo>
                <a:lnTo>
                  <a:pt x="3642283" y="385672"/>
                </a:lnTo>
                <a:lnTo>
                  <a:pt x="3813909" y="412290"/>
                </a:lnTo>
                <a:lnTo>
                  <a:pt x="3978384" y="433623"/>
                </a:lnTo>
                <a:lnTo>
                  <a:pt x="4135708" y="449888"/>
                </a:lnTo>
                <a:lnTo>
                  <a:pt x="4288264" y="461550"/>
                </a:lnTo>
                <a:lnTo>
                  <a:pt x="4438437" y="468884"/>
                </a:lnTo>
                <a:lnTo>
                  <a:pt x="4586226" y="471928"/>
                </a:lnTo>
                <a:lnTo>
                  <a:pt x="4617214" y="472029"/>
                </a:lnTo>
                <a:lnTo>
                  <a:pt x="4617214" y="472029"/>
                </a:lnTo>
              </a:path>
            </a:pathLst>
          </a:custGeom>
          <a:noFill/>
          <a:ln w="27811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0" name="line 119: plot geometry" descr="sci-ppt:obj-0119"/>
          <p:cNvCxnSpPr/>
          <p:nvPr/>
        </p:nvCxnSpPr>
        <p:spPr>
          <a:xfrm flipV="1">
            <a:off x="6853535" y="413804"/>
            <a:ext cx="0" cy="4111693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cxnSp>
        <p:nvCxnSpPr>
          <p:cNvPr id="121" name="line 120: plot geometry" descr="sci-ppt:obj-0120"/>
          <p:cNvCxnSpPr/>
          <p:nvPr/>
        </p:nvCxnSpPr>
        <p:spPr>
          <a:xfrm>
            <a:off x="6853535" y="4525497"/>
            <a:ext cx="5078936" cy="0"/>
          </a:xfrm>
          <a:prstGeom prst="line">
            <a:avLst/>
          </a:prstGeom>
          <a:ln w="14832">
            <a:solidFill>
              <a:srgbClr val="000000"/>
            </a:solidFill>
          </a:ln>
          <a:effectLst/>
        </p:spPr>
      </p:cxnSp>
      <p:sp>
        <p:nvSpPr>
          <p:cNvPr id="122" name="text 121: Open-gel first event" descr="sci-ppt:obj-0121"/>
          <p:cNvSpPr txBox="1"/>
          <p:nvPr/>
        </p:nvSpPr>
        <p:spPr>
          <a:xfrm>
            <a:off x="8253361" y="73388"/>
            <a:ext cx="2698583" cy="3003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1" b="0" i="0">
                <a:solidFill>
                  <a:srgbClr val="000000"/>
                </a:solidFill>
                <a:latin typeface="Arial"/>
              </a:rPr>
              <a:t>Open-gel first event</a:t>
            </a:r>
          </a:p>
        </p:txBody>
      </p:sp>
      <p:sp>
        <p:nvSpPr>
          <p:cNvPr id="123" name="polygon 122: plot geometry" descr="sci-ppt:obj-0122"/>
          <p:cNvSpPr/>
          <p:nvPr/>
        </p:nvSpPr>
        <p:spPr>
          <a:xfrm>
            <a:off x="6987031" y="608092"/>
            <a:ext cx="296659" cy="0"/>
          </a:xfrm>
          <a:custGeom>
            <a:avLst/>
            <a:gdLst/>
            <a:ahLst/>
            <a:cxnLst/>
            <a:rect l="l" t="t" r="r" b="b"/>
            <a:pathLst>
              <a:path w="296659" h="0">
                <a:moveTo>
                  <a:pt x="0" y="0"/>
                </a:moveTo>
                <a:lnTo>
                  <a:pt x="148330" y="0"/>
                </a:lnTo>
                <a:lnTo>
                  <a:pt x="296659" y="0"/>
                </a:lnTo>
              </a:path>
            </a:pathLst>
          </a:custGeom>
          <a:noFill/>
          <a:ln w="27811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 123: Elastic resistance" descr="sci-ppt:obj-0123"/>
          <p:cNvSpPr txBox="1"/>
          <p:nvPr/>
        </p:nvSpPr>
        <p:spPr>
          <a:xfrm>
            <a:off x="7374922" y="507228"/>
            <a:ext cx="1648410" cy="2002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7" b="0" i="0">
                <a:solidFill>
                  <a:srgbClr val="000000"/>
                </a:solidFill>
                <a:latin typeface="Arial"/>
              </a:rPr>
              <a:t>Elastic resistance</a:t>
            </a:r>
          </a:p>
        </p:txBody>
      </p:sp>
      <p:sp>
        <p:nvSpPr>
          <p:cNvPr id="125" name="polygon 124: plot geometry" descr="sci-ppt:obj-0124"/>
          <p:cNvSpPr/>
          <p:nvPr/>
        </p:nvSpPr>
        <p:spPr>
          <a:xfrm>
            <a:off x="6987031" y="830598"/>
            <a:ext cx="296659" cy="0"/>
          </a:xfrm>
          <a:custGeom>
            <a:avLst/>
            <a:gdLst/>
            <a:ahLst/>
            <a:cxnLst/>
            <a:rect l="l" t="t" r="r" b="b"/>
            <a:pathLst>
              <a:path w="296659" h="0">
                <a:moveTo>
                  <a:pt x="0" y="0"/>
                </a:moveTo>
                <a:lnTo>
                  <a:pt x="148330" y="0"/>
                </a:lnTo>
                <a:lnTo>
                  <a:pt x="296659" y="0"/>
                </a:lnTo>
              </a:path>
            </a:pathLst>
          </a:custGeom>
          <a:noFill/>
          <a:ln w="27811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 125: Elastic + viscous resistance" descr="sci-ppt:obj-0125"/>
          <p:cNvSpPr txBox="1"/>
          <p:nvPr/>
        </p:nvSpPr>
        <p:spPr>
          <a:xfrm>
            <a:off x="7374922" y="729734"/>
            <a:ext cx="2523554" cy="2002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7" b="0" i="0">
                <a:solidFill>
                  <a:srgbClr val="000000"/>
                </a:solidFill>
                <a:latin typeface="Arial"/>
              </a:rPr>
              <a:t>Elastic + viscous resistance</a:t>
            </a:r>
          </a:p>
        </p:txBody>
      </p:sp>
      <p:sp>
        <p:nvSpPr>
          <p:cNvPr id="127" name="polygon 126: plot geometry" descr="sci-ppt:obj-0126"/>
          <p:cNvSpPr/>
          <p:nvPr/>
        </p:nvSpPr>
        <p:spPr>
          <a:xfrm>
            <a:off x="6987031" y="1053104"/>
            <a:ext cx="296659" cy="0"/>
          </a:xfrm>
          <a:custGeom>
            <a:avLst/>
            <a:gdLst/>
            <a:ahLst/>
            <a:cxnLst/>
            <a:rect l="l" t="t" r="r" b="b"/>
            <a:pathLst>
              <a:path w="296659" h="0">
                <a:moveTo>
                  <a:pt x="0" y="0"/>
                </a:moveTo>
                <a:lnTo>
                  <a:pt x="148330" y="0"/>
                </a:lnTo>
                <a:lnTo>
                  <a:pt x="296659" y="0"/>
                </a:lnTo>
              </a:path>
            </a:pathLst>
          </a:custGeom>
          <a:noFill/>
          <a:ln w="27811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 127: Outlet dynamic pressure" descr="sci-ppt:obj-0127"/>
          <p:cNvSpPr txBox="1"/>
          <p:nvPr/>
        </p:nvSpPr>
        <p:spPr>
          <a:xfrm>
            <a:off x="7374922" y="952240"/>
            <a:ext cx="2085982" cy="2002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7" b="0" i="0">
                <a:solidFill>
                  <a:srgbClr val="000000"/>
                </a:solidFill>
                <a:latin typeface="Arial"/>
              </a:rPr>
              <a:t>Outlet dynamic pressure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5211911"/>
          </a:xfrm>
          <a:custGeom>
            <a:avLst/>
            <a:gdLst/>
            <a:ahLst/>
            <a:cxnLst/>
            <a:rect l="l" t="t" r="r" b="b"/>
            <a:pathLst>
              <a:path w="12191695" h="5211911">
                <a:moveTo>
                  <a:pt x="0" y="5211911"/>
                </a:moveTo>
                <a:lnTo>
                  <a:pt x="12191695" y="5211911"/>
                </a:lnTo>
                <a:lnTo>
                  <a:pt x="12191695" y="0"/>
                </a:lnTo>
                <a:lnTo>
                  <a:pt x="0" y="0"/>
                </a:lnTo>
                <a:lnTo>
                  <a:pt x="0" y="52119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931796" y="412075"/>
            <a:ext cx="5057709" cy="4094508"/>
          </a:xfrm>
          <a:custGeom>
            <a:avLst/>
            <a:gdLst/>
            <a:ahLst/>
            <a:cxnLst/>
            <a:rect l="l" t="t" r="r" b="b"/>
            <a:pathLst>
              <a:path w="5057709" h="4094508">
                <a:moveTo>
                  <a:pt x="0" y="4094508"/>
                </a:moveTo>
                <a:lnTo>
                  <a:pt x="5057709" y="4094508"/>
                </a:lnTo>
                <a:lnTo>
                  <a:pt x="5057709" y="0"/>
                </a:lnTo>
                <a:lnTo>
                  <a:pt x="0" y="0"/>
                </a:lnTo>
                <a:lnTo>
                  <a:pt x="0" y="40945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1672571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1672571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6" name="text 5: 1" descr="sci-ppt:obj-0005"/>
          <p:cNvSpPr txBox="1"/>
          <p:nvPr/>
        </p:nvSpPr>
        <p:spPr>
          <a:xfrm>
            <a:off x="1586402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7" name="line 6: plot geometry" descr="sci-ppt:obj-0006"/>
          <p:cNvCxnSpPr/>
          <p:nvPr/>
        </p:nvCxnSpPr>
        <p:spPr>
          <a:xfrm flipV="1">
            <a:off x="2694331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" name="line 7: plot geometry" descr="sci-ppt:obj-0007"/>
          <p:cNvCxnSpPr/>
          <p:nvPr/>
        </p:nvCxnSpPr>
        <p:spPr>
          <a:xfrm>
            <a:off x="2694331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9" name="text 8: 2" descr="sci-ppt:obj-0008"/>
          <p:cNvSpPr txBox="1"/>
          <p:nvPr/>
        </p:nvSpPr>
        <p:spPr>
          <a:xfrm>
            <a:off x="2608161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0" name="line 9: plot geometry" descr="sci-ppt:obj-0009"/>
          <p:cNvCxnSpPr/>
          <p:nvPr/>
        </p:nvCxnSpPr>
        <p:spPr>
          <a:xfrm flipV="1">
            <a:off x="3716090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1" name="line 10: plot geometry" descr="sci-ppt:obj-0010"/>
          <p:cNvCxnSpPr/>
          <p:nvPr/>
        </p:nvCxnSpPr>
        <p:spPr>
          <a:xfrm>
            <a:off x="3716090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2" name="text 11: 3" descr="sci-ppt:obj-0011"/>
          <p:cNvSpPr txBox="1"/>
          <p:nvPr/>
        </p:nvSpPr>
        <p:spPr>
          <a:xfrm>
            <a:off x="3629921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13" name="line 12: plot geometry" descr="sci-ppt:obj-0012"/>
          <p:cNvCxnSpPr/>
          <p:nvPr/>
        </p:nvCxnSpPr>
        <p:spPr>
          <a:xfrm flipV="1">
            <a:off x="4737850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4" name="line 13: plot geometry" descr="sci-ppt:obj-0013"/>
          <p:cNvCxnSpPr/>
          <p:nvPr/>
        </p:nvCxnSpPr>
        <p:spPr>
          <a:xfrm>
            <a:off x="4737850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5" name="text 14: 4" descr="sci-ppt:obj-0014"/>
          <p:cNvSpPr txBox="1"/>
          <p:nvPr/>
        </p:nvSpPr>
        <p:spPr>
          <a:xfrm>
            <a:off x="4651680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16" name="line 15: plot geometry" descr="sci-ppt:obj-0015"/>
          <p:cNvCxnSpPr/>
          <p:nvPr/>
        </p:nvCxnSpPr>
        <p:spPr>
          <a:xfrm flipV="1">
            <a:off x="5759609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7" name="line 16: plot geometry" descr="sci-ppt:obj-0016"/>
          <p:cNvCxnSpPr/>
          <p:nvPr/>
        </p:nvCxnSpPr>
        <p:spPr>
          <a:xfrm>
            <a:off x="5759609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8" name="text 17: 5" descr="sci-ppt:obj-0017"/>
          <p:cNvSpPr txBox="1"/>
          <p:nvPr/>
        </p:nvSpPr>
        <p:spPr>
          <a:xfrm>
            <a:off x="5673440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9" name="text 18: Available post-activation work (nJ)" descr="sci-ppt:obj-0018"/>
          <p:cNvSpPr txBox="1"/>
          <p:nvPr/>
        </p:nvSpPr>
        <p:spPr>
          <a:xfrm>
            <a:off x="1856231" y="4844440"/>
            <a:ext cx="3885904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Available post-activation work (nJ)</a:t>
            </a:r>
          </a:p>
        </p:txBody>
      </p:sp>
      <p:cxnSp>
        <p:nvCxnSpPr>
          <p:cNvPr id="20" name="line 19: plot geometry" descr="sci-ppt:obj-0019"/>
          <p:cNvCxnSpPr/>
          <p:nvPr/>
        </p:nvCxnSpPr>
        <p:spPr>
          <a:xfrm>
            <a:off x="931796" y="4485338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1" name="line 20: plot geometry" descr="sci-ppt:obj-0020"/>
          <p:cNvCxnSpPr/>
          <p:nvPr/>
        </p:nvCxnSpPr>
        <p:spPr>
          <a:xfrm flipH="1">
            <a:off x="867173" y="4485338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22" name="text 21: 5.0" descr="sci-ppt:obj-0021"/>
          <p:cNvSpPr txBox="1"/>
          <p:nvPr/>
        </p:nvSpPr>
        <p:spPr>
          <a:xfrm>
            <a:off x="481487" y="4365302"/>
            <a:ext cx="399959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5.0</a:t>
            </a:r>
          </a:p>
        </p:txBody>
      </p:sp>
      <p:cxnSp>
        <p:nvCxnSpPr>
          <p:cNvPr id="23" name="line 22: plot geometry" descr="sci-ppt:obj-0022"/>
          <p:cNvCxnSpPr/>
          <p:nvPr/>
        </p:nvCxnSpPr>
        <p:spPr>
          <a:xfrm>
            <a:off x="931796" y="4006149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4" name="line 23: plot geometry" descr="sci-ppt:obj-0023"/>
          <p:cNvCxnSpPr/>
          <p:nvPr/>
        </p:nvCxnSpPr>
        <p:spPr>
          <a:xfrm flipH="1">
            <a:off x="867173" y="4006149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25" name="text 24: 7.5" descr="sci-ppt:obj-0024"/>
          <p:cNvSpPr txBox="1"/>
          <p:nvPr/>
        </p:nvSpPr>
        <p:spPr>
          <a:xfrm>
            <a:off x="481487" y="3886113"/>
            <a:ext cx="399959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7.5</a:t>
            </a:r>
          </a:p>
        </p:txBody>
      </p:sp>
      <p:cxnSp>
        <p:nvCxnSpPr>
          <p:cNvPr id="26" name="line 25: plot geometry" descr="sci-ppt:obj-0025"/>
          <p:cNvCxnSpPr/>
          <p:nvPr/>
        </p:nvCxnSpPr>
        <p:spPr>
          <a:xfrm>
            <a:off x="931796" y="3526959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7" name="line 26: plot geometry" descr="sci-ppt:obj-0026"/>
          <p:cNvCxnSpPr/>
          <p:nvPr/>
        </p:nvCxnSpPr>
        <p:spPr>
          <a:xfrm flipH="1">
            <a:off x="867173" y="3526959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28" name="text 27: 10.0" descr="sci-ppt:obj-0027"/>
          <p:cNvSpPr txBox="1"/>
          <p:nvPr/>
        </p:nvSpPr>
        <p:spPr>
          <a:xfrm>
            <a:off x="364012" y="3406924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10.0</a:t>
            </a:r>
          </a:p>
        </p:txBody>
      </p:sp>
      <p:cxnSp>
        <p:nvCxnSpPr>
          <p:cNvPr id="29" name="line 28: plot geometry" descr="sci-ppt:obj-0028"/>
          <p:cNvCxnSpPr/>
          <p:nvPr/>
        </p:nvCxnSpPr>
        <p:spPr>
          <a:xfrm>
            <a:off x="931796" y="3047770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0" name="line 29: plot geometry" descr="sci-ppt:obj-0029"/>
          <p:cNvCxnSpPr/>
          <p:nvPr/>
        </p:nvCxnSpPr>
        <p:spPr>
          <a:xfrm flipH="1">
            <a:off x="867173" y="3047770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31" name="text 30: 12.5" descr="sci-ppt:obj-0030"/>
          <p:cNvSpPr txBox="1"/>
          <p:nvPr/>
        </p:nvSpPr>
        <p:spPr>
          <a:xfrm>
            <a:off x="364012" y="2927734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12.5</a:t>
            </a:r>
          </a:p>
        </p:txBody>
      </p:sp>
      <p:cxnSp>
        <p:nvCxnSpPr>
          <p:cNvPr id="32" name="line 31: plot geometry" descr="sci-ppt:obj-0031"/>
          <p:cNvCxnSpPr/>
          <p:nvPr/>
        </p:nvCxnSpPr>
        <p:spPr>
          <a:xfrm>
            <a:off x="931796" y="2568580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3" name="line 32: plot geometry" descr="sci-ppt:obj-0032"/>
          <p:cNvCxnSpPr/>
          <p:nvPr/>
        </p:nvCxnSpPr>
        <p:spPr>
          <a:xfrm flipH="1">
            <a:off x="867173" y="2568580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34" name="text 33: 15.0" descr="sci-ppt:obj-0033"/>
          <p:cNvSpPr txBox="1"/>
          <p:nvPr/>
        </p:nvSpPr>
        <p:spPr>
          <a:xfrm>
            <a:off x="364012" y="2448545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15.0</a:t>
            </a:r>
          </a:p>
        </p:txBody>
      </p:sp>
      <p:cxnSp>
        <p:nvCxnSpPr>
          <p:cNvPr id="35" name="line 34: plot geometry" descr="sci-ppt:obj-0034"/>
          <p:cNvCxnSpPr/>
          <p:nvPr/>
        </p:nvCxnSpPr>
        <p:spPr>
          <a:xfrm>
            <a:off x="931796" y="2089391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6" name="line 35: plot geometry" descr="sci-ppt:obj-0035"/>
          <p:cNvCxnSpPr/>
          <p:nvPr/>
        </p:nvCxnSpPr>
        <p:spPr>
          <a:xfrm flipH="1">
            <a:off x="867173" y="2089391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37" name="text 36: 17.5" descr="sci-ppt:obj-0036"/>
          <p:cNvSpPr txBox="1"/>
          <p:nvPr/>
        </p:nvSpPr>
        <p:spPr>
          <a:xfrm>
            <a:off x="364012" y="1969355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17.5</a:t>
            </a:r>
          </a:p>
        </p:txBody>
      </p:sp>
      <p:cxnSp>
        <p:nvCxnSpPr>
          <p:cNvPr id="38" name="line 37: plot geometry" descr="sci-ppt:obj-0037"/>
          <p:cNvCxnSpPr/>
          <p:nvPr/>
        </p:nvCxnSpPr>
        <p:spPr>
          <a:xfrm>
            <a:off x="931796" y="1610202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9" name="line 38: plot geometry" descr="sci-ppt:obj-0038"/>
          <p:cNvCxnSpPr/>
          <p:nvPr/>
        </p:nvCxnSpPr>
        <p:spPr>
          <a:xfrm flipH="1">
            <a:off x="867173" y="1610202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40" name="text 39: 20.0" descr="sci-ppt:obj-0039"/>
          <p:cNvSpPr txBox="1"/>
          <p:nvPr/>
        </p:nvSpPr>
        <p:spPr>
          <a:xfrm>
            <a:off x="364012" y="1490166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20.0</a:t>
            </a:r>
          </a:p>
        </p:txBody>
      </p:sp>
      <p:cxnSp>
        <p:nvCxnSpPr>
          <p:cNvPr id="41" name="line 40: plot geometry" descr="sci-ppt:obj-0040"/>
          <p:cNvCxnSpPr/>
          <p:nvPr/>
        </p:nvCxnSpPr>
        <p:spPr>
          <a:xfrm>
            <a:off x="931796" y="1131012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2" name="line 41: plot geometry" descr="sci-ppt:obj-0041"/>
          <p:cNvCxnSpPr/>
          <p:nvPr/>
        </p:nvCxnSpPr>
        <p:spPr>
          <a:xfrm flipH="1">
            <a:off x="867173" y="1131012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43" name="text 42: 22.5" descr="sci-ppt:obj-0042"/>
          <p:cNvSpPr txBox="1"/>
          <p:nvPr/>
        </p:nvSpPr>
        <p:spPr>
          <a:xfrm>
            <a:off x="364012" y="1010977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22.5</a:t>
            </a:r>
          </a:p>
        </p:txBody>
      </p:sp>
      <p:cxnSp>
        <p:nvCxnSpPr>
          <p:cNvPr id="44" name="line 43: plot geometry" descr="sci-ppt:obj-0043"/>
          <p:cNvCxnSpPr/>
          <p:nvPr/>
        </p:nvCxnSpPr>
        <p:spPr>
          <a:xfrm>
            <a:off x="931796" y="651823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 flipH="1">
            <a:off x="867173" y="651823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46" name="text 45: 25.0" descr="sci-ppt:obj-0045"/>
          <p:cNvSpPr txBox="1"/>
          <p:nvPr/>
        </p:nvSpPr>
        <p:spPr>
          <a:xfrm>
            <a:off x="364012" y="531787"/>
            <a:ext cx="508895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25.0</a:t>
            </a:r>
          </a:p>
        </p:txBody>
      </p:sp>
      <p:sp>
        <p:nvSpPr>
          <p:cNvPr id="47" name="text 46: Outlet speed (m/s)" descr="sci-ppt:obj-0046"/>
          <p:cNvSpPr txBox="1"/>
          <p:nvPr/>
        </p:nvSpPr>
        <p:spPr>
          <a:xfrm rot="16200000">
            <a:off x="-809478" y="2334699"/>
            <a:ext cx="199094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Outlet speed (m/s)</a:t>
            </a:r>
          </a:p>
        </p:txBody>
      </p:sp>
      <p:sp>
        <p:nvSpPr>
          <p:cNvPr id="48" name="polygon 47: plot geometry" descr="sci-ppt:obj-0047"/>
          <p:cNvSpPr/>
          <p:nvPr/>
        </p:nvSpPr>
        <p:spPr>
          <a:xfrm>
            <a:off x="1161692" y="598189"/>
            <a:ext cx="4597917" cy="3204761"/>
          </a:xfrm>
          <a:custGeom>
            <a:avLst/>
            <a:gdLst/>
            <a:ahLst/>
            <a:cxnLst/>
            <a:rect l="l" t="t" r="r" b="b"/>
            <a:pathLst>
              <a:path w="4597917" h="3204761">
                <a:moveTo>
                  <a:pt x="0" y="3204761"/>
                </a:moveTo>
                <a:lnTo>
                  <a:pt x="1532639" y="1532138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gon 48: plot geometry" descr="sci-ppt:obj-0048"/>
          <p:cNvSpPr/>
          <p:nvPr/>
        </p:nvSpPr>
        <p:spPr>
          <a:xfrm>
            <a:off x="1161692" y="1159657"/>
            <a:ext cx="4597917" cy="2737553"/>
          </a:xfrm>
          <a:custGeom>
            <a:avLst/>
            <a:gdLst/>
            <a:ahLst/>
            <a:cxnLst/>
            <a:rect l="l" t="t" r="r" b="b"/>
            <a:pathLst>
              <a:path w="4597917" h="2737553">
                <a:moveTo>
                  <a:pt x="0" y="2737553"/>
                </a:moveTo>
                <a:lnTo>
                  <a:pt x="1532639" y="1336838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 49: plot geometry" descr="sci-ppt:obj-0049"/>
          <p:cNvSpPr/>
          <p:nvPr/>
        </p:nvSpPr>
        <p:spPr>
          <a:xfrm>
            <a:off x="1161692" y="2261521"/>
            <a:ext cx="4597917" cy="2058948"/>
          </a:xfrm>
          <a:custGeom>
            <a:avLst/>
            <a:gdLst/>
            <a:ahLst/>
            <a:cxnLst/>
            <a:rect l="l" t="t" r="r" b="b"/>
            <a:pathLst>
              <a:path w="4597917" h="2058948">
                <a:moveTo>
                  <a:pt x="0" y="2058948"/>
                </a:moveTo>
                <a:lnTo>
                  <a:pt x="1532639" y="1028232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line 50: plot geometry" descr="sci-ppt:obj-0050"/>
          <p:cNvCxnSpPr/>
          <p:nvPr/>
        </p:nvCxnSpPr>
        <p:spPr>
          <a:xfrm flipV="1">
            <a:off x="931796" y="412075"/>
            <a:ext cx="0" cy="4094508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cxnSp>
        <p:nvCxnSpPr>
          <p:cNvPr id="52" name="line 51: plot geometry" descr="sci-ppt:obj-0051"/>
          <p:cNvCxnSpPr/>
          <p:nvPr/>
        </p:nvCxnSpPr>
        <p:spPr>
          <a:xfrm>
            <a:off x="931796" y="4506583"/>
            <a:ext cx="5057709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53" name="text 52: Maximum speed by case" descr="sci-ppt:obj-0052"/>
          <p:cNvSpPr txBox="1"/>
          <p:nvPr/>
        </p:nvSpPr>
        <p:spPr>
          <a:xfrm>
            <a:off x="2056473" y="73081"/>
            <a:ext cx="2818333" cy="2991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44" b="0" i="0">
                <a:solidFill>
                  <a:srgbClr val="000000"/>
                </a:solidFill>
                <a:latin typeface="Arial"/>
              </a:rPr>
              <a:t>Maximum speed by case</a:t>
            </a:r>
          </a:p>
        </p:txBody>
      </p:sp>
      <p:sp>
        <p:nvSpPr>
          <p:cNvPr id="54" name="polygon 53: plot geometry" descr="sci-ppt:obj-0053"/>
          <p:cNvSpPr/>
          <p:nvPr/>
        </p:nvSpPr>
        <p:spPr>
          <a:xfrm>
            <a:off x="1064734" y="605551"/>
            <a:ext cx="295419" cy="0"/>
          </a:xfrm>
          <a:custGeom>
            <a:avLst/>
            <a:gdLst/>
            <a:ahLst/>
            <a:cxnLst/>
            <a:rect l="l" t="t" r="r" b="b"/>
            <a:pathLst>
              <a:path w="295419" h="0">
                <a:moveTo>
                  <a:pt x="0" y="0"/>
                </a:moveTo>
                <a:lnTo>
                  <a:pt x="147710" y="0"/>
                </a:lnTo>
                <a:lnTo>
                  <a:pt x="295419" y="0"/>
                </a:lnTo>
              </a:path>
            </a:pathLst>
          </a:custGeom>
          <a:noFill/>
          <a:ln w="27695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gon 54: plot geometry" descr="sci-ppt:obj-0054"/>
          <p:cNvSpPr/>
          <p:nvPr/>
        </p:nvSpPr>
        <p:spPr>
          <a:xfrm>
            <a:off x="1157053" y="550160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2"/>
                </a:lnTo>
                <a:lnTo>
                  <a:pt x="66247" y="109708"/>
                </a:lnTo>
                <a:lnTo>
                  <a:pt x="69766" y="108884"/>
                </a:lnTo>
                <a:lnTo>
                  <a:pt x="73216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0" y="99367"/>
                </a:lnTo>
                <a:lnTo>
                  <a:pt x="91886" y="97060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5" y="86122"/>
                </a:lnTo>
                <a:lnTo>
                  <a:pt x="103381" y="83052"/>
                </a:lnTo>
                <a:lnTo>
                  <a:pt x="105079" y="79870"/>
                </a:lnTo>
                <a:lnTo>
                  <a:pt x="106565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2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3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5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5" y="24660"/>
                </a:lnTo>
                <a:lnTo>
                  <a:pt x="99367" y="21711"/>
                </a:lnTo>
                <a:lnTo>
                  <a:pt x="97060" y="18896"/>
                </a:lnTo>
                <a:lnTo>
                  <a:pt x="94558" y="16224"/>
                </a:lnTo>
                <a:lnTo>
                  <a:pt x="91886" y="13722"/>
                </a:lnTo>
                <a:lnTo>
                  <a:pt x="89070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3"/>
                </a:lnTo>
                <a:lnTo>
                  <a:pt x="76588" y="4216"/>
                </a:lnTo>
                <a:lnTo>
                  <a:pt x="73216" y="2947"/>
                </a:lnTo>
                <a:lnTo>
                  <a:pt x="69766" y="1898"/>
                </a:lnTo>
                <a:lnTo>
                  <a:pt x="66247" y="1074"/>
                </a:lnTo>
                <a:lnTo>
                  <a:pt x="62672" y="480"/>
                </a:lnTo>
                <a:lnTo>
                  <a:pt x="59049" y="121"/>
                </a:lnTo>
                <a:lnTo>
                  <a:pt x="55391" y="0"/>
                </a:lnTo>
                <a:lnTo>
                  <a:pt x="51733" y="121"/>
                </a:lnTo>
                <a:lnTo>
                  <a:pt x="48110" y="480"/>
                </a:lnTo>
                <a:lnTo>
                  <a:pt x="44534" y="1074"/>
                </a:lnTo>
                <a:lnTo>
                  <a:pt x="41016" y="1898"/>
                </a:lnTo>
                <a:lnTo>
                  <a:pt x="37565" y="2947"/>
                </a:lnTo>
                <a:lnTo>
                  <a:pt x="34194" y="4216"/>
                </a:lnTo>
                <a:lnTo>
                  <a:pt x="30912" y="5703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4"/>
                </a:lnTo>
                <a:lnTo>
                  <a:pt x="13722" y="18896"/>
                </a:lnTo>
                <a:lnTo>
                  <a:pt x="11415" y="21711"/>
                </a:lnTo>
                <a:lnTo>
                  <a:pt x="9306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6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3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2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6" y="76588"/>
                </a:lnTo>
                <a:lnTo>
                  <a:pt x="5703" y="79870"/>
                </a:lnTo>
                <a:lnTo>
                  <a:pt x="7401" y="83052"/>
                </a:lnTo>
                <a:lnTo>
                  <a:pt x="9306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60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4" y="109708"/>
                </a:lnTo>
                <a:lnTo>
                  <a:pt x="48110" y="110302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3479CB"/>
          </a:solidFill>
          <a:ln w="18463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 55: Outlet radius 3 µm" descr="sci-ppt:obj-0055"/>
          <p:cNvSpPr txBox="1"/>
          <p:nvPr/>
        </p:nvSpPr>
        <p:spPr>
          <a:xfrm>
            <a:off x="1450889" y="505108"/>
            <a:ext cx="1641827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Outlet radius 3 µm</a:t>
            </a:r>
          </a:p>
        </p:txBody>
      </p:sp>
      <p:sp>
        <p:nvSpPr>
          <p:cNvPr id="57" name="polygon 56: plot geometry" descr="sci-ppt:obj-0056"/>
          <p:cNvSpPr/>
          <p:nvPr/>
        </p:nvSpPr>
        <p:spPr>
          <a:xfrm>
            <a:off x="1064734" y="827127"/>
            <a:ext cx="295419" cy="0"/>
          </a:xfrm>
          <a:custGeom>
            <a:avLst/>
            <a:gdLst/>
            <a:ahLst/>
            <a:cxnLst/>
            <a:rect l="l" t="t" r="r" b="b"/>
            <a:pathLst>
              <a:path w="295419" h="0">
                <a:moveTo>
                  <a:pt x="0" y="0"/>
                </a:moveTo>
                <a:lnTo>
                  <a:pt x="147710" y="0"/>
                </a:lnTo>
                <a:lnTo>
                  <a:pt x="295419" y="0"/>
                </a:lnTo>
              </a:path>
            </a:pathLst>
          </a:custGeom>
          <a:noFill/>
          <a:ln w="27695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gon 57: plot geometry" descr="sci-ppt:obj-0057"/>
          <p:cNvSpPr/>
          <p:nvPr/>
        </p:nvSpPr>
        <p:spPr>
          <a:xfrm>
            <a:off x="1157053" y="771736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1"/>
                </a:lnTo>
                <a:lnTo>
                  <a:pt x="66247" y="109708"/>
                </a:lnTo>
                <a:lnTo>
                  <a:pt x="69766" y="108884"/>
                </a:lnTo>
                <a:lnTo>
                  <a:pt x="73216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0" y="99367"/>
                </a:lnTo>
                <a:lnTo>
                  <a:pt x="91886" y="97059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5" y="86122"/>
                </a:lnTo>
                <a:lnTo>
                  <a:pt x="103381" y="83052"/>
                </a:lnTo>
                <a:lnTo>
                  <a:pt x="105079" y="79870"/>
                </a:lnTo>
                <a:lnTo>
                  <a:pt x="106565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1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3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5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5" y="24660"/>
                </a:lnTo>
                <a:lnTo>
                  <a:pt x="99367" y="21711"/>
                </a:lnTo>
                <a:lnTo>
                  <a:pt x="97060" y="18896"/>
                </a:lnTo>
                <a:lnTo>
                  <a:pt x="94558" y="16223"/>
                </a:lnTo>
                <a:lnTo>
                  <a:pt x="91886" y="13722"/>
                </a:lnTo>
                <a:lnTo>
                  <a:pt x="89070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3"/>
                </a:lnTo>
                <a:lnTo>
                  <a:pt x="76588" y="4216"/>
                </a:lnTo>
                <a:lnTo>
                  <a:pt x="73216" y="2947"/>
                </a:lnTo>
                <a:lnTo>
                  <a:pt x="69766" y="1898"/>
                </a:lnTo>
                <a:lnTo>
                  <a:pt x="66247" y="1074"/>
                </a:lnTo>
                <a:lnTo>
                  <a:pt x="62672" y="480"/>
                </a:lnTo>
                <a:lnTo>
                  <a:pt x="59049" y="121"/>
                </a:lnTo>
                <a:lnTo>
                  <a:pt x="55391" y="0"/>
                </a:lnTo>
                <a:lnTo>
                  <a:pt x="51733" y="121"/>
                </a:lnTo>
                <a:lnTo>
                  <a:pt x="48110" y="480"/>
                </a:lnTo>
                <a:lnTo>
                  <a:pt x="44534" y="1074"/>
                </a:lnTo>
                <a:lnTo>
                  <a:pt x="41016" y="1898"/>
                </a:lnTo>
                <a:lnTo>
                  <a:pt x="37565" y="2947"/>
                </a:lnTo>
                <a:lnTo>
                  <a:pt x="34194" y="4216"/>
                </a:lnTo>
                <a:lnTo>
                  <a:pt x="30912" y="5703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3"/>
                </a:lnTo>
                <a:lnTo>
                  <a:pt x="13722" y="18896"/>
                </a:lnTo>
                <a:lnTo>
                  <a:pt x="11415" y="21711"/>
                </a:lnTo>
                <a:lnTo>
                  <a:pt x="9306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6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3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1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6" y="76588"/>
                </a:lnTo>
                <a:lnTo>
                  <a:pt x="5703" y="79870"/>
                </a:lnTo>
                <a:lnTo>
                  <a:pt x="7401" y="83052"/>
                </a:lnTo>
                <a:lnTo>
                  <a:pt x="9306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59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4" y="109708"/>
                </a:lnTo>
                <a:lnTo>
                  <a:pt x="48110" y="110301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D16B34"/>
          </a:solidFill>
          <a:ln w="18463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 58: Outlet radius 5 µm" descr="sci-ppt:obj-0058"/>
          <p:cNvSpPr txBox="1"/>
          <p:nvPr/>
        </p:nvSpPr>
        <p:spPr>
          <a:xfrm>
            <a:off x="1450889" y="726684"/>
            <a:ext cx="1641827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Outlet radius 5 µm</a:t>
            </a:r>
          </a:p>
        </p:txBody>
      </p:sp>
      <p:sp>
        <p:nvSpPr>
          <p:cNvPr id="60" name="polygon 59: plot geometry" descr="sci-ppt:obj-0059"/>
          <p:cNvSpPr/>
          <p:nvPr/>
        </p:nvSpPr>
        <p:spPr>
          <a:xfrm>
            <a:off x="1064734" y="1048703"/>
            <a:ext cx="295419" cy="0"/>
          </a:xfrm>
          <a:custGeom>
            <a:avLst/>
            <a:gdLst/>
            <a:ahLst/>
            <a:cxnLst/>
            <a:rect l="l" t="t" r="r" b="b"/>
            <a:pathLst>
              <a:path w="295419" h="0">
                <a:moveTo>
                  <a:pt x="0" y="0"/>
                </a:moveTo>
                <a:lnTo>
                  <a:pt x="147710" y="0"/>
                </a:lnTo>
                <a:lnTo>
                  <a:pt x="295419" y="0"/>
                </a:lnTo>
              </a:path>
            </a:pathLst>
          </a:custGeom>
          <a:noFill/>
          <a:ln w="27695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olygon 60: plot geometry" descr="sci-ppt:obj-0060"/>
          <p:cNvSpPr/>
          <p:nvPr/>
        </p:nvSpPr>
        <p:spPr>
          <a:xfrm>
            <a:off x="1157053" y="993312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1"/>
                </a:lnTo>
                <a:lnTo>
                  <a:pt x="66247" y="109708"/>
                </a:lnTo>
                <a:lnTo>
                  <a:pt x="69766" y="108884"/>
                </a:lnTo>
                <a:lnTo>
                  <a:pt x="73216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0" y="99367"/>
                </a:lnTo>
                <a:lnTo>
                  <a:pt x="91886" y="97059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5" y="86122"/>
                </a:lnTo>
                <a:lnTo>
                  <a:pt x="103381" y="83051"/>
                </a:lnTo>
                <a:lnTo>
                  <a:pt x="105079" y="79870"/>
                </a:lnTo>
                <a:lnTo>
                  <a:pt x="106565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1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2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5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5" y="24660"/>
                </a:lnTo>
                <a:lnTo>
                  <a:pt x="99367" y="21711"/>
                </a:lnTo>
                <a:lnTo>
                  <a:pt x="97060" y="18895"/>
                </a:lnTo>
                <a:lnTo>
                  <a:pt x="94558" y="16223"/>
                </a:lnTo>
                <a:lnTo>
                  <a:pt x="91886" y="13722"/>
                </a:lnTo>
                <a:lnTo>
                  <a:pt x="89070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2"/>
                </a:lnTo>
                <a:lnTo>
                  <a:pt x="76588" y="4216"/>
                </a:lnTo>
                <a:lnTo>
                  <a:pt x="73216" y="2946"/>
                </a:lnTo>
                <a:lnTo>
                  <a:pt x="69766" y="1897"/>
                </a:lnTo>
                <a:lnTo>
                  <a:pt x="66247" y="1074"/>
                </a:lnTo>
                <a:lnTo>
                  <a:pt x="62672" y="480"/>
                </a:lnTo>
                <a:lnTo>
                  <a:pt x="59049" y="120"/>
                </a:lnTo>
                <a:lnTo>
                  <a:pt x="55391" y="0"/>
                </a:lnTo>
                <a:lnTo>
                  <a:pt x="51733" y="120"/>
                </a:lnTo>
                <a:lnTo>
                  <a:pt x="48110" y="480"/>
                </a:lnTo>
                <a:lnTo>
                  <a:pt x="44534" y="1074"/>
                </a:lnTo>
                <a:lnTo>
                  <a:pt x="41016" y="1897"/>
                </a:lnTo>
                <a:lnTo>
                  <a:pt x="37565" y="2946"/>
                </a:lnTo>
                <a:lnTo>
                  <a:pt x="34194" y="4216"/>
                </a:lnTo>
                <a:lnTo>
                  <a:pt x="30912" y="5702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3"/>
                </a:lnTo>
                <a:lnTo>
                  <a:pt x="13722" y="18895"/>
                </a:lnTo>
                <a:lnTo>
                  <a:pt x="11415" y="21711"/>
                </a:lnTo>
                <a:lnTo>
                  <a:pt x="9306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6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2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1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6" y="76588"/>
                </a:lnTo>
                <a:lnTo>
                  <a:pt x="5703" y="79870"/>
                </a:lnTo>
                <a:lnTo>
                  <a:pt x="7401" y="83051"/>
                </a:lnTo>
                <a:lnTo>
                  <a:pt x="9306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59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4" y="109708"/>
                </a:lnTo>
                <a:lnTo>
                  <a:pt x="48110" y="110301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9460A5"/>
          </a:solidFill>
          <a:ln w="18463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 61: Outlet radius 10 µm" descr="sci-ppt:obj-0061"/>
          <p:cNvSpPr txBox="1"/>
          <p:nvPr/>
        </p:nvSpPr>
        <p:spPr>
          <a:xfrm>
            <a:off x="1450889" y="948260"/>
            <a:ext cx="1728976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Outlet radius 10 µm</a:t>
            </a:r>
          </a:p>
        </p:txBody>
      </p:sp>
      <p:sp>
        <p:nvSpPr>
          <p:cNvPr id="63" name="polygon 62: plot geometry" descr="sci-ppt:obj-0062"/>
          <p:cNvSpPr/>
          <p:nvPr/>
        </p:nvSpPr>
        <p:spPr>
          <a:xfrm>
            <a:off x="7001047" y="412075"/>
            <a:ext cx="5057709" cy="4094508"/>
          </a:xfrm>
          <a:custGeom>
            <a:avLst/>
            <a:gdLst/>
            <a:ahLst/>
            <a:cxnLst/>
            <a:rect l="l" t="t" r="r" b="b"/>
            <a:pathLst>
              <a:path w="5057709" h="4094508">
                <a:moveTo>
                  <a:pt x="0" y="4094508"/>
                </a:moveTo>
                <a:lnTo>
                  <a:pt x="5057709" y="4094508"/>
                </a:lnTo>
                <a:lnTo>
                  <a:pt x="5057709" y="0"/>
                </a:lnTo>
                <a:lnTo>
                  <a:pt x="0" y="0"/>
                </a:lnTo>
                <a:lnTo>
                  <a:pt x="0" y="40945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line 63: plot geometry" descr="sci-ppt:obj-0063"/>
          <p:cNvCxnSpPr/>
          <p:nvPr/>
        </p:nvCxnSpPr>
        <p:spPr>
          <a:xfrm flipV="1">
            <a:off x="7741822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5" name="line 64: plot geometry" descr="sci-ppt:obj-0064"/>
          <p:cNvCxnSpPr/>
          <p:nvPr/>
        </p:nvCxnSpPr>
        <p:spPr>
          <a:xfrm>
            <a:off x="7741822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66" name="text 65: 1" descr="sci-ppt:obj-0065"/>
          <p:cNvSpPr txBox="1"/>
          <p:nvPr/>
        </p:nvSpPr>
        <p:spPr>
          <a:xfrm>
            <a:off x="7655653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67" name="line 66: plot geometry" descr="sci-ppt:obj-0066"/>
          <p:cNvCxnSpPr/>
          <p:nvPr/>
        </p:nvCxnSpPr>
        <p:spPr>
          <a:xfrm flipV="1">
            <a:off x="8763582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8" name="line 67: plot geometry" descr="sci-ppt:obj-0067"/>
          <p:cNvCxnSpPr/>
          <p:nvPr/>
        </p:nvCxnSpPr>
        <p:spPr>
          <a:xfrm>
            <a:off x="8763582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69" name="text 68: 2" descr="sci-ppt:obj-0068"/>
          <p:cNvSpPr txBox="1"/>
          <p:nvPr/>
        </p:nvSpPr>
        <p:spPr>
          <a:xfrm>
            <a:off x="8677412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70" name="line 69: plot geometry" descr="sci-ppt:obj-0069"/>
          <p:cNvCxnSpPr/>
          <p:nvPr/>
        </p:nvCxnSpPr>
        <p:spPr>
          <a:xfrm flipV="1">
            <a:off x="9785341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1" name="line 70: plot geometry" descr="sci-ppt:obj-0070"/>
          <p:cNvCxnSpPr/>
          <p:nvPr/>
        </p:nvCxnSpPr>
        <p:spPr>
          <a:xfrm>
            <a:off x="9785341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72" name="text 71: 3" descr="sci-ppt:obj-0071"/>
          <p:cNvSpPr txBox="1"/>
          <p:nvPr/>
        </p:nvSpPr>
        <p:spPr>
          <a:xfrm>
            <a:off x="9699172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73" name="line 72: plot geometry" descr="sci-ppt:obj-0072"/>
          <p:cNvCxnSpPr/>
          <p:nvPr/>
        </p:nvCxnSpPr>
        <p:spPr>
          <a:xfrm flipV="1">
            <a:off x="10807101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4" name="line 73: plot geometry" descr="sci-ppt:obj-0073"/>
          <p:cNvCxnSpPr/>
          <p:nvPr/>
        </p:nvCxnSpPr>
        <p:spPr>
          <a:xfrm>
            <a:off x="10807101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75" name="text 74: 4" descr="sci-ppt:obj-0074"/>
          <p:cNvSpPr txBox="1"/>
          <p:nvPr/>
        </p:nvSpPr>
        <p:spPr>
          <a:xfrm>
            <a:off x="10720931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76" name="line 75: plot geometry" descr="sci-ppt:obj-0075"/>
          <p:cNvCxnSpPr/>
          <p:nvPr/>
        </p:nvCxnSpPr>
        <p:spPr>
          <a:xfrm flipV="1">
            <a:off x="11828860" y="412075"/>
            <a:ext cx="0" cy="4094508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7" name="line 76: plot geometry" descr="sci-ppt:obj-0076"/>
          <p:cNvCxnSpPr/>
          <p:nvPr/>
        </p:nvCxnSpPr>
        <p:spPr>
          <a:xfrm>
            <a:off x="11828860" y="4506583"/>
            <a:ext cx="0" cy="64623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78" name="text 77: 5" descr="sci-ppt:obj-0077"/>
          <p:cNvSpPr txBox="1"/>
          <p:nvPr/>
        </p:nvSpPr>
        <p:spPr>
          <a:xfrm>
            <a:off x="11742691" y="4585934"/>
            <a:ext cx="182087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79" name="text 78: Available post-activation work (nJ)" descr="sci-ppt:obj-0078"/>
          <p:cNvSpPr txBox="1"/>
          <p:nvPr/>
        </p:nvSpPr>
        <p:spPr>
          <a:xfrm>
            <a:off x="7925483" y="4844440"/>
            <a:ext cx="3885904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Available post-activation work (nJ)</a:t>
            </a:r>
          </a:p>
        </p:txBody>
      </p:sp>
      <p:cxnSp>
        <p:nvCxnSpPr>
          <p:cNvPr id="80" name="line 79: plot geometry" descr="sci-ppt:obj-0079"/>
          <p:cNvCxnSpPr/>
          <p:nvPr/>
        </p:nvCxnSpPr>
        <p:spPr>
          <a:xfrm>
            <a:off x="7001047" y="4123526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1" name="line 80: plot geometry" descr="sci-ppt:obj-0080"/>
          <p:cNvCxnSpPr/>
          <p:nvPr/>
        </p:nvCxnSpPr>
        <p:spPr>
          <a:xfrm flipH="1">
            <a:off x="6936424" y="4123526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82" name="text 81: 10" descr="sci-ppt:obj-0081"/>
          <p:cNvSpPr txBox="1"/>
          <p:nvPr/>
        </p:nvSpPr>
        <p:spPr>
          <a:xfrm>
            <a:off x="6609419" y="4003490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83" name="line 82: plot geometry" descr="sci-ppt:obj-0082"/>
          <p:cNvCxnSpPr/>
          <p:nvPr/>
        </p:nvCxnSpPr>
        <p:spPr>
          <a:xfrm>
            <a:off x="7001047" y="3647800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4" name="line 83: plot geometry" descr="sci-ppt:obj-0083"/>
          <p:cNvCxnSpPr/>
          <p:nvPr/>
        </p:nvCxnSpPr>
        <p:spPr>
          <a:xfrm flipH="1">
            <a:off x="6936424" y="3647800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85" name="text 84: 20" descr="sci-ppt:obj-0084"/>
          <p:cNvSpPr txBox="1"/>
          <p:nvPr/>
        </p:nvSpPr>
        <p:spPr>
          <a:xfrm>
            <a:off x="6609419" y="3527764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86" name="line 85: plot geometry" descr="sci-ppt:obj-0085"/>
          <p:cNvCxnSpPr/>
          <p:nvPr/>
        </p:nvCxnSpPr>
        <p:spPr>
          <a:xfrm>
            <a:off x="7001047" y="3172074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7" name="line 86: plot geometry" descr="sci-ppt:obj-0086"/>
          <p:cNvCxnSpPr/>
          <p:nvPr/>
        </p:nvCxnSpPr>
        <p:spPr>
          <a:xfrm flipH="1">
            <a:off x="6936424" y="3172074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88" name="text 87: 30" descr="sci-ppt:obj-0087"/>
          <p:cNvSpPr txBox="1"/>
          <p:nvPr/>
        </p:nvSpPr>
        <p:spPr>
          <a:xfrm>
            <a:off x="6609419" y="3052039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89" name="line 88: plot geometry" descr="sci-ppt:obj-0088"/>
          <p:cNvCxnSpPr/>
          <p:nvPr/>
        </p:nvCxnSpPr>
        <p:spPr>
          <a:xfrm>
            <a:off x="7001047" y="2696349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0" name="line 89: plot geometry" descr="sci-ppt:obj-0089"/>
          <p:cNvCxnSpPr/>
          <p:nvPr/>
        </p:nvCxnSpPr>
        <p:spPr>
          <a:xfrm flipH="1">
            <a:off x="6936424" y="2696349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91" name="text 90: 40" descr="sci-ppt:obj-0090"/>
          <p:cNvSpPr txBox="1"/>
          <p:nvPr/>
        </p:nvSpPr>
        <p:spPr>
          <a:xfrm>
            <a:off x="6609419" y="2576313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cxnSp>
        <p:nvCxnSpPr>
          <p:cNvPr id="92" name="line 91: plot geometry" descr="sci-ppt:obj-0091"/>
          <p:cNvCxnSpPr/>
          <p:nvPr/>
        </p:nvCxnSpPr>
        <p:spPr>
          <a:xfrm>
            <a:off x="7001047" y="2220623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3" name="line 92: plot geometry" descr="sci-ppt:obj-0092"/>
          <p:cNvCxnSpPr/>
          <p:nvPr/>
        </p:nvCxnSpPr>
        <p:spPr>
          <a:xfrm flipH="1">
            <a:off x="6936424" y="2220623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94" name="text 93: 50" descr="sci-ppt:obj-0093"/>
          <p:cNvSpPr txBox="1"/>
          <p:nvPr/>
        </p:nvSpPr>
        <p:spPr>
          <a:xfrm>
            <a:off x="6609419" y="2100587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cxnSp>
        <p:nvCxnSpPr>
          <p:cNvPr id="95" name="line 94: plot geometry" descr="sci-ppt:obj-0094"/>
          <p:cNvCxnSpPr/>
          <p:nvPr/>
        </p:nvCxnSpPr>
        <p:spPr>
          <a:xfrm>
            <a:off x="7001047" y="1744897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6" name="line 95: plot geometry" descr="sci-ppt:obj-0095"/>
          <p:cNvCxnSpPr/>
          <p:nvPr/>
        </p:nvCxnSpPr>
        <p:spPr>
          <a:xfrm flipH="1">
            <a:off x="6936424" y="1744897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97" name="text 96: 60" descr="sci-ppt:obj-0096"/>
          <p:cNvSpPr txBox="1"/>
          <p:nvPr/>
        </p:nvSpPr>
        <p:spPr>
          <a:xfrm>
            <a:off x="6609419" y="1624862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cxnSp>
        <p:nvCxnSpPr>
          <p:cNvPr id="98" name="line 97: plot geometry" descr="sci-ppt:obj-0097"/>
          <p:cNvCxnSpPr/>
          <p:nvPr/>
        </p:nvCxnSpPr>
        <p:spPr>
          <a:xfrm>
            <a:off x="7001047" y="1269172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9" name="line 98: plot geometry" descr="sci-ppt:obj-0098"/>
          <p:cNvCxnSpPr/>
          <p:nvPr/>
        </p:nvCxnSpPr>
        <p:spPr>
          <a:xfrm flipH="1">
            <a:off x="6936424" y="1269172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00" name="text 99: 70" descr="sci-ppt:obj-0099"/>
          <p:cNvSpPr txBox="1"/>
          <p:nvPr/>
        </p:nvSpPr>
        <p:spPr>
          <a:xfrm>
            <a:off x="6609419" y="1149136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  <p:cxnSp>
        <p:nvCxnSpPr>
          <p:cNvPr id="101" name="line 100: plot geometry" descr="sci-ppt:obj-0100"/>
          <p:cNvCxnSpPr/>
          <p:nvPr/>
        </p:nvCxnSpPr>
        <p:spPr>
          <a:xfrm>
            <a:off x="7001047" y="793446"/>
            <a:ext cx="5057709" cy="0"/>
          </a:xfrm>
          <a:prstGeom prst="line">
            <a:avLst/>
          </a:prstGeom>
          <a:ln w="14770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2" name="line 101: plot geometry" descr="sci-ppt:obj-0101"/>
          <p:cNvCxnSpPr/>
          <p:nvPr/>
        </p:nvCxnSpPr>
        <p:spPr>
          <a:xfrm flipH="1">
            <a:off x="6936424" y="793446"/>
            <a:ext cx="64623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03" name="text 102: 80" descr="sci-ppt:obj-0102"/>
          <p:cNvSpPr txBox="1"/>
          <p:nvPr/>
        </p:nvSpPr>
        <p:spPr>
          <a:xfrm>
            <a:off x="6609419" y="673411"/>
            <a:ext cx="29102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04" name="text 103: Outlet speed (m/s)" descr="sci-ppt:obj-0103"/>
          <p:cNvSpPr txBox="1"/>
          <p:nvPr/>
        </p:nvSpPr>
        <p:spPr>
          <a:xfrm rot="16200000">
            <a:off x="5435927" y="2334699"/>
            <a:ext cx="1990943" cy="249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3" b="0" i="0">
                <a:solidFill>
                  <a:srgbClr val="000000"/>
                </a:solidFill>
                <a:latin typeface="Arial"/>
              </a:rPr>
              <a:t>Outlet speed (m/s)</a:t>
            </a:r>
          </a:p>
        </p:txBody>
      </p:sp>
      <p:sp>
        <p:nvSpPr>
          <p:cNvPr id="105" name="polygon 104: plot geometry" descr="sci-ppt:obj-0104"/>
          <p:cNvSpPr/>
          <p:nvPr/>
        </p:nvSpPr>
        <p:spPr>
          <a:xfrm>
            <a:off x="7230943" y="598189"/>
            <a:ext cx="4597917" cy="2735815"/>
          </a:xfrm>
          <a:custGeom>
            <a:avLst/>
            <a:gdLst/>
            <a:ahLst/>
            <a:cxnLst/>
            <a:rect l="l" t="t" r="r" b="b"/>
            <a:pathLst>
              <a:path w="4597917" h="2735815">
                <a:moveTo>
                  <a:pt x="0" y="2735815"/>
                </a:moveTo>
                <a:lnTo>
                  <a:pt x="1532639" y="1470568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3479CB">
                <a:alpha val="7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polygon 105: plot geometry" descr="sci-ppt:obj-0105"/>
          <p:cNvSpPr/>
          <p:nvPr/>
        </p:nvSpPr>
        <p:spPr>
          <a:xfrm>
            <a:off x="7230943" y="3396625"/>
            <a:ext cx="4597917" cy="795400"/>
          </a:xfrm>
          <a:custGeom>
            <a:avLst/>
            <a:gdLst/>
            <a:ahLst/>
            <a:cxnLst/>
            <a:rect l="l" t="t" r="r" b="b"/>
            <a:pathLst>
              <a:path w="4597917" h="795400">
                <a:moveTo>
                  <a:pt x="0" y="795400"/>
                </a:moveTo>
                <a:lnTo>
                  <a:pt x="1532639" y="380266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polygon 106: plot geometry" descr="sci-ppt:obj-0106"/>
          <p:cNvSpPr/>
          <p:nvPr/>
        </p:nvSpPr>
        <p:spPr>
          <a:xfrm>
            <a:off x="7230943" y="2198614"/>
            <a:ext cx="4597917" cy="1641489"/>
          </a:xfrm>
          <a:custGeom>
            <a:avLst/>
            <a:gdLst/>
            <a:ahLst/>
            <a:cxnLst/>
            <a:rect l="l" t="t" r="r" b="b"/>
            <a:pathLst>
              <a:path w="4597917" h="1641489">
                <a:moveTo>
                  <a:pt x="0" y="1641489"/>
                </a:moveTo>
                <a:lnTo>
                  <a:pt x="1532639" y="882341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D16B34">
                <a:alpha val="7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polygon 107: plot geometry" descr="sci-ppt:obj-0107"/>
          <p:cNvSpPr/>
          <p:nvPr/>
        </p:nvSpPr>
        <p:spPr>
          <a:xfrm>
            <a:off x="7230943" y="3535978"/>
            <a:ext cx="4597917" cy="679441"/>
          </a:xfrm>
          <a:custGeom>
            <a:avLst/>
            <a:gdLst/>
            <a:ahLst/>
            <a:cxnLst/>
            <a:rect l="l" t="t" r="r" b="b"/>
            <a:pathLst>
              <a:path w="4597917" h="679441">
                <a:moveTo>
                  <a:pt x="0" y="679441"/>
                </a:moveTo>
                <a:lnTo>
                  <a:pt x="1532639" y="331794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olygon 108: plot geometry" descr="sci-ppt:obj-0108"/>
          <p:cNvSpPr/>
          <p:nvPr/>
        </p:nvSpPr>
        <p:spPr>
          <a:xfrm>
            <a:off x="7230943" y="3398932"/>
            <a:ext cx="4597917" cy="820745"/>
          </a:xfrm>
          <a:custGeom>
            <a:avLst/>
            <a:gdLst/>
            <a:ahLst/>
            <a:cxnLst/>
            <a:rect l="l" t="t" r="r" b="b"/>
            <a:pathLst>
              <a:path w="4597917" h="820745">
                <a:moveTo>
                  <a:pt x="0" y="820745"/>
                </a:moveTo>
                <a:lnTo>
                  <a:pt x="1532639" y="441171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9460A5">
                <a:alpha val="7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polygon 109: plot geometry" descr="sci-ppt:obj-0109"/>
          <p:cNvSpPr/>
          <p:nvPr/>
        </p:nvSpPr>
        <p:spPr>
          <a:xfrm>
            <a:off x="7230943" y="3809453"/>
            <a:ext cx="4597917" cy="511016"/>
          </a:xfrm>
          <a:custGeom>
            <a:avLst/>
            <a:gdLst/>
            <a:ahLst/>
            <a:cxnLst/>
            <a:rect l="l" t="t" r="r" b="b"/>
            <a:pathLst>
              <a:path w="4597917" h="511016">
                <a:moveTo>
                  <a:pt x="0" y="511016"/>
                </a:moveTo>
                <a:lnTo>
                  <a:pt x="1532639" y="255200"/>
                </a:lnTo>
                <a:lnTo>
                  <a:pt x="4597917" y="0"/>
                </a:lnTo>
              </a:path>
            </a:pathLst>
          </a:custGeom>
          <a:noFill/>
          <a:ln w="27695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line 110: plot geometry" descr="sci-ppt:obj-0110"/>
          <p:cNvCxnSpPr/>
          <p:nvPr/>
        </p:nvCxnSpPr>
        <p:spPr>
          <a:xfrm flipV="1">
            <a:off x="7001047" y="412075"/>
            <a:ext cx="0" cy="4094508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cxnSp>
        <p:nvCxnSpPr>
          <p:cNvPr id="112" name="line 111: plot geometry" descr="sci-ppt:obj-0111"/>
          <p:cNvCxnSpPr/>
          <p:nvPr/>
        </p:nvCxnSpPr>
        <p:spPr>
          <a:xfrm>
            <a:off x="7001047" y="4506583"/>
            <a:ext cx="5057709" cy="0"/>
          </a:xfrm>
          <a:prstGeom prst="line">
            <a:avLst/>
          </a:prstGeom>
          <a:ln w="14770">
            <a:solidFill>
              <a:srgbClr val="000000"/>
            </a:solidFill>
          </a:ln>
          <a:effectLst/>
        </p:spPr>
      </p:cxnSp>
      <p:sp>
        <p:nvSpPr>
          <p:cNvPr id="113" name="text 112: Solved speeds and energy ceilings" descr="sci-ppt:obj-0112"/>
          <p:cNvSpPr txBox="1"/>
          <p:nvPr/>
        </p:nvSpPr>
        <p:spPr>
          <a:xfrm>
            <a:off x="7582147" y="73081"/>
            <a:ext cx="4387009" cy="2991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44" b="0" i="0">
                <a:solidFill>
                  <a:srgbClr val="000000"/>
                </a:solidFill>
                <a:latin typeface="Arial"/>
              </a:rPr>
              <a:t>Solved speeds and energy ceilings</a:t>
            </a:r>
          </a:p>
        </p:txBody>
      </p:sp>
      <p:sp>
        <p:nvSpPr>
          <p:cNvPr id="114" name="polygon 113: plot geometry" descr="sci-ppt:obj-0113"/>
          <p:cNvSpPr/>
          <p:nvPr/>
        </p:nvSpPr>
        <p:spPr>
          <a:xfrm>
            <a:off x="7133985" y="605551"/>
            <a:ext cx="295420" cy="0"/>
          </a:xfrm>
          <a:custGeom>
            <a:avLst/>
            <a:gdLst/>
            <a:ahLst/>
            <a:cxnLst/>
            <a:rect l="l" t="t" r="r" b="b"/>
            <a:pathLst>
              <a:path w="295420" h="0">
                <a:moveTo>
                  <a:pt x="0" y="0"/>
                </a:moveTo>
                <a:lnTo>
                  <a:pt x="147710" y="0"/>
                </a:lnTo>
                <a:lnTo>
                  <a:pt x="295420" y="0"/>
                </a:lnTo>
              </a:path>
            </a:pathLst>
          </a:custGeom>
          <a:noFill/>
          <a:ln w="27695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olygon 114: plot geometry" descr="sci-ppt:obj-0114"/>
          <p:cNvSpPr/>
          <p:nvPr/>
        </p:nvSpPr>
        <p:spPr>
          <a:xfrm>
            <a:off x="7226304" y="550160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2"/>
                </a:lnTo>
                <a:lnTo>
                  <a:pt x="66248" y="109708"/>
                </a:lnTo>
                <a:lnTo>
                  <a:pt x="69766" y="108884"/>
                </a:lnTo>
                <a:lnTo>
                  <a:pt x="73217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1" y="99367"/>
                </a:lnTo>
                <a:lnTo>
                  <a:pt x="91886" y="97060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6" y="86122"/>
                </a:lnTo>
                <a:lnTo>
                  <a:pt x="103381" y="83052"/>
                </a:lnTo>
                <a:lnTo>
                  <a:pt x="105079" y="79870"/>
                </a:lnTo>
                <a:lnTo>
                  <a:pt x="106566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2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3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6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6" y="24660"/>
                </a:lnTo>
                <a:lnTo>
                  <a:pt x="99367" y="21711"/>
                </a:lnTo>
                <a:lnTo>
                  <a:pt x="97060" y="18896"/>
                </a:lnTo>
                <a:lnTo>
                  <a:pt x="94558" y="16224"/>
                </a:lnTo>
                <a:lnTo>
                  <a:pt x="91886" y="13722"/>
                </a:lnTo>
                <a:lnTo>
                  <a:pt x="89071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3"/>
                </a:lnTo>
                <a:lnTo>
                  <a:pt x="76588" y="4216"/>
                </a:lnTo>
                <a:lnTo>
                  <a:pt x="73217" y="2947"/>
                </a:lnTo>
                <a:lnTo>
                  <a:pt x="69766" y="1898"/>
                </a:lnTo>
                <a:lnTo>
                  <a:pt x="66248" y="1074"/>
                </a:lnTo>
                <a:lnTo>
                  <a:pt x="62672" y="480"/>
                </a:lnTo>
                <a:lnTo>
                  <a:pt x="59049" y="121"/>
                </a:lnTo>
                <a:lnTo>
                  <a:pt x="55391" y="0"/>
                </a:lnTo>
                <a:lnTo>
                  <a:pt x="51733" y="121"/>
                </a:lnTo>
                <a:lnTo>
                  <a:pt x="48110" y="480"/>
                </a:lnTo>
                <a:lnTo>
                  <a:pt x="44535" y="1074"/>
                </a:lnTo>
                <a:lnTo>
                  <a:pt x="41016" y="1898"/>
                </a:lnTo>
                <a:lnTo>
                  <a:pt x="37565" y="2947"/>
                </a:lnTo>
                <a:lnTo>
                  <a:pt x="34194" y="4216"/>
                </a:lnTo>
                <a:lnTo>
                  <a:pt x="30912" y="5703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4"/>
                </a:lnTo>
                <a:lnTo>
                  <a:pt x="13722" y="18896"/>
                </a:lnTo>
                <a:lnTo>
                  <a:pt x="11415" y="21711"/>
                </a:lnTo>
                <a:lnTo>
                  <a:pt x="9307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7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3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2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7" y="76588"/>
                </a:lnTo>
                <a:lnTo>
                  <a:pt x="5703" y="79870"/>
                </a:lnTo>
                <a:lnTo>
                  <a:pt x="7401" y="83052"/>
                </a:lnTo>
                <a:lnTo>
                  <a:pt x="9307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60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5" y="109708"/>
                </a:lnTo>
                <a:lnTo>
                  <a:pt x="48110" y="110302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3479CB"/>
          </a:solidFill>
          <a:ln w="18463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 115: 3 µm: solved / dashed ceiling" descr="sci-ppt:obj-0115"/>
          <p:cNvSpPr txBox="1"/>
          <p:nvPr/>
        </p:nvSpPr>
        <p:spPr>
          <a:xfrm>
            <a:off x="7520140" y="505108"/>
            <a:ext cx="2600462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3 µm: solved / dashed ceiling</a:t>
            </a:r>
          </a:p>
        </p:txBody>
      </p:sp>
      <p:sp>
        <p:nvSpPr>
          <p:cNvPr id="117" name="polygon 116: plot geometry" descr="sci-ppt:obj-0116"/>
          <p:cNvSpPr/>
          <p:nvPr/>
        </p:nvSpPr>
        <p:spPr>
          <a:xfrm>
            <a:off x="7133985" y="827127"/>
            <a:ext cx="295420" cy="0"/>
          </a:xfrm>
          <a:custGeom>
            <a:avLst/>
            <a:gdLst/>
            <a:ahLst/>
            <a:cxnLst/>
            <a:rect l="l" t="t" r="r" b="b"/>
            <a:pathLst>
              <a:path w="295420" h="0">
                <a:moveTo>
                  <a:pt x="0" y="0"/>
                </a:moveTo>
                <a:lnTo>
                  <a:pt x="147710" y="0"/>
                </a:lnTo>
                <a:lnTo>
                  <a:pt x="295420" y="0"/>
                </a:lnTo>
              </a:path>
            </a:pathLst>
          </a:custGeom>
          <a:noFill/>
          <a:ln w="27695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polygon 117: plot geometry" descr="sci-ppt:obj-0117"/>
          <p:cNvSpPr/>
          <p:nvPr/>
        </p:nvSpPr>
        <p:spPr>
          <a:xfrm>
            <a:off x="7226304" y="771736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1"/>
                </a:lnTo>
                <a:lnTo>
                  <a:pt x="66248" y="109708"/>
                </a:lnTo>
                <a:lnTo>
                  <a:pt x="69766" y="108884"/>
                </a:lnTo>
                <a:lnTo>
                  <a:pt x="73217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1" y="99367"/>
                </a:lnTo>
                <a:lnTo>
                  <a:pt x="91886" y="97059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6" y="86122"/>
                </a:lnTo>
                <a:lnTo>
                  <a:pt x="103381" y="83052"/>
                </a:lnTo>
                <a:lnTo>
                  <a:pt x="105079" y="79870"/>
                </a:lnTo>
                <a:lnTo>
                  <a:pt x="106566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1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3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6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6" y="24660"/>
                </a:lnTo>
                <a:lnTo>
                  <a:pt x="99367" y="21711"/>
                </a:lnTo>
                <a:lnTo>
                  <a:pt x="97060" y="18896"/>
                </a:lnTo>
                <a:lnTo>
                  <a:pt x="94558" y="16223"/>
                </a:lnTo>
                <a:lnTo>
                  <a:pt x="91886" y="13722"/>
                </a:lnTo>
                <a:lnTo>
                  <a:pt x="89071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3"/>
                </a:lnTo>
                <a:lnTo>
                  <a:pt x="76588" y="4216"/>
                </a:lnTo>
                <a:lnTo>
                  <a:pt x="73217" y="2947"/>
                </a:lnTo>
                <a:lnTo>
                  <a:pt x="69766" y="1898"/>
                </a:lnTo>
                <a:lnTo>
                  <a:pt x="66248" y="1074"/>
                </a:lnTo>
                <a:lnTo>
                  <a:pt x="62672" y="480"/>
                </a:lnTo>
                <a:lnTo>
                  <a:pt x="59049" y="121"/>
                </a:lnTo>
                <a:lnTo>
                  <a:pt x="55391" y="0"/>
                </a:lnTo>
                <a:lnTo>
                  <a:pt x="51733" y="121"/>
                </a:lnTo>
                <a:lnTo>
                  <a:pt x="48110" y="480"/>
                </a:lnTo>
                <a:lnTo>
                  <a:pt x="44535" y="1074"/>
                </a:lnTo>
                <a:lnTo>
                  <a:pt x="41016" y="1898"/>
                </a:lnTo>
                <a:lnTo>
                  <a:pt x="37565" y="2947"/>
                </a:lnTo>
                <a:lnTo>
                  <a:pt x="34194" y="4216"/>
                </a:lnTo>
                <a:lnTo>
                  <a:pt x="30912" y="5703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3"/>
                </a:lnTo>
                <a:lnTo>
                  <a:pt x="13722" y="18896"/>
                </a:lnTo>
                <a:lnTo>
                  <a:pt x="11415" y="21711"/>
                </a:lnTo>
                <a:lnTo>
                  <a:pt x="9307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7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3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1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7" y="76588"/>
                </a:lnTo>
                <a:lnTo>
                  <a:pt x="5703" y="79870"/>
                </a:lnTo>
                <a:lnTo>
                  <a:pt x="7401" y="83052"/>
                </a:lnTo>
                <a:lnTo>
                  <a:pt x="9307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59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5" y="109708"/>
                </a:lnTo>
                <a:lnTo>
                  <a:pt x="48110" y="110301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D16B34"/>
          </a:solidFill>
          <a:ln w="18463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 118: 5 µm: solved / dashed ceiling" descr="sci-ppt:obj-0118"/>
          <p:cNvSpPr txBox="1"/>
          <p:nvPr/>
        </p:nvSpPr>
        <p:spPr>
          <a:xfrm>
            <a:off x="7520140" y="726684"/>
            <a:ext cx="2600462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5 µm: solved / dashed ceiling</a:t>
            </a:r>
          </a:p>
        </p:txBody>
      </p:sp>
      <p:sp>
        <p:nvSpPr>
          <p:cNvPr id="120" name="polygon 119: plot geometry" descr="sci-ppt:obj-0119"/>
          <p:cNvSpPr/>
          <p:nvPr/>
        </p:nvSpPr>
        <p:spPr>
          <a:xfrm>
            <a:off x="7133985" y="1048703"/>
            <a:ext cx="295420" cy="0"/>
          </a:xfrm>
          <a:custGeom>
            <a:avLst/>
            <a:gdLst/>
            <a:ahLst/>
            <a:cxnLst/>
            <a:rect l="l" t="t" r="r" b="b"/>
            <a:pathLst>
              <a:path w="295420" h="0">
                <a:moveTo>
                  <a:pt x="0" y="0"/>
                </a:moveTo>
                <a:lnTo>
                  <a:pt x="147710" y="0"/>
                </a:lnTo>
                <a:lnTo>
                  <a:pt x="295420" y="0"/>
                </a:lnTo>
              </a:path>
            </a:pathLst>
          </a:custGeom>
          <a:noFill/>
          <a:ln w="27695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polygon 120: plot geometry" descr="sci-ppt:obj-0120"/>
          <p:cNvSpPr/>
          <p:nvPr/>
        </p:nvSpPr>
        <p:spPr>
          <a:xfrm>
            <a:off x="7226304" y="993312"/>
            <a:ext cx="110782" cy="110782"/>
          </a:xfrm>
          <a:custGeom>
            <a:avLst/>
            <a:gdLst/>
            <a:ahLst/>
            <a:cxnLst/>
            <a:rect l="l" t="t" r="r" b="b"/>
            <a:pathLst>
              <a:path w="110782" h="110782">
                <a:moveTo>
                  <a:pt x="55391" y="110782"/>
                </a:moveTo>
                <a:lnTo>
                  <a:pt x="59049" y="110661"/>
                </a:lnTo>
                <a:lnTo>
                  <a:pt x="62672" y="110301"/>
                </a:lnTo>
                <a:lnTo>
                  <a:pt x="66248" y="109708"/>
                </a:lnTo>
                <a:lnTo>
                  <a:pt x="69766" y="108884"/>
                </a:lnTo>
                <a:lnTo>
                  <a:pt x="73217" y="107835"/>
                </a:lnTo>
                <a:lnTo>
                  <a:pt x="76588" y="106565"/>
                </a:lnTo>
                <a:lnTo>
                  <a:pt x="79870" y="105079"/>
                </a:lnTo>
                <a:lnTo>
                  <a:pt x="83052" y="103381"/>
                </a:lnTo>
                <a:lnTo>
                  <a:pt x="86122" y="101475"/>
                </a:lnTo>
                <a:lnTo>
                  <a:pt x="89071" y="99367"/>
                </a:lnTo>
                <a:lnTo>
                  <a:pt x="91886" y="97059"/>
                </a:lnTo>
                <a:lnTo>
                  <a:pt x="94558" y="94558"/>
                </a:lnTo>
                <a:lnTo>
                  <a:pt x="97060" y="91886"/>
                </a:lnTo>
                <a:lnTo>
                  <a:pt x="99367" y="89070"/>
                </a:lnTo>
                <a:lnTo>
                  <a:pt x="101476" y="86122"/>
                </a:lnTo>
                <a:lnTo>
                  <a:pt x="103381" y="83051"/>
                </a:lnTo>
                <a:lnTo>
                  <a:pt x="105079" y="79870"/>
                </a:lnTo>
                <a:lnTo>
                  <a:pt x="106566" y="76588"/>
                </a:lnTo>
                <a:lnTo>
                  <a:pt x="107835" y="73216"/>
                </a:lnTo>
                <a:lnTo>
                  <a:pt x="108884" y="69766"/>
                </a:lnTo>
                <a:lnTo>
                  <a:pt x="109708" y="66247"/>
                </a:lnTo>
                <a:lnTo>
                  <a:pt x="110302" y="62671"/>
                </a:lnTo>
                <a:lnTo>
                  <a:pt x="110661" y="59049"/>
                </a:lnTo>
                <a:lnTo>
                  <a:pt x="110782" y="55391"/>
                </a:lnTo>
                <a:lnTo>
                  <a:pt x="110661" y="51732"/>
                </a:lnTo>
                <a:lnTo>
                  <a:pt x="110302" y="48110"/>
                </a:lnTo>
                <a:lnTo>
                  <a:pt x="109708" y="44534"/>
                </a:lnTo>
                <a:lnTo>
                  <a:pt x="108884" y="41016"/>
                </a:lnTo>
                <a:lnTo>
                  <a:pt x="107835" y="37565"/>
                </a:lnTo>
                <a:lnTo>
                  <a:pt x="106566" y="34194"/>
                </a:lnTo>
                <a:lnTo>
                  <a:pt x="105079" y="30912"/>
                </a:lnTo>
                <a:lnTo>
                  <a:pt x="103381" y="27730"/>
                </a:lnTo>
                <a:lnTo>
                  <a:pt x="101476" y="24660"/>
                </a:lnTo>
                <a:lnTo>
                  <a:pt x="99367" y="21711"/>
                </a:lnTo>
                <a:lnTo>
                  <a:pt x="97060" y="18895"/>
                </a:lnTo>
                <a:lnTo>
                  <a:pt x="94558" y="16223"/>
                </a:lnTo>
                <a:lnTo>
                  <a:pt x="91886" y="13722"/>
                </a:lnTo>
                <a:lnTo>
                  <a:pt x="89071" y="11415"/>
                </a:lnTo>
                <a:lnTo>
                  <a:pt x="86122" y="9306"/>
                </a:lnTo>
                <a:lnTo>
                  <a:pt x="83052" y="7401"/>
                </a:lnTo>
                <a:lnTo>
                  <a:pt x="79870" y="5702"/>
                </a:lnTo>
                <a:lnTo>
                  <a:pt x="76588" y="4216"/>
                </a:lnTo>
                <a:lnTo>
                  <a:pt x="73217" y="2946"/>
                </a:lnTo>
                <a:lnTo>
                  <a:pt x="69766" y="1897"/>
                </a:lnTo>
                <a:lnTo>
                  <a:pt x="66248" y="1074"/>
                </a:lnTo>
                <a:lnTo>
                  <a:pt x="62672" y="480"/>
                </a:lnTo>
                <a:lnTo>
                  <a:pt x="59049" y="120"/>
                </a:lnTo>
                <a:lnTo>
                  <a:pt x="55391" y="0"/>
                </a:lnTo>
                <a:lnTo>
                  <a:pt x="51733" y="120"/>
                </a:lnTo>
                <a:lnTo>
                  <a:pt x="48110" y="480"/>
                </a:lnTo>
                <a:lnTo>
                  <a:pt x="44535" y="1074"/>
                </a:lnTo>
                <a:lnTo>
                  <a:pt x="41016" y="1897"/>
                </a:lnTo>
                <a:lnTo>
                  <a:pt x="37565" y="2946"/>
                </a:lnTo>
                <a:lnTo>
                  <a:pt x="34194" y="4216"/>
                </a:lnTo>
                <a:lnTo>
                  <a:pt x="30912" y="5702"/>
                </a:lnTo>
                <a:lnTo>
                  <a:pt x="27730" y="7401"/>
                </a:lnTo>
                <a:lnTo>
                  <a:pt x="24660" y="9306"/>
                </a:lnTo>
                <a:lnTo>
                  <a:pt x="21711" y="11415"/>
                </a:lnTo>
                <a:lnTo>
                  <a:pt x="18896" y="13722"/>
                </a:lnTo>
                <a:lnTo>
                  <a:pt x="16224" y="16223"/>
                </a:lnTo>
                <a:lnTo>
                  <a:pt x="13722" y="18895"/>
                </a:lnTo>
                <a:lnTo>
                  <a:pt x="11415" y="21711"/>
                </a:lnTo>
                <a:lnTo>
                  <a:pt x="9307" y="24660"/>
                </a:lnTo>
                <a:lnTo>
                  <a:pt x="7401" y="27730"/>
                </a:lnTo>
                <a:lnTo>
                  <a:pt x="5703" y="30912"/>
                </a:lnTo>
                <a:lnTo>
                  <a:pt x="4217" y="34194"/>
                </a:lnTo>
                <a:lnTo>
                  <a:pt x="2947" y="37565"/>
                </a:lnTo>
                <a:lnTo>
                  <a:pt x="1898" y="41016"/>
                </a:lnTo>
                <a:lnTo>
                  <a:pt x="1074" y="44534"/>
                </a:lnTo>
                <a:lnTo>
                  <a:pt x="480" y="48110"/>
                </a:lnTo>
                <a:lnTo>
                  <a:pt x="121" y="51732"/>
                </a:lnTo>
                <a:lnTo>
                  <a:pt x="0" y="55391"/>
                </a:lnTo>
                <a:lnTo>
                  <a:pt x="121" y="59049"/>
                </a:lnTo>
                <a:lnTo>
                  <a:pt x="480" y="62671"/>
                </a:lnTo>
                <a:lnTo>
                  <a:pt x="1074" y="66247"/>
                </a:lnTo>
                <a:lnTo>
                  <a:pt x="1898" y="69766"/>
                </a:lnTo>
                <a:lnTo>
                  <a:pt x="2947" y="73216"/>
                </a:lnTo>
                <a:lnTo>
                  <a:pt x="4217" y="76588"/>
                </a:lnTo>
                <a:lnTo>
                  <a:pt x="5703" y="79870"/>
                </a:lnTo>
                <a:lnTo>
                  <a:pt x="7401" y="83051"/>
                </a:lnTo>
                <a:lnTo>
                  <a:pt x="9307" y="86122"/>
                </a:lnTo>
                <a:lnTo>
                  <a:pt x="11415" y="89070"/>
                </a:lnTo>
                <a:lnTo>
                  <a:pt x="13722" y="91886"/>
                </a:lnTo>
                <a:lnTo>
                  <a:pt x="16224" y="94558"/>
                </a:lnTo>
                <a:lnTo>
                  <a:pt x="18896" y="97059"/>
                </a:lnTo>
                <a:lnTo>
                  <a:pt x="21711" y="99367"/>
                </a:lnTo>
                <a:lnTo>
                  <a:pt x="24660" y="101475"/>
                </a:lnTo>
                <a:lnTo>
                  <a:pt x="27730" y="103381"/>
                </a:lnTo>
                <a:lnTo>
                  <a:pt x="30912" y="105079"/>
                </a:lnTo>
                <a:lnTo>
                  <a:pt x="34194" y="106565"/>
                </a:lnTo>
                <a:lnTo>
                  <a:pt x="37565" y="107835"/>
                </a:lnTo>
                <a:lnTo>
                  <a:pt x="41016" y="108884"/>
                </a:lnTo>
                <a:lnTo>
                  <a:pt x="44535" y="109708"/>
                </a:lnTo>
                <a:lnTo>
                  <a:pt x="48110" y="110301"/>
                </a:lnTo>
                <a:lnTo>
                  <a:pt x="51733" y="110661"/>
                </a:lnTo>
                <a:lnTo>
                  <a:pt x="55391" y="110782"/>
                </a:lnTo>
                <a:close/>
              </a:path>
            </a:pathLst>
          </a:custGeom>
          <a:solidFill>
            <a:srgbClr val="9460A5"/>
          </a:solidFill>
          <a:ln w="18463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 121: 10 µm: solved / dashed ceiling" descr="sci-ppt:obj-0121"/>
          <p:cNvSpPr txBox="1"/>
          <p:nvPr/>
        </p:nvSpPr>
        <p:spPr>
          <a:xfrm>
            <a:off x="7520140" y="948260"/>
            <a:ext cx="2687611" cy="1994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3" b="0" i="0">
                <a:solidFill>
                  <a:srgbClr val="000000"/>
                </a:solidFill>
                <a:latin typeface="Arial"/>
              </a:rPr>
              <a:t>10 µm: solved / dashed ceiling</a:t>
            </a:r>
          </a:p>
        </p:txBody>
      </p:sp>
      <p:sp>
        <p:nvSpPr>
          <p:cNvPr id="123" name="Original data sample marker 121" descr="sci-ppt:sample-marker-121"/>
          <p:cNvSpPr/>
          <p:nvPr/>
        </p:nvSpPr>
        <p:spPr>
          <a:xfrm>
            <a:off x="1106301" y="3747559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Original data sample marker 122" descr="sci-ppt:sample-marker-122"/>
          <p:cNvSpPr/>
          <p:nvPr/>
        </p:nvSpPr>
        <p:spPr>
          <a:xfrm>
            <a:off x="2638940" y="2074936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riginal data sample marker 123" descr="sci-ppt:sample-marker-123"/>
          <p:cNvSpPr/>
          <p:nvPr/>
        </p:nvSpPr>
        <p:spPr>
          <a:xfrm>
            <a:off x="5704218" y="542797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Original data sample marker 124" descr="sci-ppt:sample-marker-124"/>
          <p:cNvSpPr/>
          <p:nvPr/>
        </p:nvSpPr>
        <p:spPr>
          <a:xfrm>
            <a:off x="1106301" y="3841819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riginal data sample marker 125" descr="sci-ppt:sample-marker-125"/>
          <p:cNvSpPr/>
          <p:nvPr/>
        </p:nvSpPr>
        <p:spPr>
          <a:xfrm>
            <a:off x="2638940" y="2441104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riginal data sample marker 126" descr="sci-ppt:sample-marker-126"/>
          <p:cNvSpPr/>
          <p:nvPr/>
        </p:nvSpPr>
        <p:spPr>
          <a:xfrm>
            <a:off x="5704218" y="1104266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riginal data sample marker 127" descr="sci-ppt:sample-marker-127"/>
          <p:cNvSpPr/>
          <p:nvPr/>
        </p:nvSpPr>
        <p:spPr>
          <a:xfrm>
            <a:off x="1106301" y="4265078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Original data sample marker 128" descr="sci-ppt:sample-marker-128"/>
          <p:cNvSpPr/>
          <p:nvPr/>
        </p:nvSpPr>
        <p:spPr>
          <a:xfrm>
            <a:off x="2638940" y="3234362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riginal data sample marker 129" descr="sci-ppt:sample-marker-129"/>
          <p:cNvSpPr/>
          <p:nvPr/>
        </p:nvSpPr>
        <p:spPr>
          <a:xfrm>
            <a:off x="5704218" y="2206130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Original data sample marker 130" descr="sci-ppt:sample-marker-130"/>
          <p:cNvSpPr/>
          <p:nvPr/>
        </p:nvSpPr>
        <p:spPr>
          <a:xfrm>
            <a:off x="7175552" y="4136633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Original data sample marker 131" descr="sci-ppt:sample-marker-131"/>
          <p:cNvSpPr/>
          <p:nvPr/>
        </p:nvSpPr>
        <p:spPr>
          <a:xfrm>
            <a:off x="8708191" y="3721500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Original data sample marker 132" descr="sci-ppt:sample-marker-132"/>
          <p:cNvSpPr/>
          <p:nvPr/>
        </p:nvSpPr>
        <p:spPr>
          <a:xfrm>
            <a:off x="11773469" y="3341234"/>
            <a:ext cx="110782" cy="110782"/>
          </a:xfrm>
          <a:prstGeom prst="ellipse">
            <a:avLst/>
          </a:prstGeom>
          <a:solidFill>
            <a:srgbClr val="3479CB"/>
          </a:solidFill>
          <a:ln w="762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Original data sample marker 133" descr="sci-ppt:sample-marker-133"/>
          <p:cNvSpPr/>
          <p:nvPr/>
        </p:nvSpPr>
        <p:spPr>
          <a:xfrm>
            <a:off x="7175552" y="4160028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Original data sample marker 134" descr="sci-ppt:sample-marker-134"/>
          <p:cNvSpPr/>
          <p:nvPr/>
        </p:nvSpPr>
        <p:spPr>
          <a:xfrm>
            <a:off x="8708191" y="3812381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Original data sample marker 135" descr="sci-ppt:sample-marker-135"/>
          <p:cNvSpPr/>
          <p:nvPr/>
        </p:nvSpPr>
        <p:spPr>
          <a:xfrm>
            <a:off x="11773469" y="3480587"/>
            <a:ext cx="110782" cy="110782"/>
          </a:xfrm>
          <a:prstGeom prst="ellipse">
            <a:avLst/>
          </a:prstGeom>
          <a:solidFill>
            <a:srgbClr val="D16B34"/>
          </a:solidFill>
          <a:ln w="762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Original data sample marker 136" descr="sci-ppt:sample-marker-136"/>
          <p:cNvSpPr/>
          <p:nvPr/>
        </p:nvSpPr>
        <p:spPr>
          <a:xfrm>
            <a:off x="7175552" y="4265078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Original data sample marker 137" descr="sci-ppt:sample-marker-137"/>
          <p:cNvSpPr/>
          <p:nvPr/>
        </p:nvSpPr>
        <p:spPr>
          <a:xfrm>
            <a:off x="8708191" y="4009262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Original data sample marker 138" descr="sci-ppt:sample-marker-138"/>
          <p:cNvSpPr/>
          <p:nvPr/>
        </p:nvSpPr>
        <p:spPr>
          <a:xfrm>
            <a:off x="11773469" y="3754062"/>
            <a:ext cx="110782" cy="110782"/>
          </a:xfrm>
          <a:prstGeom prst="ellipse">
            <a:avLst/>
          </a:prstGeom>
          <a:solidFill>
            <a:srgbClr val="9460A5"/>
          </a:solidFill>
          <a:ln w="762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6699166"/>
          </a:xfrm>
          <a:custGeom>
            <a:avLst/>
            <a:gdLst/>
            <a:ahLst/>
            <a:cxnLst/>
            <a:rect l="l" t="t" r="r" b="b"/>
            <a:pathLst>
              <a:path w="12191695" h="6699166">
                <a:moveTo>
                  <a:pt x="0" y="6699166"/>
                </a:moveTo>
                <a:lnTo>
                  <a:pt x="12191695" y="6699166"/>
                </a:lnTo>
                <a:lnTo>
                  <a:pt x="12191695" y="0"/>
                </a:lnTo>
                <a:lnTo>
                  <a:pt x="0" y="0"/>
                </a:lnTo>
                <a:lnTo>
                  <a:pt x="0" y="66991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875004" y="412966"/>
            <a:ext cx="3912641" cy="4205948"/>
          </a:xfrm>
          <a:custGeom>
            <a:avLst/>
            <a:gdLst/>
            <a:ahLst/>
            <a:cxnLst/>
            <a:rect l="l" t="t" r="r" b="b"/>
            <a:pathLst>
              <a:path w="3912641" h="4205948">
                <a:moveTo>
                  <a:pt x="0" y="4205948"/>
                </a:moveTo>
                <a:lnTo>
                  <a:pt x="3912641" y="4205948"/>
                </a:lnTo>
                <a:lnTo>
                  <a:pt x="3912641" y="0"/>
                </a:lnTo>
                <a:lnTo>
                  <a:pt x="0" y="0"/>
                </a:lnTo>
                <a:lnTo>
                  <a:pt x="0" y="42059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olygon 3: plot geometry" descr="sci-ppt:obj-0003"/>
          <p:cNvSpPr/>
          <p:nvPr/>
        </p:nvSpPr>
        <p:spPr>
          <a:xfrm>
            <a:off x="1052852" y="4618914"/>
            <a:ext cx="1580864" cy="0"/>
          </a:xfrm>
          <a:custGeom>
            <a:avLst/>
            <a:gdLst/>
            <a:ahLst/>
            <a:cxnLst/>
            <a:rect l="l" t="t" r="r" b="b"/>
            <a:pathLst>
              <a:path w="1580864" h="0">
                <a:moveTo>
                  <a:pt x="0" y="0"/>
                </a:moveTo>
                <a:lnTo>
                  <a:pt x="1580864" y="0"/>
                </a:lnTo>
                <a:lnTo>
                  <a:pt x="1580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3479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olygon 4: plot geometry" descr="sci-ppt:obj-0004"/>
          <p:cNvSpPr/>
          <p:nvPr/>
        </p:nvSpPr>
        <p:spPr>
          <a:xfrm>
            <a:off x="3028933" y="4618914"/>
            <a:ext cx="1580864" cy="0"/>
          </a:xfrm>
          <a:custGeom>
            <a:avLst/>
            <a:gdLst/>
            <a:ahLst/>
            <a:cxnLst/>
            <a:rect l="l" t="t" r="r" b="b"/>
            <a:pathLst>
              <a:path w="1580864" h="0">
                <a:moveTo>
                  <a:pt x="0" y="0"/>
                </a:moveTo>
                <a:lnTo>
                  <a:pt x="1580864" y="0"/>
                </a:lnTo>
                <a:lnTo>
                  <a:pt x="1580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3479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gon 5: plot geometry" descr="sci-ppt:obj-0005"/>
          <p:cNvSpPr/>
          <p:nvPr/>
        </p:nvSpPr>
        <p:spPr>
          <a:xfrm>
            <a:off x="1052852" y="4618914"/>
            <a:ext cx="1580864" cy="0"/>
          </a:xfrm>
          <a:custGeom>
            <a:avLst/>
            <a:gdLst/>
            <a:ahLst/>
            <a:cxnLst/>
            <a:rect l="l" t="t" r="r" b="b"/>
            <a:pathLst>
              <a:path w="1580864" h="0">
                <a:moveTo>
                  <a:pt x="0" y="0"/>
                </a:moveTo>
                <a:lnTo>
                  <a:pt x="1580864" y="0"/>
                </a:lnTo>
                <a:lnTo>
                  <a:pt x="1580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9460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 6: plot geometry" descr="sci-ppt:obj-0006"/>
          <p:cNvSpPr/>
          <p:nvPr/>
        </p:nvSpPr>
        <p:spPr>
          <a:xfrm>
            <a:off x="3028933" y="4004860"/>
            <a:ext cx="1580864" cy="614054"/>
          </a:xfrm>
          <a:custGeom>
            <a:avLst/>
            <a:gdLst/>
            <a:ahLst/>
            <a:cxnLst/>
            <a:rect l="l" t="t" r="r" b="b"/>
            <a:pathLst>
              <a:path w="1580864" h="614054">
                <a:moveTo>
                  <a:pt x="0" y="614054"/>
                </a:moveTo>
                <a:lnTo>
                  <a:pt x="1580864" y="614054"/>
                </a:lnTo>
                <a:lnTo>
                  <a:pt x="1580864" y="0"/>
                </a:lnTo>
                <a:lnTo>
                  <a:pt x="0" y="0"/>
                </a:lnTo>
                <a:lnTo>
                  <a:pt x="0" y="614054"/>
                </a:lnTo>
                <a:close/>
              </a:path>
            </a:pathLst>
          </a:custGeom>
          <a:solidFill>
            <a:srgbClr val="9460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 7: plot geometry" descr="sci-ppt:obj-0007"/>
          <p:cNvSpPr/>
          <p:nvPr/>
        </p:nvSpPr>
        <p:spPr>
          <a:xfrm>
            <a:off x="1052852" y="4618914"/>
            <a:ext cx="1580864" cy="0"/>
          </a:xfrm>
          <a:custGeom>
            <a:avLst/>
            <a:gdLst/>
            <a:ahLst/>
            <a:cxnLst/>
            <a:rect l="l" t="t" r="r" b="b"/>
            <a:pathLst>
              <a:path w="1580864" h="0">
                <a:moveTo>
                  <a:pt x="0" y="0"/>
                </a:moveTo>
                <a:lnTo>
                  <a:pt x="1580864" y="0"/>
                </a:lnTo>
                <a:lnTo>
                  <a:pt x="1580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8AB3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 8: plot geometry" descr="sci-ppt:obj-0008"/>
          <p:cNvSpPr/>
          <p:nvPr/>
        </p:nvSpPr>
        <p:spPr>
          <a:xfrm>
            <a:off x="3028933" y="3405120"/>
            <a:ext cx="1580864" cy="599740"/>
          </a:xfrm>
          <a:custGeom>
            <a:avLst/>
            <a:gdLst/>
            <a:ahLst/>
            <a:cxnLst/>
            <a:rect l="l" t="t" r="r" b="b"/>
            <a:pathLst>
              <a:path w="1580864" h="599740">
                <a:moveTo>
                  <a:pt x="0" y="599740"/>
                </a:moveTo>
                <a:lnTo>
                  <a:pt x="1580864" y="599740"/>
                </a:lnTo>
                <a:lnTo>
                  <a:pt x="1580864" y="0"/>
                </a:lnTo>
                <a:lnTo>
                  <a:pt x="0" y="0"/>
                </a:lnTo>
                <a:lnTo>
                  <a:pt x="0" y="599740"/>
                </a:lnTo>
                <a:close/>
              </a:path>
            </a:pathLst>
          </a:custGeom>
          <a:solidFill>
            <a:srgbClr val="8AB3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 9: plot geometry" descr="sci-ppt:obj-0009"/>
          <p:cNvSpPr/>
          <p:nvPr/>
        </p:nvSpPr>
        <p:spPr>
          <a:xfrm>
            <a:off x="1052852" y="4618914"/>
            <a:ext cx="1580864" cy="0"/>
          </a:xfrm>
          <a:custGeom>
            <a:avLst/>
            <a:gdLst/>
            <a:ahLst/>
            <a:cxnLst/>
            <a:rect l="l" t="t" r="r" b="b"/>
            <a:pathLst>
              <a:path w="1580864" h="0">
                <a:moveTo>
                  <a:pt x="0" y="0"/>
                </a:moveTo>
                <a:lnTo>
                  <a:pt x="1580864" y="0"/>
                </a:lnTo>
                <a:lnTo>
                  <a:pt x="1580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 10: plot geometry" descr="sci-ppt:obj-0010"/>
          <p:cNvSpPr/>
          <p:nvPr/>
        </p:nvSpPr>
        <p:spPr>
          <a:xfrm>
            <a:off x="3028933" y="3047761"/>
            <a:ext cx="1580864" cy="357359"/>
          </a:xfrm>
          <a:custGeom>
            <a:avLst/>
            <a:gdLst/>
            <a:ahLst/>
            <a:cxnLst/>
            <a:rect l="l" t="t" r="r" b="b"/>
            <a:pathLst>
              <a:path w="1580864" h="357359">
                <a:moveTo>
                  <a:pt x="0" y="357359"/>
                </a:moveTo>
                <a:lnTo>
                  <a:pt x="1580864" y="357359"/>
                </a:lnTo>
                <a:lnTo>
                  <a:pt x="1580864" y="0"/>
                </a:lnTo>
                <a:lnTo>
                  <a:pt x="0" y="0"/>
                </a:lnTo>
                <a:lnTo>
                  <a:pt x="0" y="357359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 11: plot geometry" descr="sci-ppt:obj-0011"/>
          <p:cNvSpPr/>
          <p:nvPr/>
        </p:nvSpPr>
        <p:spPr>
          <a:xfrm>
            <a:off x="1052852" y="1692951"/>
            <a:ext cx="1580864" cy="2925963"/>
          </a:xfrm>
          <a:custGeom>
            <a:avLst/>
            <a:gdLst/>
            <a:ahLst/>
            <a:cxnLst/>
            <a:rect l="l" t="t" r="r" b="b"/>
            <a:pathLst>
              <a:path w="1580864" h="2925963">
                <a:moveTo>
                  <a:pt x="0" y="2925963"/>
                </a:moveTo>
                <a:lnTo>
                  <a:pt x="1580864" y="2925963"/>
                </a:lnTo>
                <a:lnTo>
                  <a:pt x="1580864" y="0"/>
                </a:lnTo>
                <a:lnTo>
                  <a:pt x="0" y="0"/>
                </a:lnTo>
                <a:lnTo>
                  <a:pt x="0" y="2925963"/>
                </a:lnTo>
                <a:close/>
              </a:path>
            </a:pathLst>
          </a:custGeom>
          <a:solidFill>
            <a:srgbClr val="D16B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 12: plot geometry" descr="sci-ppt:obj-0012"/>
          <p:cNvSpPr/>
          <p:nvPr/>
        </p:nvSpPr>
        <p:spPr>
          <a:xfrm>
            <a:off x="3028933" y="3047475"/>
            <a:ext cx="1580864" cy="286"/>
          </a:xfrm>
          <a:custGeom>
            <a:avLst/>
            <a:gdLst/>
            <a:ahLst/>
            <a:cxnLst/>
            <a:rect l="l" t="t" r="r" b="b"/>
            <a:pathLst>
              <a:path w="1580864" h="286">
                <a:moveTo>
                  <a:pt x="0" y="286"/>
                </a:moveTo>
                <a:lnTo>
                  <a:pt x="1580864" y="286"/>
                </a:lnTo>
                <a:lnTo>
                  <a:pt x="1580864" y="0"/>
                </a:lnTo>
                <a:lnTo>
                  <a:pt x="0" y="0"/>
                </a:lnTo>
                <a:lnTo>
                  <a:pt x="0" y="286"/>
                </a:lnTo>
                <a:close/>
              </a:path>
            </a:pathLst>
          </a:custGeom>
          <a:solidFill>
            <a:srgbClr val="D16B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 13: plot geometry" descr="sci-ppt:obj-0013"/>
          <p:cNvSpPr/>
          <p:nvPr/>
        </p:nvSpPr>
        <p:spPr>
          <a:xfrm>
            <a:off x="1052852" y="423017"/>
            <a:ext cx="1580864" cy="1269934"/>
          </a:xfrm>
          <a:custGeom>
            <a:avLst/>
            <a:gdLst/>
            <a:ahLst/>
            <a:cxnLst/>
            <a:rect l="l" t="t" r="r" b="b"/>
            <a:pathLst>
              <a:path w="1580864" h="1269934">
                <a:moveTo>
                  <a:pt x="0" y="1269934"/>
                </a:moveTo>
                <a:lnTo>
                  <a:pt x="1580864" y="1269934"/>
                </a:lnTo>
                <a:lnTo>
                  <a:pt x="1580864" y="0"/>
                </a:lnTo>
                <a:lnTo>
                  <a:pt x="0" y="0"/>
                </a:lnTo>
                <a:lnTo>
                  <a:pt x="0" y="1269934"/>
                </a:lnTo>
                <a:close/>
              </a:path>
            </a:pathLst>
          </a:custGeom>
          <a:solidFill>
            <a:srgbClr val="D6BD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 14: plot geometry" descr="sci-ppt:obj-0014"/>
          <p:cNvSpPr/>
          <p:nvPr/>
        </p:nvSpPr>
        <p:spPr>
          <a:xfrm>
            <a:off x="3028933" y="3038019"/>
            <a:ext cx="1580864" cy="9456"/>
          </a:xfrm>
          <a:custGeom>
            <a:avLst/>
            <a:gdLst/>
            <a:ahLst/>
            <a:cxnLst/>
            <a:rect l="l" t="t" r="r" b="b"/>
            <a:pathLst>
              <a:path w="1580864" h="9456">
                <a:moveTo>
                  <a:pt x="0" y="9456"/>
                </a:moveTo>
                <a:lnTo>
                  <a:pt x="1580864" y="9456"/>
                </a:lnTo>
                <a:lnTo>
                  <a:pt x="1580864" y="0"/>
                </a:lnTo>
                <a:lnTo>
                  <a:pt x="0" y="0"/>
                </a:lnTo>
                <a:lnTo>
                  <a:pt x="0" y="9456"/>
                </a:lnTo>
                <a:close/>
              </a:path>
            </a:pathLst>
          </a:custGeom>
          <a:solidFill>
            <a:srgbClr val="D6BD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 15: plot geometry" descr="sci-ppt:obj-0015"/>
          <p:cNvSpPr/>
          <p:nvPr/>
        </p:nvSpPr>
        <p:spPr>
          <a:xfrm>
            <a:off x="1052852" y="412966"/>
            <a:ext cx="1580864" cy="10051"/>
          </a:xfrm>
          <a:custGeom>
            <a:avLst/>
            <a:gdLst/>
            <a:ahLst/>
            <a:cxnLst/>
            <a:rect l="l" t="t" r="r" b="b"/>
            <a:pathLst>
              <a:path w="1580864" h="10051">
                <a:moveTo>
                  <a:pt x="0" y="10051"/>
                </a:moveTo>
                <a:lnTo>
                  <a:pt x="1580864" y="10051"/>
                </a:lnTo>
                <a:lnTo>
                  <a:pt x="1580864" y="0"/>
                </a:lnTo>
                <a:lnTo>
                  <a:pt x="0" y="0"/>
                </a:lnTo>
                <a:lnTo>
                  <a:pt x="0" y="10051"/>
                </a:lnTo>
                <a:close/>
              </a:path>
            </a:pathLst>
          </a:custGeom>
          <a:solidFill>
            <a:srgbClr val="EEF0F5"/>
          </a:solidFill>
          <a:ln w="18503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 16: plot geometry" descr="sci-ppt:obj-0016"/>
          <p:cNvSpPr/>
          <p:nvPr/>
        </p:nvSpPr>
        <p:spPr>
          <a:xfrm>
            <a:off x="3028933" y="412966"/>
            <a:ext cx="1580864" cy="2625053"/>
          </a:xfrm>
          <a:custGeom>
            <a:avLst/>
            <a:gdLst/>
            <a:ahLst/>
            <a:cxnLst/>
            <a:rect l="l" t="t" r="r" b="b"/>
            <a:pathLst>
              <a:path w="1580864" h="2625053">
                <a:moveTo>
                  <a:pt x="0" y="2625053"/>
                </a:moveTo>
                <a:lnTo>
                  <a:pt x="1580864" y="2625053"/>
                </a:lnTo>
                <a:lnTo>
                  <a:pt x="1580864" y="0"/>
                </a:lnTo>
                <a:lnTo>
                  <a:pt x="0" y="0"/>
                </a:lnTo>
                <a:lnTo>
                  <a:pt x="0" y="2625053"/>
                </a:lnTo>
                <a:close/>
              </a:path>
            </a:pathLst>
          </a:custGeom>
          <a:solidFill>
            <a:srgbClr val="EEF0F5"/>
          </a:solidFill>
          <a:ln w="18503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line 17: plot geometry" descr="sci-ppt:obj-0017"/>
          <p:cNvCxnSpPr/>
          <p:nvPr/>
        </p:nvCxnSpPr>
        <p:spPr>
          <a:xfrm flipV="1">
            <a:off x="1843284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9" name="line 18: plot geometry" descr="sci-ppt:obj-0018"/>
          <p:cNvCxnSpPr/>
          <p:nvPr/>
        </p:nvCxnSpPr>
        <p:spPr>
          <a:xfrm>
            <a:off x="1843284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20" name="text 19: Rigid" descr="sci-ppt:obj-0019"/>
          <p:cNvSpPr txBox="1"/>
          <p:nvPr/>
        </p:nvSpPr>
        <p:spPr>
          <a:xfrm>
            <a:off x="1582692" y="4698451"/>
            <a:ext cx="619008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Rigid</a:t>
            </a:r>
          </a:p>
        </p:txBody>
      </p:sp>
      <p:cxnSp>
        <p:nvCxnSpPr>
          <p:cNvPr id="21" name="line 20: plot geometry" descr="sci-ppt:obj-0020"/>
          <p:cNvCxnSpPr/>
          <p:nvPr/>
        </p:nvCxnSpPr>
        <p:spPr>
          <a:xfrm flipV="1">
            <a:off x="3819365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2" name="line 21: plot geometry" descr="sci-ppt:obj-0021"/>
          <p:cNvCxnSpPr/>
          <p:nvPr/>
        </p:nvCxnSpPr>
        <p:spPr>
          <a:xfrm>
            <a:off x="3819365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23" name="text 22: Open gel" descr="sci-ppt:obj-0022"/>
          <p:cNvSpPr txBox="1"/>
          <p:nvPr/>
        </p:nvSpPr>
        <p:spPr>
          <a:xfrm>
            <a:off x="3374040" y="4698451"/>
            <a:ext cx="9465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Open gel</a:t>
            </a:r>
          </a:p>
        </p:txBody>
      </p:sp>
      <p:cxnSp>
        <p:nvCxnSpPr>
          <p:cNvPr id="24" name="line 23: plot geometry" descr="sci-ppt:obj-0023"/>
          <p:cNvCxnSpPr/>
          <p:nvPr/>
        </p:nvCxnSpPr>
        <p:spPr>
          <a:xfrm>
            <a:off x="875004" y="4618914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5" name="line 24: plot geometry" descr="sci-ppt:obj-0024"/>
          <p:cNvCxnSpPr/>
          <p:nvPr/>
        </p:nvCxnSpPr>
        <p:spPr>
          <a:xfrm flipH="1">
            <a:off x="810241" y="4618914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26" name="text 25: 0" descr="sci-ppt:obj-0025"/>
          <p:cNvSpPr txBox="1"/>
          <p:nvPr/>
        </p:nvSpPr>
        <p:spPr>
          <a:xfrm>
            <a:off x="600317" y="4498619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27" name="line 26: plot geometry" descr="sci-ppt:obj-0026"/>
          <p:cNvCxnSpPr/>
          <p:nvPr/>
        </p:nvCxnSpPr>
        <p:spPr>
          <a:xfrm>
            <a:off x="875004" y="3777724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8" name="line 27: plot geometry" descr="sci-ppt:obj-0027"/>
          <p:cNvCxnSpPr/>
          <p:nvPr/>
        </p:nvCxnSpPr>
        <p:spPr>
          <a:xfrm flipH="1">
            <a:off x="810241" y="3777724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29" name="text 28: 20" descr="sci-ppt:obj-0028"/>
          <p:cNvSpPr txBox="1"/>
          <p:nvPr/>
        </p:nvSpPr>
        <p:spPr>
          <a:xfrm>
            <a:off x="482588" y="3657429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30" name="line 29: plot geometry" descr="sci-ppt:obj-0029"/>
          <p:cNvCxnSpPr/>
          <p:nvPr/>
        </p:nvCxnSpPr>
        <p:spPr>
          <a:xfrm>
            <a:off x="875004" y="2936535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1" name="line 30: plot geometry" descr="sci-ppt:obj-0030"/>
          <p:cNvCxnSpPr/>
          <p:nvPr/>
        </p:nvCxnSpPr>
        <p:spPr>
          <a:xfrm flipH="1">
            <a:off x="810241" y="2936535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32" name="text 31: 40" descr="sci-ppt:obj-0031"/>
          <p:cNvSpPr txBox="1"/>
          <p:nvPr/>
        </p:nvSpPr>
        <p:spPr>
          <a:xfrm>
            <a:off x="482588" y="2816239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cxnSp>
        <p:nvCxnSpPr>
          <p:cNvPr id="33" name="line 32: plot geometry" descr="sci-ppt:obj-0032"/>
          <p:cNvCxnSpPr/>
          <p:nvPr/>
        </p:nvCxnSpPr>
        <p:spPr>
          <a:xfrm>
            <a:off x="875004" y="2095345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4" name="line 33: plot geometry" descr="sci-ppt:obj-0033"/>
          <p:cNvCxnSpPr/>
          <p:nvPr/>
        </p:nvCxnSpPr>
        <p:spPr>
          <a:xfrm flipH="1">
            <a:off x="810241" y="2095345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35" name="text 34: 60" descr="sci-ppt:obj-0034"/>
          <p:cNvSpPr txBox="1"/>
          <p:nvPr/>
        </p:nvSpPr>
        <p:spPr>
          <a:xfrm>
            <a:off x="482588" y="1975050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cxnSp>
        <p:nvCxnSpPr>
          <p:cNvPr id="36" name="line 35: plot geometry" descr="sci-ppt:obj-0035"/>
          <p:cNvCxnSpPr/>
          <p:nvPr/>
        </p:nvCxnSpPr>
        <p:spPr>
          <a:xfrm>
            <a:off x="875004" y="1254155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7" name="line 36: plot geometry" descr="sci-ppt:obj-0036"/>
          <p:cNvCxnSpPr/>
          <p:nvPr/>
        </p:nvCxnSpPr>
        <p:spPr>
          <a:xfrm flipH="1">
            <a:off x="810241" y="1254155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38" name="text 37: 80" descr="sci-ppt:obj-0037"/>
          <p:cNvSpPr txBox="1"/>
          <p:nvPr/>
        </p:nvSpPr>
        <p:spPr>
          <a:xfrm>
            <a:off x="482588" y="1133860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cxnSp>
        <p:nvCxnSpPr>
          <p:cNvPr id="39" name="line 38: plot geometry" descr="sci-ppt:obj-0038"/>
          <p:cNvCxnSpPr/>
          <p:nvPr/>
        </p:nvCxnSpPr>
        <p:spPr>
          <a:xfrm>
            <a:off x="875004" y="412966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0" name="line 39: plot geometry" descr="sci-ppt:obj-0039"/>
          <p:cNvCxnSpPr/>
          <p:nvPr/>
        </p:nvCxnSpPr>
        <p:spPr>
          <a:xfrm flipH="1">
            <a:off x="810241" y="412966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41" name="text 40: 100" descr="sci-ppt:obj-0040"/>
          <p:cNvSpPr txBox="1"/>
          <p:nvPr/>
        </p:nvSpPr>
        <p:spPr>
          <a:xfrm>
            <a:off x="364859" y="292670"/>
            <a:ext cx="400666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2" name="text 41: Share of 2 nJ source availability (%)" descr="sci-ppt:obj-0041"/>
          <p:cNvSpPr txBox="1"/>
          <p:nvPr/>
        </p:nvSpPr>
        <p:spPr>
          <a:xfrm rot="16200000">
            <a:off x="-1693946" y="2391040"/>
            <a:ext cx="3760682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Share of 2 nJ source availability (%)</a:t>
            </a:r>
          </a:p>
        </p:txBody>
      </p:sp>
      <p:cxnSp>
        <p:nvCxnSpPr>
          <p:cNvPr id="43" name="line 42: plot geometry" descr="sci-ppt:obj-0042"/>
          <p:cNvCxnSpPr/>
          <p:nvPr/>
        </p:nvCxnSpPr>
        <p:spPr>
          <a:xfrm flipV="1">
            <a:off x="875004" y="412966"/>
            <a:ext cx="0" cy="4205948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cxnSp>
        <p:nvCxnSpPr>
          <p:cNvPr id="44" name="line 43: plot geometry" descr="sci-ppt:obj-0043"/>
          <p:cNvCxnSpPr/>
          <p:nvPr/>
        </p:nvCxnSpPr>
        <p:spPr>
          <a:xfrm>
            <a:off x="875004" y="4618914"/>
            <a:ext cx="3912641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45" name="text 44: Energy at first-ejection endpoints" descr="sci-ppt:obj-0044"/>
          <p:cNvSpPr txBox="1"/>
          <p:nvPr/>
        </p:nvSpPr>
        <p:spPr>
          <a:xfrm>
            <a:off x="949482" y="73239"/>
            <a:ext cx="4527344" cy="2997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48" b="0" i="0">
                <a:solidFill>
                  <a:srgbClr val="000000"/>
                </a:solidFill>
                <a:latin typeface="Arial"/>
              </a:rPr>
              <a:t>Energy at first-ejection endpoints</a:t>
            </a:r>
          </a:p>
        </p:txBody>
      </p:sp>
      <p:sp>
        <p:nvSpPr>
          <p:cNvPr id="46" name="polygon 45: plot geometry" descr="sci-ppt:obj-0045"/>
          <p:cNvSpPr/>
          <p:nvPr/>
        </p:nvSpPr>
        <p:spPr>
          <a:xfrm>
            <a:off x="8113389" y="412966"/>
            <a:ext cx="3912641" cy="4205948"/>
          </a:xfrm>
          <a:custGeom>
            <a:avLst/>
            <a:gdLst/>
            <a:ahLst/>
            <a:cxnLst/>
            <a:rect l="l" t="t" r="r" b="b"/>
            <a:pathLst>
              <a:path w="3912641" h="4205948">
                <a:moveTo>
                  <a:pt x="0" y="4205948"/>
                </a:moveTo>
                <a:lnTo>
                  <a:pt x="3912641" y="4205948"/>
                </a:lnTo>
                <a:lnTo>
                  <a:pt x="3912641" y="0"/>
                </a:lnTo>
                <a:lnTo>
                  <a:pt x="0" y="0"/>
                </a:lnTo>
                <a:lnTo>
                  <a:pt x="0" y="42059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gon 46: plot geometry" descr="sci-ppt:obj-0046"/>
          <p:cNvSpPr/>
          <p:nvPr/>
        </p:nvSpPr>
        <p:spPr>
          <a:xfrm>
            <a:off x="8113389" y="3622768"/>
            <a:ext cx="3130113" cy="804967"/>
          </a:xfrm>
          <a:custGeom>
            <a:avLst/>
            <a:gdLst/>
            <a:ahLst/>
            <a:cxnLst/>
            <a:rect l="l" t="t" r="r" b="b"/>
            <a:pathLst>
              <a:path w="3130113" h="804967">
                <a:moveTo>
                  <a:pt x="0" y="804967"/>
                </a:moveTo>
                <a:lnTo>
                  <a:pt x="3130113" y="804967"/>
                </a:lnTo>
                <a:lnTo>
                  <a:pt x="3130113" y="0"/>
                </a:lnTo>
                <a:lnTo>
                  <a:pt x="0" y="0"/>
                </a:lnTo>
                <a:lnTo>
                  <a:pt x="0" y="804967"/>
                </a:lnTo>
                <a:close/>
              </a:path>
            </a:pathLst>
          </a:custGeom>
          <a:solidFill>
            <a:srgbClr val="3479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gon 47: plot geometry" descr="sci-ppt:obj-0047"/>
          <p:cNvSpPr/>
          <p:nvPr/>
        </p:nvSpPr>
        <p:spPr>
          <a:xfrm>
            <a:off x="8113389" y="2616561"/>
            <a:ext cx="220472" cy="804966"/>
          </a:xfrm>
          <a:custGeom>
            <a:avLst/>
            <a:gdLst/>
            <a:ahLst/>
            <a:cxnLst/>
            <a:rect l="l" t="t" r="r" b="b"/>
            <a:pathLst>
              <a:path w="220472" h="804966">
                <a:moveTo>
                  <a:pt x="0" y="804966"/>
                </a:moveTo>
                <a:lnTo>
                  <a:pt x="220472" y="804966"/>
                </a:lnTo>
                <a:lnTo>
                  <a:pt x="220472" y="0"/>
                </a:lnTo>
                <a:lnTo>
                  <a:pt x="0" y="0"/>
                </a:lnTo>
                <a:lnTo>
                  <a:pt x="0" y="804966"/>
                </a:lnTo>
                <a:close/>
              </a:path>
            </a:pathLst>
          </a:custGeom>
          <a:solidFill>
            <a:srgbClr val="8AB3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gon 48: plot geometry" descr="sci-ppt:obj-0048"/>
          <p:cNvSpPr/>
          <p:nvPr/>
        </p:nvSpPr>
        <p:spPr>
          <a:xfrm>
            <a:off x="8113389" y="1610353"/>
            <a:ext cx="2901" cy="804966"/>
          </a:xfrm>
          <a:custGeom>
            <a:avLst/>
            <a:gdLst/>
            <a:ahLst/>
            <a:cxnLst/>
            <a:rect l="l" t="t" r="r" b="b"/>
            <a:pathLst>
              <a:path w="2901" h="804966">
                <a:moveTo>
                  <a:pt x="0" y="804966"/>
                </a:moveTo>
                <a:lnTo>
                  <a:pt x="2901" y="804966"/>
                </a:lnTo>
                <a:lnTo>
                  <a:pt x="2901" y="0"/>
                </a:lnTo>
                <a:lnTo>
                  <a:pt x="0" y="0"/>
                </a:lnTo>
                <a:lnTo>
                  <a:pt x="0" y="804966"/>
                </a:lnTo>
                <a:close/>
              </a:path>
            </a:pathLst>
          </a:custGeom>
          <a:solidFill>
            <a:srgbClr val="D16B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 49: plot geometry" descr="sci-ppt:obj-0049"/>
          <p:cNvSpPr/>
          <p:nvPr/>
        </p:nvSpPr>
        <p:spPr>
          <a:xfrm>
            <a:off x="8113389" y="604145"/>
            <a:ext cx="25852" cy="804966"/>
          </a:xfrm>
          <a:custGeom>
            <a:avLst/>
            <a:gdLst/>
            <a:ahLst/>
            <a:cxnLst/>
            <a:rect l="l" t="t" r="r" b="b"/>
            <a:pathLst>
              <a:path w="25852" h="804966">
                <a:moveTo>
                  <a:pt x="0" y="804966"/>
                </a:moveTo>
                <a:lnTo>
                  <a:pt x="25852" y="804966"/>
                </a:lnTo>
                <a:lnTo>
                  <a:pt x="25852" y="0"/>
                </a:lnTo>
                <a:lnTo>
                  <a:pt x="0" y="0"/>
                </a:lnTo>
                <a:lnTo>
                  <a:pt x="0" y="804966"/>
                </a:lnTo>
                <a:close/>
              </a:path>
            </a:pathLst>
          </a:custGeom>
          <a:solidFill>
            <a:srgbClr val="9460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line 50: plot geometry" descr="sci-ppt:obj-0050"/>
          <p:cNvCxnSpPr/>
          <p:nvPr/>
        </p:nvCxnSpPr>
        <p:spPr>
          <a:xfrm flipV="1">
            <a:off x="8113389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2" name="line 51: plot geometry" descr="sci-ppt:obj-0051"/>
          <p:cNvCxnSpPr/>
          <p:nvPr/>
        </p:nvCxnSpPr>
        <p:spPr>
          <a:xfrm>
            <a:off x="8113389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53" name="text 52: 0" descr="sci-ppt:obj-0052"/>
          <p:cNvSpPr txBox="1"/>
          <p:nvPr/>
        </p:nvSpPr>
        <p:spPr>
          <a:xfrm>
            <a:off x="8027093" y="4698436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54" name="line 53: plot geometry" descr="sci-ppt:obj-0053"/>
          <p:cNvCxnSpPr/>
          <p:nvPr/>
        </p:nvCxnSpPr>
        <p:spPr>
          <a:xfrm flipV="1">
            <a:off x="8705604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5" name="line 54: plot geometry" descr="sci-ppt:obj-0054"/>
          <p:cNvCxnSpPr/>
          <p:nvPr/>
        </p:nvCxnSpPr>
        <p:spPr>
          <a:xfrm>
            <a:off x="8705604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56" name="text 55: 2" descr="sci-ppt:obj-0055"/>
          <p:cNvSpPr txBox="1"/>
          <p:nvPr/>
        </p:nvSpPr>
        <p:spPr>
          <a:xfrm>
            <a:off x="8619307" y="4698436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57" name="line 56: plot geometry" descr="sci-ppt:obj-0056"/>
          <p:cNvCxnSpPr/>
          <p:nvPr/>
        </p:nvCxnSpPr>
        <p:spPr>
          <a:xfrm flipV="1">
            <a:off x="9297819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8" name="line 57: plot geometry" descr="sci-ppt:obj-0057"/>
          <p:cNvCxnSpPr/>
          <p:nvPr/>
        </p:nvCxnSpPr>
        <p:spPr>
          <a:xfrm>
            <a:off x="9297819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59" name="text 58: 4" descr="sci-ppt:obj-0058"/>
          <p:cNvSpPr txBox="1"/>
          <p:nvPr/>
        </p:nvSpPr>
        <p:spPr>
          <a:xfrm>
            <a:off x="9211522" y="4698436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60" name="line 59: plot geometry" descr="sci-ppt:obj-0059"/>
          <p:cNvCxnSpPr/>
          <p:nvPr/>
        </p:nvCxnSpPr>
        <p:spPr>
          <a:xfrm flipV="1">
            <a:off x="9890034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1" name="line 60: plot geometry" descr="sci-ppt:obj-0060"/>
          <p:cNvCxnSpPr/>
          <p:nvPr/>
        </p:nvCxnSpPr>
        <p:spPr>
          <a:xfrm>
            <a:off x="9890034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62" name="text 61: 6" descr="sci-ppt:obj-0061"/>
          <p:cNvSpPr txBox="1"/>
          <p:nvPr/>
        </p:nvSpPr>
        <p:spPr>
          <a:xfrm>
            <a:off x="9803737" y="4698436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63" name="line 62: plot geometry" descr="sci-ppt:obj-0062"/>
          <p:cNvCxnSpPr/>
          <p:nvPr/>
        </p:nvCxnSpPr>
        <p:spPr>
          <a:xfrm flipV="1">
            <a:off x="10482249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4" name="line 63: plot geometry" descr="sci-ppt:obj-0063"/>
          <p:cNvCxnSpPr/>
          <p:nvPr/>
        </p:nvCxnSpPr>
        <p:spPr>
          <a:xfrm>
            <a:off x="10482249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65" name="text 64: 8" descr="sci-ppt:obj-0064"/>
          <p:cNvSpPr txBox="1"/>
          <p:nvPr/>
        </p:nvSpPr>
        <p:spPr>
          <a:xfrm>
            <a:off x="10395952" y="4698436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66" name="line 65: plot geometry" descr="sci-ppt:obj-0065"/>
          <p:cNvCxnSpPr/>
          <p:nvPr/>
        </p:nvCxnSpPr>
        <p:spPr>
          <a:xfrm flipV="1">
            <a:off x="11074464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7" name="line 66: plot geometry" descr="sci-ppt:obj-0066"/>
          <p:cNvCxnSpPr/>
          <p:nvPr/>
        </p:nvCxnSpPr>
        <p:spPr>
          <a:xfrm>
            <a:off x="11074464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68" name="text 67: 10" descr="sci-ppt:obj-0067"/>
          <p:cNvSpPr txBox="1"/>
          <p:nvPr/>
        </p:nvSpPr>
        <p:spPr>
          <a:xfrm>
            <a:off x="10929303" y="4698436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69" name="line 68: plot geometry" descr="sci-ppt:obj-0068"/>
          <p:cNvCxnSpPr/>
          <p:nvPr/>
        </p:nvCxnSpPr>
        <p:spPr>
          <a:xfrm flipV="1">
            <a:off x="11666679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0" name="line 69: plot geometry" descr="sci-ppt:obj-0069"/>
          <p:cNvCxnSpPr/>
          <p:nvPr/>
        </p:nvCxnSpPr>
        <p:spPr>
          <a:xfrm>
            <a:off x="11666679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71" name="text 70: 12" descr="sci-ppt:obj-0070"/>
          <p:cNvSpPr txBox="1"/>
          <p:nvPr/>
        </p:nvSpPr>
        <p:spPr>
          <a:xfrm>
            <a:off x="11521518" y="4698436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72" name="text 71: Open-gel / matched rigid output (%)" descr="sci-ppt:obj-0071"/>
          <p:cNvSpPr txBox="1"/>
          <p:nvPr/>
        </p:nvSpPr>
        <p:spPr>
          <a:xfrm>
            <a:off x="8361816" y="4957502"/>
            <a:ext cx="3894150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Open-gel / matched rigid output (%)</a:t>
            </a:r>
          </a:p>
        </p:txBody>
      </p:sp>
      <p:cxnSp>
        <p:nvCxnSpPr>
          <p:cNvPr id="73" name="line 72: plot geometry" descr="sci-ppt:obj-0072"/>
          <p:cNvCxnSpPr/>
          <p:nvPr/>
        </p:nvCxnSpPr>
        <p:spPr>
          <a:xfrm>
            <a:off x="8113389" y="4025252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4" name="line 73: plot geometry" descr="sci-ppt:obj-0073"/>
          <p:cNvCxnSpPr/>
          <p:nvPr/>
        </p:nvCxnSpPr>
        <p:spPr>
          <a:xfrm flipH="1">
            <a:off x="8048626" y="4025252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75" name="text 74: Peak speed" descr="sci-ppt:obj-0074"/>
          <p:cNvSpPr txBox="1"/>
          <p:nvPr/>
        </p:nvSpPr>
        <p:spPr>
          <a:xfrm>
            <a:off x="6899210" y="3904963"/>
            <a:ext cx="1164865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Peak speed</a:t>
            </a:r>
          </a:p>
        </p:txBody>
      </p:sp>
      <p:cxnSp>
        <p:nvCxnSpPr>
          <p:cNvPr id="76" name="line 75: plot geometry" descr="sci-ppt:obj-0075"/>
          <p:cNvCxnSpPr/>
          <p:nvPr/>
        </p:nvCxnSpPr>
        <p:spPr>
          <a:xfrm>
            <a:off x="8113389" y="3019044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7" name="line 76: plot geometry" descr="sci-ppt:obj-0076"/>
          <p:cNvCxnSpPr/>
          <p:nvPr/>
        </p:nvCxnSpPr>
        <p:spPr>
          <a:xfrm flipH="1">
            <a:off x="8048626" y="3019044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78" name="text 77: Emitted mass" descr="sci-ppt:obj-0077"/>
          <p:cNvSpPr txBox="1"/>
          <p:nvPr/>
        </p:nvSpPr>
        <p:spPr>
          <a:xfrm>
            <a:off x="6686245" y="2898756"/>
            <a:ext cx="1383208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Emitted mass</a:t>
            </a:r>
          </a:p>
        </p:txBody>
      </p:sp>
      <p:cxnSp>
        <p:nvCxnSpPr>
          <p:cNvPr id="79" name="line 78: plot geometry" descr="sci-ppt:obj-0078"/>
          <p:cNvCxnSpPr/>
          <p:nvPr/>
        </p:nvCxnSpPr>
        <p:spPr>
          <a:xfrm>
            <a:off x="8113389" y="2012836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0" name="line 79: plot geometry" descr="sci-ppt:obj-0079"/>
          <p:cNvCxnSpPr/>
          <p:nvPr/>
        </p:nvCxnSpPr>
        <p:spPr>
          <a:xfrm flipH="1">
            <a:off x="8048626" y="2012836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81" name="text 80: Emitted energy" descr="sci-ppt:obj-0080"/>
          <p:cNvSpPr txBox="1"/>
          <p:nvPr/>
        </p:nvSpPr>
        <p:spPr>
          <a:xfrm>
            <a:off x="6527865" y="1892548"/>
            <a:ext cx="1601551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Emitted energy</a:t>
            </a:r>
          </a:p>
        </p:txBody>
      </p:sp>
      <p:cxnSp>
        <p:nvCxnSpPr>
          <p:cNvPr id="82" name="line 81: plot geometry" descr="sci-ppt:obj-0081"/>
          <p:cNvCxnSpPr/>
          <p:nvPr/>
        </p:nvCxnSpPr>
        <p:spPr>
          <a:xfrm>
            <a:off x="8113389" y="1006628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3" name="line 82: plot geometry" descr="sci-ppt:obj-0082"/>
          <p:cNvCxnSpPr/>
          <p:nvPr/>
        </p:nvCxnSpPr>
        <p:spPr>
          <a:xfrm flipH="1">
            <a:off x="8048626" y="1006628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84" name="text 83: Emitted impulse" descr="sci-ppt:obj-0083"/>
          <p:cNvSpPr txBox="1"/>
          <p:nvPr/>
        </p:nvSpPr>
        <p:spPr>
          <a:xfrm>
            <a:off x="6444628" y="886340"/>
            <a:ext cx="1710722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Emitted impulse</a:t>
            </a:r>
          </a:p>
        </p:txBody>
      </p:sp>
      <p:cxnSp>
        <p:nvCxnSpPr>
          <p:cNvPr id="85" name="line 84: plot geometry" descr="sci-ppt:obj-0084"/>
          <p:cNvCxnSpPr/>
          <p:nvPr/>
        </p:nvCxnSpPr>
        <p:spPr>
          <a:xfrm flipV="1">
            <a:off x="8113389" y="412966"/>
            <a:ext cx="0" cy="4205948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cxnSp>
        <p:nvCxnSpPr>
          <p:cNvPr id="86" name="line 85: plot geometry" descr="sci-ppt:obj-0085"/>
          <p:cNvCxnSpPr/>
          <p:nvPr/>
        </p:nvCxnSpPr>
        <p:spPr>
          <a:xfrm>
            <a:off x="8113389" y="4618914"/>
            <a:ext cx="3912641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87" name="text 86: 10.571%" descr="sci-ppt:obj-0086"/>
          <p:cNvSpPr txBox="1"/>
          <p:nvPr/>
        </p:nvSpPr>
        <p:spPr>
          <a:xfrm>
            <a:off x="11290096" y="3896982"/>
            <a:ext cx="760931" cy="2248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1" b="0" i="0">
                <a:solidFill>
                  <a:srgbClr val="000000"/>
                </a:solidFill>
                <a:latin typeface="Arial"/>
              </a:rPr>
              <a:t>10.571%</a:t>
            </a:r>
          </a:p>
        </p:txBody>
      </p:sp>
      <p:sp>
        <p:nvSpPr>
          <p:cNvPr id="88" name="text 87: 0.745%" descr="sci-ppt:obj-0087"/>
          <p:cNvSpPr txBox="1"/>
          <p:nvPr/>
        </p:nvSpPr>
        <p:spPr>
          <a:xfrm>
            <a:off x="8380456" y="2890775"/>
            <a:ext cx="662677" cy="2248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1" b="0" i="0">
                <a:solidFill>
                  <a:srgbClr val="000000"/>
                </a:solidFill>
                <a:latin typeface="Arial"/>
              </a:rPr>
              <a:t>0.745%</a:t>
            </a:r>
          </a:p>
        </p:txBody>
      </p:sp>
      <p:sp>
        <p:nvSpPr>
          <p:cNvPr id="89" name="text 88: 0.010%" descr="sci-ppt:obj-0088"/>
          <p:cNvSpPr txBox="1"/>
          <p:nvPr/>
        </p:nvSpPr>
        <p:spPr>
          <a:xfrm>
            <a:off x="8162885" y="1884567"/>
            <a:ext cx="662677" cy="2248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1" b="0" i="0">
                <a:solidFill>
                  <a:srgbClr val="000000"/>
                </a:solidFill>
                <a:latin typeface="Arial"/>
              </a:rPr>
              <a:t>0.010%</a:t>
            </a:r>
          </a:p>
        </p:txBody>
      </p:sp>
      <p:sp>
        <p:nvSpPr>
          <p:cNvPr id="90" name="text 89: 0.087%" descr="sci-ppt:obj-0089"/>
          <p:cNvSpPr txBox="1"/>
          <p:nvPr/>
        </p:nvSpPr>
        <p:spPr>
          <a:xfrm>
            <a:off x="8185836" y="878359"/>
            <a:ext cx="662677" cy="2248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1" b="0" i="0">
                <a:solidFill>
                  <a:srgbClr val="000000"/>
                </a:solidFill>
                <a:latin typeface="Arial"/>
              </a:rPr>
              <a:t>0.087%</a:t>
            </a:r>
          </a:p>
        </p:txBody>
      </p:sp>
      <p:sp>
        <p:nvSpPr>
          <p:cNvPr id="91" name="text 90: Finite-output transmission" descr="sci-ppt:obj-0090"/>
          <p:cNvSpPr txBox="1"/>
          <p:nvPr/>
        </p:nvSpPr>
        <p:spPr>
          <a:xfrm>
            <a:off x="8589853" y="73239"/>
            <a:ext cx="3479299" cy="2997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48" b="0" i="0">
                <a:solidFill>
                  <a:srgbClr val="000000"/>
                </a:solidFill>
                <a:latin typeface="Arial"/>
              </a:rPr>
              <a:t>Finite-output transmission</a:t>
            </a:r>
          </a:p>
        </p:txBody>
      </p:sp>
      <p:sp>
        <p:nvSpPr>
          <p:cNvPr id="92" name="polygon 91: plot geometry" descr="sci-ppt:obj-0091"/>
          <p:cNvSpPr/>
          <p:nvPr/>
        </p:nvSpPr>
        <p:spPr>
          <a:xfrm>
            <a:off x="3052719" y="5923436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3479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 92: Column storage" descr="sci-ppt:obj-0092"/>
          <p:cNvSpPr txBox="1"/>
          <p:nvPr/>
        </p:nvSpPr>
        <p:spPr>
          <a:xfrm>
            <a:off x="3439768" y="5874586"/>
            <a:ext cx="1295871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Column storage</a:t>
            </a:r>
          </a:p>
        </p:txBody>
      </p:sp>
      <p:sp>
        <p:nvSpPr>
          <p:cNvPr id="94" name="polygon 93: plot geometry" descr="sci-ppt:obj-0093"/>
          <p:cNvSpPr/>
          <p:nvPr/>
        </p:nvSpPr>
        <p:spPr>
          <a:xfrm>
            <a:off x="3052719" y="6145491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9460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 94: Gel radial motion" descr="sci-ppt:obj-0094"/>
          <p:cNvSpPr txBox="1"/>
          <p:nvPr/>
        </p:nvSpPr>
        <p:spPr>
          <a:xfrm>
            <a:off x="3439768" y="6096641"/>
            <a:ext cx="1557882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Gel radial motion</a:t>
            </a:r>
          </a:p>
        </p:txBody>
      </p:sp>
      <p:sp>
        <p:nvSpPr>
          <p:cNvPr id="96" name="polygon 95: plot geometry" descr="sci-ppt:obj-0095"/>
          <p:cNvSpPr/>
          <p:nvPr/>
        </p:nvSpPr>
        <p:spPr>
          <a:xfrm>
            <a:off x="3052719" y="6367546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8AB3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 96: Gel elastic work" descr="sci-ppt:obj-0096"/>
          <p:cNvSpPr txBox="1"/>
          <p:nvPr/>
        </p:nvSpPr>
        <p:spPr>
          <a:xfrm>
            <a:off x="3439768" y="6318697"/>
            <a:ext cx="1470545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Gel elastic work</a:t>
            </a:r>
          </a:p>
        </p:txBody>
      </p:sp>
      <p:sp>
        <p:nvSpPr>
          <p:cNvPr id="98" name="polygon 97: plot geometry" descr="sci-ppt:obj-0097"/>
          <p:cNvSpPr/>
          <p:nvPr/>
        </p:nvSpPr>
        <p:spPr>
          <a:xfrm>
            <a:off x="5041073" y="5923436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 98: Irreversible loss" descr="sci-ppt:obj-0098"/>
          <p:cNvSpPr txBox="1"/>
          <p:nvPr/>
        </p:nvSpPr>
        <p:spPr>
          <a:xfrm>
            <a:off x="5428122" y="5874586"/>
            <a:ext cx="1557882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Irreversible loss</a:t>
            </a:r>
          </a:p>
        </p:txBody>
      </p:sp>
      <p:sp>
        <p:nvSpPr>
          <p:cNvPr id="100" name="polygon 99: plot geometry" descr="sci-ppt:obj-0099"/>
          <p:cNvSpPr/>
          <p:nvPr/>
        </p:nvSpPr>
        <p:spPr>
          <a:xfrm>
            <a:off x="5041073" y="6145491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D16B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 100: Emitted jet" descr="sci-ppt:obj-0100"/>
          <p:cNvSpPr txBox="1"/>
          <p:nvPr/>
        </p:nvSpPr>
        <p:spPr>
          <a:xfrm>
            <a:off x="5428122" y="6096641"/>
            <a:ext cx="1033860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Emitted jet</a:t>
            </a:r>
          </a:p>
        </p:txBody>
      </p:sp>
      <p:sp>
        <p:nvSpPr>
          <p:cNvPr id="102" name="polygon 101: plot geometry" descr="sci-ppt:obj-0101"/>
          <p:cNvSpPr/>
          <p:nvPr/>
        </p:nvSpPr>
        <p:spPr>
          <a:xfrm>
            <a:off x="6919168" y="5923436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D6BD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 102: Meniscus work" descr="sci-ppt:obj-0102"/>
          <p:cNvSpPr txBox="1"/>
          <p:nvPr/>
        </p:nvSpPr>
        <p:spPr>
          <a:xfrm>
            <a:off x="7306217" y="5874586"/>
            <a:ext cx="1208534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Meniscus work</a:t>
            </a:r>
          </a:p>
        </p:txBody>
      </p:sp>
      <p:sp>
        <p:nvSpPr>
          <p:cNvPr id="104" name="polygon 103: plot geometry" descr="sci-ppt:obj-0103"/>
          <p:cNvSpPr/>
          <p:nvPr/>
        </p:nvSpPr>
        <p:spPr>
          <a:xfrm>
            <a:off x="6919168" y="6145491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EEF0F5"/>
          </a:solidFill>
          <a:ln w="18503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 104: Source availability remaining" descr="sci-ppt:obj-0104"/>
          <p:cNvSpPr txBox="1"/>
          <p:nvPr/>
        </p:nvSpPr>
        <p:spPr>
          <a:xfrm>
            <a:off x="7306217" y="6096641"/>
            <a:ext cx="2605928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Source availability remaining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5284433"/>
          </a:xfrm>
          <a:custGeom>
            <a:avLst/>
            <a:gdLst/>
            <a:ahLst/>
            <a:cxnLst/>
            <a:rect l="l" t="t" r="r" b="b"/>
            <a:pathLst>
              <a:path w="12191695" h="5284433">
                <a:moveTo>
                  <a:pt x="0" y="5284433"/>
                </a:moveTo>
                <a:lnTo>
                  <a:pt x="12191695" y="5284433"/>
                </a:lnTo>
                <a:lnTo>
                  <a:pt x="12191695" y="0"/>
                </a:lnTo>
                <a:lnTo>
                  <a:pt x="0" y="0"/>
                </a:lnTo>
                <a:lnTo>
                  <a:pt x="0" y="52844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766155" y="417808"/>
            <a:ext cx="5128086" cy="4151483"/>
          </a:xfrm>
          <a:custGeom>
            <a:avLst/>
            <a:gdLst/>
            <a:ahLst/>
            <a:cxnLst/>
            <a:rect l="l" t="t" r="r" b="b"/>
            <a:pathLst>
              <a:path w="5128086" h="4151483">
                <a:moveTo>
                  <a:pt x="0" y="4151483"/>
                </a:moveTo>
                <a:lnTo>
                  <a:pt x="5128086" y="4151483"/>
                </a:lnTo>
                <a:lnTo>
                  <a:pt x="5128086" y="0"/>
                </a:lnTo>
                <a:lnTo>
                  <a:pt x="0" y="0"/>
                </a:lnTo>
                <a:lnTo>
                  <a:pt x="0" y="41514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999250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999250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6" name="text 5: 1.000" descr="sci-ppt:obj-0005"/>
          <p:cNvSpPr txBox="1"/>
          <p:nvPr/>
        </p:nvSpPr>
        <p:spPr>
          <a:xfrm>
            <a:off x="703850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1.000</a:t>
            </a:r>
          </a:p>
        </p:txBody>
      </p:sp>
      <p:cxnSp>
        <p:nvCxnSpPr>
          <p:cNvPr id="7" name="line 6: plot geometry" descr="sci-ppt:obj-0006"/>
          <p:cNvCxnSpPr/>
          <p:nvPr/>
        </p:nvCxnSpPr>
        <p:spPr>
          <a:xfrm flipV="1">
            <a:off x="1581987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" name="line 7: plot geometry" descr="sci-ppt:obj-0007"/>
          <p:cNvCxnSpPr/>
          <p:nvPr/>
        </p:nvCxnSpPr>
        <p:spPr>
          <a:xfrm>
            <a:off x="1581987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9" name="text 8: 1.025" descr="sci-ppt:obj-0008"/>
          <p:cNvSpPr txBox="1"/>
          <p:nvPr/>
        </p:nvSpPr>
        <p:spPr>
          <a:xfrm>
            <a:off x="1286587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1.025</a:t>
            </a:r>
          </a:p>
        </p:txBody>
      </p:sp>
      <p:cxnSp>
        <p:nvCxnSpPr>
          <p:cNvPr id="10" name="line 9: plot geometry" descr="sci-ppt:obj-0009"/>
          <p:cNvCxnSpPr/>
          <p:nvPr/>
        </p:nvCxnSpPr>
        <p:spPr>
          <a:xfrm flipV="1">
            <a:off x="2164724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1" name="line 10: plot geometry" descr="sci-ppt:obj-0010"/>
          <p:cNvCxnSpPr/>
          <p:nvPr/>
        </p:nvCxnSpPr>
        <p:spPr>
          <a:xfrm>
            <a:off x="2164724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2" name="text 11: 1.050" descr="sci-ppt:obj-0011"/>
          <p:cNvSpPr txBox="1"/>
          <p:nvPr/>
        </p:nvSpPr>
        <p:spPr>
          <a:xfrm>
            <a:off x="1869324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1.050</a:t>
            </a:r>
          </a:p>
        </p:txBody>
      </p:sp>
      <p:cxnSp>
        <p:nvCxnSpPr>
          <p:cNvPr id="13" name="line 12: plot geometry" descr="sci-ppt:obj-0012"/>
          <p:cNvCxnSpPr/>
          <p:nvPr/>
        </p:nvCxnSpPr>
        <p:spPr>
          <a:xfrm flipV="1">
            <a:off x="2747461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4" name="line 13: plot geometry" descr="sci-ppt:obj-0013"/>
          <p:cNvCxnSpPr/>
          <p:nvPr/>
        </p:nvCxnSpPr>
        <p:spPr>
          <a:xfrm>
            <a:off x="2747461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5" name="text 14: 1.075" descr="sci-ppt:obj-0014"/>
          <p:cNvSpPr txBox="1"/>
          <p:nvPr/>
        </p:nvSpPr>
        <p:spPr>
          <a:xfrm>
            <a:off x="2452061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1.075</a:t>
            </a:r>
          </a:p>
        </p:txBody>
      </p:sp>
      <p:cxnSp>
        <p:nvCxnSpPr>
          <p:cNvPr id="16" name="line 15: plot geometry" descr="sci-ppt:obj-0015"/>
          <p:cNvCxnSpPr/>
          <p:nvPr/>
        </p:nvCxnSpPr>
        <p:spPr>
          <a:xfrm flipV="1">
            <a:off x="3330198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7" name="line 16: plot geometry" descr="sci-ppt:obj-0016"/>
          <p:cNvCxnSpPr/>
          <p:nvPr/>
        </p:nvCxnSpPr>
        <p:spPr>
          <a:xfrm>
            <a:off x="3330198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8" name="text 17: 1.100" descr="sci-ppt:obj-0017"/>
          <p:cNvSpPr txBox="1"/>
          <p:nvPr/>
        </p:nvSpPr>
        <p:spPr>
          <a:xfrm>
            <a:off x="3034798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1.100</a:t>
            </a:r>
          </a:p>
        </p:txBody>
      </p:sp>
      <p:cxnSp>
        <p:nvCxnSpPr>
          <p:cNvPr id="19" name="line 18: plot geometry" descr="sci-ppt:obj-0018"/>
          <p:cNvCxnSpPr/>
          <p:nvPr/>
        </p:nvCxnSpPr>
        <p:spPr>
          <a:xfrm flipV="1">
            <a:off x="3912935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0" name="line 19: plot geometry" descr="sci-ppt:obj-0019"/>
          <p:cNvCxnSpPr/>
          <p:nvPr/>
        </p:nvCxnSpPr>
        <p:spPr>
          <a:xfrm>
            <a:off x="3912935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21" name="text 20: 1.125" descr="sci-ppt:obj-0020"/>
          <p:cNvSpPr txBox="1"/>
          <p:nvPr/>
        </p:nvSpPr>
        <p:spPr>
          <a:xfrm>
            <a:off x="3617535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1.125</a:t>
            </a:r>
          </a:p>
        </p:txBody>
      </p:sp>
      <p:cxnSp>
        <p:nvCxnSpPr>
          <p:cNvPr id="22" name="line 21: plot geometry" descr="sci-ppt:obj-0021"/>
          <p:cNvCxnSpPr/>
          <p:nvPr/>
        </p:nvCxnSpPr>
        <p:spPr>
          <a:xfrm flipV="1">
            <a:off x="4495672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3" name="line 22: plot geometry" descr="sci-ppt:obj-0022"/>
          <p:cNvCxnSpPr/>
          <p:nvPr/>
        </p:nvCxnSpPr>
        <p:spPr>
          <a:xfrm>
            <a:off x="4495672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24" name="text 23: 1.150" descr="sci-ppt:obj-0023"/>
          <p:cNvSpPr txBox="1"/>
          <p:nvPr/>
        </p:nvSpPr>
        <p:spPr>
          <a:xfrm>
            <a:off x="4200272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1.150</a:t>
            </a:r>
          </a:p>
        </p:txBody>
      </p:sp>
      <p:cxnSp>
        <p:nvCxnSpPr>
          <p:cNvPr id="25" name="line 24: plot geometry" descr="sci-ppt:obj-0024"/>
          <p:cNvCxnSpPr/>
          <p:nvPr/>
        </p:nvCxnSpPr>
        <p:spPr>
          <a:xfrm flipV="1">
            <a:off x="5078409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6" name="line 25: plot geometry" descr="sci-ppt:obj-0025"/>
          <p:cNvCxnSpPr/>
          <p:nvPr/>
        </p:nvCxnSpPr>
        <p:spPr>
          <a:xfrm>
            <a:off x="5078409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27" name="text 26: 1.175" descr="sci-ppt:obj-0026"/>
          <p:cNvSpPr txBox="1"/>
          <p:nvPr/>
        </p:nvSpPr>
        <p:spPr>
          <a:xfrm>
            <a:off x="4783009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1.175</a:t>
            </a:r>
          </a:p>
        </p:txBody>
      </p:sp>
      <p:cxnSp>
        <p:nvCxnSpPr>
          <p:cNvPr id="28" name="line 27: plot geometry" descr="sci-ppt:obj-0027"/>
          <p:cNvCxnSpPr/>
          <p:nvPr/>
        </p:nvCxnSpPr>
        <p:spPr>
          <a:xfrm flipV="1">
            <a:off x="5661146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9" name="line 28: plot geometry" descr="sci-ppt:obj-0028"/>
          <p:cNvCxnSpPr/>
          <p:nvPr/>
        </p:nvCxnSpPr>
        <p:spPr>
          <a:xfrm>
            <a:off x="5661146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30" name="text 29: 1.200" descr="sci-ppt:obj-0029"/>
          <p:cNvSpPr txBox="1"/>
          <p:nvPr/>
        </p:nvSpPr>
        <p:spPr>
          <a:xfrm>
            <a:off x="5365746" y="4649745"/>
            <a:ext cx="62540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1.200</a:t>
            </a:r>
          </a:p>
        </p:txBody>
      </p:sp>
      <p:sp>
        <p:nvSpPr>
          <p:cNvPr id="31" name="text 30: Wall radius / unstressed radius" descr="sci-ppt:obj-0030"/>
          <p:cNvSpPr txBox="1"/>
          <p:nvPr/>
        </p:nvSpPr>
        <p:spPr>
          <a:xfrm>
            <a:off x="1864950" y="4911849"/>
            <a:ext cx="3497151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Wall radius / unstressed radius</a:t>
            </a:r>
          </a:p>
        </p:txBody>
      </p:sp>
      <p:cxnSp>
        <p:nvCxnSpPr>
          <p:cNvPr id="32" name="line 31: plot geometry" descr="sci-ppt:obj-0031"/>
          <p:cNvCxnSpPr/>
          <p:nvPr/>
        </p:nvCxnSpPr>
        <p:spPr>
          <a:xfrm>
            <a:off x="766155" y="438058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3" name="line 32: plot geometry" descr="sci-ppt:obj-0032"/>
          <p:cNvCxnSpPr/>
          <p:nvPr/>
        </p:nvCxnSpPr>
        <p:spPr>
          <a:xfrm flipH="1">
            <a:off x="700633" y="438058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34" name="text 33: 0" descr="sci-ppt:obj-0033"/>
          <p:cNvSpPr txBox="1"/>
          <p:nvPr/>
        </p:nvSpPr>
        <p:spPr>
          <a:xfrm>
            <a:off x="488569" y="4258881"/>
            <a:ext cx="183603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35" name="line 34: plot geometry" descr="sci-ppt:obj-0034"/>
          <p:cNvCxnSpPr/>
          <p:nvPr/>
        </p:nvCxnSpPr>
        <p:spPr>
          <a:xfrm>
            <a:off x="766155" y="374329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6" name="line 35: plot geometry" descr="sci-ppt:obj-0035"/>
          <p:cNvCxnSpPr/>
          <p:nvPr/>
        </p:nvCxnSpPr>
        <p:spPr>
          <a:xfrm flipH="1">
            <a:off x="700633" y="374329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37" name="text 36: 10" descr="sci-ppt:obj-0036"/>
          <p:cNvSpPr txBox="1"/>
          <p:nvPr/>
        </p:nvSpPr>
        <p:spPr>
          <a:xfrm>
            <a:off x="369459" y="362159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38" name="line 37: plot geometry" descr="sci-ppt:obj-0037"/>
          <p:cNvCxnSpPr/>
          <p:nvPr/>
        </p:nvCxnSpPr>
        <p:spPr>
          <a:xfrm>
            <a:off x="766155" y="310600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9" name="line 38: plot geometry" descr="sci-ppt:obj-0038"/>
          <p:cNvCxnSpPr/>
          <p:nvPr/>
        </p:nvCxnSpPr>
        <p:spPr>
          <a:xfrm flipH="1">
            <a:off x="700633" y="310600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40" name="text 39: 20" descr="sci-ppt:obj-0039"/>
          <p:cNvSpPr txBox="1"/>
          <p:nvPr/>
        </p:nvSpPr>
        <p:spPr>
          <a:xfrm>
            <a:off x="369459" y="298430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41" name="line 40: plot geometry" descr="sci-ppt:obj-0040"/>
          <p:cNvCxnSpPr/>
          <p:nvPr/>
        </p:nvCxnSpPr>
        <p:spPr>
          <a:xfrm>
            <a:off x="766155" y="246871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2" name="line 41: plot geometry" descr="sci-ppt:obj-0041"/>
          <p:cNvCxnSpPr/>
          <p:nvPr/>
        </p:nvCxnSpPr>
        <p:spPr>
          <a:xfrm flipH="1">
            <a:off x="700633" y="246871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43" name="text 42: 30" descr="sci-ppt:obj-0042"/>
          <p:cNvSpPr txBox="1"/>
          <p:nvPr/>
        </p:nvSpPr>
        <p:spPr>
          <a:xfrm>
            <a:off x="369459" y="234701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44" name="line 43: plot geometry" descr="sci-ppt:obj-0043"/>
          <p:cNvCxnSpPr/>
          <p:nvPr/>
        </p:nvCxnSpPr>
        <p:spPr>
          <a:xfrm>
            <a:off x="766155" y="183142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 flipH="1">
            <a:off x="700633" y="183142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46" name="text 45: 40" descr="sci-ppt:obj-0045"/>
          <p:cNvSpPr txBox="1"/>
          <p:nvPr/>
        </p:nvSpPr>
        <p:spPr>
          <a:xfrm>
            <a:off x="369459" y="170972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cxnSp>
        <p:nvCxnSpPr>
          <p:cNvPr id="47" name="line 46: plot geometry" descr="sci-ppt:obj-0046"/>
          <p:cNvCxnSpPr/>
          <p:nvPr/>
        </p:nvCxnSpPr>
        <p:spPr>
          <a:xfrm>
            <a:off x="766155" y="119413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8" name="line 47: plot geometry" descr="sci-ppt:obj-0047"/>
          <p:cNvCxnSpPr/>
          <p:nvPr/>
        </p:nvCxnSpPr>
        <p:spPr>
          <a:xfrm flipH="1">
            <a:off x="700633" y="119413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49" name="text 48: 50" descr="sci-ppt:obj-0048"/>
          <p:cNvSpPr txBox="1"/>
          <p:nvPr/>
        </p:nvSpPr>
        <p:spPr>
          <a:xfrm>
            <a:off x="369459" y="107243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cxnSp>
        <p:nvCxnSpPr>
          <p:cNvPr id="50" name="line 49: plot geometry" descr="sci-ppt:obj-0049"/>
          <p:cNvCxnSpPr/>
          <p:nvPr/>
        </p:nvCxnSpPr>
        <p:spPr>
          <a:xfrm>
            <a:off x="766155" y="556847"/>
            <a:ext cx="5128086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1" name="line 50: plot geometry" descr="sci-ppt:obj-0050"/>
          <p:cNvCxnSpPr/>
          <p:nvPr/>
        </p:nvCxnSpPr>
        <p:spPr>
          <a:xfrm flipH="1">
            <a:off x="700633" y="55684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52" name="text 51: 60" descr="sci-ppt:obj-0051"/>
          <p:cNvSpPr txBox="1"/>
          <p:nvPr/>
        </p:nvSpPr>
        <p:spPr>
          <a:xfrm>
            <a:off x="369459" y="435141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53" name="text 52: Elastic resistance (kPa)" descr="sci-ppt:obj-0052"/>
          <p:cNvSpPr txBox="1"/>
          <p:nvPr/>
        </p:nvSpPr>
        <p:spPr>
          <a:xfrm rot="16200000">
            <a:off x="-1052094" y="2367185"/>
            <a:ext cx="2481350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Elastic resistance (kPa)</a:t>
            </a:r>
          </a:p>
        </p:txBody>
      </p:sp>
      <p:sp>
        <p:nvSpPr>
          <p:cNvPr id="54" name="polygon 53: plot geometry" descr="sci-ppt:obj-0053"/>
          <p:cNvSpPr/>
          <p:nvPr/>
        </p:nvSpPr>
        <p:spPr>
          <a:xfrm>
            <a:off x="999250" y="4191883"/>
            <a:ext cx="4661896" cy="188704"/>
          </a:xfrm>
          <a:custGeom>
            <a:avLst/>
            <a:gdLst/>
            <a:ahLst/>
            <a:cxnLst/>
            <a:rect l="l" t="t" r="r" b="b"/>
            <a:pathLst>
              <a:path w="4661896" h="188704">
                <a:moveTo>
                  <a:pt x="0" y="188704"/>
                </a:moveTo>
                <a:lnTo>
                  <a:pt x="722594" y="151227"/>
                </a:lnTo>
                <a:lnTo>
                  <a:pt x="1515116" y="114331"/>
                </a:lnTo>
                <a:lnTo>
                  <a:pt x="2377567" y="78426"/>
                </a:lnTo>
                <a:lnTo>
                  <a:pt x="3309946" y="43811"/>
                </a:lnTo>
                <a:lnTo>
                  <a:pt x="4335563" y="9962"/>
                </a:lnTo>
                <a:lnTo>
                  <a:pt x="4661896" y="0"/>
                </a:lnTo>
                <a:lnTo>
                  <a:pt x="4661896" y="0"/>
                </a:lnTo>
              </a:path>
            </a:pathLst>
          </a:custGeom>
          <a:noFill/>
          <a:ln w="2808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gon 54: plot geometry" descr="sci-ppt:obj-0054"/>
          <p:cNvSpPr/>
          <p:nvPr/>
        </p:nvSpPr>
        <p:spPr>
          <a:xfrm>
            <a:off x="999250" y="3625772"/>
            <a:ext cx="4661896" cy="754815"/>
          </a:xfrm>
          <a:custGeom>
            <a:avLst/>
            <a:gdLst/>
            <a:ahLst/>
            <a:cxnLst/>
            <a:rect l="l" t="t" r="r" b="b"/>
            <a:pathLst>
              <a:path w="4661896" h="754815">
                <a:moveTo>
                  <a:pt x="0" y="754815"/>
                </a:moveTo>
                <a:lnTo>
                  <a:pt x="372952" y="675465"/>
                </a:lnTo>
                <a:lnTo>
                  <a:pt x="745903" y="600329"/>
                </a:lnTo>
                <a:lnTo>
                  <a:pt x="1142164" y="524753"/>
                </a:lnTo>
                <a:lnTo>
                  <a:pt x="1561735" y="449132"/>
                </a:lnTo>
                <a:lnTo>
                  <a:pt x="1981306" y="377673"/>
                </a:lnTo>
                <a:lnTo>
                  <a:pt x="2424186" y="306390"/>
                </a:lnTo>
                <a:lnTo>
                  <a:pt x="2890375" y="235576"/>
                </a:lnTo>
                <a:lnTo>
                  <a:pt x="3379874" y="165485"/>
                </a:lnTo>
                <a:lnTo>
                  <a:pt x="3892683" y="96336"/>
                </a:lnTo>
                <a:lnTo>
                  <a:pt x="4428801" y="28313"/>
                </a:lnTo>
                <a:lnTo>
                  <a:pt x="4661896" y="0"/>
                </a:lnTo>
                <a:lnTo>
                  <a:pt x="4661896" y="0"/>
                </a:lnTo>
              </a:path>
            </a:pathLst>
          </a:custGeom>
          <a:noFill/>
          <a:ln w="2808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gon 55: plot geometry" descr="sci-ppt:obj-0055"/>
          <p:cNvSpPr/>
          <p:nvPr/>
        </p:nvSpPr>
        <p:spPr>
          <a:xfrm>
            <a:off x="999250" y="606512"/>
            <a:ext cx="4661896" cy="3774075"/>
          </a:xfrm>
          <a:custGeom>
            <a:avLst/>
            <a:gdLst/>
            <a:ahLst/>
            <a:cxnLst/>
            <a:rect l="l" t="t" r="r" b="b"/>
            <a:pathLst>
              <a:path w="4661896" h="3774075">
                <a:moveTo>
                  <a:pt x="0" y="3774075"/>
                </a:moveTo>
                <a:lnTo>
                  <a:pt x="186476" y="3572959"/>
                </a:lnTo>
                <a:lnTo>
                  <a:pt x="396261" y="3353245"/>
                </a:lnTo>
                <a:lnTo>
                  <a:pt x="606046" y="3140160"/>
                </a:lnTo>
                <a:lnTo>
                  <a:pt x="815832" y="2933415"/>
                </a:lnTo>
                <a:lnTo>
                  <a:pt x="1025617" y="2732732"/>
                </a:lnTo>
                <a:lnTo>
                  <a:pt x="1235402" y="2537852"/>
                </a:lnTo>
                <a:lnTo>
                  <a:pt x="1445188" y="2348527"/>
                </a:lnTo>
                <a:lnTo>
                  <a:pt x="1654973" y="2164526"/>
                </a:lnTo>
                <a:lnTo>
                  <a:pt x="1864758" y="1985627"/>
                </a:lnTo>
                <a:lnTo>
                  <a:pt x="2097853" y="1792581"/>
                </a:lnTo>
                <a:lnTo>
                  <a:pt x="2330948" y="1605304"/>
                </a:lnTo>
                <a:lnTo>
                  <a:pt x="2564043" y="1423541"/>
                </a:lnTo>
                <a:lnTo>
                  <a:pt x="2797137" y="1247050"/>
                </a:lnTo>
                <a:lnTo>
                  <a:pt x="3030232" y="1075603"/>
                </a:lnTo>
                <a:lnTo>
                  <a:pt x="3263327" y="908985"/>
                </a:lnTo>
                <a:lnTo>
                  <a:pt x="3519731" y="731040"/>
                </a:lnTo>
                <a:lnTo>
                  <a:pt x="3776136" y="558435"/>
                </a:lnTo>
                <a:lnTo>
                  <a:pt x="4032540" y="390929"/>
                </a:lnTo>
                <a:lnTo>
                  <a:pt x="4288944" y="228296"/>
                </a:lnTo>
                <a:lnTo>
                  <a:pt x="4545348" y="70322"/>
                </a:lnTo>
                <a:lnTo>
                  <a:pt x="4661896" y="0"/>
                </a:lnTo>
                <a:lnTo>
                  <a:pt x="4661896" y="0"/>
                </a:lnTo>
              </a:path>
            </a:pathLst>
          </a:custGeom>
          <a:noFill/>
          <a:ln w="2808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line 56: plot geometry" descr="sci-ppt:obj-0056"/>
          <p:cNvCxnSpPr/>
          <p:nvPr/>
        </p:nvCxnSpPr>
        <p:spPr>
          <a:xfrm flipV="1">
            <a:off x="766155" y="417808"/>
            <a:ext cx="0" cy="4151483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cxnSp>
        <p:nvCxnSpPr>
          <p:cNvPr id="58" name="line 57: plot geometry" descr="sci-ppt:obj-0057"/>
          <p:cNvCxnSpPr/>
          <p:nvPr/>
        </p:nvCxnSpPr>
        <p:spPr>
          <a:xfrm>
            <a:off x="766155" y="4569291"/>
            <a:ext cx="5128086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59" name="text 58: Intact spherical gel" descr="sci-ppt:obj-0058"/>
          <p:cNvSpPr txBox="1"/>
          <p:nvPr/>
        </p:nvSpPr>
        <p:spPr>
          <a:xfrm>
            <a:off x="2227460" y="74098"/>
            <a:ext cx="2723990" cy="303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68" b="0" i="0">
                <a:solidFill>
                  <a:srgbClr val="000000"/>
                </a:solidFill>
                <a:latin typeface="Arial"/>
              </a:rPr>
              <a:t>Intact spherical gel</a:t>
            </a:r>
          </a:p>
        </p:txBody>
      </p:sp>
      <p:sp>
        <p:nvSpPr>
          <p:cNvPr id="60" name="polygon 59: plot geometry" descr="sci-ppt:obj-0059"/>
          <p:cNvSpPr/>
          <p:nvPr/>
        </p:nvSpPr>
        <p:spPr>
          <a:xfrm>
            <a:off x="934641" y="663019"/>
            <a:ext cx="374412" cy="0"/>
          </a:xfrm>
          <a:custGeom>
            <a:avLst/>
            <a:gdLst/>
            <a:ahLst/>
            <a:cxnLst/>
            <a:rect l="l" t="t" r="r" b="b"/>
            <a:pathLst>
              <a:path w="374412" h="0">
                <a:moveTo>
                  <a:pt x="0" y="0"/>
                </a:moveTo>
                <a:lnTo>
                  <a:pt x="187206" y="0"/>
                </a:lnTo>
                <a:lnTo>
                  <a:pt x="374412" y="0"/>
                </a:lnTo>
              </a:path>
            </a:pathLst>
          </a:custGeom>
          <a:noFill/>
          <a:ln w="28080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 60: G = 5 kPa" descr="sci-ppt:obj-0060"/>
          <p:cNvSpPr txBox="1"/>
          <p:nvPr/>
        </p:nvSpPr>
        <p:spPr>
          <a:xfrm>
            <a:off x="1431386" y="535719"/>
            <a:ext cx="106721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G = 5 kPa</a:t>
            </a:r>
          </a:p>
        </p:txBody>
      </p:sp>
      <p:sp>
        <p:nvSpPr>
          <p:cNvPr id="62" name="polygon 61: plot geometry" descr="sci-ppt:obj-0061"/>
          <p:cNvSpPr/>
          <p:nvPr/>
        </p:nvSpPr>
        <p:spPr>
          <a:xfrm>
            <a:off x="934641" y="943843"/>
            <a:ext cx="374412" cy="0"/>
          </a:xfrm>
          <a:custGeom>
            <a:avLst/>
            <a:gdLst/>
            <a:ahLst/>
            <a:cxnLst/>
            <a:rect l="l" t="t" r="r" b="b"/>
            <a:pathLst>
              <a:path w="374412" h="0">
                <a:moveTo>
                  <a:pt x="0" y="0"/>
                </a:moveTo>
                <a:lnTo>
                  <a:pt x="187206" y="0"/>
                </a:lnTo>
                <a:lnTo>
                  <a:pt x="374412" y="0"/>
                </a:lnTo>
              </a:path>
            </a:pathLst>
          </a:custGeom>
          <a:noFill/>
          <a:ln w="2808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 62: G = 20 kPa" descr="sci-ppt:obj-0062"/>
          <p:cNvSpPr txBox="1"/>
          <p:nvPr/>
        </p:nvSpPr>
        <p:spPr>
          <a:xfrm>
            <a:off x="1431386" y="816543"/>
            <a:ext cx="1177667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G = 20 kPa</a:t>
            </a:r>
          </a:p>
        </p:txBody>
      </p:sp>
      <p:sp>
        <p:nvSpPr>
          <p:cNvPr id="64" name="polygon 63: plot geometry" descr="sci-ppt:obj-0063"/>
          <p:cNvSpPr/>
          <p:nvPr/>
        </p:nvSpPr>
        <p:spPr>
          <a:xfrm>
            <a:off x="934641" y="1224667"/>
            <a:ext cx="374412" cy="0"/>
          </a:xfrm>
          <a:custGeom>
            <a:avLst/>
            <a:gdLst/>
            <a:ahLst/>
            <a:cxnLst/>
            <a:rect l="l" t="t" r="r" b="b"/>
            <a:pathLst>
              <a:path w="374412" h="0">
                <a:moveTo>
                  <a:pt x="0" y="0"/>
                </a:moveTo>
                <a:lnTo>
                  <a:pt x="187206" y="0"/>
                </a:lnTo>
                <a:lnTo>
                  <a:pt x="374412" y="0"/>
                </a:lnTo>
              </a:path>
            </a:pathLst>
          </a:custGeom>
          <a:noFill/>
          <a:ln w="28080">
            <a:solidFill>
              <a:srgbClr val="94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 64: G = 100 kPa" descr="sci-ppt:obj-0064"/>
          <p:cNvSpPr txBox="1"/>
          <p:nvPr/>
        </p:nvSpPr>
        <p:spPr>
          <a:xfrm>
            <a:off x="1431386" y="1097367"/>
            <a:ext cx="128811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G = 100 kPa</a:t>
            </a:r>
          </a:p>
        </p:txBody>
      </p:sp>
      <p:sp>
        <p:nvSpPr>
          <p:cNvPr id="66" name="polygon 65: plot geometry" descr="sci-ppt:obj-0065"/>
          <p:cNvSpPr/>
          <p:nvPr/>
        </p:nvSpPr>
        <p:spPr>
          <a:xfrm>
            <a:off x="6919858" y="417808"/>
            <a:ext cx="5128085" cy="4151483"/>
          </a:xfrm>
          <a:custGeom>
            <a:avLst/>
            <a:gdLst/>
            <a:ahLst/>
            <a:cxnLst/>
            <a:rect l="l" t="t" r="r" b="b"/>
            <a:pathLst>
              <a:path w="5128085" h="4151483">
                <a:moveTo>
                  <a:pt x="0" y="4151483"/>
                </a:moveTo>
                <a:lnTo>
                  <a:pt x="5128085" y="4151483"/>
                </a:lnTo>
                <a:lnTo>
                  <a:pt x="5128085" y="0"/>
                </a:lnTo>
                <a:lnTo>
                  <a:pt x="0" y="0"/>
                </a:lnTo>
                <a:lnTo>
                  <a:pt x="0" y="41514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7" name="line 66: plot geometry" descr="sci-ppt:obj-0066"/>
          <p:cNvCxnSpPr/>
          <p:nvPr/>
        </p:nvCxnSpPr>
        <p:spPr>
          <a:xfrm flipV="1">
            <a:off x="7152952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8" name="line 67: plot geometry" descr="sci-ppt:obj-0067"/>
          <p:cNvCxnSpPr/>
          <p:nvPr/>
        </p:nvCxnSpPr>
        <p:spPr>
          <a:xfrm>
            <a:off x="7152952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69" name="text 68: 0.0" descr="sci-ppt:obj-0068"/>
          <p:cNvSpPr txBox="1"/>
          <p:nvPr/>
        </p:nvSpPr>
        <p:spPr>
          <a:xfrm>
            <a:off x="6976662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cxnSp>
        <p:nvCxnSpPr>
          <p:cNvPr id="70" name="line 69: plot geometry" descr="sci-ppt:obj-0069"/>
          <p:cNvCxnSpPr/>
          <p:nvPr/>
        </p:nvCxnSpPr>
        <p:spPr>
          <a:xfrm flipV="1">
            <a:off x="8103972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1" name="line 70: plot geometry" descr="sci-ppt:obj-0070"/>
          <p:cNvCxnSpPr/>
          <p:nvPr/>
        </p:nvCxnSpPr>
        <p:spPr>
          <a:xfrm>
            <a:off x="8103972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72" name="text 71: 0.5" descr="sci-ppt:obj-0071"/>
          <p:cNvSpPr txBox="1"/>
          <p:nvPr/>
        </p:nvSpPr>
        <p:spPr>
          <a:xfrm>
            <a:off x="7927681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cxnSp>
        <p:nvCxnSpPr>
          <p:cNvPr id="73" name="line 72: plot geometry" descr="sci-ppt:obj-0072"/>
          <p:cNvCxnSpPr/>
          <p:nvPr/>
        </p:nvCxnSpPr>
        <p:spPr>
          <a:xfrm flipV="1">
            <a:off x="9054991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4" name="line 73: plot geometry" descr="sci-ppt:obj-0073"/>
          <p:cNvCxnSpPr/>
          <p:nvPr/>
        </p:nvCxnSpPr>
        <p:spPr>
          <a:xfrm>
            <a:off x="9054991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75" name="text 74: 1.0" descr="sci-ppt:obj-0074"/>
          <p:cNvSpPr txBox="1"/>
          <p:nvPr/>
        </p:nvSpPr>
        <p:spPr>
          <a:xfrm>
            <a:off x="8878701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cxnSp>
        <p:nvCxnSpPr>
          <p:cNvPr id="76" name="line 75: plot geometry" descr="sci-ppt:obj-0075"/>
          <p:cNvCxnSpPr/>
          <p:nvPr/>
        </p:nvCxnSpPr>
        <p:spPr>
          <a:xfrm flipV="1">
            <a:off x="10006010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7" name="line 76: plot geometry" descr="sci-ppt:obj-0076"/>
          <p:cNvCxnSpPr/>
          <p:nvPr/>
        </p:nvCxnSpPr>
        <p:spPr>
          <a:xfrm>
            <a:off x="10006010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78" name="text 77: 1.5" descr="sci-ppt:obj-0077"/>
          <p:cNvSpPr txBox="1"/>
          <p:nvPr/>
        </p:nvSpPr>
        <p:spPr>
          <a:xfrm>
            <a:off x="9829720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cxnSp>
        <p:nvCxnSpPr>
          <p:cNvPr id="79" name="line 78: plot geometry" descr="sci-ppt:obj-0078"/>
          <p:cNvCxnSpPr/>
          <p:nvPr/>
        </p:nvCxnSpPr>
        <p:spPr>
          <a:xfrm flipV="1">
            <a:off x="10957029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0" name="line 79: plot geometry" descr="sci-ppt:obj-0079"/>
          <p:cNvCxnSpPr/>
          <p:nvPr/>
        </p:nvCxnSpPr>
        <p:spPr>
          <a:xfrm>
            <a:off x="10957029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81" name="text 80: 2.0" descr="sci-ppt:obj-0080"/>
          <p:cNvSpPr txBox="1"/>
          <p:nvPr/>
        </p:nvSpPr>
        <p:spPr>
          <a:xfrm>
            <a:off x="10780739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cxnSp>
        <p:nvCxnSpPr>
          <p:cNvPr id="82" name="line 81: plot geometry" descr="sci-ppt:obj-0081"/>
          <p:cNvCxnSpPr/>
          <p:nvPr/>
        </p:nvCxnSpPr>
        <p:spPr>
          <a:xfrm flipV="1">
            <a:off x="11908048" y="417808"/>
            <a:ext cx="0" cy="4151483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3" name="line 82: plot geometry" descr="sci-ppt:obj-0082"/>
          <p:cNvCxnSpPr/>
          <p:nvPr/>
        </p:nvCxnSpPr>
        <p:spPr>
          <a:xfrm>
            <a:off x="11908048" y="4569291"/>
            <a:ext cx="0" cy="65522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84" name="text 83: 2.5" descr="sci-ppt:obj-0083"/>
          <p:cNvSpPr txBox="1"/>
          <p:nvPr/>
        </p:nvSpPr>
        <p:spPr>
          <a:xfrm>
            <a:off x="11731758" y="4649745"/>
            <a:ext cx="404506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2.5</a:t>
            </a:r>
          </a:p>
        </p:txBody>
      </p:sp>
      <p:sp>
        <p:nvSpPr>
          <p:cNvPr id="85" name="text 84: Time after initialization (µs)" descr="sci-ppt:obj-0084"/>
          <p:cNvSpPr txBox="1"/>
          <p:nvPr/>
        </p:nvSpPr>
        <p:spPr>
          <a:xfrm>
            <a:off x="8166180" y="4911849"/>
            <a:ext cx="338669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Time after initialization (µs)</a:t>
            </a:r>
          </a:p>
        </p:txBody>
      </p:sp>
      <p:cxnSp>
        <p:nvCxnSpPr>
          <p:cNvPr id="86" name="line 85: plot geometry" descr="sci-ppt:obj-0085"/>
          <p:cNvCxnSpPr/>
          <p:nvPr/>
        </p:nvCxnSpPr>
        <p:spPr>
          <a:xfrm>
            <a:off x="6919858" y="4380587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7" name="line 86: plot geometry" descr="sci-ppt:obj-0086"/>
          <p:cNvCxnSpPr/>
          <p:nvPr/>
        </p:nvCxnSpPr>
        <p:spPr>
          <a:xfrm flipH="1">
            <a:off x="6854336" y="4380587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88" name="text 87: 0" descr="sci-ppt:obj-0087"/>
          <p:cNvSpPr txBox="1"/>
          <p:nvPr/>
        </p:nvSpPr>
        <p:spPr>
          <a:xfrm>
            <a:off x="6642272" y="4258881"/>
            <a:ext cx="183603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89" name="line 88: plot geometry" descr="sci-ppt:obj-0088"/>
          <p:cNvCxnSpPr/>
          <p:nvPr/>
        </p:nvCxnSpPr>
        <p:spPr>
          <a:xfrm>
            <a:off x="6919858" y="3858618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0" name="line 89: plot geometry" descr="sci-ppt:obj-0089"/>
          <p:cNvCxnSpPr/>
          <p:nvPr/>
        </p:nvCxnSpPr>
        <p:spPr>
          <a:xfrm flipH="1">
            <a:off x="6854336" y="3858618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91" name="text 90: 5" descr="sci-ppt:obj-0090"/>
          <p:cNvSpPr txBox="1"/>
          <p:nvPr/>
        </p:nvSpPr>
        <p:spPr>
          <a:xfrm>
            <a:off x="6642272" y="3736912"/>
            <a:ext cx="183603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92" name="line 91: plot geometry" descr="sci-ppt:obj-0091"/>
          <p:cNvCxnSpPr/>
          <p:nvPr/>
        </p:nvCxnSpPr>
        <p:spPr>
          <a:xfrm>
            <a:off x="6919858" y="3336649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3" name="line 92: plot geometry" descr="sci-ppt:obj-0092"/>
          <p:cNvCxnSpPr/>
          <p:nvPr/>
        </p:nvCxnSpPr>
        <p:spPr>
          <a:xfrm flipH="1">
            <a:off x="6854336" y="3336649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94" name="text 93: 10" descr="sci-ppt:obj-0093"/>
          <p:cNvSpPr txBox="1"/>
          <p:nvPr/>
        </p:nvSpPr>
        <p:spPr>
          <a:xfrm>
            <a:off x="6523162" y="3214943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95" name="line 94: plot geometry" descr="sci-ppt:obj-0094"/>
          <p:cNvCxnSpPr/>
          <p:nvPr/>
        </p:nvCxnSpPr>
        <p:spPr>
          <a:xfrm>
            <a:off x="6919858" y="2814680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6" name="line 95: plot geometry" descr="sci-ppt:obj-0095"/>
          <p:cNvCxnSpPr/>
          <p:nvPr/>
        </p:nvCxnSpPr>
        <p:spPr>
          <a:xfrm flipH="1">
            <a:off x="6854336" y="2814680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97" name="text 96: 15" descr="sci-ppt:obj-0096"/>
          <p:cNvSpPr txBox="1"/>
          <p:nvPr/>
        </p:nvSpPr>
        <p:spPr>
          <a:xfrm>
            <a:off x="6523162" y="2692974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cxnSp>
        <p:nvCxnSpPr>
          <p:cNvPr id="98" name="line 97: plot geometry" descr="sci-ppt:obj-0097"/>
          <p:cNvCxnSpPr/>
          <p:nvPr/>
        </p:nvCxnSpPr>
        <p:spPr>
          <a:xfrm>
            <a:off x="6919858" y="2292711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99" name="line 98: plot geometry" descr="sci-ppt:obj-0098"/>
          <p:cNvCxnSpPr/>
          <p:nvPr/>
        </p:nvCxnSpPr>
        <p:spPr>
          <a:xfrm flipH="1">
            <a:off x="6854336" y="2292711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00" name="text 99: 20" descr="sci-ppt:obj-0099"/>
          <p:cNvSpPr txBox="1"/>
          <p:nvPr/>
        </p:nvSpPr>
        <p:spPr>
          <a:xfrm>
            <a:off x="6523162" y="2171005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101" name="line 100: plot geometry" descr="sci-ppt:obj-0100"/>
          <p:cNvCxnSpPr/>
          <p:nvPr/>
        </p:nvCxnSpPr>
        <p:spPr>
          <a:xfrm>
            <a:off x="6919858" y="1770742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2" name="line 101: plot geometry" descr="sci-ppt:obj-0101"/>
          <p:cNvCxnSpPr/>
          <p:nvPr/>
        </p:nvCxnSpPr>
        <p:spPr>
          <a:xfrm flipH="1">
            <a:off x="6854336" y="1770742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03" name="text 102: 25" descr="sci-ppt:obj-0102"/>
          <p:cNvSpPr txBox="1"/>
          <p:nvPr/>
        </p:nvSpPr>
        <p:spPr>
          <a:xfrm>
            <a:off x="6523162" y="1649036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cxnSp>
        <p:nvCxnSpPr>
          <p:cNvPr id="104" name="line 103: plot geometry" descr="sci-ppt:obj-0103"/>
          <p:cNvCxnSpPr/>
          <p:nvPr/>
        </p:nvCxnSpPr>
        <p:spPr>
          <a:xfrm>
            <a:off x="6919858" y="1248773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5" name="line 104: plot geometry" descr="sci-ppt:obj-0104"/>
          <p:cNvCxnSpPr/>
          <p:nvPr/>
        </p:nvCxnSpPr>
        <p:spPr>
          <a:xfrm flipH="1">
            <a:off x="6854336" y="1248773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06" name="text 105: 30" descr="sci-ppt:obj-0105"/>
          <p:cNvSpPr txBox="1"/>
          <p:nvPr/>
        </p:nvSpPr>
        <p:spPr>
          <a:xfrm>
            <a:off x="6523162" y="1127067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cxnSp>
        <p:nvCxnSpPr>
          <p:cNvPr id="107" name="line 106: plot geometry" descr="sci-ppt:obj-0106"/>
          <p:cNvCxnSpPr/>
          <p:nvPr/>
        </p:nvCxnSpPr>
        <p:spPr>
          <a:xfrm>
            <a:off x="6919858" y="726804"/>
            <a:ext cx="5128085" cy="0"/>
          </a:xfrm>
          <a:prstGeom prst="line">
            <a:avLst/>
          </a:prstGeom>
          <a:ln w="14976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08" name="line 107: plot geometry" descr="sci-ppt:obj-0107"/>
          <p:cNvCxnSpPr/>
          <p:nvPr/>
        </p:nvCxnSpPr>
        <p:spPr>
          <a:xfrm flipH="1">
            <a:off x="6854336" y="726804"/>
            <a:ext cx="65522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09" name="text 108: 35" descr="sci-ppt:obj-0108"/>
          <p:cNvSpPr txBox="1"/>
          <p:nvPr/>
        </p:nvSpPr>
        <p:spPr>
          <a:xfrm>
            <a:off x="6523162" y="605098"/>
            <a:ext cx="294055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  <p:sp>
        <p:nvSpPr>
          <p:cNvPr id="110" name="text 109: One-hemisphere axial resistance (µN)" descr="sci-ppt:obj-0109"/>
          <p:cNvSpPr txBox="1"/>
          <p:nvPr/>
        </p:nvSpPr>
        <p:spPr>
          <a:xfrm rot="16200000">
            <a:off x="4322138" y="2367185"/>
            <a:ext cx="4040289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One-hemisphere axial resistance (µN)</a:t>
            </a:r>
          </a:p>
        </p:txBody>
      </p:sp>
      <p:sp>
        <p:nvSpPr>
          <p:cNvPr id="111" name="polygon 110: plot geometry" descr="sci-ppt:obj-0110"/>
          <p:cNvSpPr/>
          <p:nvPr/>
        </p:nvSpPr>
        <p:spPr>
          <a:xfrm>
            <a:off x="7152952" y="855157"/>
            <a:ext cx="3684249" cy="3525430"/>
          </a:xfrm>
          <a:custGeom>
            <a:avLst/>
            <a:gdLst/>
            <a:ahLst/>
            <a:cxnLst/>
            <a:rect l="l" t="t" r="r" b="b"/>
            <a:pathLst>
              <a:path w="3684249" h="3525430">
                <a:moveTo>
                  <a:pt x="0" y="3525430"/>
                </a:moveTo>
                <a:lnTo>
                  <a:pt x="45649" y="3523319"/>
                </a:lnTo>
                <a:lnTo>
                  <a:pt x="91298" y="3517008"/>
                </a:lnTo>
                <a:lnTo>
                  <a:pt x="136947" y="3506556"/>
                </a:lnTo>
                <a:lnTo>
                  <a:pt x="184498" y="3491363"/>
                </a:lnTo>
                <a:lnTo>
                  <a:pt x="233951" y="3471051"/>
                </a:lnTo>
                <a:lnTo>
                  <a:pt x="285306" y="3445293"/>
                </a:lnTo>
                <a:lnTo>
                  <a:pt x="338563" y="3413821"/>
                </a:lnTo>
                <a:lnTo>
                  <a:pt x="395624" y="3375066"/>
                </a:lnTo>
                <a:lnTo>
                  <a:pt x="454588" y="3329959"/>
                </a:lnTo>
                <a:lnTo>
                  <a:pt x="519257" y="3275104"/>
                </a:lnTo>
                <a:lnTo>
                  <a:pt x="587730" y="3211527"/>
                </a:lnTo>
                <a:lnTo>
                  <a:pt x="663812" y="3135077"/>
                </a:lnTo>
                <a:lnTo>
                  <a:pt x="747501" y="3044954"/>
                </a:lnTo>
                <a:lnTo>
                  <a:pt x="842603" y="2936231"/>
                </a:lnTo>
                <a:lnTo>
                  <a:pt x="952922" y="2803539"/>
                </a:lnTo>
                <a:lnTo>
                  <a:pt x="1087966" y="2634232"/>
                </a:lnTo>
                <a:lnTo>
                  <a:pt x="1276268" y="2390821"/>
                </a:lnTo>
                <a:lnTo>
                  <a:pt x="1732757" y="1798451"/>
                </a:lnTo>
                <a:lnTo>
                  <a:pt x="1905843" y="1582015"/>
                </a:lnTo>
                <a:lnTo>
                  <a:pt x="2059908" y="1395921"/>
                </a:lnTo>
                <a:lnTo>
                  <a:pt x="2200659" y="1232282"/>
                </a:lnTo>
                <a:lnTo>
                  <a:pt x="2333801" y="1083729"/>
                </a:lnTo>
                <a:lnTo>
                  <a:pt x="2461238" y="947680"/>
                </a:lnTo>
                <a:lnTo>
                  <a:pt x="2584871" y="821773"/>
                </a:lnTo>
                <a:lnTo>
                  <a:pt x="2702797" y="707518"/>
                </a:lnTo>
                <a:lnTo>
                  <a:pt x="2818821" y="600877"/>
                </a:lnTo>
                <a:lnTo>
                  <a:pt x="2931041" y="503341"/>
                </a:lnTo>
                <a:lnTo>
                  <a:pt x="3041360" y="412968"/>
                </a:lnTo>
                <a:lnTo>
                  <a:pt x="3147874" y="331000"/>
                </a:lnTo>
                <a:lnTo>
                  <a:pt x="3252486" y="255641"/>
                </a:lnTo>
                <a:lnTo>
                  <a:pt x="3355196" y="186684"/>
                </a:lnTo>
                <a:lnTo>
                  <a:pt x="3456004" y="123911"/>
                </a:lnTo>
                <a:lnTo>
                  <a:pt x="3556812" y="66049"/>
                </a:lnTo>
                <a:lnTo>
                  <a:pt x="3655718" y="14095"/>
                </a:lnTo>
                <a:lnTo>
                  <a:pt x="3684249" y="0"/>
                </a:lnTo>
                <a:lnTo>
                  <a:pt x="3684249" y="0"/>
                </a:lnTo>
              </a:path>
            </a:pathLst>
          </a:custGeom>
          <a:noFill/>
          <a:ln w="2808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polygon 111: plot geometry" descr="sci-ppt:obj-0111"/>
          <p:cNvSpPr/>
          <p:nvPr/>
        </p:nvSpPr>
        <p:spPr>
          <a:xfrm>
            <a:off x="7152952" y="606512"/>
            <a:ext cx="4661896" cy="3774075"/>
          </a:xfrm>
          <a:custGeom>
            <a:avLst/>
            <a:gdLst/>
            <a:ahLst/>
            <a:cxnLst/>
            <a:rect l="l" t="t" r="r" b="b"/>
            <a:pathLst>
              <a:path w="4661896" h="3774075">
                <a:moveTo>
                  <a:pt x="0" y="3774075"/>
                </a:moveTo>
                <a:lnTo>
                  <a:pt x="45649" y="3771964"/>
                </a:lnTo>
                <a:lnTo>
                  <a:pt x="91298" y="3765653"/>
                </a:lnTo>
                <a:lnTo>
                  <a:pt x="136947" y="3755200"/>
                </a:lnTo>
                <a:lnTo>
                  <a:pt x="184498" y="3740007"/>
                </a:lnTo>
                <a:lnTo>
                  <a:pt x="233951" y="3719693"/>
                </a:lnTo>
                <a:lnTo>
                  <a:pt x="285306" y="3693931"/>
                </a:lnTo>
                <a:lnTo>
                  <a:pt x="338563" y="3662452"/>
                </a:lnTo>
                <a:lnTo>
                  <a:pt x="395624" y="3623686"/>
                </a:lnTo>
                <a:lnTo>
                  <a:pt x="454588" y="3578563"/>
                </a:lnTo>
                <a:lnTo>
                  <a:pt x="519257" y="3523683"/>
                </a:lnTo>
                <a:lnTo>
                  <a:pt x="587730" y="3460070"/>
                </a:lnTo>
                <a:lnTo>
                  <a:pt x="663812" y="3383570"/>
                </a:lnTo>
                <a:lnTo>
                  <a:pt x="747501" y="3293378"/>
                </a:lnTo>
                <a:lnTo>
                  <a:pt x="842603" y="3184557"/>
                </a:lnTo>
                <a:lnTo>
                  <a:pt x="952922" y="3051727"/>
                </a:lnTo>
                <a:lnTo>
                  <a:pt x="1087966" y="2882219"/>
                </a:lnTo>
                <a:lnTo>
                  <a:pt x="1274366" y="2640955"/>
                </a:lnTo>
                <a:lnTo>
                  <a:pt x="1738463" y="2037809"/>
                </a:lnTo>
                <a:lnTo>
                  <a:pt x="1911549" y="1821151"/>
                </a:lnTo>
                <a:lnTo>
                  <a:pt x="2065614" y="1634887"/>
                </a:lnTo>
                <a:lnTo>
                  <a:pt x="2206365" y="1471111"/>
                </a:lnTo>
                <a:lnTo>
                  <a:pt x="2339508" y="1322440"/>
                </a:lnTo>
                <a:lnTo>
                  <a:pt x="2466944" y="1186289"/>
                </a:lnTo>
                <a:lnTo>
                  <a:pt x="2590577" y="1060291"/>
                </a:lnTo>
                <a:lnTo>
                  <a:pt x="2708503" y="945954"/>
                </a:lnTo>
                <a:lnTo>
                  <a:pt x="2824527" y="839239"/>
                </a:lnTo>
                <a:lnTo>
                  <a:pt x="2936748" y="741636"/>
                </a:lnTo>
                <a:lnTo>
                  <a:pt x="3047066" y="651201"/>
                </a:lnTo>
                <a:lnTo>
                  <a:pt x="3153580" y="569178"/>
                </a:lnTo>
                <a:lnTo>
                  <a:pt x="3258192" y="493767"/>
                </a:lnTo>
                <a:lnTo>
                  <a:pt x="3360902" y="424762"/>
                </a:lnTo>
                <a:lnTo>
                  <a:pt x="3461710" y="361945"/>
                </a:lnTo>
                <a:lnTo>
                  <a:pt x="3562518" y="304042"/>
                </a:lnTo>
                <a:lnTo>
                  <a:pt x="3661424" y="252050"/>
                </a:lnTo>
                <a:lnTo>
                  <a:pt x="3758428" y="205727"/>
                </a:lnTo>
                <a:lnTo>
                  <a:pt x="3853530" y="164830"/>
                </a:lnTo>
                <a:lnTo>
                  <a:pt x="3948632" y="128428"/>
                </a:lnTo>
                <a:lnTo>
                  <a:pt x="4041832" y="97133"/>
                </a:lnTo>
                <a:lnTo>
                  <a:pt x="4135032" y="70188"/>
                </a:lnTo>
                <a:lnTo>
                  <a:pt x="4228232" y="47602"/>
                </a:lnTo>
                <a:lnTo>
                  <a:pt x="4319529" y="29712"/>
                </a:lnTo>
                <a:lnTo>
                  <a:pt x="4410827" y="16018"/>
                </a:lnTo>
                <a:lnTo>
                  <a:pt x="4502125" y="6522"/>
                </a:lnTo>
                <a:lnTo>
                  <a:pt x="4593423" y="1223"/>
                </a:lnTo>
                <a:lnTo>
                  <a:pt x="4661896" y="0"/>
                </a:lnTo>
                <a:lnTo>
                  <a:pt x="4661896" y="0"/>
                </a:lnTo>
              </a:path>
            </a:pathLst>
          </a:custGeom>
          <a:noFill/>
          <a:ln w="28080">
            <a:solidFill>
              <a:srgbClr val="7575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3" name="line 112: plot geometry" descr="sci-ppt:obj-0112"/>
          <p:cNvCxnSpPr/>
          <p:nvPr/>
        </p:nvCxnSpPr>
        <p:spPr>
          <a:xfrm flipV="1">
            <a:off x="6919858" y="417808"/>
            <a:ext cx="0" cy="4151483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cxnSp>
        <p:nvCxnSpPr>
          <p:cNvPr id="114" name="line 113: plot geometry" descr="sci-ppt:obj-0113"/>
          <p:cNvCxnSpPr/>
          <p:nvPr/>
        </p:nvCxnSpPr>
        <p:spPr>
          <a:xfrm>
            <a:off x="6919858" y="4569291"/>
            <a:ext cx="5128085" cy="0"/>
          </a:xfrm>
          <a:prstGeom prst="line">
            <a:avLst/>
          </a:prstGeom>
          <a:ln w="14976">
            <a:solidFill>
              <a:srgbClr val="000000"/>
            </a:solidFill>
          </a:ln>
          <a:effectLst/>
        </p:spPr>
      </p:cxnSp>
      <p:sp>
        <p:nvSpPr>
          <p:cNvPr id="115" name="text 114: Hemisphere resistance, G = 20 kPa" descr="sci-ppt:obj-0114"/>
          <p:cNvSpPr txBox="1"/>
          <p:nvPr/>
        </p:nvSpPr>
        <p:spPr>
          <a:xfrm>
            <a:off x="7468515" y="74098"/>
            <a:ext cx="4447035" cy="3032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68" b="0" i="0">
                <a:solidFill>
                  <a:srgbClr val="000000"/>
                </a:solidFill>
                <a:latin typeface="Arial"/>
              </a:rPr>
              <a:t>Hemisphere resistance, G = 20 kPa</a:t>
            </a:r>
          </a:p>
        </p:txBody>
      </p:sp>
      <p:sp>
        <p:nvSpPr>
          <p:cNvPr id="116" name="polygon 115: plot geometry" descr="sci-ppt:obj-0115"/>
          <p:cNvSpPr/>
          <p:nvPr/>
        </p:nvSpPr>
        <p:spPr>
          <a:xfrm>
            <a:off x="7088343" y="663019"/>
            <a:ext cx="374412" cy="0"/>
          </a:xfrm>
          <a:custGeom>
            <a:avLst/>
            <a:gdLst/>
            <a:ahLst/>
            <a:cxnLst/>
            <a:rect l="l" t="t" r="r" b="b"/>
            <a:pathLst>
              <a:path w="374412" h="0">
                <a:moveTo>
                  <a:pt x="0" y="0"/>
                </a:moveTo>
                <a:lnTo>
                  <a:pt x="187206" y="0"/>
                </a:lnTo>
                <a:lnTo>
                  <a:pt x="374412" y="0"/>
                </a:lnTo>
              </a:path>
            </a:pathLst>
          </a:custGeom>
          <a:noFill/>
          <a:ln w="28080">
            <a:solidFill>
              <a:srgbClr val="D16B3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 116: Open channel" descr="sci-ppt:obj-0116"/>
          <p:cNvSpPr txBox="1"/>
          <p:nvPr/>
        </p:nvSpPr>
        <p:spPr>
          <a:xfrm>
            <a:off x="7585088" y="535719"/>
            <a:ext cx="1398571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Open channel</a:t>
            </a:r>
          </a:p>
        </p:txBody>
      </p:sp>
      <p:sp>
        <p:nvSpPr>
          <p:cNvPr id="118" name="polygon 117: plot geometry" descr="sci-ppt:obj-0117"/>
          <p:cNvSpPr/>
          <p:nvPr/>
        </p:nvSpPr>
        <p:spPr>
          <a:xfrm>
            <a:off x="7088343" y="943843"/>
            <a:ext cx="374412" cy="0"/>
          </a:xfrm>
          <a:custGeom>
            <a:avLst/>
            <a:gdLst/>
            <a:ahLst/>
            <a:cxnLst/>
            <a:rect l="l" t="t" r="r" b="b"/>
            <a:pathLst>
              <a:path w="374412" h="0">
                <a:moveTo>
                  <a:pt x="0" y="0"/>
                </a:moveTo>
                <a:lnTo>
                  <a:pt x="187206" y="0"/>
                </a:lnTo>
                <a:lnTo>
                  <a:pt x="374412" y="0"/>
                </a:lnTo>
              </a:path>
            </a:pathLst>
          </a:custGeom>
          <a:noFill/>
          <a:ln w="28080">
            <a:solidFill>
              <a:srgbClr val="7575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 118: Sealed control" descr="sci-ppt:obj-0118"/>
          <p:cNvSpPr txBox="1"/>
          <p:nvPr/>
        </p:nvSpPr>
        <p:spPr>
          <a:xfrm>
            <a:off x="7585088" y="816543"/>
            <a:ext cx="1619474" cy="2527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74" b="0" i="0">
                <a:solidFill>
                  <a:srgbClr val="000000"/>
                </a:solidFill>
                <a:latin typeface="Arial"/>
              </a:rPr>
              <a:t>Sealed control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 1: plot geometry" descr="sci-ppt:obj-0001"/>
          <p:cNvSpPr/>
          <p:nvPr/>
        </p:nvSpPr>
        <p:spPr>
          <a:xfrm>
            <a:off x="0" y="0"/>
            <a:ext cx="12191695" cy="370105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 2: plot geometry" descr="sci-ppt:obj-0002"/>
          <p:cNvSpPr/>
          <p:nvPr/>
        </p:nvSpPr>
        <p:spPr>
          <a:xfrm>
            <a:off x="326563" y="1088544"/>
            <a:ext cx="3374487" cy="1741670"/>
          </a:xfrm>
          <a:prstGeom prst="rect">
            <a:avLst/>
          </a:prstGeom>
          <a:solidFill>
            <a:srgbClr val="DCEBF6"/>
          </a:solidFill>
          <a:ln w="10885">
            <a:solidFill>
              <a:srgbClr val="8CAA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 3: Finite initialized source" descr="sci-ppt:obj-0003"/>
          <p:cNvSpPr txBox="1"/>
          <p:nvPr/>
        </p:nvSpPr>
        <p:spPr>
          <a:xfrm>
            <a:off x="538610" y="1233756"/>
            <a:ext cx="3605477" cy="3232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85" b="0" i="0">
                <a:solidFill>
                  <a:srgbClr val="183348"/>
                </a:solidFill>
                <a:latin typeface="Arial"/>
              </a:rPr>
              <a:t>Finite initialized source</a:t>
            </a:r>
          </a:p>
        </p:txBody>
      </p:sp>
      <p:sp>
        <p:nvSpPr>
          <p:cNvPr id="5" name="text 4: p0 + gas volume → available E0" descr="sci-ppt:obj-0004"/>
          <p:cNvSpPr txBox="1"/>
          <p:nvPr/>
        </p:nvSpPr>
        <p:spPr>
          <a:xfrm>
            <a:off x="538610" y="1670479"/>
            <a:ext cx="3541253" cy="2645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2" b="0" i="0">
                <a:solidFill>
                  <a:srgbClr val="183348"/>
                </a:solidFill>
                <a:latin typeface="Arial"/>
              </a:rPr>
              <a:t>p0 + gas volume → available E0</a:t>
            </a:r>
          </a:p>
        </p:txBody>
      </p:sp>
      <p:sp>
        <p:nvSpPr>
          <p:cNvPr id="6" name="text 5: Pressure falls as Vg grows" descr="sci-ppt:obj-0005"/>
          <p:cNvSpPr txBox="1"/>
          <p:nvPr/>
        </p:nvSpPr>
        <p:spPr>
          <a:xfrm>
            <a:off x="538610" y="2040911"/>
            <a:ext cx="2911857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Pressure falls as Vg grows</a:t>
            </a:r>
          </a:p>
        </p:txBody>
      </p:sp>
      <p:sp>
        <p:nvSpPr>
          <p:cNvPr id="7" name="text 6: One short activation; initial data" descr="sci-ppt:obj-0006"/>
          <p:cNvSpPr txBox="1"/>
          <p:nvPr/>
        </p:nvSpPr>
        <p:spPr>
          <a:xfrm>
            <a:off x="538610" y="2400131"/>
            <a:ext cx="3785305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One short activation; initial data</a:t>
            </a:r>
          </a:p>
        </p:txBody>
      </p:sp>
      <p:sp>
        <p:nvSpPr>
          <p:cNvPr id="8" name="rect 7: plot geometry" descr="sci-ppt:obj-0007"/>
          <p:cNvSpPr/>
          <p:nvPr/>
        </p:nvSpPr>
        <p:spPr>
          <a:xfrm>
            <a:off x="6422410" y="380990"/>
            <a:ext cx="5333866" cy="1251825"/>
          </a:xfrm>
          <a:prstGeom prst="rect">
            <a:avLst/>
          </a:prstGeom>
          <a:solidFill>
            <a:srgbClr val="E2EDF9"/>
          </a:solidFill>
          <a:ln w="10885">
            <a:solidFill>
              <a:srgbClr val="8CAA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8: Liquid outlet — A and open B" descr="sci-ppt:obj-0008"/>
          <p:cNvSpPr txBox="1"/>
          <p:nvPr/>
        </p:nvSpPr>
        <p:spPr>
          <a:xfrm>
            <a:off x="6645344" y="537087"/>
            <a:ext cx="4029357" cy="3232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85" b="0" i="0">
                <a:solidFill>
                  <a:srgbClr val="183348"/>
                </a:solidFill>
                <a:latin typeface="Arial"/>
              </a:rPr>
              <a:t>Liquid outlet — A and open B</a:t>
            </a:r>
          </a:p>
        </p:txBody>
      </p:sp>
      <p:sp>
        <p:nvSpPr>
          <p:cNvPr id="10" name="text 9: U → emitted mass, energy Eout, impulse Iout" descr="sci-ppt:obj-0009"/>
          <p:cNvSpPr txBox="1"/>
          <p:nvPr/>
        </p:nvSpPr>
        <p:spPr>
          <a:xfrm>
            <a:off x="6645344" y="952040"/>
            <a:ext cx="5044098" cy="2645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2" b="0" i="0">
                <a:solidFill>
                  <a:srgbClr val="183348"/>
                </a:solidFill>
                <a:latin typeface="Arial"/>
              </a:rPr>
              <a:t>U → emitted mass, energy Eout, impulse Iout</a:t>
            </a:r>
          </a:p>
        </p:txBody>
      </p:sp>
      <p:sp>
        <p:nvSpPr>
          <p:cNvPr id="11" name="text 10: Column storage Kjet remains a separate output" descr="sci-ppt:obj-0010"/>
          <p:cNvSpPr txBox="1"/>
          <p:nvPr/>
        </p:nvSpPr>
        <p:spPr>
          <a:xfrm>
            <a:off x="6645344" y="1290142"/>
            <a:ext cx="4697287" cy="235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183348"/>
                </a:solidFill>
                <a:latin typeface="Arial"/>
              </a:rPr>
              <a:t>Column storage Kjet remains a separate output</a:t>
            </a:r>
          </a:p>
        </p:txBody>
      </p:sp>
      <p:sp>
        <p:nvSpPr>
          <p:cNvPr id="12" name="rect 11: plot geometry" descr="sci-ppt:obj-0011"/>
          <p:cNvSpPr/>
          <p:nvPr/>
        </p:nvSpPr>
        <p:spPr>
          <a:xfrm>
            <a:off x="6422410" y="2122661"/>
            <a:ext cx="5333866" cy="1251825"/>
          </a:xfrm>
          <a:prstGeom prst="rect">
            <a:avLst/>
          </a:prstGeom>
          <a:solidFill>
            <a:srgbClr val="EEE3F4"/>
          </a:solidFill>
          <a:ln w="10885">
            <a:solidFill>
              <a:srgbClr val="AA90B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 12: Gel wall — Model B" descr="sci-ppt:obj-0012"/>
          <p:cNvSpPr txBox="1"/>
          <p:nvPr/>
        </p:nvSpPr>
        <p:spPr>
          <a:xfrm>
            <a:off x="6645344" y="2267873"/>
            <a:ext cx="2616426" cy="3232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85" b="0" i="0">
                <a:solidFill>
                  <a:srgbClr val="183348"/>
                </a:solidFill>
                <a:latin typeface="Arial"/>
              </a:rPr>
              <a:t>Gel wall — Model B</a:t>
            </a:r>
          </a:p>
        </p:txBody>
      </p:sp>
      <p:sp>
        <p:nvSpPr>
          <p:cNvPr id="14" name="text 13: R, Uw → elastic pressure and hemisphere force" descr="sci-ppt:obj-0013"/>
          <p:cNvSpPr txBox="1"/>
          <p:nvPr/>
        </p:nvSpPr>
        <p:spPr>
          <a:xfrm>
            <a:off x="6645344" y="2682826"/>
            <a:ext cx="5275304" cy="2645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2" b="0" i="0">
                <a:solidFill>
                  <a:srgbClr val="183348"/>
                </a:solidFill>
                <a:latin typeface="Arial"/>
              </a:rPr>
              <a:t>R, Uw → elastic pressure and hemisphere force</a:t>
            </a:r>
          </a:p>
        </p:txBody>
      </p:sp>
      <p:sp>
        <p:nvSpPr>
          <p:cNvPr id="15" name="text 14: Radial inertia + stored elastic work + loss" descr="sci-ppt:obj-0014"/>
          <p:cNvSpPr txBox="1"/>
          <p:nvPr/>
        </p:nvSpPr>
        <p:spPr>
          <a:xfrm>
            <a:off x="6645344" y="3020927"/>
            <a:ext cx="4491770" cy="235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183348"/>
                </a:solidFill>
                <a:latin typeface="Arial"/>
              </a:rPr>
              <a:t>Radial inertia + stored elastic work + loss</a:t>
            </a:r>
          </a:p>
        </p:txBody>
      </p:sp>
      <p:sp>
        <p:nvSpPr>
          <p:cNvPr id="16" name="polygon 15: plot geometry" descr="sci-ppt:obj-0015"/>
          <p:cNvSpPr/>
          <p:nvPr/>
        </p:nvSpPr>
        <p:spPr>
          <a:xfrm>
            <a:off x="3701050" y="1023231"/>
            <a:ext cx="2612506" cy="642241"/>
          </a:xfrm>
          <a:custGeom>
            <a:avLst/>
            <a:gdLst/>
            <a:ahLst/>
            <a:cxnLst/>
            <a:rect l="l" t="t" r="r" b="b"/>
            <a:pathLst>
              <a:path w="2612506" h="642241">
                <a:moveTo>
                  <a:pt x="0" y="642241"/>
                </a:moveTo>
                <a:lnTo>
                  <a:pt x="201078" y="629604"/>
                </a:lnTo>
                <a:lnTo>
                  <a:pt x="374943" y="594668"/>
                </a:lnTo>
                <a:lnTo>
                  <a:pt x="530665" y="541891"/>
                </a:lnTo>
                <a:lnTo>
                  <a:pt x="677316" y="475734"/>
                </a:lnTo>
                <a:lnTo>
                  <a:pt x="823967" y="400657"/>
                </a:lnTo>
                <a:lnTo>
                  <a:pt x="979690" y="321121"/>
                </a:lnTo>
                <a:lnTo>
                  <a:pt x="1153554" y="241584"/>
                </a:lnTo>
                <a:lnTo>
                  <a:pt x="1354633" y="166507"/>
                </a:lnTo>
                <a:lnTo>
                  <a:pt x="1591996" y="100350"/>
                </a:lnTo>
                <a:lnTo>
                  <a:pt x="1874715" y="47573"/>
                </a:lnTo>
                <a:lnTo>
                  <a:pt x="2211861" y="12637"/>
                </a:lnTo>
                <a:lnTo>
                  <a:pt x="2612506" y="0"/>
                </a:lnTo>
              </a:path>
            </a:pathLst>
          </a:custGeom>
          <a:noFill/>
          <a:ln w="32656">
            <a:solidFill>
              <a:srgbClr val="526D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 16: plot geometry" descr="sci-ppt:obj-0016"/>
          <p:cNvSpPr/>
          <p:nvPr/>
        </p:nvSpPr>
        <p:spPr>
          <a:xfrm>
            <a:off x="3701050" y="2264171"/>
            <a:ext cx="2612506" cy="489845"/>
          </a:xfrm>
          <a:custGeom>
            <a:avLst/>
            <a:gdLst/>
            <a:ahLst/>
            <a:cxnLst/>
            <a:rect l="l" t="t" r="r" b="b"/>
            <a:pathLst>
              <a:path w="2612506" h="489845">
                <a:moveTo>
                  <a:pt x="0" y="0"/>
                </a:moveTo>
                <a:lnTo>
                  <a:pt x="201078" y="9639"/>
                </a:lnTo>
                <a:lnTo>
                  <a:pt x="374943" y="36285"/>
                </a:lnTo>
                <a:lnTo>
                  <a:pt x="530665" y="76539"/>
                </a:lnTo>
                <a:lnTo>
                  <a:pt x="677316" y="126997"/>
                </a:lnTo>
                <a:lnTo>
                  <a:pt x="823967" y="184259"/>
                </a:lnTo>
                <a:lnTo>
                  <a:pt x="979690" y="244923"/>
                </a:lnTo>
                <a:lnTo>
                  <a:pt x="1153554" y="305587"/>
                </a:lnTo>
                <a:lnTo>
                  <a:pt x="1354633" y="362849"/>
                </a:lnTo>
                <a:lnTo>
                  <a:pt x="1591996" y="413307"/>
                </a:lnTo>
                <a:lnTo>
                  <a:pt x="1874715" y="453561"/>
                </a:lnTo>
                <a:lnTo>
                  <a:pt x="2211861" y="480207"/>
                </a:lnTo>
                <a:lnTo>
                  <a:pt x="2612506" y="489845"/>
                </a:lnTo>
              </a:path>
            </a:pathLst>
          </a:custGeom>
          <a:noFill/>
          <a:ln w="32656">
            <a:solidFill>
              <a:srgbClr val="526D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 17: Discharge increases Vg" descr="sci-ppt:obj-0017"/>
          <p:cNvSpPr txBox="1"/>
          <p:nvPr/>
        </p:nvSpPr>
        <p:spPr>
          <a:xfrm>
            <a:off x="3913098" y="593474"/>
            <a:ext cx="2333840" cy="235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183348"/>
                </a:solidFill>
                <a:latin typeface="Arial"/>
              </a:rPr>
              <a:t>Discharge increases Vg</a:t>
            </a:r>
          </a:p>
        </p:txBody>
      </p:sp>
      <p:sp>
        <p:nvSpPr>
          <p:cNvPr id="19" name="text 18: Wall expansion increases Vg" descr="sci-ppt:obj-0018"/>
          <p:cNvSpPr txBox="1"/>
          <p:nvPr/>
        </p:nvSpPr>
        <p:spPr>
          <a:xfrm>
            <a:off x="3858670" y="3064469"/>
            <a:ext cx="2847633" cy="235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183348"/>
                </a:solidFill>
                <a:latin typeface="Arial"/>
              </a:rPr>
              <a:t>Wall expansion increases Vg</a:t>
            </a:r>
          </a:p>
        </p:txBody>
      </p:sp>
      <p:sp>
        <p:nvSpPr>
          <p:cNvPr id="20" name="text 19: A: fixed wall     B open: two energy routes     B sealed: wall route, " descr="sci-ppt:obj-0019"/>
          <p:cNvSpPr txBox="1"/>
          <p:nvPr/>
        </p:nvSpPr>
        <p:spPr>
          <a:xfrm>
            <a:off x="320902" y="200618"/>
            <a:ext cx="10323319" cy="2792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28" b="0" i="0">
                <a:solidFill>
                  <a:srgbClr val="183348"/>
                </a:solidFill>
                <a:latin typeface="Arial"/>
              </a:rPr>
              <a:t>A: fixed wall     B open: two energy routes     B sealed: wall route, zero discharge</a:t>
            </a:r>
          </a:p>
        </p:txBody>
      </p:sp>
      <p:cxnSp>
        <p:nvCxnSpPr>
          <p:cNvPr id="21" name="Energy route arrow 1" descr="sci-ppt:route-head-0"/>
          <p:cNvCxnSpPr/>
          <p:nvPr/>
        </p:nvCxnSpPr>
        <p:spPr>
          <a:xfrm>
            <a:off x="6095847" y="1023231"/>
            <a:ext cx="217709" cy="0"/>
          </a:xfrm>
          <a:prstGeom prst="line">
            <a:avLst/>
          </a:prstGeom>
          <a:ln w="25400">
            <a:solidFill>
              <a:srgbClr val="526D83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22" name="Energy route arrow 2" descr="sci-ppt:route-head-1"/>
          <p:cNvCxnSpPr/>
          <p:nvPr/>
        </p:nvCxnSpPr>
        <p:spPr>
          <a:xfrm>
            <a:off x="6095847" y="2754016"/>
            <a:ext cx="217709" cy="0"/>
          </a:xfrm>
          <a:prstGeom prst="line">
            <a:avLst/>
          </a:prstGeom>
          <a:ln w="25400">
            <a:solidFill>
              <a:srgbClr val="526D83"/>
            </a:solidFill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 1: plot geometry" descr="sci-ppt:obj-0001"/>
          <p:cNvSpPr/>
          <p:nvPr/>
        </p:nvSpPr>
        <p:spPr>
          <a:xfrm>
            <a:off x="0" y="0"/>
            <a:ext cx="12191695" cy="370105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 2: plot geometry" descr="sci-ppt:obj-0002"/>
          <p:cNvSpPr/>
          <p:nvPr/>
        </p:nvSpPr>
        <p:spPr>
          <a:xfrm>
            <a:off x="217708" y="217708"/>
            <a:ext cx="3265632" cy="2612506"/>
          </a:xfrm>
          <a:prstGeom prst="rect">
            <a:avLst/>
          </a:prstGeom>
          <a:solidFill>
            <a:srgbClr val="E3EB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 3: plot geometry" descr="sci-ppt:obj-0003"/>
          <p:cNvSpPr/>
          <p:nvPr/>
        </p:nvSpPr>
        <p:spPr>
          <a:xfrm>
            <a:off x="3646623" y="217708"/>
            <a:ext cx="4626312" cy="2612506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 4: plot geometry" descr="sci-ppt:obj-0004"/>
          <p:cNvSpPr/>
          <p:nvPr/>
        </p:nvSpPr>
        <p:spPr>
          <a:xfrm>
            <a:off x="8436217" y="217708"/>
            <a:ext cx="3537768" cy="2612506"/>
          </a:xfrm>
          <a:prstGeom prst="rect">
            <a:avLst/>
          </a:prstGeom>
          <a:solidFill>
            <a:srgbClr val="E6EE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 5: 1 · Model Builder" descr="sci-ppt:obj-0005"/>
          <p:cNvSpPr txBox="1"/>
          <p:nvPr/>
        </p:nvSpPr>
        <p:spPr>
          <a:xfrm>
            <a:off x="386214" y="319052"/>
            <a:ext cx="2584314" cy="3379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71" b="0" i="0">
                <a:solidFill>
                  <a:srgbClr val="183348"/>
                </a:solidFill>
                <a:latin typeface="Arial"/>
              </a:rPr>
              <a:t>1 · Model Builder</a:t>
            </a:r>
          </a:p>
        </p:txBody>
      </p:sp>
      <p:sp>
        <p:nvSpPr>
          <p:cNvPr id="7" name="text 6: 2 · Settings" descr="sci-ppt:obj-0006"/>
          <p:cNvSpPr txBox="1"/>
          <p:nvPr/>
        </p:nvSpPr>
        <p:spPr>
          <a:xfrm>
            <a:off x="3826014" y="319052"/>
            <a:ext cx="1845737" cy="3379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71" b="0" i="0">
                <a:solidFill>
                  <a:srgbClr val="183348"/>
                </a:solidFill>
                <a:latin typeface="Arial"/>
              </a:rPr>
              <a:t>2 · Settings</a:t>
            </a:r>
          </a:p>
        </p:txBody>
      </p:sp>
      <p:sp>
        <p:nvSpPr>
          <p:cNvPr id="8" name="text 7: 3 · Graphics" descr="sci-ppt:obj-0007"/>
          <p:cNvSpPr txBox="1"/>
          <p:nvPr/>
        </p:nvSpPr>
        <p:spPr>
          <a:xfrm>
            <a:off x="8615609" y="319052"/>
            <a:ext cx="1845737" cy="3379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71" b="0" i="0">
                <a:solidFill>
                  <a:srgbClr val="183348"/>
                </a:solidFill>
                <a:latin typeface="Arial"/>
              </a:rPr>
              <a:t>3 · Graphics</a:t>
            </a:r>
          </a:p>
        </p:txBody>
      </p:sp>
      <p:sp>
        <p:nvSpPr>
          <p:cNvPr id="9" name="text 8: Global Definitions" descr="sci-ppt:obj-0008"/>
          <p:cNvSpPr txBox="1"/>
          <p:nvPr/>
        </p:nvSpPr>
        <p:spPr>
          <a:xfrm>
            <a:off x="386214" y="810856"/>
            <a:ext cx="2038409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Global Definitions</a:t>
            </a:r>
          </a:p>
        </p:txBody>
      </p:sp>
      <p:sp>
        <p:nvSpPr>
          <p:cNvPr id="10" name="text 9: Parameters 1" descr="sci-ppt:obj-0009"/>
          <p:cNvSpPr txBox="1"/>
          <p:nvPr/>
        </p:nvSpPr>
        <p:spPr>
          <a:xfrm>
            <a:off x="614809" y="1159190"/>
            <a:ext cx="1383323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Parameters 1</a:t>
            </a:r>
          </a:p>
        </p:txBody>
      </p:sp>
      <p:sp>
        <p:nvSpPr>
          <p:cNvPr id="11" name="text 10: Component c" descr="sci-ppt:obj-0010"/>
          <p:cNvSpPr txBox="1"/>
          <p:nvPr/>
        </p:nvSpPr>
        <p:spPr>
          <a:xfrm>
            <a:off x="386214" y="1507524"/>
            <a:ext cx="1274142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Component c</a:t>
            </a:r>
          </a:p>
        </p:txBody>
      </p:sp>
      <p:sp>
        <p:nvSpPr>
          <p:cNvPr id="12" name="text 11: Definitions → Variables" descr="sci-ppt:obj-0011"/>
          <p:cNvSpPr txBox="1"/>
          <p:nvPr/>
        </p:nvSpPr>
        <p:spPr>
          <a:xfrm>
            <a:off x="614809" y="1855859"/>
            <a:ext cx="2584314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Definitions → Variables</a:t>
            </a:r>
          </a:p>
        </p:txBody>
      </p:sp>
      <p:sp>
        <p:nvSpPr>
          <p:cNvPr id="13" name="text 12: Global Equations 1" descr="sci-ppt:obj-0012"/>
          <p:cNvSpPr txBox="1"/>
          <p:nvPr/>
        </p:nvSpPr>
        <p:spPr>
          <a:xfrm>
            <a:off x="614809" y="2215078"/>
            <a:ext cx="2038409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Global Equations 1</a:t>
            </a:r>
          </a:p>
        </p:txBody>
      </p:sp>
      <p:sp>
        <p:nvSpPr>
          <p:cNvPr id="14" name="text 13: Selected equation row:" descr="sci-ppt:obj-0013"/>
          <p:cNvSpPr txBox="1"/>
          <p:nvPr/>
        </p:nvSpPr>
        <p:spPr>
          <a:xfrm>
            <a:off x="3826014" y="854398"/>
            <a:ext cx="2475133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Selected equation row:</a:t>
            </a:r>
          </a:p>
        </p:txBody>
      </p:sp>
      <p:sp>
        <p:nvSpPr>
          <p:cNvPr id="15" name="text 14: Name: vv" descr="sci-ppt:obj-0014"/>
          <p:cNvSpPr txBox="1"/>
          <p:nvPr/>
        </p:nvSpPr>
        <p:spPr>
          <a:xfrm>
            <a:off x="3826014" y="1246274"/>
            <a:ext cx="946599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Name: vv</a:t>
            </a:r>
          </a:p>
        </p:txBody>
      </p:sp>
      <p:sp>
        <p:nvSpPr>
          <p:cNvPr id="16" name="text 15: f: tau*(vvt-acc/Us)" descr="sci-ppt:obj-0015"/>
          <p:cNvSpPr txBox="1"/>
          <p:nvPr/>
        </p:nvSpPr>
        <p:spPr>
          <a:xfrm>
            <a:off x="3826014" y="1616379"/>
            <a:ext cx="2147590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f: tau*(vvt-acc/Us)</a:t>
            </a:r>
          </a:p>
        </p:txBody>
      </p:sp>
      <p:sp>
        <p:nvSpPr>
          <p:cNvPr id="17" name="text 16: Initial u: 0     Initial ut: 0" descr="sci-ppt:obj-0016"/>
          <p:cNvSpPr txBox="1"/>
          <p:nvPr/>
        </p:nvSpPr>
        <p:spPr>
          <a:xfrm>
            <a:off x="3826014" y="2008255"/>
            <a:ext cx="3348581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Initial u: 0     Initial ut: 0</a:t>
            </a:r>
          </a:p>
        </p:txBody>
      </p:sp>
      <p:sp>
        <p:nvSpPr>
          <p:cNvPr id="18" name="text 17: Commit cells with Tab" descr="sci-ppt:obj-0017"/>
          <p:cNvSpPr txBox="1"/>
          <p:nvPr/>
        </p:nvSpPr>
        <p:spPr>
          <a:xfrm>
            <a:off x="3826014" y="2389245"/>
            <a:ext cx="2365952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Commit cells with Tab</a:t>
            </a:r>
          </a:p>
        </p:txBody>
      </p:sp>
      <p:cxnSp>
        <p:nvCxnSpPr>
          <p:cNvPr id="19" name="line 18: plot geometry" descr="sci-ppt:obj-0018"/>
          <p:cNvCxnSpPr/>
          <p:nvPr/>
        </p:nvCxnSpPr>
        <p:spPr>
          <a:xfrm>
            <a:off x="8784551" y="2394797"/>
            <a:ext cx="2928184" cy="0"/>
          </a:xfrm>
          <a:prstGeom prst="line">
            <a:avLst/>
          </a:prstGeom>
          <a:ln w="21770">
            <a:solidFill>
              <a:srgbClr val="627B91"/>
            </a:solidFill>
          </a:ln>
          <a:effectLst/>
        </p:spPr>
      </p:cxnSp>
      <p:cxnSp>
        <p:nvCxnSpPr>
          <p:cNvPr id="20" name="line 19: plot geometry" descr="sci-ppt:obj-0019"/>
          <p:cNvCxnSpPr/>
          <p:nvPr/>
        </p:nvCxnSpPr>
        <p:spPr>
          <a:xfrm flipV="1">
            <a:off x="8784551" y="936148"/>
            <a:ext cx="0" cy="1458649"/>
          </a:xfrm>
          <a:prstGeom prst="line">
            <a:avLst/>
          </a:prstGeom>
          <a:ln w="21770">
            <a:solidFill>
              <a:srgbClr val="627B91"/>
            </a:solidFill>
          </a:ln>
          <a:effectLst/>
        </p:spPr>
      </p:cxnSp>
      <p:sp>
        <p:nvSpPr>
          <p:cNvPr id="21" name="polygon 20: plot geometry" descr="sci-ppt:obj-0020"/>
          <p:cNvSpPr/>
          <p:nvPr/>
        </p:nvSpPr>
        <p:spPr>
          <a:xfrm>
            <a:off x="8784551" y="1214407"/>
            <a:ext cx="2917299" cy="1180390"/>
          </a:xfrm>
          <a:custGeom>
            <a:avLst/>
            <a:gdLst/>
            <a:ahLst/>
            <a:cxnLst/>
            <a:rect l="l" t="t" r="r" b="b"/>
            <a:pathLst>
              <a:path w="2917299" h="1180390">
                <a:moveTo>
                  <a:pt x="0" y="1169504"/>
                </a:moveTo>
                <a:lnTo>
                  <a:pt x="33948" y="906313"/>
                </a:lnTo>
                <a:lnTo>
                  <a:pt x="80180" y="681373"/>
                </a:lnTo>
                <a:lnTo>
                  <a:pt x="136919" y="492566"/>
                </a:lnTo>
                <a:lnTo>
                  <a:pt x="202389" y="337776"/>
                </a:lnTo>
                <a:lnTo>
                  <a:pt x="274814" y="214886"/>
                </a:lnTo>
                <a:lnTo>
                  <a:pt x="352416" y="121781"/>
                </a:lnTo>
                <a:lnTo>
                  <a:pt x="433421" y="56342"/>
                </a:lnTo>
                <a:lnTo>
                  <a:pt x="516051" y="16454"/>
                </a:lnTo>
                <a:lnTo>
                  <a:pt x="598530" y="0"/>
                </a:lnTo>
                <a:lnTo>
                  <a:pt x="679081" y="4863"/>
                </a:lnTo>
                <a:lnTo>
                  <a:pt x="755927" y="28927"/>
                </a:lnTo>
                <a:lnTo>
                  <a:pt x="827294" y="70075"/>
                </a:lnTo>
                <a:lnTo>
                  <a:pt x="901470" y="127469"/>
                </a:lnTo>
                <a:lnTo>
                  <a:pt x="988912" y="199944"/>
                </a:lnTo>
                <a:lnTo>
                  <a:pt x="1091096" y="284892"/>
                </a:lnTo>
                <a:lnTo>
                  <a:pt x="1209494" y="379705"/>
                </a:lnTo>
                <a:lnTo>
                  <a:pt x="1345581" y="481775"/>
                </a:lnTo>
                <a:lnTo>
                  <a:pt x="1500831" y="588494"/>
                </a:lnTo>
                <a:lnTo>
                  <a:pt x="1676717" y="697254"/>
                </a:lnTo>
                <a:lnTo>
                  <a:pt x="1874715" y="805447"/>
                </a:lnTo>
                <a:lnTo>
                  <a:pt x="2096298" y="910465"/>
                </a:lnTo>
                <a:lnTo>
                  <a:pt x="2342941" y="1009700"/>
                </a:lnTo>
                <a:lnTo>
                  <a:pt x="2616116" y="1100544"/>
                </a:lnTo>
                <a:lnTo>
                  <a:pt x="2917299" y="1180390"/>
                </a:lnTo>
              </a:path>
            </a:pathLst>
          </a:custGeom>
          <a:noFill/>
          <a:ln w="43541">
            <a:solidFill>
              <a:srgbClr val="3479C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 21: U(t)" descr="sci-ppt:obj-0021"/>
          <p:cNvSpPr txBox="1"/>
          <p:nvPr/>
        </p:nvSpPr>
        <p:spPr>
          <a:xfrm>
            <a:off x="8833317" y="691116"/>
            <a:ext cx="509875" cy="2498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7" b="0" i="0">
                <a:solidFill>
                  <a:srgbClr val="183348"/>
                </a:solidFill>
                <a:latin typeface="Arial"/>
              </a:rPr>
              <a:t>U(t)</a:t>
            </a:r>
          </a:p>
        </p:txBody>
      </p:sp>
      <p:sp>
        <p:nvSpPr>
          <p:cNvPr id="23" name="text 22: First ejection time" descr="sci-ppt:obj-0022"/>
          <p:cNvSpPr txBox="1"/>
          <p:nvPr/>
        </p:nvSpPr>
        <p:spPr>
          <a:xfrm>
            <a:off x="10237539" y="2487541"/>
            <a:ext cx="2025564" cy="235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183348"/>
                </a:solidFill>
                <a:latin typeface="Arial"/>
              </a:rPr>
              <a:t>First ejection time</a:t>
            </a:r>
          </a:p>
        </p:txBody>
      </p:sp>
      <p:sp>
        <p:nvSpPr>
          <p:cNvPr id="24" name="rect 23: plot geometry" descr="sci-ppt:obj-0023"/>
          <p:cNvSpPr/>
          <p:nvPr/>
        </p:nvSpPr>
        <p:spPr>
          <a:xfrm>
            <a:off x="217708" y="2993496"/>
            <a:ext cx="11756277" cy="489844"/>
          </a:xfrm>
          <a:prstGeom prst="rect">
            <a:avLst/>
          </a:prstGeom>
          <a:solidFill>
            <a:srgbClr val="DCE6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 24: Bottom: Progress · Messages · Log · numerical result tables" descr="sci-ppt:obj-0024"/>
          <p:cNvSpPr txBox="1"/>
          <p:nvPr/>
        </p:nvSpPr>
        <p:spPr>
          <a:xfrm>
            <a:off x="407985" y="3107358"/>
            <a:ext cx="6893752" cy="2645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42" b="0" i="0">
                <a:solidFill>
                  <a:srgbClr val="183348"/>
                </a:solidFill>
                <a:latin typeface="Arial"/>
              </a:rPr>
              <a:t>Bottom: Progress · Messages · Log · numerical result tables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4683274"/>
          </a:xfrm>
          <a:custGeom>
            <a:avLst/>
            <a:gdLst/>
            <a:ahLst/>
            <a:cxnLst/>
            <a:rect l="l" t="t" r="r" b="b"/>
            <a:pathLst>
              <a:path w="12191695" h="4683274">
                <a:moveTo>
                  <a:pt x="0" y="4683274"/>
                </a:moveTo>
                <a:lnTo>
                  <a:pt x="12191695" y="4683274"/>
                </a:lnTo>
                <a:lnTo>
                  <a:pt x="12191695" y="0"/>
                </a:lnTo>
                <a:lnTo>
                  <a:pt x="0" y="0"/>
                </a:lnTo>
                <a:lnTo>
                  <a:pt x="0" y="46832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747180" y="625804"/>
            <a:ext cx="5300124" cy="3425399"/>
          </a:xfrm>
          <a:custGeom>
            <a:avLst/>
            <a:gdLst/>
            <a:ahLst/>
            <a:cxnLst/>
            <a:rect l="l" t="t" r="r" b="b"/>
            <a:pathLst>
              <a:path w="5300124" h="3425399">
                <a:moveTo>
                  <a:pt x="0" y="3425399"/>
                </a:moveTo>
                <a:lnTo>
                  <a:pt x="5300124" y="3425399"/>
                </a:lnTo>
                <a:lnTo>
                  <a:pt x="5300124" y="0"/>
                </a:lnTo>
                <a:lnTo>
                  <a:pt x="0" y="0"/>
                </a:lnTo>
                <a:lnTo>
                  <a:pt x="0" y="34253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2560685" y="625804"/>
            <a:ext cx="0" cy="3425399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2560685" y="4051203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" name="text 5: 1" descr="sci-ppt:obj-0005"/>
          <p:cNvSpPr txBox="1"/>
          <p:nvPr/>
        </p:nvSpPr>
        <p:spPr>
          <a:xfrm>
            <a:off x="2394208" y="4136926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 6: 0" descr="sci-ppt:obj-0006"/>
          <p:cNvSpPr txBox="1"/>
          <p:nvPr/>
        </p:nvSpPr>
        <p:spPr>
          <a:xfrm>
            <a:off x="2494736" y="4136926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" name="text 7: 0" descr="sci-ppt:obj-0007"/>
          <p:cNvSpPr txBox="1"/>
          <p:nvPr/>
        </p:nvSpPr>
        <p:spPr>
          <a:xfrm>
            <a:off x="2596776" y="4120493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9" name="line 8: plot geometry" descr="sci-ppt:obj-0008"/>
          <p:cNvCxnSpPr/>
          <p:nvPr/>
        </p:nvCxnSpPr>
        <p:spPr>
          <a:xfrm flipV="1">
            <a:off x="5568247" y="625804"/>
            <a:ext cx="0" cy="3425399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0" name="line 9: plot geometry" descr="sci-ppt:obj-0009"/>
          <p:cNvCxnSpPr/>
          <p:nvPr/>
        </p:nvCxnSpPr>
        <p:spPr>
          <a:xfrm>
            <a:off x="5568247" y="4051203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" name="text 10: 1" descr="sci-ppt:obj-0010"/>
          <p:cNvSpPr txBox="1"/>
          <p:nvPr/>
        </p:nvSpPr>
        <p:spPr>
          <a:xfrm>
            <a:off x="5401770" y="4133963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2" name="text 11: 0" descr="sci-ppt:obj-0011"/>
          <p:cNvSpPr txBox="1"/>
          <p:nvPr/>
        </p:nvSpPr>
        <p:spPr>
          <a:xfrm>
            <a:off x="5502298" y="4133963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3" name="text 12: 1" descr="sci-ppt:obj-0012"/>
          <p:cNvSpPr txBox="1"/>
          <p:nvPr/>
        </p:nvSpPr>
        <p:spPr>
          <a:xfrm>
            <a:off x="5604338" y="411753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4" name="line 13: plot geometry" descr="sci-ppt:obj-0013"/>
          <p:cNvCxnSpPr/>
          <p:nvPr/>
        </p:nvCxnSpPr>
        <p:spPr>
          <a:xfrm>
            <a:off x="988095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" name="line 14: plot geometry" descr="sci-ppt:obj-0014"/>
          <p:cNvCxnSpPr/>
          <p:nvPr/>
        </p:nvCxnSpPr>
        <p:spPr>
          <a:xfrm>
            <a:off x="1363856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" name="line 15: plot geometry" descr="sci-ppt:obj-0015"/>
          <p:cNvCxnSpPr/>
          <p:nvPr/>
        </p:nvCxnSpPr>
        <p:spPr>
          <a:xfrm>
            <a:off x="1655319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" name="line 16: plot geometry" descr="sci-ppt:obj-0016"/>
          <p:cNvCxnSpPr/>
          <p:nvPr/>
        </p:nvCxnSpPr>
        <p:spPr>
          <a:xfrm>
            <a:off x="1893461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" name="line 17: plot geometry" descr="sci-ppt:obj-0017"/>
          <p:cNvCxnSpPr/>
          <p:nvPr/>
        </p:nvCxnSpPr>
        <p:spPr>
          <a:xfrm>
            <a:off x="2094808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9" name="line 18: plot geometry" descr="sci-ppt:obj-0018"/>
          <p:cNvCxnSpPr/>
          <p:nvPr/>
        </p:nvCxnSpPr>
        <p:spPr>
          <a:xfrm>
            <a:off x="2269222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0" name="line 19: plot geometry" descr="sci-ppt:obj-0019"/>
          <p:cNvCxnSpPr/>
          <p:nvPr/>
        </p:nvCxnSpPr>
        <p:spPr>
          <a:xfrm>
            <a:off x="2423067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1" name="line 20: plot geometry" descr="sci-ppt:obj-0020"/>
          <p:cNvCxnSpPr/>
          <p:nvPr/>
        </p:nvCxnSpPr>
        <p:spPr>
          <a:xfrm>
            <a:off x="3466051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" name="line 21: plot geometry" descr="sci-ppt:obj-0021"/>
          <p:cNvCxnSpPr/>
          <p:nvPr/>
        </p:nvCxnSpPr>
        <p:spPr>
          <a:xfrm>
            <a:off x="3995657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" name="line 22: plot geometry" descr="sci-ppt:obj-0022"/>
          <p:cNvCxnSpPr/>
          <p:nvPr/>
        </p:nvCxnSpPr>
        <p:spPr>
          <a:xfrm>
            <a:off x="4371418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" name="line 23: plot geometry" descr="sci-ppt:obj-0023"/>
          <p:cNvCxnSpPr/>
          <p:nvPr/>
        </p:nvCxnSpPr>
        <p:spPr>
          <a:xfrm>
            <a:off x="4662880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" name="line 24: plot geometry" descr="sci-ppt:obj-0024"/>
          <p:cNvCxnSpPr/>
          <p:nvPr/>
        </p:nvCxnSpPr>
        <p:spPr>
          <a:xfrm>
            <a:off x="4901023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6" name="line 25: plot geometry" descr="sci-ppt:obj-0025"/>
          <p:cNvCxnSpPr/>
          <p:nvPr/>
        </p:nvCxnSpPr>
        <p:spPr>
          <a:xfrm>
            <a:off x="5102369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7" name="line 26: plot geometry" descr="sci-ppt:obj-0026"/>
          <p:cNvCxnSpPr/>
          <p:nvPr/>
        </p:nvCxnSpPr>
        <p:spPr>
          <a:xfrm>
            <a:off x="5276784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8" name="line 27: plot geometry" descr="sci-ppt:obj-0027"/>
          <p:cNvCxnSpPr/>
          <p:nvPr/>
        </p:nvCxnSpPr>
        <p:spPr>
          <a:xfrm>
            <a:off x="5430628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29" name="text 28: Initial liquid droplet diameter (µm)" descr="sci-ppt:obj-0028"/>
          <p:cNvSpPr txBox="1"/>
          <p:nvPr/>
        </p:nvSpPr>
        <p:spPr>
          <a:xfrm>
            <a:off x="1682648" y="4368806"/>
            <a:ext cx="3429188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Initial liquid droplet diameter (µm)</a:t>
            </a:r>
          </a:p>
        </p:txBody>
      </p:sp>
      <p:cxnSp>
        <p:nvCxnSpPr>
          <p:cNvPr id="30" name="line 29: plot geometry" descr="sci-ppt:obj-0029"/>
          <p:cNvCxnSpPr/>
          <p:nvPr/>
        </p:nvCxnSpPr>
        <p:spPr>
          <a:xfrm>
            <a:off x="747180" y="3962209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1" name="line 30: plot geometry" descr="sci-ppt:obj-0030"/>
          <p:cNvCxnSpPr/>
          <p:nvPr/>
        </p:nvCxnSpPr>
        <p:spPr>
          <a:xfrm flipH="1">
            <a:off x="691878" y="3962209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2" name="text 31: 310" descr="sci-ppt:obj-0031"/>
          <p:cNvSpPr txBox="1"/>
          <p:nvPr/>
        </p:nvSpPr>
        <p:spPr>
          <a:xfrm>
            <a:off x="320331" y="3859487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310</a:t>
            </a:r>
          </a:p>
        </p:txBody>
      </p:sp>
      <p:cxnSp>
        <p:nvCxnSpPr>
          <p:cNvPr id="33" name="line 32: plot geometry" descr="sci-ppt:obj-0032"/>
          <p:cNvCxnSpPr/>
          <p:nvPr/>
        </p:nvCxnSpPr>
        <p:spPr>
          <a:xfrm>
            <a:off x="747180" y="3573673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4" name="line 33: plot geometry" descr="sci-ppt:obj-0033"/>
          <p:cNvCxnSpPr/>
          <p:nvPr/>
        </p:nvCxnSpPr>
        <p:spPr>
          <a:xfrm flipH="1">
            <a:off x="691878" y="3573673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5" name="text 34: 320" descr="sci-ppt:obj-0034"/>
          <p:cNvSpPr txBox="1"/>
          <p:nvPr/>
        </p:nvSpPr>
        <p:spPr>
          <a:xfrm>
            <a:off x="320331" y="3470951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320</a:t>
            </a:r>
          </a:p>
        </p:txBody>
      </p:sp>
      <p:cxnSp>
        <p:nvCxnSpPr>
          <p:cNvPr id="36" name="line 35: plot geometry" descr="sci-ppt:obj-0035"/>
          <p:cNvCxnSpPr/>
          <p:nvPr/>
        </p:nvCxnSpPr>
        <p:spPr>
          <a:xfrm>
            <a:off x="747180" y="3185137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7" name="line 36: plot geometry" descr="sci-ppt:obj-0036"/>
          <p:cNvCxnSpPr/>
          <p:nvPr/>
        </p:nvCxnSpPr>
        <p:spPr>
          <a:xfrm flipH="1">
            <a:off x="691878" y="3185137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8" name="text 37: 330" descr="sci-ppt:obj-0037"/>
          <p:cNvSpPr txBox="1"/>
          <p:nvPr/>
        </p:nvSpPr>
        <p:spPr>
          <a:xfrm>
            <a:off x="320331" y="308241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330</a:t>
            </a:r>
          </a:p>
        </p:txBody>
      </p:sp>
      <p:cxnSp>
        <p:nvCxnSpPr>
          <p:cNvPr id="39" name="line 38: plot geometry" descr="sci-ppt:obj-0038"/>
          <p:cNvCxnSpPr/>
          <p:nvPr/>
        </p:nvCxnSpPr>
        <p:spPr>
          <a:xfrm>
            <a:off x="747180" y="2796600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0" name="line 39: plot geometry" descr="sci-ppt:obj-0039"/>
          <p:cNvCxnSpPr/>
          <p:nvPr/>
        </p:nvCxnSpPr>
        <p:spPr>
          <a:xfrm flipH="1">
            <a:off x="691878" y="279660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1" name="text 40: 340" descr="sci-ppt:obj-0040"/>
          <p:cNvSpPr txBox="1"/>
          <p:nvPr/>
        </p:nvSpPr>
        <p:spPr>
          <a:xfrm>
            <a:off x="320331" y="2693878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340</a:t>
            </a:r>
          </a:p>
        </p:txBody>
      </p:sp>
      <p:cxnSp>
        <p:nvCxnSpPr>
          <p:cNvPr id="42" name="line 41: plot geometry" descr="sci-ppt:obj-0041"/>
          <p:cNvCxnSpPr/>
          <p:nvPr/>
        </p:nvCxnSpPr>
        <p:spPr>
          <a:xfrm>
            <a:off x="747180" y="2408064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3" name="line 42: plot geometry" descr="sci-ppt:obj-0042"/>
          <p:cNvCxnSpPr/>
          <p:nvPr/>
        </p:nvCxnSpPr>
        <p:spPr>
          <a:xfrm flipH="1">
            <a:off x="691878" y="2408064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4" name="text 43: 350" descr="sci-ppt:obj-0043"/>
          <p:cNvSpPr txBox="1"/>
          <p:nvPr/>
        </p:nvSpPr>
        <p:spPr>
          <a:xfrm>
            <a:off x="320331" y="2305342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350</a:t>
            </a:r>
          </a:p>
        </p:txBody>
      </p:sp>
      <p:cxnSp>
        <p:nvCxnSpPr>
          <p:cNvPr id="45" name="line 44: plot geometry" descr="sci-ppt:obj-0044"/>
          <p:cNvCxnSpPr/>
          <p:nvPr/>
        </p:nvCxnSpPr>
        <p:spPr>
          <a:xfrm>
            <a:off x="747180" y="2019528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6" name="line 45: plot geometry" descr="sci-ppt:obj-0045"/>
          <p:cNvCxnSpPr/>
          <p:nvPr/>
        </p:nvCxnSpPr>
        <p:spPr>
          <a:xfrm flipH="1">
            <a:off x="691878" y="2019528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7" name="text 46: 360" descr="sci-ppt:obj-0046"/>
          <p:cNvSpPr txBox="1"/>
          <p:nvPr/>
        </p:nvSpPr>
        <p:spPr>
          <a:xfrm>
            <a:off x="320331" y="1916806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360</a:t>
            </a:r>
          </a:p>
        </p:txBody>
      </p:sp>
      <p:cxnSp>
        <p:nvCxnSpPr>
          <p:cNvPr id="48" name="line 47: plot geometry" descr="sci-ppt:obj-0047"/>
          <p:cNvCxnSpPr/>
          <p:nvPr/>
        </p:nvCxnSpPr>
        <p:spPr>
          <a:xfrm>
            <a:off x="747180" y="1630992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9" name="line 48: plot geometry" descr="sci-ppt:obj-0048"/>
          <p:cNvCxnSpPr/>
          <p:nvPr/>
        </p:nvCxnSpPr>
        <p:spPr>
          <a:xfrm flipH="1">
            <a:off x="691878" y="163099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50" name="text 49: 370" descr="sci-ppt:obj-0049"/>
          <p:cNvSpPr txBox="1"/>
          <p:nvPr/>
        </p:nvSpPr>
        <p:spPr>
          <a:xfrm>
            <a:off x="320331" y="1528270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370</a:t>
            </a:r>
          </a:p>
        </p:txBody>
      </p:sp>
      <p:cxnSp>
        <p:nvCxnSpPr>
          <p:cNvPr id="51" name="line 50: plot geometry" descr="sci-ppt:obj-0050"/>
          <p:cNvCxnSpPr/>
          <p:nvPr/>
        </p:nvCxnSpPr>
        <p:spPr>
          <a:xfrm>
            <a:off x="747180" y="1242455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2" name="line 51: plot geometry" descr="sci-ppt:obj-0051"/>
          <p:cNvCxnSpPr/>
          <p:nvPr/>
        </p:nvCxnSpPr>
        <p:spPr>
          <a:xfrm flipH="1">
            <a:off x="691878" y="124245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53" name="text 52: 380" descr="sci-ppt:obj-0052"/>
          <p:cNvSpPr txBox="1"/>
          <p:nvPr/>
        </p:nvSpPr>
        <p:spPr>
          <a:xfrm>
            <a:off x="320331" y="113973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380</a:t>
            </a:r>
          </a:p>
        </p:txBody>
      </p:sp>
      <p:cxnSp>
        <p:nvCxnSpPr>
          <p:cNvPr id="54" name="line 53: plot geometry" descr="sci-ppt:obj-0053"/>
          <p:cNvCxnSpPr/>
          <p:nvPr/>
        </p:nvCxnSpPr>
        <p:spPr>
          <a:xfrm>
            <a:off x="747180" y="853919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5" name="line 54: plot geometry" descr="sci-ppt:obj-0054"/>
          <p:cNvCxnSpPr/>
          <p:nvPr/>
        </p:nvCxnSpPr>
        <p:spPr>
          <a:xfrm flipH="1">
            <a:off x="691878" y="853919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56" name="text 55: 390" descr="sci-ppt:obj-0055"/>
          <p:cNvSpPr txBox="1"/>
          <p:nvPr/>
        </p:nvSpPr>
        <p:spPr>
          <a:xfrm>
            <a:off x="320331" y="751197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390</a:t>
            </a:r>
          </a:p>
        </p:txBody>
      </p:sp>
      <p:sp>
        <p:nvSpPr>
          <p:cNvPr id="57" name="text 56: Equilibrium temperature (K)" descr="sci-ppt:obj-0056"/>
          <p:cNvSpPr txBox="1"/>
          <p:nvPr/>
        </p:nvSpPr>
        <p:spPr>
          <a:xfrm rot="16200000">
            <a:off x="-1061266" y="2175758"/>
            <a:ext cx="2590179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Equilibrium temperature (K)</a:t>
            </a:r>
          </a:p>
        </p:txBody>
      </p:sp>
      <p:sp>
        <p:nvSpPr>
          <p:cNvPr id="58" name="polygon 57: plot geometry" descr="sci-ppt:obj-0057"/>
          <p:cNvSpPr/>
          <p:nvPr/>
        </p:nvSpPr>
        <p:spPr>
          <a:xfrm>
            <a:off x="988095" y="2097859"/>
            <a:ext cx="4818294" cy="1797644"/>
          </a:xfrm>
          <a:custGeom>
            <a:avLst/>
            <a:gdLst/>
            <a:ahLst/>
            <a:cxnLst/>
            <a:rect l="l" t="t" r="r" b="b"/>
            <a:pathLst>
              <a:path w="4818294" h="1797644">
                <a:moveTo>
                  <a:pt x="0" y="0"/>
                </a:moveTo>
                <a:lnTo>
                  <a:pt x="905366" y="706801"/>
                </a:lnTo>
                <a:lnTo>
                  <a:pt x="3007562" y="1569245"/>
                </a:lnTo>
                <a:lnTo>
                  <a:pt x="3912928" y="1717618"/>
                </a:lnTo>
                <a:lnTo>
                  <a:pt x="4818294" y="1797644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olygon 58: plot geometry" descr="sci-ppt:obj-0058"/>
          <p:cNvSpPr/>
          <p:nvPr/>
        </p:nvSpPr>
        <p:spPr>
          <a:xfrm>
            <a:off x="988095" y="781504"/>
            <a:ext cx="4818294" cy="1999526"/>
          </a:xfrm>
          <a:custGeom>
            <a:avLst/>
            <a:gdLst/>
            <a:ahLst/>
            <a:cxnLst/>
            <a:rect l="l" t="t" r="r" b="b"/>
            <a:pathLst>
              <a:path w="4818294" h="1999526">
                <a:moveTo>
                  <a:pt x="0" y="0"/>
                </a:moveTo>
                <a:lnTo>
                  <a:pt x="905366" y="781879"/>
                </a:lnTo>
                <a:lnTo>
                  <a:pt x="3007562" y="1742847"/>
                </a:lnTo>
                <a:lnTo>
                  <a:pt x="3912928" y="1909445"/>
                </a:lnTo>
                <a:lnTo>
                  <a:pt x="4818294" y="1999526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line 59: plot geometry" descr="sci-ppt:obj-0059"/>
          <p:cNvCxnSpPr/>
          <p:nvPr/>
        </p:nvCxnSpPr>
        <p:spPr>
          <a:xfrm flipV="1">
            <a:off x="747180" y="625804"/>
            <a:ext cx="0" cy="3425399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61" name="line 60: plot geometry" descr="sci-ppt:obj-0060"/>
          <p:cNvCxnSpPr/>
          <p:nvPr/>
        </p:nvCxnSpPr>
        <p:spPr>
          <a:xfrm>
            <a:off x="747180" y="4051203"/>
            <a:ext cx="5300124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2" name="polygon 61: plot geometry" descr="sci-ppt:obj-0061"/>
          <p:cNvSpPr/>
          <p:nvPr/>
        </p:nvSpPr>
        <p:spPr>
          <a:xfrm>
            <a:off x="5094506" y="704807"/>
            <a:ext cx="873795" cy="521442"/>
          </a:xfrm>
          <a:custGeom>
            <a:avLst/>
            <a:gdLst/>
            <a:ahLst/>
            <a:cxnLst/>
            <a:rect l="l" t="t" r="r" b="b"/>
            <a:pathLst>
              <a:path w="873795" h="521442">
                <a:moveTo>
                  <a:pt x="31601" y="521442"/>
                </a:moveTo>
                <a:lnTo>
                  <a:pt x="842194" y="521442"/>
                </a:lnTo>
                <a:lnTo>
                  <a:pt x="847241" y="521223"/>
                </a:lnTo>
                <a:lnTo>
                  <a:pt x="851850" y="520565"/>
                </a:lnTo>
                <a:lnTo>
                  <a:pt x="856020" y="519467"/>
                </a:lnTo>
                <a:lnTo>
                  <a:pt x="859750" y="517931"/>
                </a:lnTo>
                <a:lnTo>
                  <a:pt x="863042" y="515956"/>
                </a:lnTo>
                <a:lnTo>
                  <a:pt x="865895" y="513542"/>
                </a:lnTo>
                <a:lnTo>
                  <a:pt x="868309" y="510689"/>
                </a:lnTo>
                <a:lnTo>
                  <a:pt x="870284" y="507397"/>
                </a:lnTo>
                <a:lnTo>
                  <a:pt x="871820" y="503667"/>
                </a:lnTo>
                <a:lnTo>
                  <a:pt x="872917" y="499497"/>
                </a:lnTo>
                <a:lnTo>
                  <a:pt x="873576" y="494889"/>
                </a:lnTo>
                <a:lnTo>
                  <a:pt x="873795" y="489841"/>
                </a:lnTo>
                <a:lnTo>
                  <a:pt x="873795" y="31601"/>
                </a:lnTo>
                <a:lnTo>
                  <a:pt x="873576" y="26553"/>
                </a:lnTo>
                <a:lnTo>
                  <a:pt x="872917" y="21945"/>
                </a:lnTo>
                <a:lnTo>
                  <a:pt x="871820" y="17775"/>
                </a:lnTo>
                <a:lnTo>
                  <a:pt x="870284" y="14045"/>
                </a:lnTo>
                <a:lnTo>
                  <a:pt x="868309" y="10753"/>
                </a:lnTo>
                <a:lnTo>
                  <a:pt x="865895" y="7900"/>
                </a:lnTo>
                <a:lnTo>
                  <a:pt x="863042" y="5486"/>
                </a:lnTo>
                <a:lnTo>
                  <a:pt x="859750" y="3511"/>
                </a:lnTo>
                <a:lnTo>
                  <a:pt x="856020" y="1975"/>
                </a:lnTo>
                <a:lnTo>
                  <a:pt x="851850" y="877"/>
                </a:lnTo>
                <a:lnTo>
                  <a:pt x="847241" y="219"/>
                </a:lnTo>
                <a:lnTo>
                  <a:pt x="842194" y="0"/>
                </a:lnTo>
                <a:lnTo>
                  <a:pt x="31601" y="0"/>
                </a:lnTo>
                <a:lnTo>
                  <a:pt x="26554" y="219"/>
                </a:lnTo>
                <a:lnTo>
                  <a:pt x="21945" y="877"/>
                </a:lnTo>
                <a:lnTo>
                  <a:pt x="17776" y="1975"/>
                </a:lnTo>
                <a:lnTo>
                  <a:pt x="14045" y="3511"/>
                </a:lnTo>
                <a:lnTo>
                  <a:pt x="10753" y="5486"/>
                </a:lnTo>
                <a:lnTo>
                  <a:pt x="7900" y="7900"/>
                </a:lnTo>
                <a:lnTo>
                  <a:pt x="5486" y="10753"/>
                </a:lnTo>
                <a:lnTo>
                  <a:pt x="3511" y="14045"/>
                </a:lnTo>
                <a:lnTo>
                  <a:pt x="1975" y="17775"/>
                </a:lnTo>
                <a:lnTo>
                  <a:pt x="878" y="21945"/>
                </a:lnTo>
                <a:lnTo>
                  <a:pt x="220" y="26553"/>
                </a:lnTo>
                <a:lnTo>
                  <a:pt x="0" y="31601"/>
                </a:lnTo>
                <a:lnTo>
                  <a:pt x="0" y="489841"/>
                </a:lnTo>
                <a:lnTo>
                  <a:pt x="220" y="494889"/>
                </a:lnTo>
                <a:lnTo>
                  <a:pt x="878" y="499497"/>
                </a:lnTo>
                <a:lnTo>
                  <a:pt x="1975" y="503667"/>
                </a:lnTo>
                <a:lnTo>
                  <a:pt x="3511" y="507397"/>
                </a:lnTo>
                <a:lnTo>
                  <a:pt x="5486" y="510689"/>
                </a:lnTo>
                <a:lnTo>
                  <a:pt x="7900" y="513542"/>
                </a:lnTo>
                <a:lnTo>
                  <a:pt x="10753" y="515956"/>
                </a:lnTo>
                <a:lnTo>
                  <a:pt x="14045" y="517931"/>
                </a:lnTo>
                <a:lnTo>
                  <a:pt x="17776" y="519467"/>
                </a:lnTo>
                <a:lnTo>
                  <a:pt x="21945" y="520565"/>
                </a:lnTo>
                <a:lnTo>
                  <a:pt x="26554" y="521223"/>
                </a:lnTo>
                <a:lnTo>
                  <a:pt x="31601" y="52144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polygon 62: plot geometry" descr="sci-ppt:obj-0062"/>
          <p:cNvSpPr/>
          <p:nvPr/>
        </p:nvSpPr>
        <p:spPr>
          <a:xfrm>
            <a:off x="5157708" y="832766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olygon 63: plot geometry" descr="sci-ppt:obj-0063"/>
          <p:cNvSpPr/>
          <p:nvPr/>
        </p:nvSpPr>
        <p:spPr>
          <a:xfrm>
            <a:off x="5268312" y="785365"/>
            <a:ext cx="94803" cy="94803"/>
          </a:xfrm>
          <a:custGeom>
            <a:avLst/>
            <a:gdLst/>
            <a:ahLst/>
            <a:cxnLst/>
            <a:rect l="l" t="t" r="r" b="b"/>
            <a:pathLst>
              <a:path w="94803" h="94803">
                <a:moveTo>
                  <a:pt x="47402" y="94803"/>
                </a:moveTo>
                <a:lnTo>
                  <a:pt x="50532" y="94700"/>
                </a:lnTo>
                <a:lnTo>
                  <a:pt x="53632" y="94392"/>
                </a:lnTo>
                <a:lnTo>
                  <a:pt x="56692" y="93884"/>
                </a:lnTo>
                <a:lnTo>
                  <a:pt x="59703" y="93179"/>
                </a:lnTo>
                <a:lnTo>
                  <a:pt x="62656" y="92281"/>
                </a:lnTo>
                <a:lnTo>
                  <a:pt x="65542" y="91195"/>
                </a:lnTo>
                <a:lnTo>
                  <a:pt x="68350" y="89923"/>
                </a:lnTo>
                <a:lnTo>
                  <a:pt x="71073" y="88470"/>
                </a:lnTo>
                <a:lnTo>
                  <a:pt x="73700" y="86839"/>
                </a:lnTo>
                <a:lnTo>
                  <a:pt x="76224" y="85034"/>
                </a:lnTo>
                <a:lnTo>
                  <a:pt x="78633" y="83060"/>
                </a:lnTo>
                <a:lnTo>
                  <a:pt x="80920" y="80919"/>
                </a:lnTo>
                <a:lnTo>
                  <a:pt x="83060" y="78633"/>
                </a:lnTo>
                <a:lnTo>
                  <a:pt x="85035" y="76223"/>
                </a:lnTo>
                <a:lnTo>
                  <a:pt x="86839" y="73700"/>
                </a:lnTo>
                <a:lnTo>
                  <a:pt x="88470" y="71072"/>
                </a:lnTo>
                <a:lnTo>
                  <a:pt x="89923" y="68350"/>
                </a:lnTo>
                <a:lnTo>
                  <a:pt x="91195" y="65541"/>
                </a:lnTo>
                <a:lnTo>
                  <a:pt x="92282" y="62656"/>
                </a:lnTo>
                <a:lnTo>
                  <a:pt x="93179" y="59703"/>
                </a:lnTo>
                <a:lnTo>
                  <a:pt x="93884" y="56692"/>
                </a:lnTo>
                <a:lnTo>
                  <a:pt x="94392" y="53632"/>
                </a:lnTo>
                <a:lnTo>
                  <a:pt x="94700" y="50532"/>
                </a:lnTo>
                <a:lnTo>
                  <a:pt x="94803" y="47401"/>
                </a:lnTo>
                <a:lnTo>
                  <a:pt x="94700" y="44271"/>
                </a:lnTo>
                <a:lnTo>
                  <a:pt x="94392" y="41171"/>
                </a:lnTo>
                <a:lnTo>
                  <a:pt x="93884" y="38111"/>
                </a:lnTo>
                <a:lnTo>
                  <a:pt x="93179" y="35100"/>
                </a:lnTo>
                <a:lnTo>
                  <a:pt x="92282" y="32147"/>
                </a:lnTo>
                <a:lnTo>
                  <a:pt x="91195" y="29262"/>
                </a:lnTo>
                <a:lnTo>
                  <a:pt x="89923" y="26453"/>
                </a:lnTo>
                <a:lnTo>
                  <a:pt x="88470" y="23730"/>
                </a:lnTo>
                <a:lnTo>
                  <a:pt x="86839" y="21103"/>
                </a:lnTo>
                <a:lnTo>
                  <a:pt x="85035" y="18580"/>
                </a:lnTo>
                <a:lnTo>
                  <a:pt x="83060" y="16170"/>
                </a:lnTo>
                <a:lnTo>
                  <a:pt x="80920" y="13883"/>
                </a:lnTo>
                <a:lnTo>
                  <a:pt x="78633" y="11743"/>
                </a:lnTo>
                <a:lnTo>
                  <a:pt x="76224" y="9768"/>
                </a:lnTo>
                <a:lnTo>
                  <a:pt x="73700" y="7964"/>
                </a:lnTo>
                <a:lnTo>
                  <a:pt x="71073" y="6333"/>
                </a:lnTo>
                <a:lnTo>
                  <a:pt x="68350" y="4880"/>
                </a:lnTo>
                <a:lnTo>
                  <a:pt x="65542" y="3608"/>
                </a:lnTo>
                <a:lnTo>
                  <a:pt x="62656" y="2521"/>
                </a:lnTo>
                <a:lnTo>
                  <a:pt x="59703" y="1624"/>
                </a:lnTo>
                <a:lnTo>
                  <a:pt x="56692" y="919"/>
                </a:lnTo>
                <a:lnTo>
                  <a:pt x="53632" y="411"/>
                </a:lnTo>
                <a:lnTo>
                  <a:pt x="50532" y="103"/>
                </a:lnTo>
                <a:lnTo>
                  <a:pt x="47402" y="0"/>
                </a:lnTo>
                <a:lnTo>
                  <a:pt x="44271" y="103"/>
                </a:lnTo>
                <a:lnTo>
                  <a:pt x="41171" y="411"/>
                </a:lnTo>
                <a:lnTo>
                  <a:pt x="38111" y="919"/>
                </a:lnTo>
                <a:lnTo>
                  <a:pt x="35100" y="1624"/>
                </a:lnTo>
                <a:lnTo>
                  <a:pt x="32147" y="2521"/>
                </a:lnTo>
                <a:lnTo>
                  <a:pt x="29262" y="3608"/>
                </a:lnTo>
                <a:lnTo>
                  <a:pt x="26453" y="4880"/>
                </a:lnTo>
                <a:lnTo>
                  <a:pt x="23731" y="6333"/>
                </a:lnTo>
                <a:lnTo>
                  <a:pt x="21103" y="7964"/>
                </a:lnTo>
                <a:lnTo>
                  <a:pt x="18580" y="9768"/>
                </a:lnTo>
                <a:lnTo>
                  <a:pt x="16171" y="11743"/>
                </a:lnTo>
                <a:lnTo>
                  <a:pt x="13884" y="13883"/>
                </a:lnTo>
                <a:lnTo>
                  <a:pt x="11743" y="16170"/>
                </a:lnTo>
                <a:lnTo>
                  <a:pt x="9769" y="18580"/>
                </a:lnTo>
                <a:lnTo>
                  <a:pt x="7964" y="21103"/>
                </a:lnTo>
                <a:lnTo>
                  <a:pt x="6334" y="23730"/>
                </a:lnTo>
                <a:lnTo>
                  <a:pt x="4880" y="26453"/>
                </a:lnTo>
                <a:lnTo>
                  <a:pt x="3609" y="29262"/>
                </a:lnTo>
                <a:lnTo>
                  <a:pt x="2522" y="32147"/>
                </a:lnTo>
                <a:lnTo>
                  <a:pt x="1624" y="35100"/>
                </a:lnTo>
                <a:lnTo>
                  <a:pt x="919" y="38111"/>
                </a:lnTo>
                <a:lnTo>
                  <a:pt x="411" y="41171"/>
                </a:lnTo>
                <a:lnTo>
                  <a:pt x="104" y="44271"/>
                </a:lnTo>
                <a:lnTo>
                  <a:pt x="0" y="47401"/>
                </a:lnTo>
                <a:lnTo>
                  <a:pt x="104" y="50532"/>
                </a:lnTo>
                <a:lnTo>
                  <a:pt x="411" y="53632"/>
                </a:lnTo>
                <a:lnTo>
                  <a:pt x="919" y="56692"/>
                </a:lnTo>
                <a:lnTo>
                  <a:pt x="1624" y="59703"/>
                </a:lnTo>
                <a:lnTo>
                  <a:pt x="2522" y="62656"/>
                </a:lnTo>
                <a:lnTo>
                  <a:pt x="3609" y="65541"/>
                </a:lnTo>
                <a:lnTo>
                  <a:pt x="4880" y="68350"/>
                </a:lnTo>
                <a:lnTo>
                  <a:pt x="6334" y="71072"/>
                </a:lnTo>
                <a:lnTo>
                  <a:pt x="7964" y="73700"/>
                </a:lnTo>
                <a:lnTo>
                  <a:pt x="9769" y="76223"/>
                </a:lnTo>
                <a:lnTo>
                  <a:pt x="11743" y="78633"/>
                </a:lnTo>
                <a:lnTo>
                  <a:pt x="13884" y="80919"/>
                </a:lnTo>
                <a:lnTo>
                  <a:pt x="16171" y="83060"/>
                </a:lnTo>
                <a:lnTo>
                  <a:pt x="18580" y="85034"/>
                </a:lnTo>
                <a:lnTo>
                  <a:pt x="21103" y="86839"/>
                </a:lnTo>
                <a:lnTo>
                  <a:pt x="23731" y="88470"/>
                </a:lnTo>
                <a:lnTo>
                  <a:pt x="26453" y="89923"/>
                </a:lnTo>
                <a:lnTo>
                  <a:pt x="29262" y="91195"/>
                </a:lnTo>
                <a:lnTo>
                  <a:pt x="32147" y="92281"/>
                </a:lnTo>
                <a:lnTo>
                  <a:pt x="35100" y="93179"/>
                </a:lnTo>
                <a:lnTo>
                  <a:pt x="38111" y="93884"/>
                </a:lnTo>
                <a:lnTo>
                  <a:pt x="41171" y="94392"/>
                </a:lnTo>
                <a:lnTo>
                  <a:pt x="44271" y="94700"/>
                </a:lnTo>
                <a:lnTo>
                  <a:pt x="47402" y="94803"/>
                </a:lnTo>
                <a:close/>
              </a:path>
            </a:pathLst>
          </a:custGeom>
          <a:solidFill>
            <a:srgbClr val="176C8E"/>
          </a:solidFill>
          <a:ln w="158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 64: PFP" descr="sci-ppt:obj-0064"/>
          <p:cNvSpPr txBox="1"/>
          <p:nvPr/>
        </p:nvSpPr>
        <p:spPr>
          <a:xfrm>
            <a:off x="5572692" y="72532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PFP</a:t>
            </a:r>
          </a:p>
        </p:txBody>
      </p:sp>
      <p:sp>
        <p:nvSpPr>
          <p:cNvPr id="66" name="polygon 65: plot geometry" descr="sci-ppt:obj-0065"/>
          <p:cNvSpPr/>
          <p:nvPr/>
        </p:nvSpPr>
        <p:spPr>
          <a:xfrm>
            <a:off x="5157708" y="1069787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polygon 66: plot geometry" descr="sci-ppt:obj-0066"/>
          <p:cNvSpPr/>
          <p:nvPr/>
        </p:nvSpPr>
        <p:spPr>
          <a:xfrm>
            <a:off x="5268312" y="1022385"/>
            <a:ext cx="94803" cy="94804"/>
          </a:xfrm>
          <a:custGeom>
            <a:avLst/>
            <a:gdLst/>
            <a:ahLst/>
            <a:cxnLst/>
            <a:rect l="l" t="t" r="r" b="b"/>
            <a:pathLst>
              <a:path w="94803" h="94804">
                <a:moveTo>
                  <a:pt x="47402" y="94804"/>
                </a:moveTo>
                <a:lnTo>
                  <a:pt x="50532" y="94700"/>
                </a:lnTo>
                <a:lnTo>
                  <a:pt x="53632" y="94392"/>
                </a:lnTo>
                <a:lnTo>
                  <a:pt x="56692" y="93884"/>
                </a:lnTo>
                <a:lnTo>
                  <a:pt x="59703" y="93179"/>
                </a:lnTo>
                <a:lnTo>
                  <a:pt x="62656" y="92282"/>
                </a:lnTo>
                <a:lnTo>
                  <a:pt x="65542" y="91195"/>
                </a:lnTo>
                <a:lnTo>
                  <a:pt x="68350" y="89923"/>
                </a:lnTo>
                <a:lnTo>
                  <a:pt x="71073" y="88470"/>
                </a:lnTo>
                <a:lnTo>
                  <a:pt x="73700" y="86839"/>
                </a:lnTo>
                <a:lnTo>
                  <a:pt x="76224" y="85035"/>
                </a:lnTo>
                <a:lnTo>
                  <a:pt x="78633" y="83060"/>
                </a:lnTo>
                <a:lnTo>
                  <a:pt x="80920" y="80920"/>
                </a:lnTo>
                <a:lnTo>
                  <a:pt x="83060" y="78633"/>
                </a:lnTo>
                <a:lnTo>
                  <a:pt x="85035" y="76224"/>
                </a:lnTo>
                <a:lnTo>
                  <a:pt x="86839" y="73700"/>
                </a:lnTo>
                <a:lnTo>
                  <a:pt x="88470" y="71073"/>
                </a:lnTo>
                <a:lnTo>
                  <a:pt x="89923" y="68350"/>
                </a:lnTo>
                <a:lnTo>
                  <a:pt x="91195" y="65542"/>
                </a:lnTo>
                <a:lnTo>
                  <a:pt x="92282" y="62656"/>
                </a:lnTo>
                <a:lnTo>
                  <a:pt x="93179" y="59704"/>
                </a:lnTo>
                <a:lnTo>
                  <a:pt x="93884" y="56692"/>
                </a:lnTo>
                <a:lnTo>
                  <a:pt x="94392" y="53632"/>
                </a:lnTo>
                <a:lnTo>
                  <a:pt x="94700" y="50532"/>
                </a:lnTo>
                <a:lnTo>
                  <a:pt x="94803" y="47402"/>
                </a:lnTo>
                <a:lnTo>
                  <a:pt x="94700" y="44271"/>
                </a:lnTo>
                <a:lnTo>
                  <a:pt x="94392" y="41171"/>
                </a:lnTo>
                <a:lnTo>
                  <a:pt x="93884" y="38111"/>
                </a:lnTo>
                <a:lnTo>
                  <a:pt x="93179" y="35100"/>
                </a:lnTo>
                <a:lnTo>
                  <a:pt x="92282" y="32147"/>
                </a:lnTo>
                <a:lnTo>
                  <a:pt x="91195" y="29262"/>
                </a:lnTo>
                <a:lnTo>
                  <a:pt x="89923" y="26454"/>
                </a:lnTo>
                <a:lnTo>
                  <a:pt x="88470" y="23731"/>
                </a:lnTo>
                <a:lnTo>
                  <a:pt x="86839" y="21103"/>
                </a:lnTo>
                <a:lnTo>
                  <a:pt x="85035" y="18580"/>
                </a:lnTo>
                <a:lnTo>
                  <a:pt x="83060" y="16171"/>
                </a:lnTo>
                <a:lnTo>
                  <a:pt x="80920" y="13884"/>
                </a:lnTo>
                <a:lnTo>
                  <a:pt x="78633" y="11743"/>
                </a:lnTo>
                <a:lnTo>
                  <a:pt x="76224" y="9769"/>
                </a:lnTo>
                <a:lnTo>
                  <a:pt x="73700" y="7964"/>
                </a:lnTo>
                <a:lnTo>
                  <a:pt x="71073" y="6334"/>
                </a:lnTo>
                <a:lnTo>
                  <a:pt x="68350" y="4880"/>
                </a:lnTo>
                <a:lnTo>
                  <a:pt x="65542" y="3609"/>
                </a:lnTo>
                <a:lnTo>
                  <a:pt x="62656" y="2522"/>
                </a:lnTo>
                <a:lnTo>
                  <a:pt x="59703" y="1624"/>
                </a:lnTo>
                <a:lnTo>
                  <a:pt x="56692" y="920"/>
                </a:lnTo>
                <a:lnTo>
                  <a:pt x="53632" y="411"/>
                </a:lnTo>
                <a:lnTo>
                  <a:pt x="50532" y="104"/>
                </a:lnTo>
                <a:lnTo>
                  <a:pt x="47402" y="0"/>
                </a:lnTo>
                <a:lnTo>
                  <a:pt x="44271" y="104"/>
                </a:lnTo>
                <a:lnTo>
                  <a:pt x="41171" y="411"/>
                </a:lnTo>
                <a:lnTo>
                  <a:pt x="38111" y="920"/>
                </a:lnTo>
                <a:lnTo>
                  <a:pt x="35100" y="1624"/>
                </a:lnTo>
                <a:lnTo>
                  <a:pt x="32147" y="2522"/>
                </a:lnTo>
                <a:lnTo>
                  <a:pt x="29262" y="3609"/>
                </a:lnTo>
                <a:lnTo>
                  <a:pt x="26453" y="4880"/>
                </a:lnTo>
                <a:lnTo>
                  <a:pt x="23731" y="6334"/>
                </a:lnTo>
                <a:lnTo>
                  <a:pt x="21103" y="7964"/>
                </a:lnTo>
                <a:lnTo>
                  <a:pt x="18580" y="9769"/>
                </a:lnTo>
                <a:lnTo>
                  <a:pt x="16171" y="11743"/>
                </a:lnTo>
                <a:lnTo>
                  <a:pt x="13884" y="13884"/>
                </a:lnTo>
                <a:lnTo>
                  <a:pt x="11743" y="16171"/>
                </a:lnTo>
                <a:lnTo>
                  <a:pt x="9769" y="18580"/>
                </a:lnTo>
                <a:lnTo>
                  <a:pt x="7964" y="21103"/>
                </a:lnTo>
                <a:lnTo>
                  <a:pt x="6334" y="23731"/>
                </a:lnTo>
                <a:lnTo>
                  <a:pt x="4880" y="26454"/>
                </a:lnTo>
                <a:lnTo>
                  <a:pt x="3609" y="29262"/>
                </a:lnTo>
                <a:lnTo>
                  <a:pt x="2522" y="32147"/>
                </a:lnTo>
                <a:lnTo>
                  <a:pt x="1624" y="35100"/>
                </a:lnTo>
                <a:lnTo>
                  <a:pt x="919" y="38111"/>
                </a:lnTo>
                <a:lnTo>
                  <a:pt x="411" y="41171"/>
                </a:lnTo>
                <a:lnTo>
                  <a:pt x="104" y="44271"/>
                </a:lnTo>
                <a:lnTo>
                  <a:pt x="0" y="47402"/>
                </a:lnTo>
                <a:lnTo>
                  <a:pt x="104" y="50532"/>
                </a:lnTo>
                <a:lnTo>
                  <a:pt x="411" y="53632"/>
                </a:lnTo>
                <a:lnTo>
                  <a:pt x="919" y="56692"/>
                </a:lnTo>
                <a:lnTo>
                  <a:pt x="1624" y="59704"/>
                </a:lnTo>
                <a:lnTo>
                  <a:pt x="2522" y="62656"/>
                </a:lnTo>
                <a:lnTo>
                  <a:pt x="3609" y="65542"/>
                </a:lnTo>
                <a:lnTo>
                  <a:pt x="4880" y="68350"/>
                </a:lnTo>
                <a:lnTo>
                  <a:pt x="6334" y="71073"/>
                </a:lnTo>
                <a:lnTo>
                  <a:pt x="7964" y="73700"/>
                </a:lnTo>
                <a:lnTo>
                  <a:pt x="9769" y="76224"/>
                </a:lnTo>
                <a:lnTo>
                  <a:pt x="11743" y="78633"/>
                </a:lnTo>
                <a:lnTo>
                  <a:pt x="13884" y="80920"/>
                </a:lnTo>
                <a:lnTo>
                  <a:pt x="16171" y="83060"/>
                </a:lnTo>
                <a:lnTo>
                  <a:pt x="18580" y="85035"/>
                </a:lnTo>
                <a:lnTo>
                  <a:pt x="21103" y="86839"/>
                </a:lnTo>
                <a:lnTo>
                  <a:pt x="23731" y="88470"/>
                </a:lnTo>
                <a:lnTo>
                  <a:pt x="26453" y="89923"/>
                </a:lnTo>
                <a:lnTo>
                  <a:pt x="29262" y="91195"/>
                </a:lnTo>
                <a:lnTo>
                  <a:pt x="32147" y="92282"/>
                </a:lnTo>
                <a:lnTo>
                  <a:pt x="35100" y="93179"/>
                </a:lnTo>
                <a:lnTo>
                  <a:pt x="38111" y="93884"/>
                </a:lnTo>
                <a:lnTo>
                  <a:pt x="41171" y="94392"/>
                </a:lnTo>
                <a:lnTo>
                  <a:pt x="44271" y="94700"/>
                </a:lnTo>
                <a:lnTo>
                  <a:pt x="47402" y="94804"/>
                </a:lnTo>
                <a:close/>
              </a:path>
            </a:pathLst>
          </a:custGeom>
          <a:solidFill>
            <a:srgbClr val="B95E23"/>
          </a:solidFill>
          <a:ln w="158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 67: PFH" descr="sci-ppt:obj-0067"/>
          <p:cNvSpPr txBox="1"/>
          <p:nvPr/>
        </p:nvSpPr>
        <p:spPr>
          <a:xfrm>
            <a:off x="5572692" y="96234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PFH</a:t>
            </a:r>
          </a:p>
        </p:txBody>
      </p:sp>
      <p:sp>
        <p:nvSpPr>
          <p:cNvPr id="69" name="polygon 68: plot geometry" descr="sci-ppt:obj-0068"/>
          <p:cNvSpPr/>
          <p:nvPr/>
        </p:nvSpPr>
        <p:spPr>
          <a:xfrm>
            <a:off x="6777807" y="625804"/>
            <a:ext cx="5300124" cy="3425399"/>
          </a:xfrm>
          <a:custGeom>
            <a:avLst/>
            <a:gdLst/>
            <a:ahLst/>
            <a:cxnLst/>
            <a:rect l="l" t="t" r="r" b="b"/>
            <a:pathLst>
              <a:path w="5300124" h="3425399">
                <a:moveTo>
                  <a:pt x="0" y="3425399"/>
                </a:moveTo>
                <a:lnTo>
                  <a:pt x="5300124" y="3425399"/>
                </a:lnTo>
                <a:lnTo>
                  <a:pt x="5300124" y="0"/>
                </a:lnTo>
                <a:lnTo>
                  <a:pt x="0" y="0"/>
                </a:lnTo>
                <a:lnTo>
                  <a:pt x="0" y="34253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line 69: plot geometry" descr="sci-ppt:obj-0069"/>
          <p:cNvCxnSpPr/>
          <p:nvPr/>
        </p:nvCxnSpPr>
        <p:spPr>
          <a:xfrm flipV="1">
            <a:off x="8591312" y="625804"/>
            <a:ext cx="0" cy="3425399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1" name="line 70: plot geometry" descr="sci-ppt:obj-0070"/>
          <p:cNvCxnSpPr/>
          <p:nvPr/>
        </p:nvCxnSpPr>
        <p:spPr>
          <a:xfrm>
            <a:off x="8591312" y="4051203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2" name="text 71: 1" descr="sci-ppt:obj-0071"/>
          <p:cNvSpPr txBox="1"/>
          <p:nvPr/>
        </p:nvSpPr>
        <p:spPr>
          <a:xfrm>
            <a:off x="8424835" y="4136926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3" name="text 72: 0" descr="sci-ppt:obj-0072"/>
          <p:cNvSpPr txBox="1"/>
          <p:nvPr/>
        </p:nvSpPr>
        <p:spPr>
          <a:xfrm>
            <a:off x="8525363" y="4136926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4" name="text 73: 0" descr="sci-ppt:obj-0073"/>
          <p:cNvSpPr txBox="1"/>
          <p:nvPr/>
        </p:nvSpPr>
        <p:spPr>
          <a:xfrm>
            <a:off x="8627403" y="4120493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75" name="line 74: plot geometry" descr="sci-ppt:obj-0074"/>
          <p:cNvCxnSpPr/>
          <p:nvPr/>
        </p:nvCxnSpPr>
        <p:spPr>
          <a:xfrm flipV="1">
            <a:off x="11598874" y="625804"/>
            <a:ext cx="0" cy="3425399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6" name="line 75: plot geometry" descr="sci-ppt:obj-0075"/>
          <p:cNvCxnSpPr/>
          <p:nvPr/>
        </p:nvCxnSpPr>
        <p:spPr>
          <a:xfrm>
            <a:off x="11598874" y="4051203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7" name="text 76: 1" descr="sci-ppt:obj-0076"/>
          <p:cNvSpPr txBox="1"/>
          <p:nvPr/>
        </p:nvSpPr>
        <p:spPr>
          <a:xfrm>
            <a:off x="11432397" y="4133963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8" name="text 77: 0" descr="sci-ppt:obj-0077"/>
          <p:cNvSpPr txBox="1"/>
          <p:nvPr/>
        </p:nvSpPr>
        <p:spPr>
          <a:xfrm>
            <a:off x="11532925" y="4133963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9" name="text 78: 1" descr="sci-ppt:obj-0078"/>
          <p:cNvSpPr txBox="1"/>
          <p:nvPr/>
        </p:nvSpPr>
        <p:spPr>
          <a:xfrm>
            <a:off x="11634965" y="411753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80" name="line 79: plot geometry" descr="sci-ppt:obj-0079"/>
          <p:cNvCxnSpPr/>
          <p:nvPr/>
        </p:nvCxnSpPr>
        <p:spPr>
          <a:xfrm>
            <a:off x="7018722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1" name="line 80: plot geometry" descr="sci-ppt:obj-0080"/>
          <p:cNvCxnSpPr/>
          <p:nvPr/>
        </p:nvCxnSpPr>
        <p:spPr>
          <a:xfrm>
            <a:off x="7394483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2" name="line 81: plot geometry" descr="sci-ppt:obj-0081"/>
          <p:cNvCxnSpPr/>
          <p:nvPr/>
        </p:nvCxnSpPr>
        <p:spPr>
          <a:xfrm>
            <a:off x="7685946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3" name="line 82: plot geometry" descr="sci-ppt:obj-0082"/>
          <p:cNvCxnSpPr/>
          <p:nvPr/>
        </p:nvCxnSpPr>
        <p:spPr>
          <a:xfrm>
            <a:off x="7924088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4" name="line 83: plot geometry" descr="sci-ppt:obj-0083"/>
          <p:cNvCxnSpPr/>
          <p:nvPr/>
        </p:nvCxnSpPr>
        <p:spPr>
          <a:xfrm>
            <a:off x="8125435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5" name="line 84: plot geometry" descr="sci-ppt:obj-0084"/>
          <p:cNvCxnSpPr/>
          <p:nvPr/>
        </p:nvCxnSpPr>
        <p:spPr>
          <a:xfrm>
            <a:off x="8299849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6" name="line 85: plot geometry" descr="sci-ppt:obj-0085"/>
          <p:cNvCxnSpPr/>
          <p:nvPr/>
        </p:nvCxnSpPr>
        <p:spPr>
          <a:xfrm>
            <a:off x="8453693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7" name="line 86: plot geometry" descr="sci-ppt:obj-0086"/>
          <p:cNvCxnSpPr/>
          <p:nvPr/>
        </p:nvCxnSpPr>
        <p:spPr>
          <a:xfrm>
            <a:off x="9496678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8" name="line 87: plot geometry" descr="sci-ppt:obj-0087"/>
          <p:cNvCxnSpPr/>
          <p:nvPr/>
        </p:nvCxnSpPr>
        <p:spPr>
          <a:xfrm>
            <a:off x="10026284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9" name="line 88: plot geometry" descr="sci-ppt:obj-0088"/>
          <p:cNvCxnSpPr/>
          <p:nvPr/>
        </p:nvCxnSpPr>
        <p:spPr>
          <a:xfrm>
            <a:off x="10402044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0" name="line 89: plot geometry" descr="sci-ppt:obj-0089"/>
          <p:cNvCxnSpPr/>
          <p:nvPr/>
        </p:nvCxnSpPr>
        <p:spPr>
          <a:xfrm>
            <a:off x="10693507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1" name="line 90: plot geometry" descr="sci-ppt:obj-0090"/>
          <p:cNvCxnSpPr/>
          <p:nvPr/>
        </p:nvCxnSpPr>
        <p:spPr>
          <a:xfrm>
            <a:off x="10931650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2" name="line 91: plot geometry" descr="sci-ppt:obj-0091"/>
          <p:cNvCxnSpPr/>
          <p:nvPr/>
        </p:nvCxnSpPr>
        <p:spPr>
          <a:xfrm>
            <a:off x="11132996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3" name="line 92: plot geometry" descr="sci-ppt:obj-0092"/>
          <p:cNvCxnSpPr/>
          <p:nvPr/>
        </p:nvCxnSpPr>
        <p:spPr>
          <a:xfrm>
            <a:off x="11307411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4" name="line 93: plot geometry" descr="sci-ppt:obj-0093"/>
          <p:cNvCxnSpPr/>
          <p:nvPr/>
        </p:nvCxnSpPr>
        <p:spPr>
          <a:xfrm>
            <a:off x="11461255" y="4051203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95" name="text 94: Initial liquid droplet diameter (µm)" descr="sci-ppt:obj-0094"/>
          <p:cNvSpPr txBox="1"/>
          <p:nvPr/>
        </p:nvSpPr>
        <p:spPr>
          <a:xfrm>
            <a:off x="7713275" y="4368806"/>
            <a:ext cx="3429188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Initial liquid droplet diameter (µm)</a:t>
            </a:r>
          </a:p>
        </p:txBody>
      </p:sp>
      <p:cxnSp>
        <p:nvCxnSpPr>
          <p:cNvPr id="96" name="line 95: plot geometry" descr="sci-ppt:obj-0095"/>
          <p:cNvCxnSpPr/>
          <p:nvPr/>
        </p:nvCxnSpPr>
        <p:spPr>
          <a:xfrm>
            <a:off x="6777807" y="3451560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97" name="line 96: plot geometry" descr="sci-ppt:obj-0096"/>
          <p:cNvCxnSpPr/>
          <p:nvPr/>
        </p:nvCxnSpPr>
        <p:spPr>
          <a:xfrm flipH="1">
            <a:off x="6722505" y="345156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98" name="text 97: 1" descr="sci-ppt:obj-0097"/>
          <p:cNvSpPr txBox="1"/>
          <p:nvPr/>
        </p:nvSpPr>
        <p:spPr>
          <a:xfrm>
            <a:off x="6361682" y="335024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99" name="text 98: 0" descr="sci-ppt:obj-0098"/>
          <p:cNvSpPr txBox="1"/>
          <p:nvPr/>
        </p:nvSpPr>
        <p:spPr>
          <a:xfrm>
            <a:off x="6462210" y="335024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0" name="text 99: 1" descr="sci-ppt:obj-0099"/>
          <p:cNvSpPr txBox="1"/>
          <p:nvPr/>
        </p:nvSpPr>
        <p:spPr>
          <a:xfrm>
            <a:off x="6564250" y="333381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01" name="line 100: plot geometry" descr="sci-ppt:obj-0100"/>
          <p:cNvCxnSpPr/>
          <p:nvPr/>
        </p:nvCxnSpPr>
        <p:spPr>
          <a:xfrm>
            <a:off x="6777807" y="2775425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02" name="line 101: plot geometry" descr="sci-ppt:obj-0101"/>
          <p:cNvCxnSpPr/>
          <p:nvPr/>
        </p:nvCxnSpPr>
        <p:spPr>
          <a:xfrm flipH="1">
            <a:off x="6722505" y="277542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03" name="text 102: 1" descr="sci-ppt:obj-0102"/>
          <p:cNvSpPr txBox="1"/>
          <p:nvPr/>
        </p:nvSpPr>
        <p:spPr>
          <a:xfrm>
            <a:off x="6361682" y="267628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04" name="text 103: 0" descr="sci-ppt:obj-0103"/>
          <p:cNvSpPr txBox="1"/>
          <p:nvPr/>
        </p:nvSpPr>
        <p:spPr>
          <a:xfrm>
            <a:off x="6462210" y="267628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5" name="text 104: 2" descr="sci-ppt:obj-0104"/>
          <p:cNvSpPr txBox="1"/>
          <p:nvPr/>
        </p:nvSpPr>
        <p:spPr>
          <a:xfrm>
            <a:off x="6564250" y="265984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06" name="line 105: plot geometry" descr="sci-ppt:obj-0105"/>
          <p:cNvCxnSpPr/>
          <p:nvPr/>
        </p:nvCxnSpPr>
        <p:spPr>
          <a:xfrm>
            <a:off x="6777807" y="2099290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07" name="line 106: plot geometry" descr="sci-ppt:obj-0106"/>
          <p:cNvCxnSpPr/>
          <p:nvPr/>
        </p:nvCxnSpPr>
        <p:spPr>
          <a:xfrm flipH="1">
            <a:off x="6722505" y="209929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08" name="text 107: 1" descr="sci-ppt:obj-0107"/>
          <p:cNvSpPr txBox="1"/>
          <p:nvPr/>
        </p:nvSpPr>
        <p:spPr>
          <a:xfrm>
            <a:off x="6361682" y="2000147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09" name="text 108: 0" descr="sci-ppt:obj-0108"/>
          <p:cNvSpPr txBox="1"/>
          <p:nvPr/>
        </p:nvSpPr>
        <p:spPr>
          <a:xfrm>
            <a:off x="6462210" y="2000147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0" name="text 109: 3" descr="sci-ppt:obj-0109"/>
          <p:cNvSpPr txBox="1"/>
          <p:nvPr/>
        </p:nvSpPr>
        <p:spPr>
          <a:xfrm>
            <a:off x="6564250" y="1983714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111" name="line 110: plot geometry" descr="sci-ppt:obj-0110"/>
          <p:cNvCxnSpPr/>
          <p:nvPr/>
        </p:nvCxnSpPr>
        <p:spPr>
          <a:xfrm>
            <a:off x="6777807" y="1423155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2" name="line 111: plot geometry" descr="sci-ppt:obj-0111"/>
          <p:cNvCxnSpPr/>
          <p:nvPr/>
        </p:nvCxnSpPr>
        <p:spPr>
          <a:xfrm flipH="1">
            <a:off x="6722505" y="142315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3" name="text 112: 1" descr="sci-ppt:obj-0112"/>
          <p:cNvSpPr txBox="1"/>
          <p:nvPr/>
        </p:nvSpPr>
        <p:spPr>
          <a:xfrm>
            <a:off x="6361682" y="132183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14" name="text 113: 0" descr="sci-ppt:obj-0113"/>
          <p:cNvSpPr txBox="1"/>
          <p:nvPr/>
        </p:nvSpPr>
        <p:spPr>
          <a:xfrm>
            <a:off x="6462210" y="132183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5" name="text 114: 4" descr="sci-ppt:obj-0114"/>
          <p:cNvSpPr txBox="1"/>
          <p:nvPr/>
        </p:nvSpPr>
        <p:spPr>
          <a:xfrm>
            <a:off x="6564250" y="1305407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116" name="line 115: plot geometry" descr="sci-ppt:obj-0115"/>
          <p:cNvCxnSpPr/>
          <p:nvPr/>
        </p:nvCxnSpPr>
        <p:spPr>
          <a:xfrm>
            <a:off x="6777807" y="747020"/>
            <a:ext cx="530012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7" name="line 116: plot geometry" descr="sci-ppt:obj-0116"/>
          <p:cNvCxnSpPr/>
          <p:nvPr/>
        </p:nvCxnSpPr>
        <p:spPr>
          <a:xfrm flipH="1">
            <a:off x="6722505" y="74702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8" name="text 117: 1" descr="sci-ppt:obj-0117"/>
          <p:cNvSpPr txBox="1"/>
          <p:nvPr/>
        </p:nvSpPr>
        <p:spPr>
          <a:xfrm>
            <a:off x="6361682" y="64570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19" name="text 118: 0" descr="sci-ppt:obj-0118"/>
          <p:cNvSpPr txBox="1"/>
          <p:nvPr/>
        </p:nvSpPr>
        <p:spPr>
          <a:xfrm>
            <a:off x="6462210" y="64570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0" name="text 119: 5" descr="sci-ppt:obj-0119"/>
          <p:cNvSpPr txBox="1"/>
          <p:nvPr/>
        </p:nvSpPr>
        <p:spPr>
          <a:xfrm>
            <a:off x="6564250" y="629272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121" name="line 120: plot geometry" descr="sci-ppt:obj-0120"/>
          <p:cNvCxnSpPr/>
          <p:nvPr/>
        </p:nvCxnSpPr>
        <p:spPr>
          <a:xfrm flipH="1">
            <a:off x="6746206" y="392415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2" name="line 121: plot geometry" descr="sci-ppt:obj-0121"/>
          <p:cNvCxnSpPr/>
          <p:nvPr/>
        </p:nvCxnSpPr>
        <p:spPr>
          <a:xfrm flipH="1">
            <a:off x="6746206" y="380509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3" name="line 122: plot geometry" descr="sci-ppt:obj-0122"/>
          <p:cNvCxnSpPr/>
          <p:nvPr/>
        </p:nvCxnSpPr>
        <p:spPr>
          <a:xfrm flipH="1">
            <a:off x="6746206" y="372062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4" name="line 123: plot geometry" descr="sci-ppt:obj-0123"/>
          <p:cNvCxnSpPr/>
          <p:nvPr/>
        </p:nvCxnSpPr>
        <p:spPr>
          <a:xfrm flipH="1">
            <a:off x="6746206" y="365509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5" name="line 124: plot geometry" descr="sci-ppt:obj-0124"/>
          <p:cNvCxnSpPr/>
          <p:nvPr/>
        </p:nvCxnSpPr>
        <p:spPr>
          <a:xfrm flipH="1">
            <a:off x="6746206" y="360156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6" name="line 125: plot geometry" descr="sci-ppt:obj-0125"/>
          <p:cNvCxnSpPr/>
          <p:nvPr/>
        </p:nvCxnSpPr>
        <p:spPr>
          <a:xfrm flipH="1">
            <a:off x="6746206" y="355629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7" name="line 126: plot geometry" descr="sci-ppt:obj-0126"/>
          <p:cNvCxnSpPr/>
          <p:nvPr/>
        </p:nvCxnSpPr>
        <p:spPr>
          <a:xfrm flipH="1">
            <a:off x="6746206" y="351708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8" name="line 127: plot geometry" descr="sci-ppt:obj-0127"/>
          <p:cNvCxnSpPr/>
          <p:nvPr/>
        </p:nvCxnSpPr>
        <p:spPr>
          <a:xfrm flipH="1">
            <a:off x="6746206" y="348249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29" name="line 128: plot geometry" descr="sci-ppt:obj-0128"/>
          <p:cNvCxnSpPr/>
          <p:nvPr/>
        </p:nvCxnSpPr>
        <p:spPr>
          <a:xfrm flipH="1">
            <a:off x="6746206" y="324802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0" name="line 129: plot geometry" descr="sci-ppt:obj-0129"/>
          <p:cNvCxnSpPr/>
          <p:nvPr/>
        </p:nvCxnSpPr>
        <p:spPr>
          <a:xfrm flipH="1">
            <a:off x="6746206" y="312896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1" name="line 130: plot geometry" descr="sci-ppt:obj-0130"/>
          <p:cNvCxnSpPr/>
          <p:nvPr/>
        </p:nvCxnSpPr>
        <p:spPr>
          <a:xfrm flipH="1">
            <a:off x="6746206" y="304448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2" name="line 131: plot geometry" descr="sci-ppt:obj-0131"/>
          <p:cNvCxnSpPr/>
          <p:nvPr/>
        </p:nvCxnSpPr>
        <p:spPr>
          <a:xfrm flipH="1">
            <a:off x="6746206" y="297896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3" name="line 132: plot geometry" descr="sci-ppt:obj-0132"/>
          <p:cNvCxnSpPr/>
          <p:nvPr/>
        </p:nvCxnSpPr>
        <p:spPr>
          <a:xfrm flipH="1">
            <a:off x="6746206" y="292542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4" name="line 133: plot geometry" descr="sci-ppt:obj-0133"/>
          <p:cNvCxnSpPr/>
          <p:nvPr/>
        </p:nvCxnSpPr>
        <p:spPr>
          <a:xfrm flipH="1">
            <a:off x="6746206" y="288016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5" name="line 134: plot geometry" descr="sci-ppt:obj-0134"/>
          <p:cNvCxnSpPr/>
          <p:nvPr/>
        </p:nvCxnSpPr>
        <p:spPr>
          <a:xfrm flipH="1">
            <a:off x="6746206" y="284094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6" name="line 135: plot geometry" descr="sci-ppt:obj-0135"/>
          <p:cNvCxnSpPr/>
          <p:nvPr/>
        </p:nvCxnSpPr>
        <p:spPr>
          <a:xfrm flipH="1">
            <a:off x="6746206" y="280636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7" name="line 136: plot geometry" descr="sci-ppt:obj-0136"/>
          <p:cNvCxnSpPr/>
          <p:nvPr/>
        </p:nvCxnSpPr>
        <p:spPr>
          <a:xfrm flipH="1">
            <a:off x="6746206" y="257188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8" name="line 137: plot geometry" descr="sci-ppt:obj-0137"/>
          <p:cNvCxnSpPr/>
          <p:nvPr/>
        </p:nvCxnSpPr>
        <p:spPr>
          <a:xfrm flipH="1">
            <a:off x="6746206" y="245282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39" name="line 138: plot geometry" descr="sci-ppt:obj-0138"/>
          <p:cNvCxnSpPr/>
          <p:nvPr/>
        </p:nvCxnSpPr>
        <p:spPr>
          <a:xfrm flipH="1">
            <a:off x="6746206" y="236835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0" name="line 139: plot geometry" descr="sci-ppt:obj-0139"/>
          <p:cNvCxnSpPr/>
          <p:nvPr/>
        </p:nvCxnSpPr>
        <p:spPr>
          <a:xfrm flipH="1">
            <a:off x="6746206" y="230282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1" name="line 140: plot geometry" descr="sci-ppt:obj-0140"/>
          <p:cNvCxnSpPr/>
          <p:nvPr/>
        </p:nvCxnSpPr>
        <p:spPr>
          <a:xfrm flipH="1">
            <a:off x="6746206" y="224929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2" name="line 141: plot geometry" descr="sci-ppt:obj-0141"/>
          <p:cNvCxnSpPr/>
          <p:nvPr/>
        </p:nvCxnSpPr>
        <p:spPr>
          <a:xfrm flipH="1">
            <a:off x="6746206" y="220402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3" name="line 142: plot geometry" descr="sci-ppt:obj-0142"/>
          <p:cNvCxnSpPr/>
          <p:nvPr/>
        </p:nvCxnSpPr>
        <p:spPr>
          <a:xfrm flipH="1">
            <a:off x="6746206" y="216481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4" name="line 143: plot geometry" descr="sci-ppt:obj-0143"/>
          <p:cNvCxnSpPr/>
          <p:nvPr/>
        </p:nvCxnSpPr>
        <p:spPr>
          <a:xfrm flipH="1">
            <a:off x="6746206" y="213022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5" name="line 144: plot geometry" descr="sci-ppt:obj-0144"/>
          <p:cNvCxnSpPr/>
          <p:nvPr/>
        </p:nvCxnSpPr>
        <p:spPr>
          <a:xfrm flipH="1">
            <a:off x="6746206" y="189575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6" name="line 145: plot geometry" descr="sci-ppt:obj-0145"/>
          <p:cNvCxnSpPr/>
          <p:nvPr/>
        </p:nvCxnSpPr>
        <p:spPr>
          <a:xfrm flipH="1">
            <a:off x="6746206" y="177669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7" name="line 146: plot geometry" descr="sci-ppt:obj-0146"/>
          <p:cNvCxnSpPr/>
          <p:nvPr/>
        </p:nvCxnSpPr>
        <p:spPr>
          <a:xfrm flipH="1">
            <a:off x="6746206" y="169221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8" name="line 147: plot geometry" descr="sci-ppt:obj-0147"/>
          <p:cNvCxnSpPr/>
          <p:nvPr/>
        </p:nvCxnSpPr>
        <p:spPr>
          <a:xfrm flipH="1">
            <a:off x="6746206" y="162669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49" name="line 148: plot geometry" descr="sci-ppt:obj-0148"/>
          <p:cNvCxnSpPr/>
          <p:nvPr/>
        </p:nvCxnSpPr>
        <p:spPr>
          <a:xfrm flipH="1">
            <a:off x="6746206" y="157315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0" name="line 149: plot geometry" descr="sci-ppt:obj-0149"/>
          <p:cNvCxnSpPr/>
          <p:nvPr/>
        </p:nvCxnSpPr>
        <p:spPr>
          <a:xfrm flipH="1">
            <a:off x="6746206" y="152789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1" name="line 150: plot geometry" descr="sci-ppt:obj-0150"/>
          <p:cNvCxnSpPr/>
          <p:nvPr/>
        </p:nvCxnSpPr>
        <p:spPr>
          <a:xfrm flipH="1">
            <a:off x="6746206" y="148868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2" name="line 151: plot geometry" descr="sci-ppt:obj-0151"/>
          <p:cNvCxnSpPr/>
          <p:nvPr/>
        </p:nvCxnSpPr>
        <p:spPr>
          <a:xfrm flipH="1">
            <a:off x="6746206" y="145409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3" name="line 152: plot geometry" descr="sci-ppt:obj-0152"/>
          <p:cNvCxnSpPr/>
          <p:nvPr/>
        </p:nvCxnSpPr>
        <p:spPr>
          <a:xfrm flipH="1">
            <a:off x="6746206" y="121961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4" name="line 153: plot geometry" descr="sci-ppt:obj-0153"/>
          <p:cNvCxnSpPr/>
          <p:nvPr/>
        </p:nvCxnSpPr>
        <p:spPr>
          <a:xfrm flipH="1">
            <a:off x="6746206" y="110055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5" name="line 154: plot geometry" descr="sci-ppt:obj-0154"/>
          <p:cNvCxnSpPr/>
          <p:nvPr/>
        </p:nvCxnSpPr>
        <p:spPr>
          <a:xfrm flipH="1">
            <a:off x="6746206" y="101608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6" name="line 155: plot geometry" descr="sci-ppt:obj-0155"/>
          <p:cNvCxnSpPr/>
          <p:nvPr/>
        </p:nvCxnSpPr>
        <p:spPr>
          <a:xfrm flipH="1">
            <a:off x="6746206" y="95055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7" name="line 156: plot geometry" descr="sci-ppt:obj-0156"/>
          <p:cNvCxnSpPr/>
          <p:nvPr/>
        </p:nvCxnSpPr>
        <p:spPr>
          <a:xfrm flipH="1">
            <a:off x="6746206" y="89702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8" name="line 157: plot geometry" descr="sci-ppt:obj-0157"/>
          <p:cNvCxnSpPr/>
          <p:nvPr/>
        </p:nvCxnSpPr>
        <p:spPr>
          <a:xfrm flipH="1">
            <a:off x="6746206" y="85175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59" name="line 158: plot geometry" descr="sci-ppt:obj-0158"/>
          <p:cNvCxnSpPr/>
          <p:nvPr/>
        </p:nvCxnSpPr>
        <p:spPr>
          <a:xfrm flipH="1">
            <a:off x="6746206" y="81254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0" name="line 159: plot geometry" descr="sci-ppt:obj-0159"/>
          <p:cNvCxnSpPr/>
          <p:nvPr/>
        </p:nvCxnSpPr>
        <p:spPr>
          <a:xfrm flipH="1">
            <a:off x="6746206" y="77795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161" name="text 160: Equilibrium state energy (pJ)" descr="sci-ppt:obj-0160"/>
          <p:cNvSpPr txBox="1"/>
          <p:nvPr/>
        </p:nvSpPr>
        <p:spPr>
          <a:xfrm rot="16200000">
            <a:off x="4899640" y="2175758"/>
            <a:ext cx="277662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Equilibrium state energy (pJ)</a:t>
            </a:r>
          </a:p>
        </p:txBody>
      </p:sp>
      <p:sp>
        <p:nvSpPr>
          <p:cNvPr id="162" name="polygon 161: plot geometry" descr="sci-ppt:obj-0161"/>
          <p:cNvSpPr/>
          <p:nvPr/>
        </p:nvSpPr>
        <p:spPr>
          <a:xfrm>
            <a:off x="7018722" y="1017252"/>
            <a:ext cx="4818294" cy="2878251"/>
          </a:xfrm>
          <a:custGeom>
            <a:avLst/>
            <a:gdLst/>
            <a:ahLst/>
            <a:cxnLst/>
            <a:rect l="l" t="t" r="r" b="b"/>
            <a:pathLst>
              <a:path w="4818294" h="2878251">
                <a:moveTo>
                  <a:pt x="0" y="2878251"/>
                </a:moveTo>
                <a:lnTo>
                  <a:pt x="905366" y="2374563"/>
                </a:lnTo>
                <a:lnTo>
                  <a:pt x="3007562" y="1147050"/>
                </a:lnTo>
                <a:lnTo>
                  <a:pt x="3912928" y="582718"/>
                </a:lnTo>
                <a:lnTo>
                  <a:pt x="4818294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polygon 162: plot geometry" descr="sci-ppt:obj-0162"/>
          <p:cNvSpPr/>
          <p:nvPr/>
        </p:nvSpPr>
        <p:spPr>
          <a:xfrm>
            <a:off x="7018722" y="781504"/>
            <a:ext cx="4818294" cy="3002446"/>
          </a:xfrm>
          <a:custGeom>
            <a:avLst/>
            <a:gdLst/>
            <a:ahLst/>
            <a:cxnLst/>
            <a:rect l="l" t="t" r="r" b="b"/>
            <a:pathLst>
              <a:path w="4818294" h="3002446">
                <a:moveTo>
                  <a:pt x="0" y="3002446"/>
                </a:moveTo>
                <a:lnTo>
                  <a:pt x="905366" y="2472245"/>
                </a:lnTo>
                <a:lnTo>
                  <a:pt x="3007562" y="1179618"/>
                </a:lnTo>
                <a:lnTo>
                  <a:pt x="3912928" y="595470"/>
                </a:lnTo>
                <a:lnTo>
                  <a:pt x="4818294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4" name="line 163: plot geometry" descr="sci-ppt:obj-0163"/>
          <p:cNvCxnSpPr/>
          <p:nvPr/>
        </p:nvCxnSpPr>
        <p:spPr>
          <a:xfrm flipV="1">
            <a:off x="6777807" y="625804"/>
            <a:ext cx="0" cy="3425399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165" name="line 164: plot geometry" descr="sci-ppt:obj-0164"/>
          <p:cNvCxnSpPr/>
          <p:nvPr/>
        </p:nvCxnSpPr>
        <p:spPr>
          <a:xfrm>
            <a:off x="6777807" y="4051203"/>
            <a:ext cx="5300124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66" name="polygon 165: plot geometry" descr="sci-ppt:obj-0165"/>
          <p:cNvSpPr/>
          <p:nvPr/>
        </p:nvSpPr>
        <p:spPr>
          <a:xfrm>
            <a:off x="6856810" y="704807"/>
            <a:ext cx="873795" cy="521442"/>
          </a:xfrm>
          <a:custGeom>
            <a:avLst/>
            <a:gdLst/>
            <a:ahLst/>
            <a:cxnLst/>
            <a:rect l="l" t="t" r="r" b="b"/>
            <a:pathLst>
              <a:path w="873795" h="521442">
                <a:moveTo>
                  <a:pt x="31601" y="521442"/>
                </a:moveTo>
                <a:lnTo>
                  <a:pt x="842194" y="521442"/>
                </a:lnTo>
                <a:lnTo>
                  <a:pt x="847241" y="521223"/>
                </a:lnTo>
                <a:lnTo>
                  <a:pt x="851850" y="520565"/>
                </a:lnTo>
                <a:lnTo>
                  <a:pt x="856019" y="519467"/>
                </a:lnTo>
                <a:lnTo>
                  <a:pt x="859750" y="517931"/>
                </a:lnTo>
                <a:lnTo>
                  <a:pt x="863042" y="515956"/>
                </a:lnTo>
                <a:lnTo>
                  <a:pt x="865895" y="513542"/>
                </a:lnTo>
                <a:lnTo>
                  <a:pt x="868309" y="510689"/>
                </a:lnTo>
                <a:lnTo>
                  <a:pt x="870284" y="507397"/>
                </a:lnTo>
                <a:lnTo>
                  <a:pt x="871820" y="503667"/>
                </a:lnTo>
                <a:lnTo>
                  <a:pt x="872917" y="499497"/>
                </a:lnTo>
                <a:lnTo>
                  <a:pt x="873575" y="494889"/>
                </a:lnTo>
                <a:lnTo>
                  <a:pt x="873795" y="489841"/>
                </a:lnTo>
                <a:lnTo>
                  <a:pt x="873795" y="31601"/>
                </a:lnTo>
                <a:lnTo>
                  <a:pt x="873575" y="26553"/>
                </a:lnTo>
                <a:lnTo>
                  <a:pt x="872917" y="21945"/>
                </a:lnTo>
                <a:lnTo>
                  <a:pt x="871820" y="17775"/>
                </a:lnTo>
                <a:lnTo>
                  <a:pt x="870284" y="14045"/>
                </a:lnTo>
                <a:lnTo>
                  <a:pt x="868309" y="10753"/>
                </a:lnTo>
                <a:lnTo>
                  <a:pt x="865895" y="7900"/>
                </a:lnTo>
                <a:lnTo>
                  <a:pt x="863042" y="5486"/>
                </a:lnTo>
                <a:lnTo>
                  <a:pt x="859750" y="3511"/>
                </a:lnTo>
                <a:lnTo>
                  <a:pt x="856019" y="1975"/>
                </a:lnTo>
                <a:lnTo>
                  <a:pt x="851850" y="877"/>
                </a:lnTo>
                <a:lnTo>
                  <a:pt x="847241" y="219"/>
                </a:lnTo>
                <a:lnTo>
                  <a:pt x="842194" y="0"/>
                </a:lnTo>
                <a:lnTo>
                  <a:pt x="31601" y="0"/>
                </a:lnTo>
                <a:lnTo>
                  <a:pt x="26554" y="219"/>
                </a:lnTo>
                <a:lnTo>
                  <a:pt x="21945" y="877"/>
                </a:lnTo>
                <a:lnTo>
                  <a:pt x="17775" y="1975"/>
                </a:lnTo>
                <a:lnTo>
                  <a:pt x="14045" y="3511"/>
                </a:lnTo>
                <a:lnTo>
                  <a:pt x="10753" y="5486"/>
                </a:lnTo>
                <a:lnTo>
                  <a:pt x="7900" y="7900"/>
                </a:lnTo>
                <a:lnTo>
                  <a:pt x="5486" y="10753"/>
                </a:lnTo>
                <a:lnTo>
                  <a:pt x="3511" y="14045"/>
                </a:lnTo>
                <a:lnTo>
                  <a:pt x="1975" y="17775"/>
                </a:lnTo>
                <a:lnTo>
                  <a:pt x="878" y="21945"/>
                </a:lnTo>
                <a:lnTo>
                  <a:pt x="219" y="26553"/>
                </a:lnTo>
                <a:lnTo>
                  <a:pt x="0" y="31601"/>
                </a:lnTo>
                <a:lnTo>
                  <a:pt x="0" y="489841"/>
                </a:lnTo>
                <a:lnTo>
                  <a:pt x="219" y="494889"/>
                </a:lnTo>
                <a:lnTo>
                  <a:pt x="878" y="499497"/>
                </a:lnTo>
                <a:lnTo>
                  <a:pt x="1975" y="503667"/>
                </a:lnTo>
                <a:lnTo>
                  <a:pt x="3511" y="507397"/>
                </a:lnTo>
                <a:lnTo>
                  <a:pt x="5486" y="510689"/>
                </a:lnTo>
                <a:lnTo>
                  <a:pt x="7900" y="513542"/>
                </a:lnTo>
                <a:lnTo>
                  <a:pt x="10753" y="515956"/>
                </a:lnTo>
                <a:lnTo>
                  <a:pt x="14045" y="517931"/>
                </a:lnTo>
                <a:lnTo>
                  <a:pt x="17775" y="519467"/>
                </a:lnTo>
                <a:lnTo>
                  <a:pt x="21945" y="520565"/>
                </a:lnTo>
                <a:lnTo>
                  <a:pt x="26554" y="521223"/>
                </a:lnTo>
                <a:lnTo>
                  <a:pt x="31601" y="52144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polygon 166: plot geometry" descr="sci-ppt:obj-0166"/>
          <p:cNvSpPr/>
          <p:nvPr/>
        </p:nvSpPr>
        <p:spPr>
          <a:xfrm>
            <a:off x="6920012" y="832766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polygon 167: plot geometry" descr="sci-ppt:obj-0167"/>
          <p:cNvSpPr/>
          <p:nvPr/>
        </p:nvSpPr>
        <p:spPr>
          <a:xfrm>
            <a:off x="7030616" y="785365"/>
            <a:ext cx="94803" cy="94803"/>
          </a:xfrm>
          <a:custGeom>
            <a:avLst/>
            <a:gdLst/>
            <a:ahLst/>
            <a:cxnLst/>
            <a:rect l="l" t="t" r="r" b="b"/>
            <a:pathLst>
              <a:path w="94803" h="94803">
                <a:moveTo>
                  <a:pt x="47402" y="94803"/>
                </a:moveTo>
                <a:lnTo>
                  <a:pt x="50532" y="94700"/>
                </a:lnTo>
                <a:lnTo>
                  <a:pt x="53632" y="94392"/>
                </a:lnTo>
                <a:lnTo>
                  <a:pt x="56692" y="93884"/>
                </a:lnTo>
                <a:lnTo>
                  <a:pt x="59703" y="93179"/>
                </a:lnTo>
                <a:lnTo>
                  <a:pt x="62656" y="92281"/>
                </a:lnTo>
                <a:lnTo>
                  <a:pt x="65541" y="91195"/>
                </a:lnTo>
                <a:lnTo>
                  <a:pt x="68350" y="89923"/>
                </a:lnTo>
                <a:lnTo>
                  <a:pt x="71073" y="88470"/>
                </a:lnTo>
                <a:lnTo>
                  <a:pt x="73700" y="86839"/>
                </a:lnTo>
                <a:lnTo>
                  <a:pt x="76223" y="85034"/>
                </a:lnTo>
                <a:lnTo>
                  <a:pt x="78633" y="83060"/>
                </a:lnTo>
                <a:lnTo>
                  <a:pt x="80920" y="80919"/>
                </a:lnTo>
                <a:lnTo>
                  <a:pt x="83060" y="78633"/>
                </a:lnTo>
                <a:lnTo>
                  <a:pt x="85034" y="76223"/>
                </a:lnTo>
                <a:lnTo>
                  <a:pt x="86839" y="73700"/>
                </a:lnTo>
                <a:lnTo>
                  <a:pt x="88470" y="71072"/>
                </a:lnTo>
                <a:lnTo>
                  <a:pt x="89923" y="68350"/>
                </a:lnTo>
                <a:lnTo>
                  <a:pt x="91195" y="65541"/>
                </a:lnTo>
                <a:lnTo>
                  <a:pt x="92281" y="62656"/>
                </a:lnTo>
                <a:lnTo>
                  <a:pt x="93179" y="59703"/>
                </a:lnTo>
                <a:lnTo>
                  <a:pt x="93884" y="56692"/>
                </a:lnTo>
                <a:lnTo>
                  <a:pt x="94392" y="53632"/>
                </a:lnTo>
                <a:lnTo>
                  <a:pt x="94700" y="50532"/>
                </a:lnTo>
                <a:lnTo>
                  <a:pt x="94803" y="47401"/>
                </a:lnTo>
                <a:lnTo>
                  <a:pt x="94700" y="44271"/>
                </a:lnTo>
                <a:lnTo>
                  <a:pt x="94392" y="41171"/>
                </a:lnTo>
                <a:lnTo>
                  <a:pt x="93884" y="38111"/>
                </a:lnTo>
                <a:lnTo>
                  <a:pt x="93179" y="35100"/>
                </a:lnTo>
                <a:lnTo>
                  <a:pt x="92281" y="32147"/>
                </a:lnTo>
                <a:lnTo>
                  <a:pt x="91195" y="29262"/>
                </a:lnTo>
                <a:lnTo>
                  <a:pt x="89923" y="26453"/>
                </a:lnTo>
                <a:lnTo>
                  <a:pt x="88470" y="23730"/>
                </a:lnTo>
                <a:lnTo>
                  <a:pt x="86839" y="21103"/>
                </a:lnTo>
                <a:lnTo>
                  <a:pt x="85034" y="18580"/>
                </a:lnTo>
                <a:lnTo>
                  <a:pt x="83060" y="16170"/>
                </a:lnTo>
                <a:lnTo>
                  <a:pt x="80920" y="13883"/>
                </a:lnTo>
                <a:lnTo>
                  <a:pt x="78633" y="11743"/>
                </a:lnTo>
                <a:lnTo>
                  <a:pt x="76223" y="9768"/>
                </a:lnTo>
                <a:lnTo>
                  <a:pt x="73700" y="7964"/>
                </a:lnTo>
                <a:lnTo>
                  <a:pt x="71073" y="6333"/>
                </a:lnTo>
                <a:lnTo>
                  <a:pt x="68350" y="4880"/>
                </a:lnTo>
                <a:lnTo>
                  <a:pt x="65541" y="3608"/>
                </a:lnTo>
                <a:lnTo>
                  <a:pt x="62656" y="2521"/>
                </a:lnTo>
                <a:lnTo>
                  <a:pt x="59703" y="1624"/>
                </a:lnTo>
                <a:lnTo>
                  <a:pt x="56692" y="919"/>
                </a:lnTo>
                <a:lnTo>
                  <a:pt x="53632" y="411"/>
                </a:lnTo>
                <a:lnTo>
                  <a:pt x="50532" y="103"/>
                </a:lnTo>
                <a:lnTo>
                  <a:pt x="47402" y="0"/>
                </a:lnTo>
                <a:lnTo>
                  <a:pt x="44271" y="103"/>
                </a:lnTo>
                <a:lnTo>
                  <a:pt x="41171" y="411"/>
                </a:lnTo>
                <a:lnTo>
                  <a:pt x="38111" y="919"/>
                </a:lnTo>
                <a:lnTo>
                  <a:pt x="35100" y="1624"/>
                </a:lnTo>
                <a:lnTo>
                  <a:pt x="32147" y="2521"/>
                </a:lnTo>
                <a:lnTo>
                  <a:pt x="29262" y="3608"/>
                </a:lnTo>
                <a:lnTo>
                  <a:pt x="26453" y="4880"/>
                </a:lnTo>
                <a:lnTo>
                  <a:pt x="23731" y="6333"/>
                </a:lnTo>
                <a:lnTo>
                  <a:pt x="21103" y="7964"/>
                </a:lnTo>
                <a:lnTo>
                  <a:pt x="18580" y="9768"/>
                </a:lnTo>
                <a:lnTo>
                  <a:pt x="16170" y="11743"/>
                </a:lnTo>
                <a:lnTo>
                  <a:pt x="13884" y="13883"/>
                </a:lnTo>
                <a:lnTo>
                  <a:pt x="11743" y="16170"/>
                </a:lnTo>
                <a:lnTo>
                  <a:pt x="9769" y="18580"/>
                </a:lnTo>
                <a:lnTo>
                  <a:pt x="7964" y="21103"/>
                </a:lnTo>
                <a:lnTo>
                  <a:pt x="6333" y="23730"/>
                </a:lnTo>
                <a:lnTo>
                  <a:pt x="4880" y="26453"/>
                </a:lnTo>
                <a:lnTo>
                  <a:pt x="3608" y="29262"/>
                </a:lnTo>
                <a:lnTo>
                  <a:pt x="2522" y="32147"/>
                </a:lnTo>
                <a:lnTo>
                  <a:pt x="1624" y="35100"/>
                </a:lnTo>
                <a:lnTo>
                  <a:pt x="919" y="38111"/>
                </a:lnTo>
                <a:lnTo>
                  <a:pt x="411" y="41171"/>
                </a:lnTo>
                <a:lnTo>
                  <a:pt x="103" y="44271"/>
                </a:lnTo>
                <a:lnTo>
                  <a:pt x="0" y="47401"/>
                </a:lnTo>
                <a:lnTo>
                  <a:pt x="103" y="50532"/>
                </a:lnTo>
                <a:lnTo>
                  <a:pt x="411" y="53632"/>
                </a:lnTo>
                <a:lnTo>
                  <a:pt x="919" y="56692"/>
                </a:lnTo>
                <a:lnTo>
                  <a:pt x="1624" y="59703"/>
                </a:lnTo>
                <a:lnTo>
                  <a:pt x="2522" y="62656"/>
                </a:lnTo>
                <a:lnTo>
                  <a:pt x="3608" y="65541"/>
                </a:lnTo>
                <a:lnTo>
                  <a:pt x="4880" y="68350"/>
                </a:lnTo>
                <a:lnTo>
                  <a:pt x="6333" y="71072"/>
                </a:lnTo>
                <a:lnTo>
                  <a:pt x="7964" y="73700"/>
                </a:lnTo>
                <a:lnTo>
                  <a:pt x="9769" y="76223"/>
                </a:lnTo>
                <a:lnTo>
                  <a:pt x="11743" y="78633"/>
                </a:lnTo>
                <a:lnTo>
                  <a:pt x="13884" y="80919"/>
                </a:lnTo>
                <a:lnTo>
                  <a:pt x="16170" y="83060"/>
                </a:lnTo>
                <a:lnTo>
                  <a:pt x="18580" y="85034"/>
                </a:lnTo>
                <a:lnTo>
                  <a:pt x="21103" y="86839"/>
                </a:lnTo>
                <a:lnTo>
                  <a:pt x="23731" y="88470"/>
                </a:lnTo>
                <a:lnTo>
                  <a:pt x="26453" y="89923"/>
                </a:lnTo>
                <a:lnTo>
                  <a:pt x="29262" y="91195"/>
                </a:lnTo>
                <a:lnTo>
                  <a:pt x="32147" y="92281"/>
                </a:lnTo>
                <a:lnTo>
                  <a:pt x="35100" y="93179"/>
                </a:lnTo>
                <a:lnTo>
                  <a:pt x="38111" y="93884"/>
                </a:lnTo>
                <a:lnTo>
                  <a:pt x="41171" y="94392"/>
                </a:lnTo>
                <a:lnTo>
                  <a:pt x="44271" y="94700"/>
                </a:lnTo>
                <a:lnTo>
                  <a:pt x="47402" y="94803"/>
                </a:lnTo>
                <a:close/>
              </a:path>
            </a:pathLst>
          </a:custGeom>
          <a:solidFill>
            <a:srgbClr val="176C8E"/>
          </a:solidFill>
          <a:ln w="158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 168: PFP" descr="sci-ppt:obj-0168"/>
          <p:cNvSpPr txBox="1"/>
          <p:nvPr/>
        </p:nvSpPr>
        <p:spPr>
          <a:xfrm>
            <a:off x="7334995" y="72532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PFP</a:t>
            </a:r>
          </a:p>
        </p:txBody>
      </p:sp>
      <p:sp>
        <p:nvSpPr>
          <p:cNvPr id="170" name="polygon 169: plot geometry" descr="sci-ppt:obj-0169"/>
          <p:cNvSpPr/>
          <p:nvPr/>
        </p:nvSpPr>
        <p:spPr>
          <a:xfrm>
            <a:off x="6920012" y="1069787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polygon 170: plot geometry" descr="sci-ppt:obj-0170"/>
          <p:cNvSpPr/>
          <p:nvPr/>
        </p:nvSpPr>
        <p:spPr>
          <a:xfrm>
            <a:off x="7030616" y="1022385"/>
            <a:ext cx="94803" cy="94804"/>
          </a:xfrm>
          <a:custGeom>
            <a:avLst/>
            <a:gdLst/>
            <a:ahLst/>
            <a:cxnLst/>
            <a:rect l="l" t="t" r="r" b="b"/>
            <a:pathLst>
              <a:path w="94803" h="94804">
                <a:moveTo>
                  <a:pt x="47402" y="94804"/>
                </a:moveTo>
                <a:lnTo>
                  <a:pt x="50532" y="94700"/>
                </a:lnTo>
                <a:lnTo>
                  <a:pt x="53632" y="94392"/>
                </a:lnTo>
                <a:lnTo>
                  <a:pt x="56692" y="93884"/>
                </a:lnTo>
                <a:lnTo>
                  <a:pt x="59703" y="93179"/>
                </a:lnTo>
                <a:lnTo>
                  <a:pt x="62656" y="92282"/>
                </a:lnTo>
                <a:lnTo>
                  <a:pt x="65541" y="91195"/>
                </a:lnTo>
                <a:lnTo>
                  <a:pt x="68350" y="89923"/>
                </a:lnTo>
                <a:lnTo>
                  <a:pt x="71073" y="88470"/>
                </a:lnTo>
                <a:lnTo>
                  <a:pt x="73700" y="86839"/>
                </a:lnTo>
                <a:lnTo>
                  <a:pt x="76223" y="85035"/>
                </a:lnTo>
                <a:lnTo>
                  <a:pt x="78633" y="83060"/>
                </a:lnTo>
                <a:lnTo>
                  <a:pt x="80920" y="80920"/>
                </a:lnTo>
                <a:lnTo>
                  <a:pt x="83060" y="78633"/>
                </a:lnTo>
                <a:lnTo>
                  <a:pt x="85034" y="76224"/>
                </a:lnTo>
                <a:lnTo>
                  <a:pt x="86839" y="73700"/>
                </a:lnTo>
                <a:lnTo>
                  <a:pt x="88470" y="71073"/>
                </a:lnTo>
                <a:lnTo>
                  <a:pt x="89923" y="68350"/>
                </a:lnTo>
                <a:lnTo>
                  <a:pt x="91195" y="65542"/>
                </a:lnTo>
                <a:lnTo>
                  <a:pt x="92281" y="62656"/>
                </a:lnTo>
                <a:lnTo>
                  <a:pt x="93179" y="59704"/>
                </a:lnTo>
                <a:lnTo>
                  <a:pt x="93884" y="56692"/>
                </a:lnTo>
                <a:lnTo>
                  <a:pt x="94392" y="53632"/>
                </a:lnTo>
                <a:lnTo>
                  <a:pt x="94700" y="50532"/>
                </a:lnTo>
                <a:lnTo>
                  <a:pt x="94803" y="47402"/>
                </a:lnTo>
                <a:lnTo>
                  <a:pt x="94700" y="44271"/>
                </a:lnTo>
                <a:lnTo>
                  <a:pt x="94392" y="41171"/>
                </a:lnTo>
                <a:lnTo>
                  <a:pt x="93884" y="38111"/>
                </a:lnTo>
                <a:lnTo>
                  <a:pt x="93179" y="35100"/>
                </a:lnTo>
                <a:lnTo>
                  <a:pt x="92281" y="32147"/>
                </a:lnTo>
                <a:lnTo>
                  <a:pt x="91195" y="29262"/>
                </a:lnTo>
                <a:lnTo>
                  <a:pt x="89923" y="26454"/>
                </a:lnTo>
                <a:lnTo>
                  <a:pt x="88470" y="23731"/>
                </a:lnTo>
                <a:lnTo>
                  <a:pt x="86839" y="21103"/>
                </a:lnTo>
                <a:lnTo>
                  <a:pt x="85034" y="18580"/>
                </a:lnTo>
                <a:lnTo>
                  <a:pt x="83060" y="16171"/>
                </a:lnTo>
                <a:lnTo>
                  <a:pt x="80920" y="13884"/>
                </a:lnTo>
                <a:lnTo>
                  <a:pt x="78633" y="11743"/>
                </a:lnTo>
                <a:lnTo>
                  <a:pt x="76223" y="9769"/>
                </a:lnTo>
                <a:lnTo>
                  <a:pt x="73700" y="7964"/>
                </a:lnTo>
                <a:lnTo>
                  <a:pt x="71073" y="6334"/>
                </a:lnTo>
                <a:lnTo>
                  <a:pt x="68350" y="4880"/>
                </a:lnTo>
                <a:lnTo>
                  <a:pt x="65541" y="3609"/>
                </a:lnTo>
                <a:lnTo>
                  <a:pt x="62656" y="2522"/>
                </a:lnTo>
                <a:lnTo>
                  <a:pt x="59703" y="1624"/>
                </a:lnTo>
                <a:lnTo>
                  <a:pt x="56692" y="920"/>
                </a:lnTo>
                <a:lnTo>
                  <a:pt x="53632" y="411"/>
                </a:lnTo>
                <a:lnTo>
                  <a:pt x="50532" y="104"/>
                </a:lnTo>
                <a:lnTo>
                  <a:pt x="47402" y="0"/>
                </a:lnTo>
                <a:lnTo>
                  <a:pt x="44271" y="104"/>
                </a:lnTo>
                <a:lnTo>
                  <a:pt x="41171" y="411"/>
                </a:lnTo>
                <a:lnTo>
                  <a:pt x="38111" y="920"/>
                </a:lnTo>
                <a:lnTo>
                  <a:pt x="35100" y="1624"/>
                </a:lnTo>
                <a:lnTo>
                  <a:pt x="32147" y="2522"/>
                </a:lnTo>
                <a:lnTo>
                  <a:pt x="29262" y="3609"/>
                </a:lnTo>
                <a:lnTo>
                  <a:pt x="26453" y="4880"/>
                </a:lnTo>
                <a:lnTo>
                  <a:pt x="23731" y="6334"/>
                </a:lnTo>
                <a:lnTo>
                  <a:pt x="21103" y="7964"/>
                </a:lnTo>
                <a:lnTo>
                  <a:pt x="18580" y="9769"/>
                </a:lnTo>
                <a:lnTo>
                  <a:pt x="16170" y="11743"/>
                </a:lnTo>
                <a:lnTo>
                  <a:pt x="13884" y="13884"/>
                </a:lnTo>
                <a:lnTo>
                  <a:pt x="11743" y="16171"/>
                </a:lnTo>
                <a:lnTo>
                  <a:pt x="9769" y="18580"/>
                </a:lnTo>
                <a:lnTo>
                  <a:pt x="7964" y="21103"/>
                </a:lnTo>
                <a:lnTo>
                  <a:pt x="6333" y="23731"/>
                </a:lnTo>
                <a:lnTo>
                  <a:pt x="4880" y="26454"/>
                </a:lnTo>
                <a:lnTo>
                  <a:pt x="3608" y="29262"/>
                </a:lnTo>
                <a:lnTo>
                  <a:pt x="2522" y="32147"/>
                </a:lnTo>
                <a:lnTo>
                  <a:pt x="1624" y="35100"/>
                </a:lnTo>
                <a:lnTo>
                  <a:pt x="919" y="38111"/>
                </a:lnTo>
                <a:lnTo>
                  <a:pt x="411" y="41171"/>
                </a:lnTo>
                <a:lnTo>
                  <a:pt x="103" y="44271"/>
                </a:lnTo>
                <a:lnTo>
                  <a:pt x="0" y="47402"/>
                </a:lnTo>
                <a:lnTo>
                  <a:pt x="103" y="50532"/>
                </a:lnTo>
                <a:lnTo>
                  <a:pt x="411" y="53632"/>
                </a:lnTo>
                <a:lnTo>
                  <a:pt x="919" y="56692"/>
                </a:lnTo>
                <a:lnTo>
                  <a:pt x="1624" y="59704"/>
                </a:lnTo>
                <a:lnTo>
                  <a:pt x="2522" y="62656"/>
                </a:lnTo>
                <a:lnTo>
                  <a:pt x="3608" y="65542"/>
                </a:lnTo>
                <a:lnTo>
                  <a:pt x="4880" y="68350"/>
                </a:lnTo>
                <a:lnTo>
                  <a:pt x="6333" y="71073"/>
                </a:lnTo>
                <a:lnTo>
                  <a:pt x="7964" y="73700"/>
                </a:lnTo>
                <a:lnTo>
                  <a:pt x="9769" y="76224"/>
                </a:lnTo>
                <a:lnTo>
                  <a:pt x="11743" y="78633"/>
                </a:lnTo>
                <a:lnTo>
                  <a:pt x="13884" y="80920"/>
                </a:lnTo>
                <a:lnTo>
                  <a:pt x="16170" y="83060"/>
                </a:lnTo>
                <a:lnTo>
                  <a:pt x="18580" y="85035"/>
                </a:lnTo>
                <a:lnTo>
                  <a:pt x="21103" y="86839"/>
                </a:lnTo>
                <a:lnTo>
                  <a:pt x="23731" y="88470"/>
                </a:lnTo>
                <a:lnTo>
                  <a:pt x="26453" y="89923"/>
                </a:lnTo>
                <a:lnTo>
                  <a:pt x="29262" y="91195"/>
                </a:lnTo>
                <a:lnTo>
                  <a:pt x="32147" y="92282"/>
                </a:lnTo>
                <a:lnTo>
                  <a:pt x="35100" y="93179"/>
                </a:lnTo>
                <a:lnTo>
                  <a:pt x="38111" y="93884"/>
                </a:lnTo>
                <a:lnTo>
                  <a:pt x="41171" y="94392"/>
                </a:lnTo>
                <a:lnTo>
                  <a:pt x="44271" y="94700"/>
                </a:lnTo>
                <a:lnTo>
                  <a:pt x="47402" y="94804"/>
                </a:lnTo>
                <a:close/>
              </a:path>
            </a:pathLst>
          </a:custGeom>
          <a:solidFill>
            <a:srgbClr val="B95E23"/>
          </a:solidFill>
          <a:ln w="158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 171: PFH" descr="sci-ppt:obj-0171"/>
          <p:cNvSpPr txBox="1"/>
          <p:nvPr/>
        </p:nvSpPr>
        <p:spPr>
          <a:xfrm>
            <a:off x="7334995" y="96234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PFH</a:t>
            </a:r>
          </a:p>
        </p:txBody>
      </p:sp>
      <p:sp>
        <p:nvSpPr>
          <p:cNvPr id="173" name="text 172: Finite PFC: equal stretch 2.1, G = 20 kPa, stipulated outer tension 54" descr="sci-ppt:obj-0172"/>
          <p:cNvSpPr txBox="1"/>
          <p:nvPr/>
        </p:nvSpPr>
        <p:spPr>
          <a:xfrm>
            <a:off x="2781743" y="84206"/>
            <a:ext cx="7764068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Finite PFC: equal stretch 2.1, G = 20 kPa, stipulated outer tension 54 mN/m</a:t>
            </a:r>
          </a:p>
        </p:txBody>
      </p:sp>
      <p:sp>
        <p:nvSpPr>
          <p:cNvPr id="174" name="text 173: State budgets and temperatures; not activation thresholds" descr="sci-ppt:obj-0173"/>
          <p:cNvSpPr txBox="1"/>
          <p:nvPr/>
        </p:nvSpPr>
        <p:spPr>
          <a:xfrm>
            <a:off x="3507736" y="292821"/>
            <a:ext cx="5918248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State budgets and temperatures; not activation thresholds</a:t>
            </a:r>
          </a:p>
        </p:txBody>
      </p:sp>
      <p:sp>
        <p:nvSpPr>
          <p:cNvPr id="175" name="Original data sample marker 173" descr="sci-ppt:sample-marker-173"/>
          <p:cNvSpPr/>
          <p:nvPr/>
        </p:nvSpPr>
        <p:spPr>
          <a:xfrm>
            <a:off x="940693" y="2050457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Original data sample marker 174" descr="sci-ppt:sample-marker-174"/>
          <p:cNvSpPr/>
          <p:nvPr/>
        </p:nvSpPr>
        <p:spPr>
          <a:xfrm>
            <a:off x="1846060" y="2757258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Original data sample marker 175" descr="sci-ppt:sample-marker-175"/>
          <p:cNvSpPr/>
          <p:nvPr/>
        </p:nvSpPr>
        <p:spPr>
          <a:xfrm>
            <a:off x="3948255" y="3619702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Original data sample marker 176" descr="sci-ppt:sample-marker-176"/>
          <p:cNvSpPr/>
          <p:nvPr/>
        </p:nvSpPr>
        <p:spPr>
          <a:xfrm>
            <a:off x="4853621" y="3768076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Original data sample marker 177" descr="sci-ppt:sample-marker-177"/>
          <p:cNvSpPr/>
          <p:nvPr/>
        </p:nvSpPr>
        <p:spPr>
          <a:xfrm>
            <a:off x="5758988" y="3848101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Original data sample marker 178" descr="sci-ppt:sample-marker-178"/>
          <p:cNvSpPr/>
          <p:nvPr/>
        </p:nvSpPr>
        <p:spPr>
          <a:xfrm>
            <a:off x="940693" y="734102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Original data sample marker 179" descr="sci-ppt:sample-marker-179"/>
          <p:cNvSpPr/>
          <p:nvPr/>
        </p:nvSpPr>
        <p:spPr>
          <a:xfrm>
            <a:off x="1846060" y="1515981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Original data sample marker 180" descr="sci-ppt:sample-marker-180"/>
          <p:cNvSpPr/>
          <p:nvPr/>
        </p:nvSpPr>
        <p:spPr>
          <a:xfrm>
            <a:off x="3948255" y="2476949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Original data sample marker 181" descr="sci-ppt:sample-marker-181"/>
          <p:cNvSpPr/>
          <p:nvPr/>
        </p:nvSpPr>
        <p:spPr>
          <a:xfrm>
            <a:off x="4853621" y="2643548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Original data sample marker 182" descr="sci-ppt:sample-marker-182"/>
          <p:cNvSpPr/>
          <p:nvPr/>
        </p:nvSpPr>
        <p:spPr>
          <a:xfrm>
            <a:off x="5758988" y="2733628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Original data sample marker 183" descr="sci-ppt:sample-marker-183"/>
          <p:cNvSpPr/>
          <p:nvPr/>
        </p:nvSpPr>
        <p:spPr>
          <a:xfrm>
            <a:off x="6971320" y="3848101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Original data sample marker 184" descr="sci-ppt:sample-marker-184"/>
          <p:cNvSpPr/>
          <p:nvPr/>
        </p:nvSpPr>
        <p:spPr>
          <a:xfrm>
            <a:off x="7876686" y="3344413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Original data sample marker 185" descr="sci-ppt:sample-marker-185"/>
          <p:cNvSpPr/>
          <p:nvPr/>
        </p:nvSpPr>
        <p:spPr>
          <a:xfrm>
            <a:off x="9978882" y="2116900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Original data sample marker 186" descr="sci-ppt:sample-marker-186"/>
          <p:cNvSpPr/>
          <p:nvPr/>
        </p:nvSpPr>
        <p:spPr>
          <a:xfrm>
            <a:off x="10884248" y="1552568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Original data sample marker 187" descr="sci-ppt:sample-marker-187"/>
          <p:cNvSpPr/>
          <p:nvPr/>
        </p:nvSpPr>
        <p:spPr>
          <a:xfrm>
            <a:off x="11789614" y="969851"/>
            <a:ext cx="94803" cy="94803"/>
          </a:xfrm>
          <a:prstGeom prst="ellipse">
            <a:avLst/>
          </a:prstGeom>
          <a:solidFill>
            <a:srgbClr val="176C8E"/>
          </a:solidFill>
          <a:ln w="762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Original data sample marker 188" descr="sci-ppt:sample-marker-188"/>
          <p:cNvSpPr/>
          <p:nvPr/>
        </p:nvSpPr>
        <p:spPr>
          <a:xfrm>
            <a:off x="6971320" y="3736548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Original data sample marker 189" descr="sci-ppt:sample-marker-189"/>
          <p:cNvSpPr/>
          <p:nvPr/>
        </p:nvSpPr>
        <p:spPr>
          <a:xfrm>
            <a:off x="7876686" y="3206348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Original data sample marker 190" descr="sci-ppt:sample-marker-190"/>
          <p:cNvSpPr/>
          <p:nvPr/>
        </p:nvSpPr>
        <p:spPr>
          <a:xfrm>
            <a:off x="9978882" y="1913720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Original data sample marker 191" descr="sci-ppt:sample-marker-191"/>
          <p:cNvSpPr/>
          <p:nvPr/>
        </p:nvSpPr>
        <p:spPr>
          <a:xfrm>
            <a:off x="10884248" y="1329572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Original data sample marker 192" descr="sci-ppt:sample-marker-192"/>
          <p:cNvSpPr/>
          <p:nvPr/>
        </p:nvSpPr>
        <p:spPr>
          <a:xfrm>
            <a:off x="11789614" y="734102"/>
            <a:ext cx="94803" cy="94803"/>
          </a:xfrm>
          <a:prstGeom prst="ellipse">
            <a:avLst/>
          </a:prstGeom>
          <a:solidFill>
            <a:srgbClr val="B95E23"/>
          </a:solidFill>
          <a:ln w="762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8096193"/>
          </a:xfrm>
          <a:custGeom>
            <a:avLst/>
            <a:gdLst/>
            <a:ahLst/>
            <a:cxnLst/>
            <a:rect l="l" t="t" r="r" b="b"/>
            <a:pathLst>
              <a:path w="12191695" h="8096193">
                <a:moveTo>
                  <a:pt x="0" y="8096193"/>
                </a:moveTo>
                <a:lnTo>
                  <a:pt x="12191695" y="8096193"/>
                </a:lnTo>
                <a:lnTo>
                  <a:pt x="12191695" y="0"/>
                </a:lnTo>
                <a:lnTo>
                  <a:pt x="0" y="0"/>
                </a:lnTo>
                <a:lnTo>
                  <a:pt x="0" y="80961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696865" y="864678"/>
            <a:ext cx="5338687" cy="3021641"/>
          </a:xfrm>
          <a:custGeom>
            <a:avLst/>
            <a:gdLst/>
            <a:ahLst/>
            <a:cxnLst/>
            <a:rect l="l" t="t" r="r" b="b"/>
            <a:pathLst>
              <a:path w="5338687" h="3021641">
                <a:moveTo>
                  <a:pt x="0" y="3021641"/>
                </a:moveTo>
                <a:lnTo>
                  <a:pt x="5338687" y="3021641"/>
                </a:lnTo>
                <a:lnTo>
                  <a:pt x="5338687" y="0"/>
                </a:lnTo>
                <a:lnTo>
                  <a:pt x="0" y="0"/>
                </a:lnTo>
                <a:lnTo>
                  <a:pt x="0" y="30216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939533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939533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" name="text 5: 0.0" descr="sci-ppt:obj-0005"/>
          <p:cNvSpPr txBox="1"/>
          <p:nvPr/>
        </p:nvSpPr>
        <p:spPr>
          <a:xfrm>
            <a:off x="763122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cxnSp>
        <p:nvCxnSpPr>
          <p:cNvPr id="7" name="line 6: plot geometry" descr="sci-ppt:obj-0006"/>
          <p:cNvCxnSpPr/>
          <p:nvPr/>
        </p:nvCxnSpPr>
        <p:spPr>
          <a:xfrm flipV="1">
            <a:off x="1586647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8" name="line 7: plot geometry" descr="sci-ppt:obj-0007"/>
          <p:cNvCxnSpPr/>
          <p:nvPr/>
        </p:nvCxnSpPr>
        <p:spPr>
          <a:xfrm>
            <a:off x="1586647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9" name="text 8: 0.2" descr="sci-ppt:obj-0008"/>
          <p:cNvSpPr txBox="1"/>
          <p:nvPr/>
        </p:nvSpPr>
        <p:spPr>
          <a:xfrm>
            <a:off x="1410236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cxnSp>
        <p:nvCxnSpPr>
          <p:cNvPr id="10" name="line 9: plot geometry" descr="sci-ppt:obj-0009"/>
          <p:cNvCxnSpPr/>
          <p:nvPr/>
        </p:nvCxnSpPr>
        <p:spPr>
          <a:xfrm flipV="1">
            <a:off x="2233760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" name="line 10: plot geometry" descr="sci-ppt:obj-0010"/>
          <p:cNvCxnSpPr/>
          <p:nvPr/>
        </p:nvCxnSpPr>
        <p:spPr>
          <a:xfrm>
            <a:off x="2233760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" name="text 11: 0.4" descr="sci-ppt:obj-0011"/>
          <p:cNvSpPr txBox="1"/>
          <p:nvPr/>
        </p:nvSpPr>
        <p:spPr>
          <a:xfrm>
            <a:off x="2057349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cxnSp>
        <p:nvCxnSpPr>
          <p:cNvPr id="13" name="line 12: plot geometry" descr="sci-ppt:obj-0012"/>
          <p:cNvCxnSpPr/>
          <p:nvPr/>
        </p:nvCxnSpPr>
        <p:spPr>
          <a:xfrm flipV="1">
            <a:off x="2880874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" name="line 13: plot geometry" descr="sci-ppt:obj-0013"/>
          <p:cNvCxnSpPr/>
          <p:nvPr/>
        </p:nvCxnSpPr>
        <p:spPr>
          <a:xfrm>
            <a:off x="2880874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5" name="text 14: 0.6" descr="sci-ppt:obj-0014"/>
          <p:cNvSpPr txBox="1"/>
          <p:nvPr/>
        </p:nvSpPr>
        <p:spPr>
          <a:xfrm>
            <a:off x="2704463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cxnSp>
        <p:nvCxnSpPr>
          <p:cNvPr id="16" name="line 15: plot geometry" descr="sci-ppt:obj-0015"/>
          <p:cNvCxnSpPr/>
          <p:nvPr/>
        </p:nvCxnSpPr>
        <p:spPr>
          <a:xfrm flipV="1">
            <a:off x="3527987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7" name="line 16: plot geometry" descr="sci-ppt:obj-0016"/>
          <p:cNvCxnSpPr/>
          <p:nvPr/>
        </p:nvCxnSpPr>
        <p:spPr>
          <a:xfrm>
            <a:off x="3527987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" name="text 17: 0.8" descr="sci-ppt:obj-0017"/>
          <p:cNvSpPr txBox="1"/>
          <p:nvPr/>
        </p:nvSpPr>
        <p:spPr>
          <a:xfrm>
            <a:off x="3351576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cxnSp>
        <p:nvCxnSpPr>
          <p:cNvPr id="19" name="line 18: plot geometry" descr="sci-ppt:obj-0018"/>
          <p:cNvCxnSpPr/>
          <p:nvPr/>
        </p:nvCxnSpPr>
        <p:spPr>
          <a:xfrm flipV="1">
            <a:off x="4175101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0" name="line 19: plot geometry" descr="sci-ppt:obj-0019"/>
          <p:cNvCxnSpPr/>
          <p:nvPr/>
        </p:nvCxnSpPr>
        <p:spPr>
          <a:xfrm>
            <a:off x="4175101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1" name="text 20: 1.0" descr="sci-ppt:obj-0020"/>
          <p:cNvSpPr txBox="1"/>
          <p:nvPr/>
        </p:nvSpPr>
        <p:spPr>
          <a:xfrm>
            <a:off x="3998690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cxnSp>
        <p:nvCxnSpPr>
          <p:cNvPr id="22" name="line 21: plot geometry" descr="sci-ppt:obj-0021"/>
          <p:cNvCxnSpPr/>
          <p:nvPr/>
        </p:nvCxnSpPr>
        <p:spPr>
          <a:xfrm flipV="1">
            <a:off x="4822214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3" name="line 22: plot geometry" descr="sci-ppt:obj-0022"/>
          <p:cNvCxnSpPr/>
          <p:nvPr/>
        </p:nvCxnSpPr>
        <p:spPr>
          <a:xfrm>
            <a:off x="4822214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4" name="text 23: 1.2" descr="sci-ppt:obj-0023"/>
          <p:cNvSpPr txBox="1"/>
          <p:nvPr/>
        </p:nvSpPr>
        <p:spPr>
          <a:xfrm>
            <a:off x="4645803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25" name="line 24: plot geometry" descr="sci-ppt:obj-0024"/>
          <p:cNvCxnSpPr/>
          <p:nvPr/>
        </p:nvCxnSpPr>
        <p:spPr>
          <a:xfrm flipV="1">
            <a:off x="5469328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6" name="line 25: plot geometry" descr="sci-ppt:obj-0025"/>
          <p:cNvCxnSpPr/>
          <p:nvPr/>
        </p:nvCxnSpPr>
        <p:spPr>
          <a:xfrm>
            <a:off x="5469328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7" name="text 26: 1.4" descr="sci-ppt:obj-0026"/>
          <p:cNvSpPr txBox="1"/>
          <p:nvPr/>
        </p:nvSpPr>
        <p:spPr>
          <a:xfrm>
            <a:off x="5292917" y="3954224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28" name="text 27: Time after prescribed seed (µs)" descr="sci-ppt:obj-0027"/>
          <p:cNvSpPr txBox="1"/>
          <p:nvPr/>
        </p:nvSpPr>
        <p:spPr>
          <a:xfrm>
            <a:off x="1884673" y="4175444"/>
            <a:ext cx="2963072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Time after prescribed seed (µs)</a:t>
            </a:r>
          </a:p>
        </p:txBody>
      </p:sp>
      <p:cxnSp>
        <p:nvCxnSpPr>
          <p:cNvPr id="29" name="line 28: plot geometry" descr="sci-ppt:obj-0028"/>
          <p:cNvCxnSpPr/>
          <p:nvPr/>
        </p:nvCxnSpPr>
        <p:spPr>
          <a:xfrm>
            <a:off x="696865" y="374897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0" name="line 29: plot geometry" descr="sci-ppt:obj-0029"/>
          <p:cNvCxnSpPr/>
          <p:nvPr/>
        </p:nvCxnSpPr>
        <p:spPr>
          <a:xfrm flipH="1">
            <a:off x="641563" y="374897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1" name="text 30: 0" descr="sci-ppt:obj-0030"/>
          <p:cNvSpPr txBox="1"/>
          <p:nvPr/>
        </p:nvSpPr>
        <p:spPr>
          <a:xfrm>
            <a:off x="456462" y="364624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32" name="line 31: plot geometry" descr="sci-ppt:obj-0031"/>
          <p:cNvCxnSpPr/>
          <p:nvPr/>
        </p:nvCxnSpPr>
        <p:spPr>
          <a:xfrm>
            <a:off x="696865" y="329782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3" name="line 32: plot geometry" descr="sci-ppt:obj-0032"/>
          <p:cNvCxnSpPr/>
          <p:nvPr/>
        </p:nvCxnSpPr>
        <p:spPr>
          <a:xfrm flipH="1">
            <a:off x="641563" y="329782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4" name="text 33: 1" descr="sci-ppt:obj-0033"/>
          <p:cNvSpPr txBox="1"/>
          <p:nvPr/>
        </p:nvSpPr>
        <p:spPr>
          <a:xfrm>
            <a:off x="456462" y="3195100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35" name="line 34: plot geometry" descr="sci-ppt:obj-0034"/>
          <p:cNvCxnSpPr/>
          <p:nvPr/>
        </p:nvCxnSpPr>
        <p:spPr>
          <a:xfrm>
            <a:off x="696865" y="284667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6" name="line 35: plot geometry" descr="sci-ppt:obj-0035"/>
          <p:cNvCxnSpPr/>
          <p:nvPr/>
        </p:nvCxnSpPr>
        <p:spPr>
          <a:xfrm flipH="1">
            <a:off x="641563" y="284667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37" name="text 36: 2" descr="sci-ppt:obj-0036"/>
          <p:cNvSpPr txBox="1"/>
          <p:nvPr/>
        </p:nvSpPr>
        <p:spPr>
          <a:xfrm>
            <a:off x="456462" y="2743950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38" name="line 37: plot geometry" descr="sci-ppt:obj-0037"/>
          <p:cNvCxnSpPr/>
          <p:nvPr/>
        </p:nvCxnSpPr>
        <p:spPr>
          <a:xfrm>
            <a:off x="696865" y="2395523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39" name="line 38: plot geometry" descr="sci-ppt:obj-0038"/>
          <p:cNvCxnSpPr/>
          <p:nvPr/>
        </p:nvCxnSpPr>
        <p:spPr>
          <a:xfrm flipH="1">
            <a:off x="641563" y="2395523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0" name="text 39: 3" descr="sci-ppt:obj-0039"/>
          <p:cNvSpPr txBox="1"/>
          <p:nvPr/>
        </p:nvSpPr>
        <p:spPr>
          <a:xfrm>
            <a:off x="456462" y="229280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41" name="line 40: plot geometry" descr="sci-ppt:obj-0040"/>
          <p:cNvCxnSpPr/>
          <p:nvPr/>
        </p:nvCxnSpPr>
        <p:spPr>
          <a:xfrm>
            <a:off x="696865" y="1944373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2" name="line 41: plot geometry" descr="sci-ppt:obj-0041"/>
          <p:cNvCxnSpPr/>
          <p:nvPr/>
        </p:nvCxnSpPr>
        <p:spPr>
          <a:xfrm flipH="1">
            <a:off x="641563" y="1944373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3" name="text 42: 4" descr="sci-ppt:obj-0042"/>
          <p:cNvSpPr txBox="1"/>
          <p:nvPr/>
        </p:nvSpPr>
        <p:spPr>
          <a:xfrm>
            <a:off x="456462" y="184165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44" name="line 43: plot geometry" descr="sci-ppt:obj-0043"/>
          <p:cNvCxnSpPr/>
          <p:nvPr/>
        </p:nvCxnSpPr>
        <p:spPr>
          <a:xfrm>
            <a:off x="696865" y="1493224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 flipH="1">
            <a:off x="641563" y="1493224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6" name="text 45: 5" descr="sci-ppt:obj-0045"/>
          <p:cNvSpPr txBox="1"/>
          <p:nvPr/>
        </p:nvSpPr>
        <p:spPr>
          <a:xfrm>
            <a:off x="456462" y="139050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47" name="line 46: plot geometry" descr="sci-ppt:obj-0046"/>
          <p:cNvCxnSpPr/>
          <p:nvPr/>
        </p:nvCxnSpPr>
        <p:spPr>
          <a:xfrm>
            <a:off x="696865" y="1042074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48" name="line 47: plot geometry" descr="sci-ppt:obj-0047"/>
          <p:cNvCxnSpPr/>
          <p:nvPr/>
        </p:nvCxnSpPr>
        <p:spPr>
          <a:xfrm flipH="1">
            <a:off x="641563" y="1042074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49" name="text 48: 6" descr="sci-ppt:obj-0048"/>
          <p:cNvSpPr txBox="1"/>
          <p:nvPr/>
        </p:nvSpPr>
        <p:spPr>
          <a:xfrm>
            <a:off x="456462" y="93935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0" name="text 49: Radial wall speed (m/s)" descr="sci-ppt:obj-0049"/>
          <p:cNvSpPr txBox="1"/>
          <p:nvPr/>
        </p:nvSpPr>
        <p:spPr>
          <a:xfrm rot="16200000">
            <a:off x="-724072" y="2212753"/>
            <a:ext cx="2217286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Radial wall speed (m/s)</a:t>
            </a:r>
          </a:p>
        </p:txBody>
      </p:sp>
      <p:sp>
        <p:nvSpPr>
          <p:cNvPr id="51" name="polygon 50: plot geometry" descr="sci-ppt:obj-0050"/>
          <p:cNvSpPr/>
          <p:nvPr/>
        </p:nvSpPr>
        <p:spPr>
          <a:xfrm>
            <a:off x="939533" y="1002290"/>
            <a:ext cx="216371" cy="2746682"/>
          </a:xfrm>
          <a:custGeom>
            <a:avLst/>
            <a:gdLst/>
            <a:ahLst/>
            <a:cxnLst/>
            <a:rect l="l" t="t" r="r" b="b"/>
            <a:pathLst>
              <a:path w="216371" h="2746682">
                <a:moveTo>
                  <a:pt x="0" y="2746682"/>
                </a:moveTo>
                <a:lnTo>
                  <a:pt x="57338" y="1602367"/>
                </a:lnTo>
                <a:lnTo>
                  <a:pt x="93310" y="904153"/>
                </a:lnTo>
                <a:lnTo>
                  <a:pt x="113865" y="571273"/>
                </a:lnTo>
                <a:lnTo>
                  <a:pt x="130634" y="353233"/>
                </a:lnTo>
                <a:lnTo>
                  <a:pt x="145239" y="206682"/>
                </a:lnTo>
                <a:lnTo>
                  <a:pt x="157951" y="112309"/>
                </a:lnTo>
                <a:lnTo>
                  <a:pt x="169040" y="54367"/>
                </a:lnTo>
                <a:lnTo>
                  <a:pt x="178506" y="21920"/>
                </a:lnTo>
                <a:lnTo>
                  <a:pt x="186350" y="6187"/>
                </a:lnTo>
                <a:lnTo>
                  <a:pt x="192571" y="465"/>
                </a:lnTo>
                <a:lnTo>
                  <a:pt x="197709" y="0"/>
                </a:lnTo>
                <a:lnTo>
                  <a:pt x="202848" y="3194"/>
                </a:lnTo>
                <a:lnTo>
                  <a:pt x="209069" y="11694"/>
                </a:lnTo>
                <a:lnTo>
                  <a:pt x="216371" y="27728"/>
                </a:lnTo>
                <a:lnTo>
                  <a:pt x="216371" y="27728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olygon 51: plot geometry" descr="sci-ppt:obj-0051"/>
          <p:cNvSpPr/>
          <p:nvPr/>
        </p:nvSpPr>
        <p:spPr>
          <a:xfrm>
            <a:off x="939533" y="3316088"/>
            <a:ext cx="1095020" cy="432884"/>
          </a:xfrm>
          <a:custGeom>
            <a:avLst/>
            <a:gdLst/>
            <a:ahLst/>
            <a:cxnLst/>
            <a:rect l="l" t="t" r="r" b="b"/>
            <a:pathLst>
              <a:path w="1095020" h="432884">
                <a:moveTo>
                  <a:pt x="0" y="432884"/>
                </a:moveTo>
                <a:lnTo>
                  <a:pt x="6397" y="340057"/>
                </a:lnTo>
                <a:lnTo>
                  <a:pt x="12795" y="289050"/>
                </a:lnTo>
                <a:lnTo>
                  <a:pt x="19602" y="258931"/>
                </a:lnTo>
                <a:lnTo>
                  <a:pt x="27375" y="239860"/>
                </a:lnTo>
                <a:lnTo>
                  <a:pt x="35588" y="228126"/>
                </a:lnTo>
                <a:lnTo>
                  <a:pt x="47907" y="217106"/>
                </a:lnTo>
                <a:lnTo>
                  <a:pt x="70489" y="202706"/>
                </a:lnTo>
                <a:lnTo>
                  <a:pt x="154672" y="155302"/>
                </a:lnTo>
                <a:lnTo>
                  <a:pt x="245011" y="107715"/>
                </a:lnTo>
                <a:lnTo>
                  <a:pt x="314818" y="74759"/>
                </a:lnTo>
                <a:lnTo>
                  <a:pt x="375044" y="50084"/>
                </a:lnTo>
                <a:lnTo>
                  <a:pt x="429795" y="31374"/>
                </a:lnTo>
                <a:lnTo>
                  <a:pt x="480440" y="17684"/>
                </a:lnTo>
                <a:lnTo>
                  <a:pt x="529716" y="8001"/>
                </a:lnTo>
                <a:lnTo>
                  <a:pt x="577623" y="2195"/>
                </a:lnTo>
                <a:lnTo>
                  <a:pt x="625530" y="0"/>
                </a:lnTo>
                <a:lnTo>
                  <a:pt x="673437" y="1358"/>
                </a:lnTo>
                <a:lnTo>
                  <a:pt x="722713" y="6291"/>
                </a:lnTo>
                <a:lnTo>
                  <a:pt x="774727" y="15084"/>
                </a:lnTo>
                <a:lnTo>
                  <a:pt x="830846" y="28221"/>
                </a:lnTo>
                <a:lnTo>
                  <a:pt x="893810" y="46722"/>
                </a:lnTo>
                <a:lnTo>
                  <a:pt x="967724" y="72295"/>
                </a:lnTo>
                <a:lnTo>
                  <a:pt x="1066276" y="110424"/>
                </a:lnTo>
                <a:lnTo>
                  <a:pt x="1095020" y="121999"/>
                </a:lnTo>
                <a:lnTo>
                  <a:pt x="1095020" y="121999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gon 52: plot geometry" descr="sci-ppt:obj-0052"/>
          <p:cNvSpPr/>
          <p:nvPr/>
        </p:nvSpPr>
        <p:spPr>
          <a:xfrm>
            <a:off x="939533" y="3705803"/>
            <a:ext cx="4853352" cy="43169"/>
          </a:xfrm>
          <a:custGeom>
            <a:avLst/>
            <a:gdLst/>
            <a:ahLst/>
            <a:cxnLst/>
            <a:rect l="l" t="t" r="r" b="b"/>
            <a:pathLst>
              <a:path w="4853352" h="43169">
                <a:moveTo>
                  <a:pt x="0" y="43169"/>
                </a:moveTo>
                <a:lnTo>
                  <a:pt x="2709" y="24394"/>
                </a:lnTo>
                <a:lnTo>
                  <a:pt x="5873" y="22920"/>
                </a:lnTo>
                <a:lnTo>
                  <a:pt x="33496" y="22679"/>
                </a:lnTo>
                <a:lnTo>
                  <a:pt x="3294212" y="4794"/>
                </a:lnTo>
                <a:lnTo>
                  <a:pt x="4847285" y="11"/>
                </a:lnTo>
                <a:lnTo>
                  <a:pt x="4853352" y="0"/>
                </a:lnTo>
                <a:lnTo>
                  <a:pt x="4853352" y="0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line 53: plot geometry" descr="sci-ppt:obj-0053"/>
          <p:cNvCxnSpPr/>
          <p:nvPr/>
        </p:nvCxnSpPr>
        <p:spPr>
          <a:xfrm flipV="1">
            <a:off x="696865" y="864678"/>
            <a:ext cx="0" cy="3021641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55" name="line 54: plot geometry" descr="sci-ppt:obj-0054"/>
          <p:cNvCxnSpPr/>
          <p:nvPr/>
        </p:nvCxnSpPr>
        <p:spPr>
          <a:xfrm>
            <a:off x="696865" y="3886319"/>
            <a:ext cx="5338687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56" name="text 55: Initial diameter 0.6 µm" descr="sci-ppt:obj-0055"/>
          <p:cNvSpPr txBox="1"/>
          <p:nvPr/>
        </p:nvSpPr>
        <p:spPr>
          <a:xfrm>
            <a:off x="2043152" y="574580"/>
            <a:ext cx="2646113" cy="2559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2" b="0" i="0">
                <a:solidFill>
                  <a:srgbClr val="000000"/>
                </a:solidFill>
                <a:latin typeface="Arial"/>
              </a:rPr>
              <a:t>Initial diameter 0.6 µm</a:t>
            </a:r>
          </a:p>
        </p:txBody>
      </p:sp>
      <p:sp>
        <p:nvSpPr>
          <p:cNvPr id="57" name="polygon 56: plot geometry" descr="sci-ppt:obj-0056"/>
          <p:cNvSpPr/>
          <p:nvPr/>
        </p:nvSpPr>
        <p:spPr>
          <a:xfrm>
            <a:off x="4335191" y="943681"/>
            <a:ext cx="1621358" cy="758464"/>
          </a:xfrm>
          <a:custGeom>
            <a:avLst/>
            <a:gdLst/>
            <a:ahLst/>
            <a:cxnLst/>
            <a:rect l="l" t="t" r="r" b="b"/>
            <a:pathLst>
              <a:path w="1621358" h="758464">
                <a:moveTo>
                  <a:pt x="31601" y="758464"/>
                </a:moveTo>
                <a:lnTo>
                  <a:pt x="1589757" y="758464"/>
                </a:lnTo>
                <a:lnTo>
                  <a:pt x="1594805" y="758244"/>
                </a:lnTo>
                <a:lnTo>
                  <a:pt x="1599413" y="757586"/>
                </a:lnTo>
                <a:lnTo>
                  <a:pt x="1603583" y="756488"/>
                </a:lnTo>
                <a:lnTo>
                  <a:pt x="1607314" y="754952"/>
                </a:lnTo>
                <a:lnTo>
                  <a:pt x="1610605" y="752977"/>
                </a:lnTo>
                <a:lnTo>
                  <a:pt x="1613458" y="750563"/>
                </a:lnTo>
                <a:lnTo>
                  <a:pt x="1615872" y="747710"/>
                </a:lnTo>
                <a:lnTo>
                  <a:pt x="1617847" y="744419"/>
                </a:lnTo>
                <a:lnTo>
                  <a:pt x="1619383" y="740688"/>
                </a:lnTo>
                <a:lnTo>
                  <a:pt x="1620481" y="736518"/>
                </a:lnTo>
                <a:lnTo>
                  <a:pt x="1621139" y="731910"/>
                </a:lnTo>
                <a:lnTo>
                  <a:pt x="1621358" y="726862"/>
                </a:lnTo>
                <a:lnTo>
                  <a:pt x="1621358" y="31601"/>
                </a:lnTo>
                <a:lnTo>
                  <a:pt x="1621139" y="26554"/>
                </a:lnTo>
                <a:lnTo>
                  <a:pt x="1620481" y="21945"/>
                </a:lnTo>
                <a:lnTo>
                  <a:pt x="1619383" y="17776"/>
                </a:lnTo>
                <a:lnTo>
                  <a:pt x="1617847" y="14045"/>
                </a:lnTo>
                <a:lnTo>
                  <a:pt x="1615872" y="10753"/>
                </a:lnTo>
                <a:lnTo>
                  <a:pt x="1613458" y="7901"/>
                </a:lnTo>
                <a:lnTo>
                  <a:pt x="1610605" y="5487"/>
                </a:lnTo>
                <a:lnTo>
                  <a:pt x="1607314" y="3511"/>
                </a:lnTo>
                <a:lnTo>
                  <a:pt x="1603583" y="1975"/>
                </a:lnTo>
                <a:lnTo>
                  <a:pt x="1599413" y="878"/>
                </a:lnTo>
                <a:lnTo>
                  <a:pt x="1594805" y="220"/>
                </a:lnTo>
                <a:lnTo>
                  <a:pt x="1589757" y="0"/>
                </a:lnTo>
                <a:lnTo>
                  <a:pt x="31601" y="0"/>
                </a:lnTo>
                <a:lnTo>
                  <a:pt x="26554" y="220"/>
                </a:lnTo>
                <a:lnTo>
                  <a:pt x="21945" y="878"/>
                </a:lnTo>
                <a:lnTo>
                  <a:pt x="17776" y="1975"/>
                </a:lnTo>
                <a:lnTo>
                  <a:pt x="14045" y="3511"/>
                </a:lnTo>
                <a:lnTo>
                  <a:pt x="10753" y="5487"/>
                </a:lnTo>
                <a:lnTo>
                  <a:pt x="7900" y="7901"/>
                </a:lnTo>
                <a:lnTo>
                  <a:pt x="5486" y="10753"/>
                </a:lnTo>
                <a:lnTo>
                  <a:pt x="3511" y="14045"/>
                </a:lnTo>
                <a:lnTo>
                  <a:pt x="1975" y="17776"/>
                </a:lnTo>
                <a:lnTo>
                  <a:pt x="878" y="21945"/>
                </a:lnTo>
                <a:lnTo>
                  <a:pt x="220" y="26554"/>
                </a:lnTo>
                <a:lnTo>
                  <a:pt x="0" y="31601"/>
                </a:lnTo>
                <a:lnTo>
                  <a:pt x="0" y="726862"/>
                </a:lnTo>
                <a:lnTo>
                  <a:pt x="220" y="731910"/>
                </a:lnTo>
                <a:lnTo>
                  <a:pt x="878" y="736518"/>
                </a:lnTo>
                <a:lnTo>
                  <a:pt x="1975" y="740688"/>
                </a:lnTo>
                <a:lnTo>
                  <a:pt x="3511" y="744419"/>
                </a:lnTo>
                <a:lnTo>
                  <a:pt x="5486" y="747710"/>
                </a:lnTo>
                <a:lnTo>
                  <a:pt x="7900" y="750563"/>
                </a:lnTo>
                <a:lnTo>
                  <a:pt x="10753" y="752977"/>
                </a:lnTo>
                <a:lnTo>
                  <a:pt x="14045" y="754952"/>
                </a:lnTo>
                <a:lnTo>
                  <a:pt x="17776" y="756488"/>
                </a:lnTo>
                <a:lnTo>
                  <a:pt x="21945" y="757586"/>
                </a:lnTo>
                <a:lnTo>
                  <a:pt x="26554" y="758244"/>
                </a:lnTo>
                <a:lnTo>
                  <a:pt x="31601" y="758464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gon 57: plot geometry" descr="sci-ppt:obj-0057"/>
          <p:cNvSpPr/>
          <p:nvPr/>
        </p:nvSpPr>
        <p:spPr>
          <a:xfrm>
            <a:off x="4398393" y="1071641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 58: η = 0 Pa s" descr="sci-ppt:obj-0058"/>
          <p:cNvSpPr txBox="1"/>
          <p:nvPr/>
        </p:nvSpPr>
        <p:spPr>
          <a:xfrm>
            <a:off x="4813377" y="964197"/>
            <a:ext cx="1005384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 Pa s</a:t>
            </a:r>
          </a:p>
        </p:txBody>
      </p:sp>
      <p:sp>
        <p:nvSpPr>
          <p:cNvPr id="60" name="polygon 59: plot geometry" descr="sci-ppt:obj-0059"/>
          <p:cNvSpPr/>
          <p:nvPr/>
        </p:nvSpPr>
        <p:spPr>
          <a:xfrm>
            <a:off x="4398393" y="1308662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 60: η = 0.01 Pa s" descr="sci-ppt:obj-0060"/>
          <p:cNvSpPr txBox="1"/>
          <p:nvPr/>
        </p:nvSpPr>
        <p:spPr>
          <a:xfrm>
            <a:off x="4813377" y="1201218"/>
            <a:ext cx="1285054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0.01 Pa s</a:t>
            </a:r>
          </a:p>
        </p:txBody>
      </p:sp>
      <p:sp>
        <p:nvSpPr>
          <p:cNvPr id="62" name="polygon 61: plot geometry" descr="sci-ppt:obj-0061"/>
          <p:cNvSpPr/>
          <p:nvPr/>
        </p:nvSpPr>
        <p:spPr>
          <a:xfrm>
            <a:off x="4398393" y="1545682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6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 62: η = 0.1 Pa s" descr="sci-ppt:obj-0062"/>
          <p:cNvSpPr txBox="1"/>
          <p:nvPr/>
        </p:nvSpPr>
        <p:spPr>
          <a:xfrm>
            <a:off x="4813377" y="1438238"/>
            <a:ext cx="1191830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0.1 Pa s</a:t>
            </a:r>
          </a:p>
        </p:txBody>
      </p:sp>
      <p:sp>
        <p:nvSpPr>
          <p:cNvPr id="64" name="polygon 63: plot geometry" descr="sci-ppt:obj-0063"/>
          <p:cNvSpPr/>
          <p:nvPr/>
        </p:nvSpPr>
        <p:spPr>
          <a:xfrm>
            <a:off x="6739244" y="864678"/>
            <a:ext cx="5338687" cy="3021641"/>
          </a:xfrm>
          <a:custGeom>
            <a:avLst/>
            <a:gdLst/>
            <a:ahLst/>
            <a:cxnLst/>
            <a:rect l="l" t="t" r="r" b="b"/>
            <a:pathLst>
              <a:path w="5338687" h="3021641">
                <a:moveTo>
                  <a:pt x="0" y="3021641"/>
                </a:moveTo>
                <a:lnTo>
                  <a:pt x="5338687" y="3021641"/>
                </a:lnTo>
                <a:lnTo>
                  <a:pt x="5338687" y="0"/>
                </a:lnTo>
                <a:lnTo>
                  <a:pt x="0" y="0"/>
                </a:lnTo>
                <a:lnTo>
                  <a:pt x="0" y="30216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line 64: plot geometry" descr="sci-ppt:obj-0064"/>
          <p:cNvCxnSpPr/>
          <p:nvPr/>
        </p:nvCxnSpPr>
        <p:spPr>
          <a:xfrm flipV="1">
            <a:off x="6981912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66" name="line 65: plot geometry" descr="sci-ppt:obj-0065"/>
          <p:cNvCxnSpPr/>
          <p:nvPr/>
        </p:nvCxnSpPr>
        <p:spPr>
          <a:xfrm>
            <a:off x="6981912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7" name="text 66: 0" descr="sci-ppt:obj-0066"/>
          <p:cNvSpPr txBox="1"/>
          <p:nvPr/>
        </p:nvSpPr>
        <p:spPr>
          <a:xfrm>
            <a:off x="6898724" y="395422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68" name="line 67: plot geometry" descr="sci-ppt:obj-0067"/>
          <p:cNvCxnSpPr/>
          <p:nvPr/>
        </p:nvCxnSpPr>
        <p:spPr>
          <a:xfrm flipV="1">
            <a:off x="8115607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69" name="line 68: plot geometry" descr="sci-ppt:obj-0068"/>
          <p:cNvCxnSpPr/>
          <p:nvPr/>
        </p:nvCxnSpPr>
        <p:spPr>
          <a:xfrm>
            <a:off x="8115607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0" name="text 69: 2" descr="sci-ppt:obj-0069"/>
          <p:cNvSpPr txBox="1"/>
          <p:nvPr/>
        </p:nvSpPr>
        <p:spPr>
          <a:xfrm>
            <a:off x="8032420" y="395422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71" name="line 70: plot geometry" descr="sci-ppt:obj-0070"/>
          <p:cNvCxnSpPr/>
          <p:nvPr/>
        </p:nvCxnSpPr>
        <p:spPr>
          <a:xfrm flipV="1">
            <a:off x="9249303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2" name="line 71: plot geometry" descr="sci-ppt:obj-0071"/>
          <p:cNvCxnSpPr/>
          <p:nvPr/>
        </p:nvCxnSpPr>
        <p:spPr>
          <a:xfrm>
            <a:off x="9249303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3" name="text 72: 4" descr="sci-ppt:obj-0072"/>
          <p:cNvSpPr txBox="1"/>
          <p:nvPr/>
        </p:nvSpPr>
        <p:spPr>
          <a:xfrm>
            <a:off x="9166115" y="395422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74" name="line 73: plot geometry" descr="sci-ppt:obj-0073"/>
          <p:cNvCxnSpPr/>
          <p:nvPr/>
        </p:nvCxnSpPr>
        <p:spPr>
          <a:xfrm flipV="1">
            <a:off x="10382998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5" name="line 74: plot geometry" descr="sci-ppt:obj-0074"/>
          <p:cNvCxnSpPr/>
          <p:nvPr/>
        </p:nvCxnSpPr>
        <p:spPr>
          <a:xfrm>
            <a:off x="10382998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6" name="text 75: 6" descr="sci-ppt:obj-0075"/>
          <p:cNvSpPr txBox="1"/>
          <p:nvPr/>
        </p:nvSpPr>
        <p:spPr>
          <a:xfrm>
            <a:off x="10299811" y="395422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77" name="line 76: plot geometry" descr="sci-ppt:obj-0076"/>
          <p:cNvCxnSpPr/>
          <p:nvPr/>
        </p:nvCxnSpPr>
        <p:spPr>
          <a:xfrm flipV="1">
            <a:off x="11516694" y="864678"/>
            <a:ext cx="0" cy="3021641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8" name="line 77: plot geometry" descr="sci-ppt:obj-0077"/>
          <p:cNvCxnSpPr/>
          <p:nvPr/>
        </p:nvCxnSpPr>
        <p:spPr>
          <a:xfrm>
            <a:off x="11516694" y="388631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9" name="text 78: 8" descr="sci-ppt:obj-0078"/>
          <p:cNvSpPr txBox="1"/>
          <p:nvPr/>
        </p:nvSpPr>
        <p:spPr>
          <a:xfrm>
            <a:off x="11433506" y="395422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80" name="text 79: Time after prescribed seed (µs)" descr="sci-ppt:obj-0079"/>
          <p:cNvSpPr txBox="1"/>
          <p:nvPr/>
        </p:nvSpPr>
        <p:spPr>
          <a:xfrm>
            <a:off x="7927051" y="4175444"/>
            <a:ext cx="2963072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Time after prescribed seed (µs)</a:t>
            </a:r>
          </a:p>
        </p:txBody>
      </p:sp>
      <p:cxnSp>
        <p:nvCxnSpPr>
          <p:cNvPr id="81" name="line 80: plot geometry" descr="sci-ppt:obj-0080"/>
          <p:cNvCxnSpPr/>
          <p:nvPr/>
        </p:nvCxnSpPr>
        <p:spPr>
          <a:xfrm>
            <a:off x="6739244" y="374897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82" name="line 81: plot geometry" descr="sci-ppt:obj-0081"/>
          <p:cNvCxnSpPr/>
          <p:nvPr/>
        </p:nvCxnSpPr>
        <p:spPr>
          <a:xfrm flipH="1">
            <a:off x="6683942" y="374897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83" name="text 82: 0" descr="sci-ppt:obj-0082"/>
          <p:cNvSpPr txBox="1"/>
          <p:nvPr/>
        </p:nvSpPr>
        <p:spPr>
          <a:xfrm>
            <a:off x="6498841" y="364624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84" name="line 83: plot geometry" descr="sci-ppt:obj-0083"/>
          <p:cNvCxnSpPr/>
          <p:nvPr/>
        </p:nvCxnSpPr>
        <p:spPr>
          <a:xfrm>
            <a:off x="6739244" y="3081141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85" name="line 84: plot geometry" descr="sci-ppt:obj-0084"/>
          <p:cNvCxnSpPr/>
          <p:nvPr/>
        </p:nvCxnSpPr>
        <p:spPr>
          <a:xfrm flipH="1">
            <a:off x="6683942" y="3081141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86" name="text 85: 1" descr="sci-ppt:obj-0085"/>
          <p:cNvSpPr txBox="1"/>
          <p:nvPr/>
        </p:nvSpPr>
        <p:spPr>
          <a:xfrm>
            <a:off x="6498841" y="297841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87" name="line 86: plot geometry" descr="sci-ppt:obj-0086"/>
          <p:cNvCxnSpPr/>
          <p:nvPr/>
        </p:nvCxnSpPr>
        <p:spPr>
          <a:xfrm>
            <a:off x="6739244" y="2413310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88" name="line 87: plot geometry" descr="sci-ppt:obj-0087"/>
          <p:cNvCxnSpPr/>
          <p:nvPr/>
        </p:nvCxnSpPr>
        <p:spPr>
          <a:xfrm flipH="1">
            <a:off x="6683942" y="241331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89" name="text 88: 2" descr="sci-ppt:obj-0088"/>
          <p:cNvSpPr txBox="1"/>
          <p:nvPr/>
        </p:nvSpPr>
        <p:spPr>
          <a:xfrm>
            <a:off x="6498841" y="231058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90" name="line 89: plot geometry" descr="sci-ppt:obj-0089"/>
          <p:cNvCxnSpPr/>
          <p:nvPr/>
        </p:nvCxnSpPr>
        <p:spPr>
          <a:xfrm>
            <a:off x="6739244" y="1745479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91" name="line 90: plot geometry" descr="sci-ppt:obj-0090"/>
          <p:cNvCxnSpPr/>
          <p:nvPr/>
        </p:nvCxnSpPr>
        <p:spPr>
          <a:xfrm flipH="1">
            <a:off x="6683942" y="1745479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92" name="text 91: 3" descr="sci-ppt:obj-0091"/>
          <p:cNvSpPr txBox="1"/>
          <p:nvPr/>
        </p:nvSpPr>
        <p:spPr>
          <a:xfrm>
            <a:off x="6498841" y="1642757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93" name="line 92: plot geometry" descr="sci-ppt:obj-0092"/>
          <p:cNvCxnSpPr/>
          <p:nvPr/>
        </p:nvCxnSpPr>
        <p:spPr>
          <a:xfrm>
            <a:off x="6739244" y="1077648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94" name="line 93: plot geometry" descr="sci-ppt:obj-0093"/>
          <p:cNvCxnSpPr/>
          <p:nvPr/>
        </p:nvCxnSpPr>
        <p:spPr>
          <a:xfrm flipH="1">
            <a:off x="6683942" y="1077648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95" name="text 94: 4" descr="sci-ppt:obj-0094"/>
          <p:cNvSpPr txBox="1"/>
          <p:nvPr/>
        </p:nvSpPr>
        <p:spPr>
          <a:xfrm>
            <a:off x="6498841" y="974926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96" name="text 95: Radial wall speed (m/s)" descr="sci-ppt:obj-0095"/>
          <p:cNvSpPr txBox="1"/>
          <p:nvPr/>
        </p:nvSpPr>
        <p:spPr>
          <a:xfrm rot="16200000">
            <a:off x="5318305" y="2212753"/>
            <a:ext cx="2217286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Radial wall speed (m/s)</a:t>
            </a:r>
          </a:p>
        </p:txBody>
      </p:sp>
      <p:sp>
        <p:nvSpPr>
          <p:cNvPr id="97" name="polygon 96: plot geometry" descr="sci-ppt:obj-0096"/>
          <p:cNvSpPr/>
          <p:nvPr/>
        </p:nvSpPr>
        <p:spPr>
          <a:xfrm>
            <a:off x="6981912" y="1002158"/>
            <a:ext cx="480112" cy="2746814"/>
          </a:xfrm>
          <a:custGeom>
            <a:avLst/>
            <a:gdLst/>
            <a:ahLst/>
            <a:cxnLst/>
            <a:rect l="l" t="t" r="r" b="b"/>
            <a:pathLst>
              <a:path w="480112" h="2746814">
                <a:moveTo>
                  <a:pt x="0" y="2746814"/>
                </a:moveTo>
                <a:lnTo>
                  <a:pt x="57013" y="1842005"/>
                </a:lnTo>
                <a:lnTo>
                  <a:pt x="88220" y="1402614"/>
                </a:lnTo>
                <a:lnTo>
                  <a:pt x="114626" y="1077966"/>
                </a:lnTo>
                <a:lnTo>
                  <a:pt x="138632" y="824240"/>
                </a:lnTo>
                <a:lnTo>
                  <a:pt x="160837" y="624978"/>
                </a:lnTo>
                <a:lnTo>
                  <a:pt x="181842" y="466683"/>
                </a:lnTo>
                <a:lnTo>
                  <a:pt x="201647" y="342661"/>
                </a:lnTo>
                <a:lnTo>
                  <a:pt x="220851" y="243995"/>
                </a:lnTo>
                <a:lnTo>
                  <a:pt x="238856" y="169181"/>
                </a:lnTo>
                <a:lnTo>
                  <a:pt x="255660" y="113449"/>
                </a:lnTo>
                <a:lnTo>
                  <a:pt x="271863" y="71469"/>
                </a:lnTo>
                <a:lnTo>
                  <a:pt x="286867" y="42018"/>
                </a:lnTo>
                <a:lnTo>
                  <a:pt x="300670" y="22265"/>
                </a:lnTo>
                <a:lnTo>
                  <a:pt x="313273" y="9904"/>
                </a:lnTo>
                <a:lnTo>
                  <a:pt x="325276" y="2806"/>
                </a:lnTo>
                <a:lnTo>
                  <a:pt x="336679" y="0"/>
                </a:lnTo>
                <a:lnTo>
                  <a:pt x="348081" y="780"/>
                </a:lnTo>
                <a:lnTo>
                  <a:pt x="360084" y="5220"/>
                </a:lnTo>
                <a:lnTo>
                  <a:pt x="373287" y="14096"/>
                </a:lnTo>
                <a:lnTo>
                  <a:pt x="387691" y="28196"/>
                </a:lnTo>
                <a:lnTo>
                  <a:pt x="403895" y="49121"/>
                </a:lnTo>
                <a:lnTo>
                  <a:pt x="422499" y="79157"/>
                </a:lnTo>
                <a:lnTo>
                  <a:pt x="443504" y="120006"/>
                </a:lnTo>
                <a:lnTo>
                  <a:pt x="467509" y="174671"/>
                </a:lnTo>
                <a:lnTo>
                  <a:pt x="480112" y="206420"/>
                </a:lnTo>
                <a:lnTo>
                  <a:pt x="480112" y="20642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polygon 97: plot geometry" descr="sci-ppt:obj-0097"/>
          <p:cNvSpPr/>
          <p:nvPr/>
        </p:nvSpPr>
        <p:spPr>
          <a:xfrm>
            <a:off x="6981912" y="1930767"/>
            <a:ext cx="681449" cy="1818205"/>
          </a:xfrm>
          <a:custGeom>
            <a:avLst/>
            <a:gdLst/>
            <a:ahLst/>
            <a:cxnLst/>
            <a:rect l="l" t="t" r="r" b="b"/>
            <a:pathLst>
              <a:path w="681449" h="1818205">
                <a:moveTo>
                  <a:pt x="0" y="1818205"/>
                </a:moveTo>
                <a:lnTo>
                  <a:pt x="24702" y="1442022"/>
                </a:lnTo>
                <a:lnTo>
                  <a:pt x="47701" y="1143293"/>
                </a:lnTo>
                <a:lnTo>
                  <a:pt x="68996" y="909725"/>
                </a:lnTo>
                <a:lnTo>
                  <a:pt x="90292" y="714237"/>
                </a:lnTo>
                <a:lnTo>
                  <a:pt x="110735" y="558495"/>
                </a:lnTo>
                <a:lnTo>
                  <a:pt x="130327" y="434876"/>
                </a:lnTo>
                <a:lnTo>
                  <a:pt x="149918" y="332938"/>
                </a:lnTo>
                <a:lnTo>
                  <a:pt x="168658" y="252883"/>
                </a:lnTo>
                <a:lnTo>
                  <a:pt x="187398" y="187477"/>
                </a:lnTo>
                <a:lnTo>
                  <a:pt x="206138" y="134659"/>
                </a:lnTo>
                <a:lnTo>
                  <a:pt x="224026" y="94366"/>
                </a:lnTo>
                <a:lnTo>
                  <a:pt x="241914" y="62643"/>
                </a:lnTo>
                <a:lnTo>
                  <a:pt x="258950" y="39392"/>
                </a:lnTo>
                <a:lnTo>
                  <a:pt x="275135" y="22847"/>
                </a:lnTo>
                <a:lnTo>
                  <a:pt x="291319" y="11104"/>
                </a:lnTo>
                <a:lnTo>
                  <a:pt x="307504" y="3660"/>
                </a:lnTo>
                <a:lnTo>
                  <a:pt x="323688" y="83"/>
                </a:lnTo>
                <a:lnTo>
                  <a:pt x="339872" y="0"/>
                </a:lnTo>
                <a:lnTo>
                  <a:pt x="356909" y="3333"/>
                </a:lnTo>
                <a:lnTo>
                  <a:pt x="375649" y="10671"/>
                </a:lnTo>
                <a:lnTo>
                  <a:pt x="396092" y="22641"/>
                </a:lnTo>
                <a:lnTo>
                  <a:pt x="418239" y="39809"/>
                </a:lnTo>
                <a:lnTo>
                  <a:pt x="442942" y="63577"/>
                </a:lnTo>
                <a:lnTo>
                  <a:pt x="470200" y="94840"/>
                </a:lnTo>
                <a:lnTo>
                  <a:pt x="500865" y="135593"/>
                </a:lnTo>
                <a:lnTo>
                  <a:pt x="534937" y="186942"/>
                </a:lnTo>
                <a:lnTo>
                  <a:pt x="573269" y="251299"/>
                </a:lnTo>
                <a:lnTo>
                  <a:pt x="616711" y="331377"/>
                </a:lnTo>
                <a:lnTo>
                  <a:pt x="666116" y="430027"/>
                </a:lnTo>
                <a:lnTo>
                  <a:pt x="681449" y="462022"/>
                </a:lnTo>
                <a:lnTo>
                  <a:pt x="681449" y="462022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polygon 98: plot geometry" descr="sci-ppt:obj-0098"/>
          <p:cNvSpPr/>
          <p:nvPr/>
        </p:nvSpPr>
        <p:spPr>
          <a:xfrm>
            <a:off x="6981912" y="3448727"/>
            <a:ext cx="4853351" cy="300245"/>
          </a:xfrm>
          <a:custGeom>
            <a:avLst/>
            <a:gdLst/>
            <a:ahLst/>
            <a:cxnLst/>
            <a:rect l="l" t="t" r="r" b="b"/>
            <a:pathLst>
              <a:path w="4853351" h="300245">
                <a:moveTo>
                  <a:pt x="0" y="300245"/>
                </a:moveTo>
                <a:lnTo>
                  <a:pt x="8349" y="190511"/>
                </a:lnTo>
                <a:lnTo>
                  <a:pt x="16869" y="119942"/>
                </a:lnTo>
                <a:lnTo>
                  <a:pt x="25212" y="76450"/>
                </a:lnTo>
                <a:lnTo>
                  <a:pt x="34080" y="47587"/>
                </a:lnTo>
                <a:lnTo>
                  <a:pt x="43810" y="28507"/>
                </a:lnTo>
                <a:lnTo>
                  <a:pt x="54600" y="16369"/>
                </a:lnTo>
                <a:lnTo>
                  <a:pt x="66733" y="8984"/>
                </a:lnTo>
                <a:lnTo>
                  <a:pt x="80049" y="4846"/>
                </a:lnTo>
                <a:lnTo>
                  <a:pt x="103133" y="1919"/>
                </a:lnTo>
                <a:lnTo>
                  <a:pt x="153800" y="483"/>
                </a:lnTo>
                <a:lnTo>
                  <a:pt x="370068" y="0"/>
                </a:lnTo>
                <a:lnTo>
                  <a:pt x="661269" y="2531"/>
                </a:lnTo>
                <a:lnTo>
                  <a:pt x="964603" y="8715"/>
                </a:lnTo>
                <a:lnTo>
                  <a:pt x="1274004" y="18550"/>
                </a:lnTo>
                <a:lnTo>
                  <a:pt x="1607672" y="32748"/>
                </a:lnTo>
                <a:lnTo>
                  <a:pt x="1983807" y="52413"/>
                </a:lnTo>
                <a:lnTo>
                  <a:pt x="2463075" y="81263"/>
                </a:lnTo>
                <a:lnTo>
                  <a:pt x="3900881" y="170132"/>
                </a:lnTo>
                <a:lnTo>
                  <a:pt x="4386216" y="195255"/>
                </a:lnTo>
                <a:lnTo>
                  <a:pt x="4853351" y="215968"/>
                </a:lnTo>
                <a:lnTo>
                  <a:pt x="4853351" y="215968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line 99: plot geometry" descr="sci-ppt:obj-0099"/>
          <p:cNvCxnSpPr/>
          <p:nvPr/>
        </p:nvCxnSpPr>
        <p:spPr>
          <a:xfrm flipV="1">
            <a:off x="6739244" y="864678"/>
            <a:ext cx="0" cy="3021641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101" name="line 100: plot geometry" descr="sci-ppt:obj-0100"/>
          <p:cNvCxnSpPr/>
          <p:nvPr/>
        </p:nvCxnSpPr>
        <p:spPr>
          <a:xfrm>
            <a:off x="6739244" y="3886319"/>
            <a:ext cx="5338687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02" name="text 101: Initial diameter 6 µm" descr="sci-ppt:obj-0101"/>
          <p:cNvSpPr txBox="1"/>
          <p:nvPr/>
        </p:nvSpPr>
        <p:spPr>
          <a:xfrm>
            <a:off x="8197399" y="574580"/>
            <a:ext cx="2422377" cy="2559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2" b="0" i="0">
                <a:solidFill>
                  <a:srgbClr val="000000"/>
                </a:solidFill>
                <a:latin typeface="Arial"/>
              </a:rPr>
              <a:t>Initial diameter 6 µm</a:t>
            </a:r>
          </a:p>
        </p:txBody>
      </p:sp>
      <p:sp>
        <p:nvSpPr>
          <p:cNvPr id="103" name="polygon 102: plot geometry" descr="sci-ppt:obj-0102"/>
          <p:cNvSpPr/>
          <p:nvPr/>
        </p:nvSpPr>
        <p:spPr>
          <a:xfrm>
            <a:off x="10377570" y="943681"/>
            <a:ext cx="1621358" cy="758464"/>
          </a:xfrm>
          <a:custGeom>
            <a:avLst/>
            <a:gdLst/>
            <a:ahLst/>
            <a:cxnLst/>
            <a:rect l="l" t="t" r="r" b="b"/>
            <a:pathLst>
              <a:path w="1621358" h="758464">
                <a:moveTo>
                  <a:pt x="31601" y="758464"/>
                </a:moveTo>
                <a:lnTo>
                  <a:pt x="1589757" y="758464"/>
                </a:lnTo>
                <a:lnTo>
                  <a:pt x="1594804" y="758244"/>
                </a:lnTo>
                <a:lnTo>
                  <a:pt x="1599413" y="757586"/>
                </a:lnTo>
                <a:lnTo>
                  <a:pt x="1603582" y="756488"/>
                </a:lnTo>
                <a:lnTo>
                  <a:pt x="1607313" y="754952"/>
                </a:lnTo>
                <a:lnTo>
                  <a:pt x="1610605" y="752977"/>
                </a:lnTo>
                <a:lnTo>
                  <a:pt x="1613458" y="750563"/>
                </a:lnTo>
                <a:lnTo>
                  <a:pt x="1615872" y="747710"/>
                </a:lnTo>
                <a:lnTo>
                  <a:pt x="1617847" y="744419"/>
                </a:lnTo>
                <a:lnTo>
                  <a:pt x="1619383" y="740688"/>
                </a:lnTo>
                <a:lnTo>
                  <a:pt x="1620480" y="736518"/>
                </a:lnTo>
                <a:lnTo>
                  <a:pt x="1621139" y="731910"/>
                </a:lnTo>
                <a:lnTo>
                  <a:pt x="1621358" y="726862"/>
                </a:lnTo>
                <a:lnTo>
                  <a:pt x="1621358" y="31601"/>
                </a:lnTo>
                <a:lnTo>
                  <a:pt x="1621139" y="26554"/>
                </a:lnTo>
                <a:lnTo>
                  <a:pt x="1620480" y="21945"/>
                </a:lnTo>
                <a:lnTo>
                  <a:pt x="1619383" y="17776"/>
                </a:lnTo>
                <a:lnTo>
                  <a:pt x="1617847" y="14045"/>
                </a:lnTo>
                <a:lnTo>
                  <a:pt x="1615872" y="10753"/>
                </a:lnTo>
                <a:lnTo>
                  <a:pt x="1613458" y="7901"/>
                </a:lnTo>
                <a:lnTo>
                  <a:pt x="1610605" y="5487"/>
                </a:lnTo>
                <a:lnTo>
                  <a:pt x="1607313" y="3511"/>
                </a:lnTo>
                <a:lnTo>
                  <a:pt x="1603582" y="1975"/>
                </a:lnTo>
                <a:lnTo>
                  <a:pt x="1599413" y="878"/>
                </a:lnTo>
                <a:lnTo>
                  <a:pt x="1594804" y="220"/>
                </a:lnTo>
                <a:lnTo>
                  <a:pt x="1589757" y="0"/>
                </a:lnTo>
                <a:lnTo>
                  <a:pt x="31601" y="0"/>
                </a:lnTo>
                <a:lnTo>
                  <a:pt x="26553" y="220"/>
                </a:lnTo>
                <a:lnTo>
                  <a:pt x="21945" y="878"/>
                </a:lnTo>
                <a:lnTo>
                  <a:pt x="17775" y="1975"/>
                </a:lnTo>
                <a:lnTo>
                  <a:pt x="14045" y="3511"/>
                </a:lnTo>
                <a:lnTo>
                  <a:pt x="10753" y="5487"/>
                </a:lnTo>
                <a:lnTo>
                  <a:pt x="7900" y="7901"/>
                </a:lnTo>
                <a:lnTo>
                  <a:pt x="5486" y="10753"/>
                </a:lnTo>
                <a:lnTo>
                  <a:pt x="3511" y="14045"/>
                </a:lnTo>
                <a:lnTo>
                  <a:pt x="1975" y="17776"/>
                </a:lnTo>
                <a:lnTo>
                  <a:pt x="877" y="21945"/>
                </a:lnTo>
                <a:lnTo>
                  <a:pt x="219" y="26554"/>
                </a:lnTo>
                <a:lnTo>
                  <a:pt x="0" y="31601"/>
                </a:lnTo>
                <a:lnTo>
                  <a:pt x="0" y="726862"/>
                </a:lnTo>
                <a:lnTo>
                  <a:pt x="219" y="731910"/>
                </a:lnTo>
                <a:lnTo>
                  <a:pt x="877" y="736518"/>
                </a:lnTo>
                <a:lnTo>
                  <a:pt x="1975" y="740688"/>
                </a:lnTo>
                <a:lnTo>
                  <a:pt x="3511" y="744419"/>
                </a:lnTo>
                <a:lnTo>
                  <a:pt x="5486" y="747710"/>
                </a:lnTo>
                <a:lnTo>
                  <a:pt x="7900" y="750563"/>
                </a:lnTo>
                <a:lnTo>
                  <a:pt x="10753" y="752977"/>
                </a:lnTo>
                <a:lnTo>
                  <a:pt x="14045" y="754952"/>
                </a:lnTo>
                <a:lnTo>
                  <a:pt x="17775" y="756488"/>
                </a:lnTo>
                <a:lnTo>
                  <a:pt x="21945" y="757586"/>
                </a:lnTo>
                <a:lnTo>
                  <a:pt x="26553" y="758244"/>
                </a:lnTo>
                <a:lnTo>
                  <a:pt x="31601" y="758464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polygon 103: plot geometry" descr="sci-ppt:obj-0103"/>
          <p:cNvSpPr/>
          <p:nvPr/>
        </p:nvSpPr>
        <p:spPr>
          <a:xfrm>
            <a:off x="10440772" y="1071641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5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 104: η = 0 Pa s" descr="sci-ppt:obj-0104"/>
          <p:cNvSpPr txBox="1"/>
          <p:nvPr/>
        </p:nvSpPr>
        <p:spPr>
          <a:xfrm>
            <a:off x="10855755" y="964197"/>
            <a:ext cx="1005384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 Pa s</a:t>
            </a:r>
          </a:p>
        </p:txBody>
      </p:sp>
      <p:sp>
        <p:nvSpPr>
          <p:cNvPr id="106" name="polygon 105: plot geometry" descr="sci-ppt:obj-0105"/>
          <p:cNvSpPr/>
          <p:nvPr/>
        </p:nvSpPr>
        <p:spPr>
          <a:xfrm>
            <a:off x="10440772" y="1308662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5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 106: η = 0.01 Pa s" descr="sci-ppt:obj-0106"/>
          <p:cNvSpPr txBox="1"/>
          <p:nvPr/>
        </p:nvSpPr>
        <p:spPr>
          <a:xfrm>
            <a:off x="10855755" y="1201218"/>
            <a:ext cx="1285054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0.01 Pa s</a:t>
            </a:r>
          </a:p>
        </p:txBody>
      </p:sp>
      <p:sp>
        <p:nvSpPr>
          <p:cNvPr id="108" name="polygon 107: plot geometry" descr="sci-ppt:obj-0107"/>
          <p:cNvSpPr/>
          <p:nvPr/>
        </p:nvSpPr>
        <p:spPr>
          <a:xfrm>
            <a:off x="10440772" y="1545682"/>
            <a:ext cx="316011" cy="0"/>
          </a:xfrm>
          <a:custGeom>
            <a:avLst/>
            <a:gdLst/>
            <a:ahLst/>
            <a:cxnLst/>
            <a:rect l="l" t="t" r="r" b="b"/>
            <a:pathLst>
              <a:path w="316011" h="0">
                <a:moveTo>
                  <a:pt x="0" y="0"/>
                </a:moveTo>
                <a:lnTo>
                  <a:pt x="158005" y="0"/>
                </a:lnTo>
                <a:lnTo>
                  <a:pt x="316011" y="0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 108: η = 0.1 Pa s" descr="sci-ppt:obj-0108"/>
          <p:cNvSpPr txBox="1"/>
          <p:nvPr/>
        </p:nvSpPr>
        <p:spPr>
          <a:xfrm>
            <a:off x="10855755" y="1438238"/>
            <a:ext cx="1191830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η = 0.1 Pa s</a:t>
            </a:r>
          </a:p>
        </p:txBody>
      </p:sp>
      <p:sp>
        <p:nvSpPr>
          <p:cNvPr id="110" name="polygon 109: plot geometry" descr="sci-ppt:obj-0109"/>
          <p:cNvSpPr/>
          <p:nvPr/>
        </p:nvSpPr>
        <p:spPr>
          <a:xfrm>
            <a:off x="696865" y="4470959"/>
            <a:ext cx="5338687" cy="3021640"/>
          </a:xfrm>
          <a:custGeom>
            <a:avLst/>
            <a:gdLst/>
            <a:ahLst/>
            <a:cxnLst/>
            <a:rect l="l" t="t" r="r" b="b"/>
            <a:pathLst>
              <a:path w="5338687" h="3021640">
                <a:moveTo>
                  <a:pt x="0" y="3021640"/>
                </a:moveTo>
                <a:lnTo>
                  <a:pt x="5338687" y="3021640"/>
                </a:lnTo>
                <a:lnTo>
                  <a:pt x="5338687" y="0"/>
                </a:lnTo>
                <a:lnTo>
                  <a:pt x="0" y="0"/>
                </a:lnTo>
                <a:lnTo>
                  <a:pt x="0" y="30216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line 110: plot geometry" descr="sci-ppt:obj-0110"/>
          <p:cNvCxnSpPr/>
          <p:nvPr/>
        </p:nvCxnSpPr>
        <p:spPr>
          <a:xfrm flipV="1">
            <a:off x="939533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2" name="line 111: plot geometry" descr="sci-ppt:obj-0111"/>
          <p:cNvCxnSpPr/>
          <p:nvPr/>
        </p:nvCxnSpPr>
        <p:spPr>
          <a:xfrm>
            <a:off x="939533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3" name="text 112: 0.0" descr="sci-ppt:obj-0112"/>
          <p:cNvSpPr txBox="1"/>
          <p:nvPr/>
        </p:nvSpPr>
        <p:spPr>
          <a:xfrm>
            <a:off x="763122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cxnSp>
        <p:nvCxnSpPr>
          <p:cNvPr id="114" name="line 113: plot geometry" descr="sci-ppt:obj-0113"/>
          <p:cNvCxnSpPr/>
          <p:nvPr/>
        </p:nvCxnSpPr>
        <p:spPr>
          <a:xfrm flipV="1">
            <a:off x="1586647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5" name="line 114: plot geometry" descr="sci-ppt:obj-0114"/>
          <p:cNvCxnSpPr/>
          <p:nvPr/>
        </p:nvCxnSpPr>
        <p:spPr>
          <a:xfrm>
            <a:off x="1586647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6" name="text 115: 0.2" descr="sci-ppt:obj-0115"/>
          <p:cNvSpPr txBox="1"/>
          <p:nvPr/>
        </p:nvSpPr>
        <p:spPr>
          <a:xfrm>
            <a:off x="1410236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cxnSp>
        <p:nvCxnSpPr>
          <p:cNvPr id="117" name="line 116: plot geometry" descr="sci-ppt:obj-0116"/>
          <p:cNvCxnSpPr/>
          <p:nvPr/>
        </p:nvCxnSpPr>
        <p:spPr>
          <a:xfrm flipV="1">
            <a:off x="2233760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8" name="line 117: plot geometry" descr="sci-ppt:obj-0117"/>
          <p:cNvCxnSpPr/>
          <p:nvPr/>
        </p:nvCxnSpPr>
        <p:spPr>
          <a:xfrm>
            <a:off x="2233760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19" name="text 118: 0.4" descr="sci-ppt:obj-0118"/>
          <p:cNvSpPr txBox="1"/>
          <p:nvPr/>
        </p:nvSpPr>
        <p:spPr>
          <a:xfrm>
            <a:off x="2057349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cxnSp>
        <p:nvCxnSpPr>
          <p:cNvPr id="120" name="line 119: plot geometry" descr="sci-ppt:obj-0119"/>
          <p:cNvCxnSpPr/>
          <p:nvPr/>
        </p:nvCxnSpPr>
        <p:spPr>
          <a:xfrm flipV="1">
            <a:off x="2880874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21" name="line 120: plot geometry" descr="sci-ppt:obj-0120"/>
          <p:cNvCxnSpPr/>
          <p:nvPr/>
        </p:nvCxnSpPr>
        <p:spPr>
          <a:xfrm>
            <a:off x="2880874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2" name="text 121: 0.6" descr="sci-ppt:obj-0121"/>
          <p:cNvSpPr txBox="1"/>
          <p:nvPr/>
        </p:nvSpPr>
        <p:spPr>
          <a:xfrm>
            <a:off x="2704463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cxnSp>
        <p:nvCxnSpPr>
          <p:cNvPr id="123" name="line 122: plot geometry" descr="sci-ppt:obj-0122"/>
          <p:cNvCxnSpPr/>
          <p:nvPr/>
        </p:nvCxnSpPr>
        <p:spPr>
          <a:xfrm flipV="1">
            <a:off x="3527987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24" name="line 123: plot geometry" descr="sci-ppt:obj-0123"/>
          <p:cNvCxnSpPr/>
          <p:nvPr/>
        </p:nvCxnSpPr>
        <p:spPr>
          <a:xfrm>
            <a:off x="3527987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5" name="text 124: 0.8" descr="sci-ppt:obj-0124"/>
          <p:cNvSpPr txBox="1"/>
          <p:nvPr/>
        </p:nvSpPr>
        <p:spPr>
          <a:xfrm>
            <a:off x="3351576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cxnSp>
        <p:nvCxnSpPr>
          <p:cNvPr id="126" name="line 125: plot geometry" descr="sci-ppt:obj-0125"/>
          <p:cNvCxnSpPr/>
          <p:nvPr/>
        </p:nvCxnSpPr>
        <p:spPr>
          <a:xfrm flipV="1">
            <a:off x="4175101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27" name="line 126: plot geometry" descr="sci-ppt:obj-0126"/>
          <p:cNvCxnSpPr/>
          <p:nvPr/>
        </p:nvCxnSpPr>
        <p:spPr>
          <a:xfrm>
            <a:off x="4175101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8" name="text 127: 1.0" descr="sci-ppt:obj-0127"/>
          <p:cNvSpPr txBox="1"/>
          <p:nvPr/>
        </p:nvSpPr>
        <p:spPr>
          <a:xfrm>
            <a:off x="3998690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cxnSp>
        <p:nvCxnSpPr>
          <p:cNvPr id="129" name="line 128: plot geometry" descr="sci-ppt:obj-0128"/>
          <p:cNvCxnSpPr/>
          <p:nvPr/>
        </p:nvCxnSpPr>
        <p:spPr>
          <a:xfrm flipV="1">
            <a:off x="4822214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30" name="line 129: plot geometry" descr="sci-ppt:obj-0129"/>
          <p:cNvCxnSpPr/>
          <p:nvPr/>
        </p:nvCxnSpPr>
        <p:spPr>
          <a:xfrm>
            <a:off x="4822214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31" name="text 130: 1.2" descr="sci-ppt:obj-0130"/>
          <p:cNvSpPr txBox="1"/>
          <p:nvPr/>
        </p:nvSpPr>
        <p:spPr>
          <a:xfrm>
            <a:off x="4645803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132" name="line 131: plot geometry" descr="sci-ppt:obj-0131"/>
          <p:cNvCxnSpPr/>
          <p:nvPr/>
        </p:nvCxnSpPr>
        <p:spPr>
          <a:xfrm flipV="1">
            <a:off x="5469328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33" name="line 132: plot geometry" descr="sci-ppt:obj-0132"/>
          <p:cNvCxnSpPr/>
          <p:nvPr/>
        </p:nvCxnSpPr>
        <p:spPr>
          <a:xfrm>
            <a:off x="5469328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34" name="text 133: 1.4" descr="sci-ppt:obj-0133"/>
          <p:cNvSpPr txBox="1"/>
          <p:nvPr/>
        </p:nvSpPr>
        <p:spPr>
          <a:xfrm>
            <a:off x="5292917" y="756050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sp>
        <p:nvSpPr>
          <p:cNvPr id="135" name="text 134: Time after prescribed seed (µs)" descr="sci-ppt:obj-0134"/>
          <p:cNvSpPr txBox="1"/>
          <p:nvPr/>
        </p:nvSpPr>
        <p:spPr>
          <a:xfrm>
            <a:off x="1884673" y="7781725"/>
            <a:ext cx="2963072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Time after prescribed seed (µs)</a:t>
            </a:r>
          </a:p>
        </p:txBody>
      </p:sp>
      <p:cxnSp>
        <p:nvCxnSpPr>
          <p:cNvPr id="136" name="line 135: plot geometry" descr="sci-ppt:obj-0135"/>
          <p:cNvCxnSpPr/>
          <p:nvPr/>
        </p:nvCxnSpPr>
        <p:spPr>
          <a:xfrm>
            <a:off x="696865" y="735525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37" name="line 136: plot geometry" descr="sci-ppt:obj-0136"/>
          <p:cNvCxnSpPr/>
          <p:nvPr/>
        </p:nvCxnSpPr>
        <p:spPr>
          <a:xfrm flipH="1">
            <a:off x="641563" y="735525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38" name="text 137: 1.2" descr="sci-ppt:obj-0137"/>
          <p:cNvSpPr txBox="1"/>
          <p:nvPr/>
        </p:nvSpPr>
        <p:spPr>
          <a:xfrm>
            <a:off x="270016" y="7252530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139" name="line 138: plot geometry" descr="sci-ppt:obj-0138"/>
          <p:cNvCxnSpPr/>
          <p:nvPr/>
        </p:nvCxnSpPr>
        <p:spPr>
          <a:xfrm>
            <a:off x="696865" y="6744820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0" name="line 139: plot geometry" descr="sci-ppt:obj-0139"/>
          <p:cNvCxnSpPr/>
          <p:nvPr/>
        </p:nvCxnSpPr>
        <p:spPr>
          <a:xfrm flipH="1">
            <a:off x="641563" y="674482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41" name="text 140: 1.4" descr="sci-ppt:obj-0140"/>
          <p:cNvSpPr txBox="1"/>
          <p:nvPr/>
        </p:nvSpPr>
        <p:spPr>
          <a:xfrm>
            <a:off x="270016" y="6642098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cxnSp>
        <p:nvCxnSpPr>
          <p:cNvPr id="142" name="line 141: plot geometry" descr="sci-ppt:obj-0141"/>
          <p:cNvCxnSpPr/>
          <p:nvPr/>
        </p:nvCxnSpPr>
        <p:spPr>
          <a:xfrm>
            <a:off x="696865" y="6134387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3" name="line 142: plot geometry" descr="sci-ppt:obj-0142"/>
          <p:cNvCxnSpPr/>
          <p:nvPr/>
        </p:nvCxnSpPr>
        <p:spPr>
          <a:xfrm flipH="1">
            <a:off x="641563" y="6134387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44" name="text 143: 1.6" descr="sci-ppt:obj-0143"/>
          <p:cNvSpPr txBox="1"/>
          <p:nvPr/>
        </p:nvSpPr>
        <p:spPr>
          <a:xfrm>
            <a:off x="270016" y="603166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cxnSp>
        <p:nvCxnSpPr>
          <p:cNvPr id="145" name="line 144: plot geometry" descr="sci-ppt:obj-0144"/>
          <p:cNvCxnSpPr/>
          <p:nvPr/>
        </p:nvCxnSpPr>
        <p:spPr>
          <a:xfrm>
            <a:off x="696865" y="5523955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6" name="line 145: plot geometry" descr="sci-ppt:obj-0145"/>
          <p:cNvCxnSpPr/>
          <p:nvPr/>
        </p:nvCxnSpPr>
        <p:spPr>
          <a:xfrm flipH="1">
            <a:off x="641563" y="552395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47" name="text 146: 1.8" descr="sci-ppt:obj-0146"/>
          <p:cNvSpPr txBox="1"/>
          <p:nvPr/>
        </p:nvSpPr>
        <p:spPr>
          <a:xfrm>
            <a:off x="270016" y="542123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cxnSp>
        <p:nvCxnSpPr>
          <p:cNvPr id="148" name="line 147: plot geometry" descr="sci-ppt:obj-0147"/>
          <p:cNvCxnSpPr/>
          <p:nvPr/>
        </p:nvCxnSpPr>
        <p:spPr>
          <a:xfrm>
            <a:off x="696865" y="4913523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9" name="line 148: plot geometry" descr="sci-ppt:obj-0148"/>
          <p:cNvCxnSpPr/>
          <p:nvPr/>
        </p:nvCxnSpPr>
        <p:spPr>
          <a:xfrm flipH="1">
            <a:off x="641563" y="4913523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50" name="text 149: 2.0" descr="sci-ppt:obj-0149"/>
          <p:cNvSpPr txBox="1"/>
          <p:nvPr/>
        </p:nvSpPr>
        <p:spPr>
          <a:xfrm>
            <a:off x="270016" y="4810800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51" name="text 150: Outer-radius stretch" descr="sci-ppt:obj-0150"/>
          <p:cNvSpPr txBox="1"/>
          <p:nvPr/>
        </p:nvSpPr>
        <p:spPr>
          <a:xfrm rot="16200000">
            <a:off x="-734984" y="5819034"/>
            <a:ext cx="1937616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Outer-radius stretch</a:t>
            </a:r>
          </a:p>
        </p:txBody>
      </p:sp>
      <p:sp>
        <p:nvSpPr>
          <p:cNvPr id="152" name="polygon 151: plot geometry" descr="sci-ppt:obj-0151"/>
          <p:cNvSpPr/>
          <p:nvPr/>
        </p:nvSpPr>
        <p:spPr>
          <a:xfrm>
            <a:off x="939533" y="4608306"/>
            <a:ext cx="216371" cy="2746946"/>
          </a:xfrm>
          <a:custGeom>
            <a:avLst/>
            <a:gdLst/>
            <a:ahLst/>
            <a:cxnLst/>
            <a:rect l="l" t="t" r="r" b="b"/>
            <a:pathLst>
              <a:path w="216371" h="2746946">
                <a:moveTo>
                  <a:pt x="0" y="2746946"/>
                </a:moveTo>
                <a:lnTo>
                  <a:pt x="4868" y="2745346"/>
                </a:lnTo>
                <a:lnTo>
                  <a:pt x="10548" y="2739431"/>
                </a:lnTo>
                <a:lnTo>
                  <a:pt x="17310" y="2726677"/>
                </a:lnTo>
                <a:lnTo>
                  <a:pt x="25424" y="2703109"/>
                </a:lnTo>
                <a:lnTo>
                  <a:pt x="34890" y="2664074"/>
                </a:lnTo>
                <a:lnTo>
                  <a:pt x="45979" y="2602309"/>
                </a:lnTo>
                <a:lnTo>
                  <a:pt x="58691" y="2509988"/>
                </a:lnTo>
                <a:lnTo>
                  <a:pt x="73025" y="2378421"/>
                </a:lnTo>
                <a:lnTo>
                  <a:pt x="89253" y="2195526"/>
                </a:lnTo>
                <a:lnTo>
                  <a:pt x="108186" y="1940301"/>
                </a:lnTo>
                <a:lnTo>
                  <a:pt x="130905" y="1583844"/>
                </a:lnTo>
                <a:lnTo>
                  <a:pt x="160656" y="1057657"/>
                </a:lnTo>
                <a:lnTo>
                  <a:pt x="216371" y="0"/>
                </a:lnTo>
                <a:lnTo>
                  <a:pt x="216371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polygon 152: plot geometry" descr="sci-ppt:obj-0152"/>
          <p:cNvSpPr/>
          <p:nvPr/>
        </p:nvSpPr>
        <p:spPr>
          <a:xfrm>
            <a:off x="939533" y="4608306"/>
            <a:ext cx="1095020" cy="2746946"/>
          </a:xfrm>
          <a:custGeom>
            <a:avLst/>
            <a:gdLst/>
            <a:ahLst/>
            <a:cxnLst/>
            <a:rect l="l" t="t" r="r" b="b"/>
            <a:pathLst>
              <a:path w="1095020" h="2746946">
                <a:moveTo>
                  <a:pt x="0" y="2746946"/>
                </a:moveTo>
                <a:lnTo>
                  <a:pt x="5475" y="2745233"/>
                </a:lnTo>
                <a:lnTo>
                  <a:pt x="13496" y="2738569"/>
                </a:lnTo>
                <a:lnTo>
                  <a:pt x="26994" y="2722195"/>
                </a:lnTo>
                <a:lnTo>
                  <a:pt x="53382" y="2683875"/>
                </a:lnTo>
                <a:lnTo>
                  <a:pt x="92026" y="2621561"/>
                </a:lnTo>
                <a:lnTo>
                  <a:pt x="134140" y="2546875"/>
                </a:lnTo>
                <a:lnTo>
                  <a:pt x="177941" y="2461915"/>
                </a:lnTo>
                <a:lnTo>
                  <a:pt x="224479" y="2363764"/>
                </a:lnTo>
                <a:lnTo>
                  <a:pt x="273755" y="2251411"/>
                </a:lnTo>
                <a:lnTo>
                  <a:pt x="327137" y="2120604"/>
                </a:lnTo>
                <a:lnTo>
                  <a:pt x="384626" y="1970259"/>
                </a:lnTo>
                <a:lnTo>
                  <a:pt x="450327" y="1788282"/>
                </a:lnTo>
                <a:lnTo>
                  <a:pt x="529716" y="1557561"/>
                </a:lnTo>
                <a:lnTo>
                  <a:pt x="663856" y="1154776"/>
                </a:lnTo>
                <a:lnTo>
                  <a:pt x="784308" y="797491"/>
                </a:lnTo>
                <a:lnTo>
                  <a:pt x="863697" y="572746"/>
                </a:lnTo>
                <a:lnTo>
                  <a:pt x="932136" y="389250"/>
                </a:lnTo>
                <a:lnTo>
                  <a:pt x="995099" y="230386"/>
                </a:lnTo>
                <a:lnTo>
                  <a:pt x="1053957" y="91342"/>
                </a:lnTo>
                <a:lnTo>
                  <a:pt x="1095020" y="0"/>
                </a:lnTo>
                <a:lnTo>
                  <a:pt x="1095020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polygon 153: plot geometry" descr="sci-ppt:obj-0153"/>
          <p:cNvSpPr/>
          <p:nvPr/>
        </p:nvSpPr>
        <p:spPr>
          <a:xfrm>
            <a:off x="939533" y="6224287"/>
            <a:ext cx="4853352" cy="1130965"/>
          </a:xfrm>
          <a:custGeom>
            <a:avLst/>
            <a:gdLst/>
            <a:ahLst/>
            <a:cxnLst/>
            <a:rect l="l" t="t" r="r" b="b"/>
            <a:pathLst>
              <a:path w="4853352" h="1130965">
                <a:moveTo>
                  <a:pt x="0" y="1130965"/>
                </a:moveTo>
                <a:lnTo>
                  <a:pt x="13364" y="1129220"/>
                </a:lnTo>
                <a:lnTo>
                  <a:pt x="303334" y="1086289"/>
                </a:lnTo>
                <a:lnTo>
                  <a:pt x="594536" y="1039620"/>
                </a:lnTo>
                <a:lnTo>
                  <a:pt x="885737" y="989399"/>
                </a:lnTo>
                <a:lnTo>
                  <a:pt x="1176938" y="935656"/>
                </a:lnTo>
                <a:lnTo>
                  <a:pt x="1474206" y="877212"/>
                </a:lnTo>
                <a:lnTo>
                  <a:pt x="1771473" y="815220"/>
                </a:lnTo>
                <a:lnTo>
                  <a:pt x="2074808" y="748404"/>
                </a:lnTo>
                <a:lnTo>
                  <a:pt x="2384209" y="676679"/>
                </a:lnTo>
                <a:lnTo>
                  <a:pt x="2705744" y="598488"/>
                </a:lnTo>
                <a:lnTo>
                  <a:pt x="3033345" y="515211"/>
                </a:lnTo>
                <a:lnTo>
                  <a:pt x="3379146" y="423643"/>
                </a:lnTo>
                <a:lnTo>
                  <a:pt x="3743147" y="323572"/>
                </a:lnTo>
                <a:lnTo>
                  <a:pt x="4137482" y="211425"/>
                </a:lnTo>
                <a:lnTo>
                  <a:pt x="4574284" y="83429"/>
                </a:lnTo>
                <a:lnTo>
                  <a:pt x="4853352" y="0"/>
                </a:lnTo>
                <a:lnTo>
                  <a:pt x="4853352" y="0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5" name="line 154: plot geometry" descr="sci-ppt:obj-0154"/>
          <p:cNvCxnSpPr/>
          <p:nvPr/>
        </p:nvCxnSpPr>
        <p:spPr>
          <a:xfrm>
            <a:off x="696865" y="4608306"/>
            <a:ext cx="5338687" cy="0"/>
          </a:xfrm>
          <a:prstGeom prst="line">
            <a:avLst/>
          </a:prstGeom>
          <a:ln w="12640">
            <a:solidFill>
              <a:srgbClr val="666666"/>
            </a:solidFill>
            <a:prstDash val="dash"/>
          </a:ln>
          <a:effectLst/>
        </p:spPr>
      </p:cxnSp>
      <p:cxnSp>
        <p:nvCxnSpPr>
          <p:cNvPr id="156" name="line 155: plot geometry" descr="sci-ppt:obj-0155"/>
          <p:cNvCxnSpPr/>
          <p:nvPr/>
        </p:nvCxnSpPr>
        <p:spPr>
          <a:xfrm flipV="1">
            <a:off x="696865" y="4470959"/>
            <a:ext cx="0" cy="302164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157" name="line 156: plot geometry" descr="sci-ppt:obj-0156"/>
          <p:cNvCxnSpPr/>
          <p:nvPr/>
        </p:nvCxnSpPr>
        <p:spPr>
          <a:xfrm>
            <a:off x="696865" y="7492599"/>
            <a:ext cx="5338687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58" name="polygon 157: plot geometry" descr="sci-ppt:obj-0157"/>
          <p:cNvSpPr/>
          <p:nvPr/>
        </p:nvSpPr>
        <p:spPr>
          <a:xfrm>
            <a:off x="6739244" y="4470959"/>
            <a:ext cx="5338687" cy="3021640"/>
          </a:xfrm>
          <a:custGeom>
            <a:avLst/>
            <a:gdLst/>
            <a:ahLst/>
            <a:cxnLst/>
            <a:rect l="l" t="t" r="r" b="b"/>
            <a:pathLst>
              <a:path w="5338687" h="3021640">
                <a:moveTo>
                  <a:pt x="0" y="3021640"/>
                </a:moveTo>
                <a:lnTo>
                  <a:pt x="5338687" y="3021640"/>
                </a:lnTo>
                <a:lnTo>
                  <a:pt x="5338687" y="0"/>
                </a:lnTo>
                <a:lnTo>
                  <a:pt x="0" y="0"/>
                </a:lnTo>
                <a:lnTo>
                  <a:pt x="0" y="30216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9" name="line 158: plot geometry" descr="sci-ppt:obj-0158"/>
          <p:cNvCxnSpPr/>
          <p:nvPr/>
        </p:nvCxnSpPr>
        <p:spPr>
          <a:xfrm flipV="1">
            <a:off x="6981912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60" name="line 159: plot geometry" descr="sci-ppt:obj-0159"/>
          <p:cNvCxnSpPr/>
          <p:nvPr/>
        </p:nvCxnSpPr>
        <p:spPr>
          <a:xfrm>
            <a:off x="6981912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61" name="text 160: 0" descr="sci-ppt:obj-0160"/>
          <p:cNvSpPr txBox="1"/>
          <p:nvPr/>
        </p:nvSpPr>
        <p:spPr>
          <a:xfrm>
            <a:off x="6898724" y="7560505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62" name="line 161: plot geometry" descr="sci-ppt:obj-0161"/>
          <p:cNvCxnSpPr/>
          <p:nvPr/>
        </p:nvCxnSpPr>
        <p:spPr>
          <a:xfrm flipV="1">
            <a:off x="8115607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63" name="line 162: plot geometry" descr="sci-ppt:obj-0162"/>
          <p:cNvCxnSpPr/>
          <p:nvPr/>
        </p:nvCxnSpPr>
        <p:spPr>
          <a:xfrm>
            <a:off x="8115607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64" name="text 163: 2" descr="sci-ppt:obj-0163"/>
          <p:cNvSpPr txBox="1"/>
          <p:nvPr/>
        </p:nvSpPr>
        <p:spPr>
          <a:xfrm>
            <a:off x="8032420" y="7560505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65" name="line 164: plot geometry" descr="sci-ppt:obj-0164"/>
          <p:cNvCxnSpPr/>
          <p:nvPr/>
        </p:nvCxnSpPr>
        <p:spPr>
          <a:xfrm flipV="1">
            <a:off x="9249303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66" name="line 165: plot geometry" descr="sci-ppt:obj-0165"/>
          <p:cNvCxnSpPr/>
          <p:nvPr/>
        </p:nvCxnSpPr>
        <p:spPr>
          <a:xfrm>
            <a:off x="9249303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67" name="text 166: 4" descr="sci-ppt:obj-0166"/>
          <p:cNvSpPr txBox="1"/>
          <p:nvPr/>
        </p:nvSpPr>
        <p:spPr>
          <a:xfrm>
            <a:off x="9166115" y="7560505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168" name="line 167: plot geometry" descr="sci-ppt:obj-0167"/>
          <p:cNvCxnSpPr/>
          <p:nvPr/>
        </p:nvCxnSpPr>
        <p:spPr>
          <a:xfrm flipV="1">
            <a:off x="10382998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69" name="line 168: plot geometry" descr="sci-ppt:obj-0168"/>
          <p:cNvCxnSpPr/>
          <p:nvPr/>
        </p:nvCxnSpPr>
        <p:spPr>
          <a:xfrm>
            <a:off x="10382998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70" name="text 169: 6" descr="sci-ppt:obj-0169"/>
          <p:cNvSpPr txBox="1"/>
          <p:nvPr/>
        </p:nvSpPr>
        <p:spPr>
          <a:xfrm>
            <a:off x="10299811" y="7560505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171" name="line 170: plot geometry" descr="sci-ppt:obj-0170"/>
          <p:cNvCxnSpPr/>
          <p:nvPr/>
        </p:nvCxnSpPr>
        <p:spPr>
          <a:xfrm flipV="1">
            <a:off x="11516694" y="4470959"/>
            <a:ext cx="0" cy="302164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72" name="line 171: plot geometry" descr="sci-ppt:obj-0171"/>
          <p:cNvCxnSpPr/>
          <p:nvPr/>
        </p:nvCxnSpPr>
        <p:spPr>
          <a:xfrm>
            <a:off x="11516694" y="7492599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73" name="text 172: 8" descr="sci-ppt:obj-0172"/>
          <p:cNvSpPr txBox="1"/>
          <p:nvPr/>
        </p:nvSpPr>
        <p:spPr>
          <a:xfrm>
            <a:off x="11433506" y="7560505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74" name="text 173: Time after prescribed seed (µs)" descr="sci-ppt:obj-0173"/>
          <p:cNvSpPr txBox="1"/>
          <p:nvPr/>
        </p:nvSpPr>
        <p:spPr>
          <a:xfrm>
            <a:off x="7927051" y="7781725"/>
            <a:ext cx="2963072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Time after prescribed seed (µs)</a:t>
            </a:r>
          </a:p>
        </p:txBody>
      </p:sp>
      <p:cxnSp>
        <p:nvCxnSpPr>
          <p:cNvPr id="175" name="line 174: plot geometry" descr="sci-ppt:obj-0174"/>
          <p:cNvCxnSpPr/>
          <p:nvPr/>
        </p:nvCxnSpPr>
        <p:spPr>
          <a:xfrm>
            <a:off x="6739244" y="7355252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76" name="line 175: plot geometry" descr="sci-ppt:obj-0175"/>
          <p:cNvCxnSpPr/>
          <p:nvPr/>
        </p:nvCxnSpPr>
        <p:spPr>
          <a:xfrm flipH="1">
            <a:off x="6683942" y="7355252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77" name="text 176: 1.2" descr="sci-ppt:obj-0176"/>
          <p:cNvSpPr txBox="1"/>
          <p:nvPr/>
        </p:nvSpPr>
        <p:spPr>
          <a:xfrm>
            <a:off x="6312394" y="7252530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178" name="line 177: plot geometry" descr="sci-ppt:obj-0177"/>
          <p:cNvCxnSpPr/>
          <p:nvPr/>
        </p:nvCxnSpPr>
        <p:spPr>
          <a:xfrm>
            <a:off x="6739244" y="6744820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79" name="line 178: plot geometry" descr="sci-ppt:obj-0178"/>
          <p:cNvCxnSpPr/>
          <p:nvPr/>
        </p:nvCxnSpPr>
        <p:spPr>
          <a:xfrm flipH="1">
            <a:off x="6683942" y="674482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0" name="text 179: 1.4" descr="sci-ppt:obj-0179"/>
          <p:cNvSpPr txBox="1"/>
          <p:nvPr/>
        </p:nvSpPr>
        <p:spPr>
          <a:xfrm>
            <a:off x="6312394" y="6642098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1.4</a:t>
            </a:r>
          </a:p>
        </p:txBody>
      </p:sp>
      <p:cxnSp>
        <p:nvCxnSpPr>
          <p:cNvPr id="181" name="line 180: plot geometry" descr="sci-ppt:obj-0180"/>
          <p:cNvCxnSpPr/>
          <p:nvPr/>
        </p:nvCxnSpPr>
        <p:spPr>
          <a:xfrm>
            <a:off x="6739244" y="6134387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82" name="line 181: plot geometry" descr="sci-ppt:obj-0181"/>
          <p:cNvCxnSpPr/>
          <p:nvPr/>
        </p:nvCxnSpPr>
        <p:spPr>
          <a:xfrm flipH="1">
            <a:off x="6683942" y="6134387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3" name="text 182: 1.6" descr="sci-ppt:obj-0182"/>
          <p:cNvSpPr txBox="1"/>
          <p:nvPr/>
        </p:nvSpPr>
        <p:spPr>
          <a:xfrm>
            <a:off x="6312394" y="6031665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1.6</a:t>
            </a:r>
          </a:p>
        </p:txBody>
      </p:sp>
      <p:cxnSp>
        <p:nvCxnSpPr>
          <p:cNvPr id="184" name="line 183: plot geometry" descr="sci-ppt:obj-0183"/>
          <p:cNvCxnSpPr/>
          <p:nvPr/>
        </p:nvCxnSpPr>
        <p:spPr>
          <a:xfrm>
            <a:off x="6739244" y="5523955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85" name="line 184: plot geometry" descr="sci-ppt:obj-0184"/>
          <p:cNvCxnSpPr/>
          <p:nvPr/>
        </p:nvCxnSpPr>
        <p:spPr>
          <a:xfrm flipH="1">
            <a:off x="6683942" y="552395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6" name="text 185: 1.8" descr="sci-ppt:obj-0185"/>
          <p:cNvSpPr txBox="1"/>
          <p:nvPr/>
        </p:nvSpPr>
        <p:spPr>
          <a:xfrm>
            <a:off x="6312394" y="5421233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cxnSp>
        <p:nvCxnSpPr>
          <p:cNvPr id="187" name="line 186: plot geometry" descr="sci-ppt:obj-0186"/>
          <p:cNvCxnSpPr/>
          <p:nvPr/>
        </p:nvCxnSpPr>
        <p:spPr>
          <a:xfrm>
            <a:off x="6739244" y="4913523"/>
            <a:ext cx="5338687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88" name="line 187: plot geometry" descr="sci-ppt:obj-0187"/>
          <p:cNvCxnSpPr/>
          <p:nvPr/>
        </p:nvCxnSpPr>
        <p:spPr>
          <a:xfrm flipH="1">
            <a:off x="6683942" y="4913523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9" name="text 188: 2.0" descr="sci-ppt:obj-0188"/>
          <p:cNvSpPr txBox="1"/>
          <p:nvPr/>
        </p:nvSpPr>
        <p:spPr>
          <a:xfrm>
            <a:off x="6312394" y="4810800"/>
            <a:ext cx="352821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90" name="text 189: Outer-radius stretch" descr="sci-ppt:obj-0189"/>
          <p:cNvSpPr txBox="1"/>
          <p:nvPr/>
        </p:nvSpPr>
        <p:spPr>
          <a:xfrm rot="16200000">
            <a:off x="5307393" y="5819034"/>
            <a:ext cx="1937616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Outer-radius stretch</a:t>
            </a:r>
          </a:p>
        </p:txBody>
      </p:sp>
      <p:sp>
        <p:nvSpPr>
          <p:cNvPr id="191" name="polygon 190: plot geometry" descr="sci-ppt:obj-0190"/>
          <p:cNvSpPr/>
          <p:nvPr/>
        </p:nvSpPr>
        <p:spPr>
          <a:xfrm>
            <a:off x="6981912" y="4608306"/>
            <a:ext cx="480112" cy="2746946"/>
          </a:xfrm>
          <a:custGeom>
            <a:avLst/>
            <a:gdLst/>
            <a:ahLst/>
            <a:cxnLst/>
            <a:rect l="l" t="t" r="r" b="b"/>
            <a:pathLst>
              <a:path w="480112" h="2746946">
                <a:moveTo>
                  <a:pt x="0" y="2746946"/>
                </a:moveTo>
                <a:lnTo>
                  <a:pt x="8855" y="2745222"/>
                </a:lnTo>
                <a:lnTo>
                  <a:pt x="18004" y="2739830"/>
                </a:lnTo>
                <a:lnTo>
                  <a:pt x="28216" y="2729507"/>
                </a:lnTo>
                <a:lnTo>
                  <a:pt x="39946" y="2712124"/>
                </a:lnTo>
                <a:lnTo>
                  <a:pt x="52812" y="2686422"/>
                </a:lnTo>
                <a:lnTo>
                  <a:pt x="67815" y="2647982"/>
                </a:lnTo>
                <a:lnTo>
                  <a:pt x="84843" y="2593863"/>
                </a:lnTo>
                <a:lnTo>
                  <a:pt x="103824" y="2521299"/>
                </a:lnTo>
                <a:lnTo>
                  <a:pt x="126029" y="2421587"/>
                </a:lnTo>
                <a:lnTo>
                  <a:pt x="151446" y="2290316"/>
                </a:lnTo>
                <a:lnTo>
                  <a:pt x="181242" y="2117053"/>
                </a:lnTo>
                <a:lnTo>
                  <a:pt x="217251" y="1886033"/>
                </a:lnTo>
                <a:lnTo>
                  <a:pt x="264062" y="1561468"/>
                </a:lnTo>
                <a:lnTo>
                  <a:pt x="340880" y="1000264"/>
                </a:lnTo>
                <a:lnTo>
                  <a:pt x="447105" y="228956"/>
                </a:lnTo>
                <a:lnTo>
                  <a:pt x="480112" y="0"/>
                </a:lnTo>
                <a:lnTo>
                  <a:pt x="480112" y="0"/>
                </a:lnTo>
              </a:path>
            </a:pathLst>
          </a:custGeom>
          <a:noFill/>
          <a:ln w="23700">
            <a:solidFill>
              <a:srgbClr val="B95E2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polygon 191: plot geometry" descr="sci-ppt:obj-0191"/>
          <p:cNvSpPr/>
          <p:nvPr/>
        </p:nvSpPr>
        <p:spPr>
          <a:xfrm>
            <a:off x="6981912" y="4608306"/>
            <a:ext cx="681449" cy="2746946"/>
          </a:xfrm>
          <a:custGeom>
            <a:avLst/>
            <a:gdLst/>
            <a:ahLst/>
            <a:cxnLst/>
            <a:rect l="l" t="t" r="r" b="b"/>
            <a:pathLst>
              <a:path w="681449" h="2746946">
                <a:moveTo>
                  <a:pt x="0" y="2746946"/>
                </a:moveTo>
                <a:lnTo>
                  <a:pt x="8880" y="2745240"/>
                </a:lnTo>
                <a:lnTo>
                  <a:pt x="18576" y="2739619"/>
                </a:lnTo>
                <a:lnTo>
                  <a:pt x="29256" y="2729153"/>
                </a:lnTo>
                <a:lnTo>
                  <a:pt x="41738" y="2711643"/>
                </a:lnTo>
                <a:lnTo>
                  <a:pt x="56219" y="2684818"/>
                </a:lnTo>
                <a:lnTo>
                  <a:pt x="73255" y="2645264"/>
                </a:lnTo>
                <a:lnTo>
                  <a:pt x="92847" y="2590490"/>
                </a:lnTo>
                <a:lnTo>
                  <a:pt x="116698" y="2512567"/>
                </a:lnTo>
                <a:lnTo>
                  <a:pt x="144808" y="2408018"/>
                </a:lnTo>
                <a:lnTo>
                  <a:pt x="179732" y="2263703"/>
                </a:lnTo>
                <a:lnTo>
                  <a:pt x="224878" y="2060961"/>
                </a:lnTo>
                <a:lnTo>
                  <a:pt x="290467" y="1748330"/>
                </a:lnTo>
                <a:lnTo>
                  <a:pt x="476162" y="855219"/>
                </a:lnTo>
                <a:lnTo>
                  <a:pt x="542604" y="557133"/>
                </a:lnTo>
                <a:lnTo>
                  <a:pt x="600527" y="312835"/>
                </a:lnTo>
                <a:lnTo>
                  <a:pt x="654191" y="101429"/>
                </a:lnTo>
                <a:lnTo>
                  <a:pt x="681449" y="0"/>
                </a:lnTo>
                <a:lnTo>
                  <a:pt x="681449" y="0"/>
                </a:lnTo>
              </a:path>
            </a:pathLst>
          </a:custGeom>
          <a:noFill/>
          <a:ln w="23700">
            <a:solidFill>
              <a:srgbClr val="176C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polygon 192: plot geometry" descr="sci-ppt:obj-0192"/>
          <p:cNvSpPr/>
          <p:nvPr/>
        </p:nvSpPr>
        <p:spPr>
          <a:xfrm>
            <a:off x="6981912" y="4608306"/>
            <a:ext cx="4853351" cy="2746946"/>
          </a:xfrm>
          <a:custGeom>
            <a:avLst/>
            <a:gdLst/>
            <a:ahLst/>
            <a:cxnLst/>
            <a:rect l="l" t="t" r="r" b="b"/>
            <a:pathLst>
              <a:path w="4853351" h="2746946">
                <a:moveTo>
                  <a:pt x="0" y="2746946"/>
                </a:moveTo>
                <a:lnTo>
                  <a:pt x="9707" y="2745196"/>
                </a:lnTo>
                <a:lnTo>
                  <a:pt x="22802" y="2739087"/>
                </a:lnTo>
                <a:lnTo>
                  <a:pt x="43810" y="2725087"/>
                </a:lnTo>
                <a:lnTo>
                  <a:pt x="93069" y="2686742"/>
                </a:lnTo>
                <a:lnTo>
                  <a:pt x="448935" y="2399840"/>
                </a:lnTo>
                <a:lnTo>
                  <a:pt x="837203" y="2089171"/>
                </a:lnTo>
                <a:lnTo>
                  <a:pt x="1098070" y="1884912"/>
                </a:lnTo>
                <a:lnTo>
                  <a:pt x="1316471" y="1718196"/>
                </a:lnTo>
                <a:lnTo>
                  <a:pt x="1516672" y="1569696"/>
                </a:lnTo>
                <a:lnTo>
                  <a:pt x="1704739" y="1434587"/>
                </a:lnTo>
                <a:lnTo>
                  <a:pt x="1880673" y="1312497"/>
                </a:lnTo>
                <a:lnTo>
                  <a:pt x="2050541" y="1198899"/>
                </a:lnTo>
                <a:lnTo>
                  <a:pt x="2214341" y="1093591"/>
                </a:lnTo>
                <a:lnTo>
                  <a:pt x="2372075" y="996287"/>
                </a:lnTo>
                <a:lnTo>
                  <a:pt x="2529809" y="903137"/>
                </a:lnTo>
                <a:lnTo>
                  <a:pt x="2681476" y="817568"/>
                </a:lnTo>
                <a:lnTo>
                  <a:pt x="2833144" y="735962"/>
                </a:lnTo>
                <a:lnTo>
                  <a:pt x="2984811" y="658331"/>
                </a:lnTo>
                <a:lnTo>
                  <a:pt x="3136478" y="584660"/>
                </a:lnTo>
                <a:lnTo>
                  <a:pt x="3288145" y="514907"/>
                </a:lnTo>
                <a:lnTo>
                  <a:pt x="3439812" y="449008"/>
                </a:lnTo>
                <a:lnTo>
                  <a:pt x="3591480" y="386878"/>
                </a:lnTo>
                <a:lnTo>
                  <a:pt x="3749214" y="326154"/>
                </a:lnTo>
                <a:lnTo>
                  <a:pt x="3906948" y="269267"/>
                </a:lnTo>
                <a:lnTo>
                  <a:pt x="4064682" y="216075"/>
                </a:lnTo>
                <a:lnTo>
                  <a:pt x="4228482" y="164585"/>
                </a:lnTo>
                <a:lnTo>
                  <a:pt x="4392283" y="116736"/>
                </a:lnTo>
                <a:lnTo>
                  <a:pt x="4562150" y="70763"/>
                </a:lnTo>
                <a:lnTo>
                  <a:pt x="4738084" y="26844"/>
                </a:lnTo>
                <a:lnTo>
                  <a:pt x="4853351" y="0"/>
                </a:lnTo>
                <a:lnTo>
                  <a:pt x="4853351" y="0"/>
                </a:lnTo>
              </a:path>
            </a:pathLst>
          </a:custGeom>
          <a:noFill/>
          <a:ln w="23700">
            <a:solidFill>
              <a:srgbClr val="47744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4" name="line 193: plot geometry" descr="sci-ppt:obj-0193"/>
          <p:cNvCxnSpPr/>
          <p:nvPr/>
        </p:nvCxnSpPr>
        <p:spPr>
          <a:xfrm>
            <a:off x="6739244" y="4608306"/>
            <a:ext cx="5338687" cy="0"/>
          </a:xfrm>
          <a:prstGeom prst="line">
            <a:avLst/>
          </a:prstGeom>
          <a:ln w="12640">
            <a:solidFill>
              <a:srgbClr val="666666"/>
            </a:solidFill>
            <a:prstDash val="dash"/>
          </a:ln>
          <a:effectLst/>
        </p:spPr>
      </p:cxnSp>
      <p:cxnSp>
        <p:nvCxnSpPr>
          <p:cNvPr id="195" name="line 194: plot geometry" descr="sci-ppt:obj-0194"/>
          <p:cNvCxnSpPr/>
          <p:nvPr/>
        </p:nvCxnSpPr>
        <p:spPr>
          <a:xfrm flipV="1">
            <a:off x="6739244" y="4470959"/>
            <a:ext cx="0" cy="302164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196" name="line 195: plot geometry" descr="sci-ppt:obj-0195"/>
          <p:cNvCxnSpPr/>
          <p:nvPr/>
        </p:nvCxnSpPr>
        <p:spPr>
          <a:xfrm>
            <a:off x="6739244" y="7492599"/>
            <a:ext cx="5338687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97" name="text 196: Conditional insulated expansion; no outlet and no jet" descr="sci-ppt:obj-0196"/>
          <p:cNvSpPr txBox="1"/>
          <p:nvPr/>
        </p:nvSpPr>
        <p:spPr>
          <a:xfrm>
            <a:off x="3763801" y="84206"/>
            <a:ext cx="5508066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Conditional insulated expansion; no outlet and no jet</a:t>
            </a:r>
          </a:p>
        </p:txBody>
      </p:sp>
      <p:sp>
        <p:nvSpPr>
          <p:cNvPr id="198" name="text 197: Equal retained seed energy within each size; 2.1 is a declared stoppin" descr="sci-ppt:obj-0197"/>
          <p:cNvSpPr txBox="1"/>
          <p:nvPr/>
        </p:nvSpPr>
        <p:spPr>
          <a:xfrm>
            <a:off x="2647546" y="292821"/>
            <a:ext cx="8071705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Equal retained seed energy within each size; 2.1 is a declared stopping screen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5263116"/>
          </a:xfrm>
          <a:custGeom>
            <a:avLst/>
            <a:gdLst/>
            <a:ahLst/>
            <a:cxnLst/>
            <a:rect l="l" t="t" r="r" b="b"/>
            <a:pathLst>
              <a:path w="12191695" h="5263116">
                <a:moveTo>
                  <a:pt x="0" y="5263116"/>
                </a:moveTo>
                <a:lnTo>
                  <a:pt x="12191695" y="5263116"/>
                </a:lnTo>
                <a:lnTo>
                  <a:pt x="12191695" y="0"/>
                </a:lnTo>
                <a:lnTo>
                  <a:pt x="0" y="0"/>
                </a:lnTo>
                <a:lnTo>
                  <a:pt x="0" y="52631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799070" y="866493"/>
            <a:ext cx="4525637" cy="3791763"/>
          </a:xfrm>
          <a:custGeom>
            <a:avLst/>
            <a:gdLst/>
            <a:ahLst/>
            <a:cxnLst/>
            <a:rect l="l" t="t" r="r" b="b"/>
            <a:pathLst>
              <a:path w="4525637" h="3791763">
                <a:moveTo>
                  <a:pt x="0" y="3791763"/>
                </a:moveTo>
                <a:lnTo>
                  <a:pt x="4525637" y="3791763"/>
                </a:lnTo>
                <a:lnTo>
                  <a:pt x="4525637" y="0"/>
                </a:lnTo>
                <a:lnTo>
                  <a:pt x="0" y="0"/>
                </a:lnTo>
                <a:lnTo>
                  <a:pt x="0" y="37917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 3: plot geometry" descr="sci-ppt:obj-0003"/>
          <p:cNvSpPr/>
          <p:nvPr/>
        </p:nvSpPr>
        <p:spPr>
          <a:xfrm>
            <a:off x="798018" y="862612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 4: plot geometry" descr="sci-ppt:obj-0004"/>
          <p:cNvSpPr/>
          <p:nvPr/>
        </p:nvSpPr>
        <p:spPr>
          <a:xfrm>
            <a:off x="1929495" y="862612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 5: plot geometry" descr="sci-ppt:obj-0005"/>
          <p:cNvSpPr/>
          <p:nvPr/>
        </p:nvSpPr>
        <p:spPr>
          <a:xfrm>
            <a:off x="3060972" y="862612"/>
            <a:ext cx="1131492" cy="759273"/>
          </a:xfrm>
          <a:prstGeom prst="rect">
            <a:avLst/>
          </a:prstGeom>
          <a:solidFill>
            <a:srgbClr val="BDDB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 6: plot geometry" descr="sci-ppt:obj-0006"/>
          <p:cNvSpPr/>
          <p:nvPr/>
        </p:nvSpPr>
        <p:spPr>
          <a:xfrm>
            <a:off x="4192448" y="862612"/>
            <a:ext cx="1131492" cy="759273"/>
          </a:xfrm>
          <a:prstGeom prst="rect">
            <a:avLst/>
          </a:prstGeom>
          <a:solidFill>
            <a:srgbClr val="3885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 7: plot geometry" descr="sci-ppt:obj-0007"/>
          <p:cNvSpPr/>
          <p:nvPr/>
        </p:nvSpPr>
        <p:spPr>
          <a:xfrm>
            <a:off x="798018" y="1621870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 8: plot geometry" descr="sci-ppt:obj-0008"/>
          <p:cNvSpPr/>
          <p:nvPr/>
        </p:nvSpPr>
        <p:spPr>
          <a:xfrm>
            <a:off x="1929495" y="1621870"/>
            <a:ext cx="1131492" cy="759273"/>
          </a:xfrm>
          <a:prstGeom prst="rect">
            <a:avLst/>
          </a:prstGeom>
          <a:solidFill>
            <a:srgbClr val="E480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 9: plot geometry" descr="sci-ppt:obj-0009"/>
          <p:cNvSpPr/>
          <p:nvPr/>
        </p:nvSpPr>
        <p:spPr>
          <a:xfrm>
            <a:off x="3060972" y="1621870"/>
            <a:ext cx="1131492" cy="759273"/>
          </a:xfrm>
          <a:prstGeom prst="rect">
            <a:avLst/>
          </a:prstGeom>
          <a:solidFill>
            <a:srgbClr val="DB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 10: plot geometry" descr="sci-ppt:obj-0010"/>
          <p:cNvSpPr/>
          <p:nvPr/>
        </p:nvSpPr>
        <p:spPr>
          <a:xfrm>
            <a:off x="4192448" y="1621870"/>
            <a:ext cx="1131492" cy="759273"/>
          </a:xfrm>
          <a:prstGeom prst="rect">
            <a:avLst/>
          </a:prstGeom>
          <a:solidFill>
            <a:srgbClr val="9BC9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 11: plot geometry" descr="sci-ppt:obj-0011"/>
          <p:cNvSpPr/>
          <p:nvPr/>
        </p:nvSpPr>
        <p:spPr>
          <a:xfrm>
            <a:off x="798018" y="2381128"/>
            <a:ext cx="1131492" cy="759273"/>
          </a:xfrm>
          <a:prstGeom prst="rect">
            <a:avLst/>
          </a:prstGeom>
          <a:solidFill>
            <a:srgbClr val="FAE8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 12: plot geometry" descr="sci-ppt:obj-0012"/>
          <p:cNvSpPr/>
          <p:nvPr/>
        </p:nvSpPr>
        <p:spPr>
          <a:xfrm>
            <a:off x="1929495" y="2381128"/>
            <a:ext cx="1131492" cy="759273"/>
          </a:xfrm>
          <a:prstGeom prst="rect">
            <a:avLst/>
          </a:prstGeom>
          <a:solidFill>
            <a:srgbClr val="E4EE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 13: plot geometry" descr="sci-ppt:obj-0013"/>
          <p:cNvSpPr/>
          <p:nvPr/>
        </p:nvSpPr>
        <p:spPr>
          <a:xfrm>
            <a:off x="3060972" y="2381128"/>
            <a:ext cx="1131492" cy="759273"/>
          </a:xfrm>
          <a:prstGeom prst="rect">
            <a:avLst/>
          </a:prstGeom>
          <a:solidFill>
            <a:srgbClr val="D4E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 14: plot geometry" descr="sci-ppt:obj-0014"/>
          <p:cNvSpPr/>
          <p:nvPr/>
        </p:nvSpPr>
        <p:spPr>
          <a:xfrm>
            <a:off x="4192448" y="2381128"/>
            <a:ext cx="1131492" cy="759273"/>
          </a:xfrm>
          <a:prstGeom prst="rect">
            <a:avLst/>
          </a:prstGeom>
          <a:solidFill>
            <a:srgbClr val="BDDB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 15: plot geometry" descr="sci-ppt:obj-0015"/>
          <p:cNvSpPr/>
          <p:nvPr/>
        </p:nvSpPr>
        <p:spPr>
          <a:xfrm>
            <a:off x="798018" y="3140386"/>
            <a:ext cx="1131492" cy="759273"/>
          </a:xfrm>
          <a:prstGeom prst="rect">
            <a:avLst/>
          </a:prstGeom>
          <a:solidFill>
            <a:srgbClr val="E1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 16: plot geometry" descr="sci-ppt:obj-0016"/>
          <p:cNvSpPr/>
          <p:nvPr/>
        </p:nvSpPr>
        <p:spPr>
          <a:xfrm>
            <a:off x="1929495" y="3140386"/>
            <a:ext cx="1131492" cy="759273"/>
          </a:xfrm>
          <a:prstGeom prst="rect">
            <a:avLst/>
          </a:prstGeom>
          <a:solidFill>
            <a:srgbClr val="D8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 17: plot geometry" descr="sci-ppt:obj-0017"/>
          <p:cNvSpPr/>
          <p:nvPr/>
        </p:nvSpPr>
        <p:spPr>
          <a:xfrm>
            <a:off x="3060972" y="3140386"/>
            <a:ext cx="1131492" cy="759273"/>
          </a:xfrm>
          <a:prstGeom prst="rect">
            <a:avLst/>
          </a:prstGeom>
          <a:solidFill>
            <a:srgbClr val="CFE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 18: plot geometry" descr="sci-ppt:obj-0018"/>
          <p:cNvSpPr/>
          <p:nvPr/>
        </p:nvSpPr>
        <p:spPr>
          <a:xfrm>
            <a:off x="4192448" y="3140386"/>
            <a:ext cx="1131492" cy="759273"/>
          </a:xfrm>
          <a:prstGeom prst="rect">
            <a:avLst/>
          </a:prstGeom>
          <a:solidFill>
            <a:srgbClr val="C0D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 19: plot geometry" descr="sci-ppt:obj-0019"/>
          <p:cNvSpPr/>
          <p:nvPr/>
        </p:nvSpPr>
        <p:spPr>
          <a:xfrm>
            <a:off x="798018" y="3899644"/>
            <a:ext cx="1131492" cy="759273"/>
          </a:xfrm>
          <a:prstGeom prst="rect">
            <a:avLst/>
          </a:prstGeom>
          <a:solidFill>
            <a:srgbClr val="D1E5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 20: plot geometry" descr="sci-ppt:obj-0020"/>
          <p:cNvSpPr/>
          <p:nvPr/>
        </p:nvSpPr>
        <p:spPr>
          <a:xfrm>
            <a:off x="1929495" y="3899644"/>
            <a:ext cx="1131492" cy="759273"/>
          </a:xfrm>
          <a:prstGeom prst="rect">
            <a:avLst/>
          </a:prstGeom>
          <a:solidFill>
            <a:srgbClr val="D2E6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 21: plot geometry" descr="sci-ppt:obj-0021"/>
          <p:cNvSpPr/>
          <p:nvPr/>
        </p:nvSpPr>
        <p:spPr>
          <a:xfrm>
            <a:off x="3060972" y="3899644"/>
            <a:ext cx="1131492" cy="759273"/>
          </a:xfrm>
          <a:prstGeom prst="rect">
            <a:avLst/>
          </a:prstGeom>
          <a:solidFill>
            <a:srgbClr val="CCE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 22: plot geometry" descr="sci-ppt:obj-0022"/>
          <p:cNvSpPr/>
          <p:nvPr/>
        </p:nvSpPr>
        <p:spPr>
          <a:xfrm>
            <a:off x="4192448" y="3899644"/>
            <a:ext cx="1131492" cy="759273"/>
          </a:xfrm>
          <a:prstGeom prst="rect">
            <a:avLst/>
          </a:prstGeom>
          <a:solidFill>
            <a:srgbClr val="C0D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line 23: plot geometry" descr="sci-ppt:obj-0023"/>
          <p:cNvCxnSpPr/>
          <p:nvPr/>
        </p:nvCxnSpPr>
        <p:spPr>
          <a:xfrm>
            <a:off x="1364774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25" name="text 24: 1.2" descr="sci-ppt:obj-0024"/>
          <p:cNvSpPr txBox="1"/>
          <p:nvPr/>
        </p:nvSpPr>
        <p:spPr>
          <a:xfrm>
            <a:off x="1188070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26" name="line 25: plot geometry" descr="sci-ppt:obj-0025"/>
          <p:cNvCxnSpPr/>
          <p:nvPr/>
        </p:nvCxnSpPr>
        <p:spPr>
          <a:xfrm>
            <a:off x="2496184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27" name="text 26: 1.5" descr="sci-ppt:obj-0026"/>
          <p:cNvSpPr txBox="1"/>
          <p:nvPr/>
        </p:nvSpPr>
        <p:spPr>
          <a:xfrm>
            <a:off x="2319480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cxnSp>
        <p:nvCxnSpPr>
          <p:cNvPr id="28" name="line 27: plot geometry" descr="sci-ppt:obj-0027"/>
          <p:cNvCxnSpPr/>
          <p:nvPr/>
        </p:nvCxnSpPr>
        <p:spPr>
          <a:xfrm>
            <a:off x="3627593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29" name="text 28: 1.8" descr="sci-ppt:obj-0028"/>
          <p:cNvSpPr txBox="1"/>
          <p:nvPr/>
        </p:nvSpPr>
        <p:spPr>
          <a:xfrm>
            <a:off x="3450889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cxnSp>
        <p:nvCxnSpPr>
          <p:cNvPr id="30" name="line 29: plot geometry" descr="sci-ppt:obj-0029"/>
          <p:cNvCxnSpPr/>
          <p:nvPr/>
        </p:nvCxnSpPr>
        <p:spPr>
          <a:xfrm>
            <a:off x="4759003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31" name="text 30: 2.1" descr="sci-ppt:obj-0030"/>
          <p:cNvSpPr txBox="1"/>
          <p:nvPr/>
        </p:nvSpPr>
        <p:spPr>
          <a:xfrm>
            <a:off x="4582298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2.1</a:t>
            </a:r>
          </a:p>
        </p:txBody>
      </p:sp>
      <p:sp>
        <p:nvSpPr>
          <p:cNvPr id="32" name="text 31: Outer-radius stretch" descr="sci-ppt:obj-0031"/>
          <p:cNvSpPr txBox="1"/>
          <p:nvPr/>
        </p:nvSpPr>
        <p:spPr>
          <a:xfrm>
            <a:off x="2091124" y="4947988"/>
            <a:ext cx="1941529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Outer-radius stretch</a:t>
            </a:r>
          </a:p>
        </p:txBody>
      </p:sp>
      <p:cxnSp>
        <p:nvCxnSpPr>
          <p:cNvPr id="33" name="line 32: plot geometry" descr="sci-ppt:obj-0032"/>
          <p:cNvCxnSpPr/>
          <p:nvPr/>
        </p:nvCxnSpPr>
        <p:spPr>
          <a:xfrm flipH="1">
            <a:off x="743652" y="1245669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34" name="text 33: 0.15" descr="sci-ppt:obj-0033"/>
          <p:cNvSpPr txBox="1"/>
          <p:nvPr/>
        </p:nvSpPr>
        <p:spPr>
          <a:xfrm>
            <a:off x="277982" y="1142732"/>
            <a:ext cx="446827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0.15</a:t>
            </a:r>
          </a:p>
        </p:txBody>
      </p:sp>
      <p:cxnSp>
        <p:nvCxnSpPr>
          <p:cNvPr id="35" name="line 34: plot geometry" descr="sci-ppt:obj-0034"/>
          <p:cNvCxnSpPr/>
          <p:nvPr/>
        </p:nvCxnSpPr>
        <p:spPr>
          <a:xfrm flipH="1">
            <a:off x="743652" y="2004022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36" name="text 35: 0.3" descr="sci-ppt:obj-0035"/>
          <p:cNvSpPr txBox="1"/>
          <p:nvPr/>
        </p:nvSpPr>
        <p:spPr>
          <a:xfrm>
            <a:off x="371401" y="190108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cxnSp>
        <p:nvCxnSpPr>
          <p:cNvPr id="37" name="line 36: plot geometry" descr="sci-ppt:obj-0036"/>
          <p:cNvCxnSpPr/>
          <p:nvPr/>
        </p:nvCxnSpPr>
        <p:spPr>
          <a:xfrm flipH="1">
            <a:off x="743652" y="2762375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38" name="text 37: 1.5" descr="sci-ppt:obj-0037"/>
          <p:cNvSpPr txBox="1"/>
          <p:nvPr/>
        </p:nvSpPr>
        <p:spPr>
          <a:xfrm>
            <a:off x="371401" y="2659437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cxnSp>
        <p:nvCxnSpPr>
          <p:cNvPr id="39" name="line 38: plot geometry" descr="sci-ppt:obj-0038"/>
          <p:cNvCxnSpPr/>
          <p:nvPr/>
        </p:nvCxnSpPr>
        <p:spPr>
          <a:xfrm flipH="1">
            <a:off x="743652" y="3520727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0" name="text 39: 3" descr="sci-ppt:obj-0039"/>
          <p:cNvSpPr txBox="1"/>
          <p:nvPr/>
        </p:nvSpPr>
        <p:spPr>
          <a:xfrm>
            <a:off x="558239" y="3417790"/>
            <a:ext cx="16657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41" name="line 40: plot geometry" descr="sci-ppt:obj-0040"/>
          <p:cNvCxnSpPr/>
          <p:nvPr/>
        </p:nvCxnSpPr>
        <p:spPr>
          <a:xfrm flipH="1">
            <a:off x="743652" y="4279080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2" name="text 41: 6" descr="sci-ppt:obj-0041"/>
          <p:cNvSpPr txBox="1"/>
          <p:nvPr/>
        </p:nvSpPr>
        <p:spPr>
          <a:xfrm>
            <a:off x="558239" y="4176142"/>
            <a:ext cx="16657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3" name="text 42: Initial radius (µm)" descr="sci-ppt:obj-0042"/>
          <p:cNvSpPr txBox="1"/>
          <p:nvPr/>
        </p:nvSpPr>
        <p:spPr>
          <a:xfrm rot="16200000">
            <a:off x="-689741" y="2599287"/>
            <a:ext cx="184811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Initial radius (µm)</a:t>
            </a:r>
          </a:p>
        </p:txBody>
      </p:sp>
      <p:cxnSp>
        <p:nvCxnSpPr>
          <p:cNvPr id="44" name="line 43: plot geometry" descr="sci-ppt:obj-0043"/>
          <p:cNvCxnSpPr/>
          <p:nvPr/>
        </p:nvCxnSpPr>
        <p:spPr>
          <a:xfrm flipV="1">
            <a:off x="799070" y="866493"/>
            <a:ext cx="0" cy="3791763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>
            <a:off x="799070" y="4658256"/>
            <a:ext cx="4525637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6" name="text 45: -774.4" descr="sci-ppt:obj-0045"/>
          <p:cNvSpPr txBox="1"/>
          <p:nvPr/>
        </p:nvSpPr>
        <p:spPr>
          <a:xfrm>
            <a:off x="1075968" y="1135908"/>
            <a:ext cx="577613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-774.4</a:t>
            </a:r>
          </a:p>
        </p:txBody>
      </p:sp>
      <p:sp>
        <p:nvSpPr>
          <p:cNvPr id="47" name="text 46: -103.2" descr="sci-ppt:obj-0046"/>
          <p:cNvSpPr txBox="1"/>
          <p:nvPr/>
        </p:nvSpPr>
        <p:spPr>
          <a:xfrm>
            <a:off x="2207377" y="1135908"/>
            <a:ext cx="577613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-103.2</a:t>
            </a:r>
          </a:p>
        </p:txBody>
      </p:sp>
      <p:sp>
        <p:nvSpPr>
          <p:cNvPr id="48" name="text 47: 52.1" descr="sci-ppt:obj-0047"/>
          <p:cNvSpPr txBox="1"/>
          <p:nvPr/>
        </p:nvSpPr>
        <p:spPr>
          <a:xfrm>
            <a:off x="3422863" y="1135908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52.1</a:t>
            </a:r>
          </a:p>
        </p:txBody>
      </p:sp>
      <p:sp>
        <p:nvSpPr>
          <p:cNvPr id="49" name="text 48: 131.6" descr="sci-ppt:obj-0048"/>
          <p:cNvSpPr txBox="1"/>
          <p:nvPr/>
        </p:nvSpPr>
        <p:spPr>
          <a:xfrm>
            <a:off x="4512234" y="1135908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131.6</a:t>
            </a:r>
          </a:p>
        </p:txBody>
      </p:sp>
      <p:sp>
        <p:nvSpPr>
          <p:cNvPr id="50" name="text 49: -289.1" descr="sci-ppt:obj-0049"/>
          <p:cNvSpPr txBox="1"/>
          <p:nvPr/>
        </p:nvSpPr>
        <p:spPr>
          <a:xfrm>
            <a:off x="1075968" y="1894261"/>
            <a:ext cx="577613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-289.1</a:t>
            </a:r>
          </a:p>
        </p:txBody>
      </p:sp>
      <p:sp>
        <p:nvSpPr>
          <p:cNvPr id="51" name="text 50: -50.7" descr="sci-ppt:obj-0050"/>
          <p:cNvSpPr txBox="1"/>
          <p:nvPr/>
        </p:nvSpPr>
        <p:spPr>
          <a:xfrm>
            <a:off x="2249415" y="1894261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-50.7</a:t>
            </a:r>
          </a:p>
        </p:txBody>
      </p:sp>
      <p:sp>
        <p:nvSpPr>
          <p:cNvPr id="52" name="text 51: 28.3" descr="sci-ppt:obj-0051"/>
          <p:cNvSpPr txBox="1"/>
          <p:nvPr/>
        </p:nvSpPr>
        <p:spPr>
          <a:xfrm>
            <a:off x="3422863" y="1894261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28.3</a:t>
            </a:r>
          </a:p>
        </p:txBody>
      </p:sp>
      <p:sp>
        <p:nvSpPr>
          <p:cNvPr id="53" name="text 52: 74.4" descr="sci-ppt:obj-0052"/>
          <p:cNvSpPr txBox="1"/>
          <p:nvPr/>
        </p:nvSpPr>
        <p:spPr>
          <a:xfrm>
            <a:off x="4554273" y="1894261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74.4</a:t>
            </a:r>
          </a:p>
        </p:txBody>
      </p:sp>
      <p:sp>
        <p:nvSpPr>
          <p:cNvPr id="54" name="text 53: -10.3" descr="sci-ppt:obj-0053"/>
          <p:cNvSpPr txBox="1"/>
          <p:nvPr/>
        </p:nvSpPr>
        <p:spPr>
          <a:xfrm>
            <a:off x="1118006" y="2652614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-10.3</a:t>
            </a:r>
          </a:p>
        </p:txBody>
      </p:sp>
      <p:sp>
        <p:nvSpPr>
          <p:cNvPr id="55" name="text 54: 20.1" descr="sci-ppt:obj-0054"/>
          <p:cNvSpPr txBox="1"/>
          <p:nvPr/>
        </p:nvSpPr>
        <p:spPr>
          <a:xfrm>
            <a:off x="2291454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20.1</a:t>
            </a:r>
          </a:p>
        </p:txBody>
      </p:sp>
      <p:sp>
        <p:nvSpPr>
          <p:cNvPr id="56" name="text 55: 37.3" descr="sci-ppt:obj-0055"/>
          <p:cNvSpPr txBox="1"/>
          <p:nvPr/>
        </p:nvSpPr>
        <p:spPr>
          <a:xfrm>
            <a:off x="3422863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37.3</a:t>
            </a:r>
          </a:p>
        </p:txBody>
      </p:sp>
      <p:sp>
        <p:nvSpPr>
          <p:cNvPr id="57" name="text 56: 51.9" descr="sci-ppt:obj-0056"/>
          <p:cNvSpPr txBox="1"/>
          <p:nvPr/>
        </p:nvSpPr>
        <p:spPr>
          <a:xfrm>
            <a:off x="4554273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51.9</a:t>
            </a:r>
          </a:p>
        </p:txBody>
      </p:sp>
      <p:sp>
        <p:nvSpPr>
          <p:cNvPr id="58" name="text 57: 22.9" descr="sci-ppt:obj-0057"/>
          <p:cNvSpPr txBox="1"/>
          <p:nvPr/>
        </p:nvSpPr>
        <p:spPr>
          <a:xfrm>
            <a:off x="1160045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22.9</a:t>
            </a:r>
          </a:p>
        </p:txBody>
      </p:sp>
      <p:sp>
        <p:nvSpPr>
          <p:cNvPr id="59" name="text 58: 31.7" descr="sci-ppt:obj-0058"/>
          <p:cNvSpPr txBox="1"/>
          <p:nvPr/>
        </p:nvSpPr>
        <p:spPr>
          <a:xfrm>
            <a:off x="2291454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31.7</a:t>
            </a:r>
          </a:p>
        </p:txBody>
      </p:sp>
      <p:sp>
        <p:nvSpPr>
          <p:cNvPr id="60" name="text 59: 40.9" descr="sci-ppt:obj-0059"/>
          <p:cNvSpPr txBox="1"/>
          <p:nvPr/>
        </p:nvSpPr>
        <p:spPr>
          <a:xfrm>
            <a:off x="3422863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40.9</a:t>
            </a:r>
          </a:p>
        </p:txBody>
      </p:sp>
      <p:sp>
        <p:nvSpPr>
          <p:cNvPr id="61" name="text 60: 51.2" descr="sci-ppt:obj-0060"/>
          <p:cNvSpPr txBox="1"/>
          <p:nvPr/>
        </p:nvSpPr>
        <p:spPr>
          <a:xfrm>
            <a:off x="4554273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51.2</a:t>
            </a:r>
          </a:p>
        </p:txBody>
      </p:sp>
      <p:sp>
        <p:nvSpPr>
          <p:cNvPr id="62" name="text 61: 39.5" descr="sci-ppt:obj-0061"/>
          <p:cNvSpPr txBox="1"/>
          <p:nvPr/>
        </p:nvSpPr>
        <p:spPr>
          <a:xfrm>
            <a:off x="1160045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39.5</a:t>
            </a:r>
          </a:p>
        </p:txBody>
      </p:sp>
      <p:sp>
        <p:nvSpPr>
          <p:cNvPr id="63" name="text 62: 37.7" descr="sci-ppt:obj-0062"/>
          <p:cNvSpPr txBox="1"/>
          <p:nvPr/>
        </p:nvSpPr>
        <p:spPr>
          <a:xfrm>
            <a:off x="2291454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37.7</a:t>
            </a:r>
          </a:p>
        </p:txBody>
      </p:sp>
      <p:sp>
        <p:nvSpPr>
          <p:cNvPr id="64" name="text 63: 43.0" descr="sci-ppt:obj-0063"/>
          <p:cNvSpPr txBox="1"/>
          <p:nvPr/>
        </p:nvSpPr>
        <p:spPr>
          <a:xfrm>
            <a:off x="3422863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43.0</a:t>
            </a:r>
          </a:p>
        </p:txBody>
      </p:sp>
      <p:sp>
        <p:nvSpPr>
          <p:cNvPr id="65" name="text 64: 51.1" descr="sci-ppt:obj-0064"/>
          <p:cNvSpPr txBox="1"/>
          <p:nvPr/>
        </p:nvSpPr>
        <p:spPr>
          <a:xfrm>
            <a:off x="4554273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51.1</a:t>
            </a:r>
          </a:p>
        </p:txBody>
      </p:sp>
      <p:sp>
        <p:nvSpPr>
          <p:cNvPr id="66" name="text 65: PFP; G = 20 kPa" descr="sci-ppt:obj-0065"/>
          <p:cNvSpPr txBox="1"/>
          <p:nvPr/>
        </p:nvSpPr>
        <p:spPr>
          <a:xfrm>
            <a:off x="2184543" y="575786"/>
            <a:ext cx="1754691" cy="2565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6" b="0" i="0">
                <a:solidFill>
                  <a:srgbClr val="000000"/>
                </a:solidFill>
                <a:latin typeface="Arial"/>
              </a:rPr>
              <a:t>PFP; G = 20 kPa</a:t>
            </a:r>
          </a:p>
        </p:txBody>
      </p:sp>
      <p:sp>
        <p:nvSpPr>
          <p:cNvPr id="67" name="polygon 66: plot geometry" descr="sci-ppt:obj-0066"/>
          <p:cNvSpPr/>
          <p:nvPr/>
        </p:nvSpPr>
        <p:spPr>
          <a:xfrm>
            <a:off x="6130618" y="866493"/>
            <a:ext cx="4525637" cy="3791763"/>
          </a:xfrm>
          <a:custGeom>
            <a:avLst/>
            <a:gdLst/>
            <a:ahLst/>
            <a:cxnLst/>
            <a:rect l="l" t="t" r="r" b="b"/>
            <a:pathLst>
              <a:path w="4525637" h="3791763">
                <a:moveTo>
                  <a:pt x="0" y="3791763"/>
                </a:moveTo>
                <a:lnTo>
                  <a:pt x="4525637" y="3791763"/>
                </a:lnTo>
                <a:lnTo>
                  <a:pt x="4525637" y="0"/>
                </a:lnTo>
                <a:lnTo>
                  <a:pt x="0" y="0"/>
                </a:lnTo>
                <a:lnTo>
                  <a:pt x="0" y="37917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 67: plot geometry" descr="sci-ppt:obj-0067"/>
          <p:cNvSpPr/>
          <p:nvPr/>
        </p:nvSpPr>
        <p:spPr>
          <a:xfrm>
            <a:off x="6133344" y="862612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 68: plot geometry" descr="sci-ppt:obj-0068"/>
          <p:cNvSpPr/>
          <p:nvPr/>
        </p:nvSpPr>
        <p:spPr>
          <a:xfrm>
            <a:off x="7264821" y="862612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 69: plot geometry" descr="sci-ppt:obj-0069"/>
          <p:cNvSpPr/>
          <p:nvPr/>
        </p:nvSpPr>
        <p:spPr>
          <a:xfrm>
            <a:off x="8396298" y="862612"/>
            <a:ext cx="1131492" cy="759273"/>
          </a:xfrm>
          <a:prstGeom prst="rect">
            <a:avLst/>
          </a:prstGeom>
          <a:solidFill>
            <a:srgbClr val="E9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 70: plot geometry" descr="sci-ppt:obj-0070"/>
          <p:cNvSpPr/>
          <p:nvPr/>
        </p:nvSpPr>
        <p:spPr>
          <a:xfrm>
            <a:off x="9527774" y="862612"/>
            <a:ext cx="1131492" cy="759273"/>
          </a:xfrm>
          <a:prstGeom prst="rect">
            <a:avLst/>
          </a:prstGeom>
          <a:solidFill>
            <a:srgbClr val="65A9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 71: plot geometry" descr="sci-ppt:obj-0071"/>
          <p:cNvSpPr/>
          <p:nvPr/>
        </p:nvSpPr>
        <p:spPr>
          <a:xfrm>
            <a:off x="6133344" y="1621870"/>
            <a:ext cx="1131492" cy="759273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 72: plot geometry" descr="sci-ppt:obj-0072"/>
          <p:cNvSpPr/>
          <p:nvPr/>
        </p:nvSpPr>
        <p:spPr>
          <a:xfrm>
            <a:off x="7264821" y="1621870"/>
            <a:ext cx="1131492" cy="759273"/>
          </a:xfrm>
          <a:prstGeom prst="rect">
            <a:avLst/>
          </a:prstGeom>
          <a:solidFill>
            <a:srgbClr val="B61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 73: plot geometry" descr="sci-ppt:obj-0073"/>
          <p:cNvSpPr/>
          <p:nvPr/>
        </p:nvSpPr>
        <p:spPr>
          <a:xfrm>
            <a:off x="8396298" y="1621870"/>
            <a:ext cx="1131492" cy="759273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 74: plot geometry" descr="sci-ppt:obj-0074"/>
          <p:cNvSpPr/>
          <p:nvPr/>
        </p:nvSpPr>
        <p:spPr>
          <a:xfrm>
            <a:off x="9527774" y="1621870"/>
            <a:ext cx="1131492" cy="759273"/>
          </a:xfrm>
          <a:prstGeom prst="rect">
            <a:avLst/>
          </a:prstGeom>
          <a:solidFill>
            <a:srgbClr val="B6D7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 75: plot geometry" descr="sci-ppt:obj-0075"/>
          <p:cNvSpPr/>
          <p:nvPr/>
        </p:nvSpPr>
        <p:spPr>
          <a:xfrm>
            <a:off x="6133344" y="2381128"/>
            <a:ext cx="1131492" cy="759273"/>
          </a:xfrm>
          <a:prstGeom prst="rect">
            <a:avLst/>
          </a:prstGeom>
          <a:solidFill>
            <a:srgbClr val="FAC8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 76: plot geometry" descr="sci-ppt:obj-0076"/>
          <p:cNvSpPr/>
          <p:nvPr/>
        </p:nvSpPr>
        <p:spPr>
          <a:xfrm>
            <a:off x="7264821" y="2381128"/>
            <a:ext cx="1131492" cy="759273"/>
          </a:xfrm>
          <a:prstGeom prst="rect">
            <a:avLst/>
          </a:prstGeom>
          <a:solidFill>
            <a:srgbClr val="EAF1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 77: plot geometry" descr="sci-ppt:obj-0077"/>
          <p:cNvSpPr/>
          <p:nvPr/>
        </p:nvSpPr>
        <p:spPr>
          <a:xfrm>
            <a:off x="8396298" y="2381128"/>
            <a:ext cx="1131492" cy="759273"/>
          </a:xfrm>
          <a:prstGeom prst="rect">
            <a:avLst/>
          </a:prstGeom>
          <a:solidFill>
            <a:srgbClr val="DAE9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 78: plot geometry" descr="sci-ppt:obj-0078"/>
          <p:cNvSpPr/>
          <p:nvPr/>
        </p:nvSpPr>
        <p:spPr>
          <a:xfrm>
            <a:off x="9527774" y="2381128"/>
            <a:ext cx="1131492" cy="759273"/>
          </a:xfrm>
          <a:prstGeom prst="rect">
            <a:avLst/>
          </a:prstGeom>
          <a:solidFill>
            <a:srgbClr val="CAE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 79: plot geometry" descr="sci-ppt:obj-0079"/>
          <p:cNvSpPr/>
          <p:nvPr/>
        </p:nvSpPr>
        <p:spPr>
          <a:xfrm>
            <a:off x="6133344" y="3140386"/>
            <a:ext cx="1131492" cy="759273"/>
          </a:xfrm>
          <a:prstGeom prst="rect">
            <a:avLst/>
          </a:prstGeom>
          <a:solidFill>
            <a:srgbClr val="E9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 80: plot geometry" descr="sci-ppt:obj-0080"/>
          <p:cNvSpPr/>
          <p:nvPr/>
        </p:nvSpPr>
        <p:spPr>
          <a:xfrm>
            <a:off x="7264821" y="3140386"/>
            <a:ext cx="1131492" cy="759273"/>
          </a:xfrm>
          <a:prstGeom prst="rect">
            <a:avLst/>
          </a:prstGeom>
          <a:solidFill>
            <a:srgbClr val="DDEB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 81: plot geometry" descr="sci-ppt:obj-0081"/>
          <p:cNvSpPr/>
          <p:nvPr/>
        </p:nvSpPr>
        <p:spPr>
          <a:xfrm>
            <a:off x="8396298" y="3140386"/>
            <a:ext cx="1131492" cy="759273"/>
          </a:xfrm>
          <a:prstGeom prst="rect">
            <a:avLst/>
          </a:prstGeom>
          <a:solidFill>
            <a:srgbClr val="D5E7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 82: plot geometry" descr="sci-ppt:obj-0082"/>
          <p:cNvSpPr/>
          <p:nvPr/>
        </p:nvSpPr>
        <p:spPr>
          <a:xfrm>
            <a:off x="9527774" y="3140386"/>
            <a:ext cx="1131492" cy="759273"/>
          </a:xfrm>
          <a:prstGeom prst="rect">
            <a:avLst/>
          </a:prstGeom>
          <a:solidFill>
            <a:srgbClr val="CAE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 83: plot geometry" descr="sci-ppt:obj-0083"/>
          <p:cNvSpPr/>
          <p:nvPr/>
        </p:nvSpPr>
        <p:spPr>
          <a:xfrm>
            <a:off x="6133344" y="3899644"/>
            <a:ext cx="1131492" cy="759273"/>
          </a:xfrm>
          <a:prstGeom prst="rect">
            <a:avLst/>
          </a:prstGeom>
          <a:solidFill>
            <a:srgbClr val="D5E7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 84: plot geometry" descr="sci-ppt:obj-0084"/>
          <p:cNvSpPr/>
          <p:nvPr/>
        </p:nvSpPr>
        <p:spPr>
          <a:xfrm>
            <a:off x="7264821" y="3899644"/>
            <a:ext cx="1131492" cy="759273"/>
          </a:xfrm>
          <a:prstGeom prst="rect">
            <a:avLst/>
          </a:prstGeom>
          <a:solidFill>
            <a:srgbClr val="D7E8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 85: plot geometry" descr="sci-ppt:obj-0085"/>
          <p:cNvSpPr/>
          <p:nvPr/>
        </p:nvSpPr>
        <p:spPr>
          <a:xfrm>
            <a:off x="8396298" y="3899644"/>
            <a:ext cx="1131492" cy="759273"/>
          </a:xfrm>
          <a:prstGeom prst="rect">
            <a:avLst/>
          </a:prstGeom>
          <a:solidFill>
            <a:srgbClr val="D2E6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 86: plot geometry" descr="sci-ppt:obj-0086"/>
          <p:cNvSpPr/>
          <p:nvPr/>
        </p:nvSpPr>
        <p:spPr>
          <a:xfrm>
            <a:off x="9527774" y="3899644"/>
            <a:ext cx="1131492" cy="759273"/>
          </a:xfrm>
          <a:prstGeom prst="rect">
            <a:avLst/>
          </a:prstGeom>
          <a:solidFill>
            <a:srgbClr val="C7E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8" name="line 87: plot geometry" descr="sci-ppt:obj-0087"/>
          <p:cNvCxnSpPr/>
          <p:nvPr/>
        </p:nvCxnSpPr>
        <p:spPr>
          <a:xfrm>
            <a:off x="6696322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89" name="text 88: 1.2" descr="sci-ppt:obj-0088"/>
          <p:cNvSpPr txBox="1"/>
          <p:nvPr/>
        </p:nvSpPr>
        <p:spPr>
          <a:xfrm>
            <a:off x="6519618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1.2</a:t>
            </a:r>
          </a:p>
        </p:txBody>
      </p:sp>
      <p:cxnSp>
        <p:nvCxnSpPr>
          <p:cNvPr id="90" name="line 89: plot geometry" descr="sci-ppt:obj-0089"/>
          <p:cNvCxnSpPr/>
          <p:nvPr/>
        </p:nvCxnSpPr>
        <p:spPr>
          <a:xfrm>
            <a:off x="7827732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91" name="text 90: 1.5" descr="sci-ppt:obj-0090"/>
          <p:cNvSpPr txBox="1"/>
          <p:nvPr/>
        </p:nvSpPr>
        <p:spPr>
          <a:xfrm>
            <a:off x="7651027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cxnSp>
        <p:nvCxnSpPr>
          <p:cNvPr id="92" name="line 91: plot geometry" descr="sci-ppt:obj-0091"/>
          <p:cNvCxnSpPr/>
          <p:nvPr/>
        </p:nvCxnSpPr>
        <p:spPr>
          <a:xfrm>
            <a:off x="8959141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93" name="text 92: 1.8" descr="sci-ppt:obj-0092"/>
          <p:cNvSpPr txBox="1"/>
          <p:nvPr/>
        </p:nvSpPr>
        <p:spPr>
          <a:xfrm>
            <a:off x="8782437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cxnSp>
        <p:nvCxnSpPr>
          <p:cNvPr id="94" name="line 93: plot geometry" descr="sci-ppt:obj-0093"/>
          <p:cNvCxnSpPr/>
          <p:nvPr/>
        </p:nvCxnSpPr>
        <p:spPr>
          <a:xfrm>
            <a:off x="10090550" y="4658256"/>
            <a:ext cx="0" cy="55418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95" name="text 94: 2.1" descr="sci-ppt:obj-0094"/>
          <p:cNvSpPr txBox="1"/>
          <p:nvPr/>
        </p:nvSpPr>
        <p:spPr>
          <a:xfrm>
            <a:off x="9913846" y="472630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2.1</a:t>
            </a:r>
          </a:p>
        </p:txBody>
      </p:sp>
      <p:sp>
        <p:nvSpPr>
          <p:cNvPr id="96" name="text 95: Outer-radius stretch" descr="sci-ppt:obj-0095"/>
          <p:cNvSpPr txBox="1"/>
          <p:nvPr/>
        </p:nvSpPr>
        <p:spPr>
          <a:xfrm>
            <a:off x="7422672" y="4947988"/>
            <a:ext cx="1941529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Outer-radius stretch</a:t>
            </a:r>
          </a:p>
        </p:txBody>
      </p:sp>
      <p:cxnSp>
        <p:nvCxnSpPr>
          <p:cNvPr id="97" name="line 96: plot geometry" descr="sci-ppt:obj-0096"/>
          <p:cNvCxnSpPr/>
          <p:nvPr/>
        </p:nvCxnSpPr>
        <p:spPr>
          <a:xfrm flipH="1">
            <a:off x="6075200" y="1245669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98" name="text 97: 0.15" descr="sci-ppt:obj-0097"/>
          <p:cNvSpPr txBox="1"/>
          <p:nvPr/>
        </p:nvSpPr>
        <p:spPr>
          <a:xfrm>
            <a:off x="5609530" y="1142732"/>
            <a:ext cx="446827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0.15</a:t>
            </a:r>
          </a:p>
        </p:txBody>
      </p:sp>
      <p:cxnSp>
        <p:nvCxnSpPr>
          <p:cNvPr id="99" name="line 98: plot geometry" descr="sci-ppt:obj-0098"/>
          <p:cNvCxnSpPr/>
          <p:nvPr/>
        </p:nvCxnSpPr>
        <p:spPr>
          <a:xfrm flipH="1">
            <a:off x="6075200" y="2004022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100" name="text 99: 0.3" descr="sci-ppt:obj-0099"/>
          <p:cNvSpPr txBox="1"/>
          <p:nvPr/>
        </p:nvSpPr>
        <p:spPr>
          <a:xfrm>
            <a:off x="5702949" y="1901084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cxnSp>
        <p:nvCxnSpPr>
          <p:cNvPr id="101" name="line 100: plot geometry" descr="sci-ppt:obj-0100"/>
          <p:cNvCxnSpPr/>
          <p:nvPr/>
        </p:nvCxnSpPr>
        <p:spPr>
          <a:xfrm flipH="1">
            <a:off x="6075200" y="2762375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102" name="text 101: 1.5" descr="sci-ppt:obj-0101"/>
          <p:cNvSpPr txBox="1"/>
          <p:nvPr/>
        </p:nvSpPr>
        <p:spPr>
          <a:xfrm>
            <a:off x="5702949" y="2659437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cxnSp>
        <p:nvCxnSpPr>
          <p:cNvPr id="103" name="line 102: plot geometry" descr="sci-ppt:obj-0102"/>
          <p:cNvCxnSpPr/>
          <p:nvPr/>
        </p:nvCxnSpPr>
        <p:spPr>
          <a:xfrm flipH="1">
            <a:off x="6075200" y="3520727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104" name="text 103: 3" descr="sci-ppt:obj-0103"/>
          <p:cNvSpPr txBox="1"/>
          <p:nvPr/>
        </p:nvSpPr>
        <p:spPr>
          <a:xfrm>
            <a:off x="5889787" y="3417790"/>
            <a:ext cx="16657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105" name="line 104: plot geometry" descr="sci-ppt:obj-0104"/>
          <p:cNvCxnSpPr/>
          <p:nvPr/>
        </p:nvCxnSpPr>
        <p:spPr>
          <a:xfrm flipH="1">
            <a:off x="6075200" y="4279080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106" name="text 105: 6" descr="sci-ppt:obj-0105"/>
          <p:cNvSpPr txBox="1"/>
          <p:nvPr/>
        </p:nvSpPr>
        <p:spPr>
          <a:xfrm>
            <a:off x="5889787" y="4176142"/>
            <a:ext cx="16657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07" name="text 106: Initial radius (µm)" descr="sci-ppt:obj-0106"/>
          <p:cNvSpPr txBox="1"/>
          <p:nvPr/>
        </p:nvSpPr>
        <p:spPr>
          <a:xfrm rot="16200000">
            <a:off x="4641806" y="2599287"/>
            <a:ext cx="184811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Initial radius (µm)</a:t>
            </a:r>
          </a:p>
        </p:txBody>
      </p:sp>
      <p:cxnSp>
        <p:nvCxnSpPr>
          <p:cNvPr id="108" name="line 107: plot geometry" descr="sci-ppt:obj-0107"/>
          <p:cNvCxnSpPr/>
          <p:nvPr/>
        </p:nvCxnSpPr>
        <p:spPr>
          <a:xfrm flipV="1">
            <a:off x="6130618" y="866493"/>
            <a:ext cx="0" cy="3791763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cxnSp>
        <p:nvCxnSpPr>
          <p:cNvPr id="109" name="line 108: plot geometry" descr="sci-ppt:obj-0108"/>
          <p:cNvCxnSpPr/>
          <p:nvPr/>
        </p:nvCxnSpPr>
        <p:spPr>
          <a:xfrm>
            <a:off x="6130618" y="4658256"/>
            <a:ext cx="4525637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110" name="text 109: -1649.6" descr="sci-ppt:obj-0109"/>
          <p:cNvSpPr txBox="1"/>
          <p:nvPr/>
        </p:nvSpPr>
        <p:spPr>
          <a:xfrm>
            <a:off x="6365477" y="1135908"/>
            <a:ext cx="661690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-1649.6</a:t>
            </a:r>
          </a:p>
        </p:txBody>
      </p:sp>
      <p:sp>
        <p:nvSpPr>
          <p:cNvPr id="111" name="text 110: -163.5" descr="sci-ppt:obj-0110"/>
          <p:cNvSpPr txBox="1"/>
          <p:nvPr/>
        </p:nvSpPr>
        <p:spPr>
          <a:xfrm>
            <a:off x="7538925" y="1135908"/>
            <a:ext cx="577613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-163.5</a:t>
            </a:r>
          </a:p>
        </p:txBody>
      </p:sp>
      <p:sp>
        <p:nvSpPr>
          <p:cNvPr id="112" name="text 111: 15.0" descr="sci-ppt:obj-0111"/>
          <p:cNvSpPr txBox="1"/>
          <p:nvPr/>
        </p:nvSpPr>
        <p:spPr>
          <a:xfrm>
            <a:off x="8754411" y="1135908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15.0</a:t>
            </a:r>
          </a:p>
        </p:txBody>
      </p:sp>
      <p:sp>
        <p:nvSpPr>
          <p:cNvPr id="113" name="text 112: 102.7" descr="sci-ppt:obj-0112"/>
          <p:cNvSpPr txBox="1"/>
          <p:nvPr/>
        </p:nvSpPr>
        <p:spPr>
          <a:xfrm>
            <a:off x="9843782" y="1135908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102.7</a:t>
            </a:r>
          </a:p>
        </p:txBody>
      </p:sp>
      <p:sp>
        <p:nvSpPr>
          <p:cNvPr id="114" name="text 113: -414.6" descr="sci-ppt:obj-0113"/>
          <p:cNvSpPr txBox="1"/>
          <p:nvPr/>
        </p:nvSpPr>
        <p:spPr>
          <a:xfrm>
            <a:off x="6407515" y="1894261"/>
            <a:ext cx="577613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-414.6</a:t>
            </a:r>
          </a:p>
        </p:txBody>
      </p:sp>
      <p:sp>
        <p:nvSpPr>
          <p:cNvPr id="115" name="text 114: -78.1" descr="sci-ppt:obj-0114"/>
          <p:cNvSpPr txBox="1"/>
          <p:nvPr/>
        </p:nvSpPr>
        <p:spPr>
          <a:xfrm>
            <a:off x="7580963" y="1894261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FFFFFF"/>
                </a:solidFill>
                <a:latin typeface="Arial"/>
              </a:rPr>
              <a:t>-78.1</a:t>
            </a:r>
          </a:p>
        </p:txBody>
      </p:sp>
      <p:sp>
        <p:nvSpPr>
          <p:cNvPr id="116" name="text 115: 8.6" descr="sci-ppt:obj-0115"/>
          <p:cNvSpPr txBox="1"/>
          <p:nvPr/>
        </p:nvSpPr>
        <p:spPr>
          <a:xfrm>
            <a:off x="8796450" y="1894261"/>
            <a:ext cx="325382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8.6</a:t>
            </a:r>
          </a:p>
        </p:txBody>
      </p:sp>
      <p:sp>
        <p:nvSpPr>
          <p:cNvPr id="117" name="text 116: 57.5" descr="sci-ppt:obj-0116"/>
          <p:cNvSpPr txBox="1"/>
          <p:nvPr/>
        </p:nvSpPr>
        <p:spPr>
          <a:xfrm>
            <a:off x="9885821" y="1894261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57.5</a:t>
            </a:r>
          </a:p>
        </p:txBody>
      </p:sp>
      <p:sp>
        <p:nvSpPr>
          <p:cNvPr id="118" name="text 117: -27.0" descr="sci-ppt:obj-0117"/>
          <p:cNvSpPr txBox="1"/>
          <p:nvPr/>
        </p:nvSpPr>
        <p:spPr>
          <a:xfrm>
            <a:off x="6449554" y="2652614"/>
            <a:ext cx="493536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-27.0</a:t>
            </a:r>
          </a:p>
        </p:txBody>
      </p:sp>
      <p:sp>
        <p:nvSpPr>
          <p:cNvPr id="119" name="text 118: 12.9" descr="sci-ppt:obj-0118"/>
          <p:cNvSpPr txBox="1"/>
          <p:nvPr/>
        </p:nvSpPr>
        <p:spPr>
          <a:xfrm>
            <a:off x="7623002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12.9</a:t>
            </a:r>
          </a:p>
        </p:txBody>
      </p:sp>
      <p:sp>
        <p:nvSpPr>
          <p:cNvPr id="120" name="text 119: 30.4" descr="sci-ppt:obj-0119"/>
          <p:cNvSpPr txBox="1"/>
          <p:nvPr/>
        </p:nvSpPr>
        <p:spPr>
          <a:xfrm>
            <a:off x="8754411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30.4</a:t>
            </a:r>
          </a:p>
        </p:txBody>
      </p:sp>
      <p:sp>
        <p:nvSpPr>
          <p:cNvPr id="121" name="text 120: 44.6" descr="sci-ppt:obj-0120"/>
          <p:cNvSpPr txBox="1"/>
          <p:nvPr/>
        </p:nvSpPr>
        <p:spPr>
          <a:xfrm>
            <a:off x="9885821" y="2652614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44.6</a:t>
            </a:r>
          </a:p>
        </p:txBody>
      </p:sp>
      <p:sp>
        <p:nvSpPr>
          <p:cNvPr id="122" name="text 121: 14.2" descr="sci-ppt:obj-0121"/>
          <p:cNvSpPr txBox="1"/>
          <p:nvPr/>
        </p:nvSpPr>
        <p:spPr>
          <a:xfrm>
            <a:off x="6491592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14.2</a:t>
            </a:r>
          </a:p>
        </p:txBody>
      </p:sp>
      <p:sp>
        <p:nvSpPr>
          <p:cNvPr id="123" name="text 122: 26.7" descr="sci-ppt:obj-0122"/>
          <p:cNvSpPr txBox="1"/>
          <p:nvPr/>
        </p:nvSpPr>
        <p:spPr>
          <a:xfrm>
            <a:off x="7623002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26.7</a:t>
            </a:r>
          </a:p>
        </p:txBody>
      </p:sp>
      <p:sp>
        <p:nvSpPr>
          <p:cNvPr id="124" name="text 123: 35.5" descr="sci-ppt:obj-0123"/>
          <p:cNvSpPr txBox="1"/>
          <p:nvPr/>
        </p:nvSpPr>
        <p:spPr>
          <a:xfrm>
            <a:off x="8754411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35.5</a:t>
            </a:r>
          </a:p>
        </p:txBody>
      </p:sp>
      <p:sp>
        <p:nvSpPr>
          <p:cNvPr id="125" name="text 124: 45.1" descr="sci-ppt:obj-0124"/>
          <p:cNvSpPr txBox="1"/>
          <p:nvPr/>
        </p:nvSpPr>
        <p:spPr>
          <a:xfrm>
            <a:off x="9885821" y="3410966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45.1</a:t>
            </a:r>
          </a:p>
        </p:txBody>
      </p:sp>
      <p:sp>
        <p:nvSpPr>
          <p:cNvPr id="126" name="text 125: 34.4" descr="sci-ppt:obj-0125"/>
          <p:cNvSpPr txBox="1"/>
          <p:nvPr/>
        </p:nvSpPr>
        <p:spPr>
          <a:xfrm>
            <a:off x="6491592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34.4</a:t>
            </a:r>
          </a:p>
        </p:txBody>
      </p:sp>
      <p:sp>
        <p:nvSpPr>
          <p:cNvPr id="127" name="text 126: 33.9" descr="sci-ppt:obj-0126"/>
          <p:cNvSpPr txBox="1"/>
          <p:nvPr/>
        </p:nvSpPr>
        <p:spPr>
          <a:xfrm>
            <a:off x="7623002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33.9</a:t>
            </a:r>
          </a:p>
        </p:txBody>
      </p:sp>
      <p:sp>
        <p:nvSpPr>
          <p:cNvPr id="128" name="text 127: 38.4" descr="sci-ppt:obj-0127"/>
          <p:cNvSpPr txBox="1"/>
          <p:nvPr/>
        </p:nvSpPr>
        <p:spPr>
          <a:xfrm>
            <a:off x="8754411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38.4</a:t>
            </a:r>
          </a:p>
        </p:txBody>
      </p:sp>
      <p:sp>
        <p:nvSpPr>
          <p:cNvPr id="129" name="text 128: 45.6" descr="sci-ppt:obj-0128"/>
          <p:cNvSpPr txBox="1"/>
          <p:nvPr/>
        </p:nvSpPr>
        <p:spPr>
          <a:xfrm>
            <a:off x="9885821" y="4169319"/>
            <a:ext cx="409459" cy="19237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2" b="0" i="0">
                <a:solidFill>
                  <a:srgbClr val="000000"/>
                </a:solidFill>
                <a:latin typeface="Arial"/>
              </a:rPr>
              <a:t>45.6</a:t>
            </a:r>
          </a:p>
        </p:txBody>
      </p:sp>
      <p:sp>
        <p:nvSpPr>
          <p:cNvPr id="130" name="text 129: PFH; G = 20 kPa" descr="sci-ppt:obj-0129"/>
          <p:cNvSpPr txBox="1"/>
          <p:nvPr/>
        </p:nvSpPr>
        <p:spPr>
          <a:xfrm>
            <a:off x="7516091" y="575786"/>
            <a:ext cx="1754691" cy="2565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6" b="0" i="0">
                <a:solidFill>
                  <a:srgbClr val="000000"/>
                </a:solidFill>
                <a:latin typeface="Arial"/>
              </a:rPr>
              <a:t>PFH; G = 20 kPa</a:t>
            </a:r>
          </a:p>
        </p:txBody>
      </p:sp>
      <p:sp>
        <p:nvSpPr>
          <p:cNvPr id="131" name="polygon 130: plot geometry" descr="sci-ppt:obj-0130"/>
          <p:cNvSpPr/>
          <p:nvPr/>
        </p:nvSpPr>
        <p:spPr>
          <a:xfrm>
            <a:off x="11149114" y="1150875"/>
            <a:ext cx="161150" cy="3069523"/>
          </a:xfrm>
          <a:custGeom>
            <a:avLst/>
            <a:gdLst/>
            <a:ahLst/>
            <a:cxnLst/>
            <a:rect l="l" t="t" r="r" b="b"/>
            <a:pathLst>
              <a:path w="161150" h="3069523">
                <a:moveTo>
                  <a:pt x="0" y="3069523"/>
                </a:moveTo>
                <a:lnTo>
                  <a:pt x="161150" y="3069523"/>
                </a:lnTo>
                <a:lnTo>
                  <a:pt x="161150" y="0"/>
                </a:lnTo>
                <a:lnTo>
                  <a:pt x="0" y="0"/>
                </a:lnTo>
                <a:lnTo>
                  <a:pt x="0" y="30695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polygon 131: plot geometry" descr="sci-ppt:obj-0131"/>
          <p:cNvSpPr/>
          <p:nvPr/>
        </p:nvSpPr>
        <p:spPr>
          <a:xfrm>
            <a:off x="11149114" y="4220398"/>
            <a:ext cx="161150" cy="153476"/>
          </a:xfrm>
          <a:custGeom>
            <a:avLst/>
            <a:gdLst/>
            <a:ahLst/>
            <a:cxnLst/>
            <a:rect l="l" t="t" r="r" b="b"/>
            <a:pathLst>
              <a:path w="161150" h="153476">
                <a:moveTo>
                  <a:pt x="0" y="0"/>
                </a:moveTo>
                <a:lnTo>
                  <a:pt x="80575" y="153476"/>
                </a:lnTo>
                <a:lnTo>
                  <a:pt x="161150" y="0"/>
                </a:lnTo>
              </a:path>
            </a:pathLst>
          </a:cu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 132: plot geometry" descr="sci-ppt:obj-0132"/>
          <p:cNvSpPr/>
          <p:nvPr/>
        </p:nvSpPr>
        <p:spPr>
          <a:xfrm>
            <a:off x="11149463" y="1140026"/>
            <a:ext cx="159603" cy="11416"/>
          </a:xfrm>
          <a:prstGeom prst="rect">
            <a:avLst/>
          </a:prstGeom>
          <a:solidFill>
            <a:srgbClr val="0530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 133: plot geometry" descr="sci-ppt:obj-0133"/>
          <p:cNvSpPr/>
          <p:nvPr/>
        </p:nvSpPr>
        <p:spPr>
          <a:xfrm>
            <a:off x="11149463" y="1151427"/>
            <a:ext cx="159603" cy="11416"/>
          </a:xfrm>
          <a:prstGeom prst="rect">
            <a:avLst/>
          </a:prstGeom>
          <a:solidFill>
            <a:srgbClr val="0632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ct 134: plot geometry" descr="sci-ppt:obj-0134"/>
          <p:cNvSpPr/>
          <p:nvPr/>
        </p:nvSpPr>
        <p:spPr>
          <a:xfrm>
            <a:off x="11149463" y="1162827"/>
            <a:ext cx="159603" cy="11416"/>
          </a:xfrm>
          <a:prstGeom prst="rect">
            <a:avLst/>
          </a:prstGeom>
          <a:solidFill>
            <a:srgbClr val="0734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 135: plot geometry" descr="sci-ppt:obj-0135"/>
          <p:cNvSpPr/>
          <p:nvPr/>
        </p:nvSpPr>
        <p:spPr>
          <a:xfrm>
            <a:off x="11149463" y="1174227"/>
            <a:ext cx="159603" cy="11416"/>
          </a:xfrm>
          <a:prstGeom prst="rect">
            <a:avLst/>
          </a:prstGeom>
          <a:solidFill>
            <a:srgbClr val="083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 136: plot geometry" descr="sci-ppt:obj-0136"/>
          <p:cNvSpPr/>
          <p:nvPr/>
        </p:nvSpPr>
        <p:spPr>
          <a:xfrm>
            <a:off x="11149463" y="1185627"/>
            <a:ext cx="159603" cy="11416"/>
          </a:xfrm>
          <a:prstGeom prst="rect">
            <a:avLst/>
          </a:prstGeom>
          <a:solidFill>
            <a:srgbClr val="0938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rect 137: plot geometry" descr="sci-ppt:obj-0137"/>
          <p:cNvSpPr/>
          <p:nvPr/>
        </p:nvSpPr>
        <p:spPr>
          <a:xfrm>
            <a:off x="11149463" y="1197028"/>
            <a:ext cx="159603" cy="11416"/>
          </a:xfrm>
          <a:prstGeom prst="rect">
            <a:avLst/>
          </a:prstGeom>
          <a:solidFill>
            <a:srgbClr val="0A3B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 138: plot geometry" descr="sci-ppt:obj-0138"/>
          <p:cNvSpPr/>
          <p:nvPr/>
        </p:nvSpPr>
        <p:spPr>
          <a:xfrm>
            <a:off x="11149463" y="1208428"/>
            <a:ext cx="159603" cy="11416"/>
          </a:xfrm>
          <a:prstGeom prst="rect">
            <a:avLst/>
          </a:prstGeom>
          <a:solidFill>
            <a:srgbClr val="0C3D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 139: plot geometry" descr="sci-ppt:obj-0139"/>
          <p:cNvSpPr/>
          <p:nvPr/>
        </p:nvSpPr>
        <p:spPr>
          <a:xfrm>
            <a:off x="11149463" y="1219828"/>
            <a:ext cx="159603" cy="11416"/>
          </a:xfrm>
          <a:prstGeom prst="rect">
            <a:avLst/>
          </a:prstGeom>
          <a:solidFill>
            <a:srgbClr val="0D3F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 140: plot geometry" descr="sci-ppt:obj-0140"/>
          <p:cNvSpPr/>
          <p:nvPr/>
        </p:nvSpPr>
        <p:spPr>
          <a:xfrm>
            <a:off x="11149463" y="1231229"/>
            <a:ext cx="159603" cy="11416"/>
          </a:xfrm>
          <a:prstGeom prst="rect">
            <a:avLst/>
          </a:prstGeom>
          <a:solidFill>
            <a:srgbClr val="0E41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 141: plot geometry" descr="sci-ppt:obj-0141"/>
          <p:cNvSpPr/>
          <p:nvPr/>
        </p:nvSpPr>
        <p:spPr>
          <a:xfrm>
            <a:off x="11149463" y="1242629"/>
            <a:ext cx="159603" cy="11416"/>
          </a:xfrm>
          <a:prstGeom prst="rect">
            <a:avLst/>
          </a:prstGeom>
          <a:solidFill>
            <a:srgbClr val="0F4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ct 142: plot geometry" descr="sci-ppt:obj-0142"/>
          <p:cNvSpPr/>
          <p:nvPr/>
        </p:nvSpPr>
        <p:spPr>
          <a:xfrm>
            <a:off x="11149463" y="1254029"/>
            <a:ext cx="159603" cy="11416"/>
          </a:xfrm>
          <a:prstGeom prst="rect">
            <a:avLst/>
          </a:prstGeom>
          <a:solidFill>
            <a:srgbClr val="0F43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 143: plot geometry" descr="sci-ppt:obj-0143"/>
          <p:cNvSpPr/>
          <p:nvPr/>
        </p:nvSpPr>
        <p:spPr>
          <a:xfrm>
            <a:off x="11149463" y="1265429"/>
            <a:ext cx="159603" cy="11416"/>
          </a:xfrm>
          <a:prstGeom prst="rect">
            <a:avLst/>
          </a:prstGeom>
          <a:solidFill>
            <a:srgbClr val="1045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 144: plot geometry" descr="sci-ppt:obj-0144"/>
          <p:cNvSpPr/>
          <p:nvPr/>
        </p:nvSpPr>
        <p:spPr>
          <a:xfrm>
            <a:off x="11149463" y="1276830"/>
            <a:ext cx="159603" cy="11416"/>
          </a:xfrm>
          <a:prstGeom prst="rect">
            <a:avLst/>
          </a:prstGeom>
          <a:solidFill>
            <a:srgbClr val="1147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 145: plot geometry" descr="sci-ppt:obj-0145"/>
          <p:cNvSpPr/>
          <p:nvPr/>
        </p:nvSpPr>
        <p:spPr>
          <a:xfrm>
            <a:off x="11149463" y="1288230"/>
            <a:ext cx="159603" cy="11416"/>
          </a:xfrm>
          <a:prstGeom prst="rect">
            <a:avLst/>
          </a:prstGeom>
          <a:solidFill>
            <a:srgbClr val="1249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ect 146: plot geometry" descr="sci-ppt:obj-0146"/>
          <p:cNvSpPr/>
          <p:nvPr/>
        </p:nvSpPr>
        <p:spPr>
          <a:xfrm>
            <a:off x="11149463" y="1299630"/>
            <a:ext cx="159603" cy="11416"/>
          </a:xfrm>
          <a:prstGeom prst="rect">
            <a:avLst/>
          </a:prstGeom>
          <a:solidFill>
            <a:srgbClr val="134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 147: plot geometry" descr="sci-ppt:obj-0147"/>
          <p:cNvSpPr/>
          <p:nvPr/>
        </p:nvSpPr>
        <p:spPr>
          <a:xfrm>
            <a:off x="11149463" y="1311030"/>
            <a:ext cx="159603" cy="11416"/>
          </a:xfrm>
          <a:prstGeom prst="rect">
            <a:avLst/>
          </a:prstGeom>
          <a:solidFill>
            <a:srgbClr val="144E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ct 148: plot geometry" descr="sci-ppt:obj-0148"/>
          <p:cNvSpPr/>
          <p:nvPr/>
        </p:nvSpPr>
        <p:spPr>
          <a:xfrm>
            <a:off x="11149463" y="1322431"/>
            <a:ext cx="159603" cy="11416"/>
          </a:xfrm>
          <a:prstGeom prst="rect">
            <a:avLst/>
          </a:prstGeom>
          <a:solidFill>
            <a:srgbClr val="1550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ect 149: plot geometry" descr="sci-ppt:obj-0149"/>
          <p:cNvSpPr/>
          <p:nvPr/>
        </p:nvSpPr>
        <p:spPr>
          <a:xfrm>
            <a:off x="11149463" y="1333831"/>
            <a:ext cx="159603" cy="11416"/>
          </a:xfrm>
          <a:prstGeom prst="rect">
            <a:avLst/>
          </a:prstGeom>
          <a:solidFill>
            <a:srgbClr val="1752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ect 150: plot geometry" descr="sci-ppt:obj-0150"/>
          <p:cNvSpPr/>
          <p:nvPr/>
        </p:nvSpPr>
        <p:spPr>
          <a:xfrm>
            <a:off x="11149463" y="1345231"/>
            <a:ext cx="159603" cy="11416"/>
          </a:xfrm>
          <a:prstGeom prst="rect">
            <a:avLst/>
          </a:prstGeom>
          <a:solidFill>
            <a:srgbClr val="1854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ect 151: plot geometry" descr="sci-ppt:obj-0151"/>
          <p:cNvSpPr/>
          <p:nvPr/>
        </p:nvSpPr>
        <p:spPr>
          <a:xfrm>
            <a:off x="11149463" y="1356632"/>
            <a:ext cx="159603" cy="11416"/>
          </a:xfrm>
          <a:prstGeom prst="rect">
            <a:avLst/>
          </a:prstGeom>
          <a:solidFill>
            <a:srgbClr val="1956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ect 152: plot geometry" descr="sci-ppt:obj-0152"/>
          <p:cNvSpPr/>
          <p:nvPr/>
        </p:nvSpPr>
        <p:spPr>
          <a:xfrm>
            <a:off x="11149463" y="1368032"/>
            <a:ext cx="159603" cy="11416"/>
          </a:xfrm>
          <a:prstGeom prst="rect">
            <a:avLst/>
          </a:prstGeom>
          <a:solidFill>
            <a:srgbClr val="1A58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 153: plot geometry" descr="sci-ppt:obj-0153"/>
          <p:cNvSpPr/>
          <p:nvPr/>
        </p:nvSpPr>
        <p:spPr>
          <a:xfrm>
            <a:off x="11149463" y="1379432"/>
            <a:ext cx="159603" cy="11416"/>
          </a:xfrm>
          <a:prstGeom prst="rect">
            <a:avLst/>
          </a:prstGeom>
          <a:solidFill>
            <a:srgbClr val="1B5A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ect 154: plot geometry" descr="sci-ppt:obj-0154"/>
          <p:cNvSpPr/>
          <p:nvPr/>
        </p:nvSpPr>
        <p:spPr>
          <a:xfrm>
            <a:off x="11149463" y="1390832"/>
            <a:ext cx="159603" cy="11416"/>
          </a:xfrm>
          <a:prstGeom prst="rect">
            <a:avLst/>
          </a:prstGeom>
          <a:solidFill>
            <a:srgbClr val="1C5C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ct 155: plot geometry" descr="sci-ppt:obj-0155"/>
          <p:cNvSpPr/>
          <p:nvPr/>
        </p:nvSpPr>
        <p:spPr>
          <a:xfrm>
            <a:off x="11149463" y="1402233"/>
            <a:ext cx="159603" cy="11416"/>
          </a:xfrm>
          <a:prstGeom prst="rect">
            <a:avLst/>
          </a:prstGeom>
          <a:solidFill>
            <a:srgbClr val="1D5FA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 156: plot geometry" descr="sci-ppt:obj-0156"/>
          <p:cNvSpPr/>
          <p:nvPr/>
        </p:nvSpPr>
        <p:spPr>
          <a:xfrm>
            <a:off x="11149463" y="1413633"/>
            <a:ext cx="159603" cy="11416"/>
          </a:xfrm>
          <a:prstGeom prst="rect">
            <a:avLst/>
          </a:prstGeom>
          <a:solidFill>
            <a:srgbClr val="1E61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 157: plot geometry" descr="sci-ppt:obj-0157"/>
          <p:cNvSpPr/>
          <p:nvPr/>
        </p:nvSpPr>
        <p:spPr>
          <a:xfrm>
            <a:off x="11149463" y="1425033"/>
            <a:ext cx="159603" cy="11416"/>
          </a:xfrm>
          <a:prstGeom prst="rect">
            <a:avLst/>
          </a:prstGeom>
          <a:solidFill>
            <a:srgbClr val="1F6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 158: plot geometry" descr="sci-ppt:obj-0158"/>
          <p:cNvSpPr/>
          <p:nvPr/>
        </p:nvSpPr>
        <p:spPr>
          <a:xfrm>
            <a:off x="11149463" y="1436433"/>
            <a:ext cx="159603" cy="11416"/>
          </a:xfrm>
          <a:prstGeom prst="rect">
            <a:avLst/>
          </a:prstGeom>
          <a:solidFill>
            <a:srgbClr val="2065A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ct 159: plot geometry" descr="sci-ppt:obj-0159"/>
          <p:cNvSpPr/>
          <p:nvPr/>
        </p:nvSpPr>
        <p:spPr>
          <a:xfrm>
            <a:off x="11149463" y="1447834"/>
            <a:ext cx="159603" cy="11416"/>
          </a:xfrm>
          <a:prstGeom prst="rect">
            <a:avLst/>
          </a:prstGeom>
          <a:solidFill>
            <a:srgbClr val="2267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 160: plot geometry" descr="sci-ppt:obj-0160"/>
          <p:cNvSpPr/>
          <p:nvPr/>
        </p:nvSpPr>
        <p:spPr>
          <a:xfrm>
            <a:off x="11149463" y="1459234"/>
            <a:ext cx="159603" cy="11416"/>
          </a:xfrm>
          <a:prstGeom prst="rect">
            <a:avLst/>
          </a:prstGeom>
          <a:solidFill>
            <a:srgbClr val="2369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ect 161: plot geometry" descr="sci-ppt:obj-0161"/>
          <p:cNvSpPr/>
          <p:nvPr/>
        </p:nvSpPr>
        <p:spPr>
          <a:xfrm>
            <a:off x="11149463" y="1470634"/>
            <a:ext cx="159603" cy="11416"/>
          </a:xfrm>
          <a:prstGeom prst="rect">
            <a:avLst/>
          </a:prstGeom>
          <a:solidFill>
            <a:srgbClr val="2369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rect 162: plot geometry" descr="sci-ppt:obj-0162"/>
          <p:cNvSpPr/>
          <p:nvPr/>
        </p:nvSpPr>
        <p:spPr>
          <a:xfrm>
            <a:off x="11149463" y="1482034"/>
            <a:ext cx="159603" cy="11416"/>
          </a:xfrm>
          <a:prstGeom prst="rect">
            <a:avLst/>
          </a:prstGeom>
          <a:solidFill>
            <a:srgbClr val="246A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ct 163: plot geometry" descr="sci-ppt:obj-0163"/>
          <p:cNvSpPr/>
          <p:nvPr/>
        </p:nvSpPr>
        <p:spPr>
          <a:xfrm>
            <a:off x="11149463" y="1493435"/>
            <a:ext cx="159603" cy="11416"/>
          </a:xfrm>
          <a:prstGeom prst="rect">
            <a:avLst/>
          </a:prstGeom>
          <a:solidFill>
            <a:srgbClr val="266C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 164: plot geometry" descr="sci-ppt:obj-0164"/>
          <p:cNvSpPr/>
          <p:nvPr/>
        </p:nvSpPr>
        <p:spPr>
          <a:xfrm>
            <a:off x="11149463" y="1504835"/>
            <a:ext cx="159603" cy="11416"/>
          </a:xfrm>
          <a:prstGeom prst="rect">
            <a:avLst/>
          </a:prstGeom>
          <a:solidFill>
            <a:srgbClr val="276E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 165: plot geometry" descr="sci-ppt:obj-0165"/>
          <p:cNvSpPr/>
          <p:nvPr/>
        </p:nvSpPr>
        <p:spPr>
          <a:xfrm>
            <a:off x="11149463" y="1516235"/>
            <a:ext cx="159603" cy="11416"/>
          </a:xfrm>
          <a:prstGeom prst="rect">
            <a:avLst/>
          </a:prstGeom>
          <a:solidFill>
            <a:srgbClr val="2870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ect 166: plot geometry" descr="sci-ppt:obj-0166"/>
          <p:cNvSpPr/>
          <p:nvPr/>
        </p:nvSpPr>
        <p:spPr>
          <a:xfrm>
            <a:off x="11149463" y="1527636"/>
            <a:ext cx="159603" cy="11416"/>
          </a:xfrm>
          <a:prstGeom prst="rect">
            <a:avLst/>
          </a:prstGeom>
          <a:solidFill>
            <a:srgbClr val="2A71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ct 167: plot geometry" descr="sci-ppt:obj-0167"/>
          <p:cNvSpPr/>
          <p:nvPr/>
        </p:nvSpPr>
        <p:spPr>
          <a:xfrm>
            <a:off x="11149463" y="1539036"/>
            <a:ext cx="159603" cy="11416"/>
          </a:xfrm>
          <a:prstGeom prst="rect">
            <a:avLst/>
          </a:prstGeom>
          <a:solidFill>
            <a:srgbClr val="2B73B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ect 168: plot geometry" descr="sci-ppt:obj-0168"/>
          <p:cNvSpPr/>
          <p:nvPr/>
        </p:nvSpPr>
        <p:spPr>
          <a:xfrm>
            <a:off x="11149463" y="1550436"/>
            <a:ext cx="159603" cy="11416"/>
          </a:xfrm>
          <a:prstGeom prst="rect">
            <a:avLst/>
          </a:prstGeom>
          <a:solidFill>
            <a:srgbClr val="2C75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ct 169: plot geometry" descr="sci-ppt:obj-0169"/>
          <p:cNvSpPr/>
          <p:nvPr/>
        </p:nvSpPr>
        <p:spPr>
          <a:xfrm>
            <a:off x="11149463" y="1561836"/>
            <a:ext cx="159603" cy="11416"/>
          </a:xfrm>
          <a:prstGeom prst="rect">
            <a:avLst/>
          </a:prstGeom>
          <a:solidFill>
            <a:srgbClr val="2E77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 170: plot geometry" descr="sci-ppt:obj-0170"/>
          <p:cNvSpPr/>
          <p:nvPr/>
        </p:nvSpPr>
        <p:spPr>
          <a:xfrm>
            <a:off x="11149463" y="1573237"/>
            <a:ext cx="159603" cy="11416"/>
          </a:xfrm>
          <a:prstGeom prst="rect">
            <a:avLst/>
          </a:prstGeom>
          <a:solidFill>
            <a:srgbClr val="2F79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ect 171: plot geometry" descr="sci-ppt:obj-0171"/>
          <p:cNvSpPr/>
          <p:nvPr/>
        </p:nvSpPr>
        <p:spPr>
          <a:xfrm>
            <a:off x="11149463" y="1584637"/>
            <a:ext cx="159603" cy="11416"/>
          </a:xfrm>
          <a:prstGeom prst="rect">
            <a:avLst/>
          </a:prstGeom>
          <a:solidFill>
            <a:srgbClr val="307A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ect 172: plot geometry" descr="sci-ppt:obj-0172"/>
          <p:cNvSpPr/>
          <p:nvPr/>
        </p:nvSpPr>
        <p:spPr>
          <a:xfrm>
            <a:off x="11149463" y="1596037"/>
            <a:ext cx="159603" cy="11416"/>
          </a:xfrm>
          <a:prstGeom prst="rect">
            <a:avLst/>
          </a:prstGeom>
          <a:solidFill>
            <a:srgbClr val="327CB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ect 173: plot geometry" descr="sci-ppt:obj-0173"/>
          <p:cNvSpPr/>
          <p:nvPr/>
        </p:nvSpPr>
        <p:spPr>
          <a:xfrm>
            <a:off x="11149463" y="1607437"/>
            <a:ext cx="159603" cy="11416"/>
          </a:xfrm>
          <a:prstGeom prst="rect">
            <a:avLst/>
          </a:prstGeom>
          <a:solidFill>
            <a:srgbClr val="337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ct 174: plot geometry" descr="sci-ppt:obj-0174"/>
          <p:cNvSpPr/>
          <p:nvPr/>
        </p:nvSpPr>
        <p:spPr>
          <a:xfrm>
            <a:off x="11149463" y="1618838"/>
            <a:ext cx="159603" cy="11416"/>
          </a:xfrm>
          <a:prstGeom prst="rect">
            <a:avLst/>
          </a:prstGeom>
          <a:solidFill>
            <a:srgbClr val="3480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 175: plot geometry" descr="sci-ppt:obj-0175"/>
          <p:cNvSpPr/>
          <p:nvPr/>
        </p:nvSpPr>
        <p:spPr>
          <a:xfrm>
            <a:off x="11149463" y="1630238"/>
            <a:ext cx="159603" cy="11416"/>
          </a:xfrm>
          <a:prstGeom prst="rect">
            <a:avLst/>
          </a:prstGeom>
          <a:solidFill>
            <a:srgbClr val="3681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ect 176: plot geometry" descr="sci-ppt:obj-0176"/>
          <p:cNvSpPr/>
          <p:nvPr/>
        </p:nvSpPr>
        <p:spPr>
          <a:xfrm>
            <a:off x="11149463" y="1641638"/>
            <a:ext cx="159603" cy="11416"/>
          </a:xfrm>
          <a:prstGeom prst="rect">
            <a:avLst/>
          </a:prstGeom>
          <a:solidFill>
            <a:srgbClr val="3783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ct 177: plot geometry" descr="sci-ppt:obj-0177"/>
          <p:cNvSpPr/>
          <p:nvPr/>
        </p:nvSpPr>
        <p:spPr>
          <a:xfrm>
            <a:off x="11149463" y="1653039"/>
            <a:ext cx="159603" cy="11416"/>
          </a:xfrm>
          <a:prstGeom prst="rect">
            <a:avLst/>
          </a:prstGeom>
          <a:solidFill>
            <a:srgbClr val="3885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 178: plot geometry" descr="sci-ppt:obj-0178"/>
          <p:cNvSpPr/>
          <p:nvPr/>
        </p:nvSpPr>
        <p:spPr>
          <a:xfrm>
            <a:off x="11149463" y="1664439"/>
            <a:ext cx="159603" cy="11416"/>
          </a:xfrm>
          <a:prstGeom prst="rect">
            <a:avLst/>
          </a:prstGeom>
          <a:solidFill>
            <a:srgbClr val="3A87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ct 179: plot geometry" descr="sci-ppt:obj-0179"/>
          <p:cNvSpPr/>
          <p:nvPr/>
        </p:nvSpPr>
        <p:spPr>
          <a:xfrm>
            <a:off x="11149463" y="1675839"/>
            <a:ext cx="159603" cy="11416"/>
          </a:xfrm>
          <a:prstGeom prst="rect">
            <a:avLst/>
          </a:prstGeom>
          <a:solidFill>
            <a:srgbClr val="3B88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ct 180: plot geometry" descr="sci-ppt:obj-0180"/>
          <p:cNvSpPr/>
          <p:nvPr/>
        </p:nvSpPr>
        <p:spPr>
          <a:xfrm>
            <a:off x="11149463" y="1687239"/>
            <a:ext cx="159603" cy="11416"/>
          </a:xfrm>
          <a:prstGeom prst="rect">
            <a:avLst/>
          </a:prstGeom>
          <a:solidFill>
            <a:srgbClr val="3B88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 181: plot geometry" descr="sci-ppt:obj-0181"/>
          <p:cNvSpPr/>
          <p:nvPr/>
        </p:nvSpPr>
        <p:spPr>
          <a:xfrm>
            <a:off x="11149463" y="1698640"/>
            <a:ext cx="159603" cy="11416"/>
          </a:xfrm>
          <a:prstGeom prst="rect">
            <a:avLst/>
          </a:prstGeom>
          <a:solidFill>
            <a:srgbClr val="3C8A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ct 182: plot geometry" descr="sci-ppt:obj-0182"/>
          <p:cNvSpPr/>
          <p:nvPr/>
        </p:nvSpPr>
        <p:spPr>
          <a:xfrm>
            <a:off x="11149463" y="1710040"/>
            <a:ext cx="159603" cy="11416"/>
          </a:xfrm>
          <a:prstGeom prst="rect">
            <a:avLst/>
          </a:prstGeom>
          <a:solidFill>
            <a:srgbClr val="3E8C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 183: plot geometry" descr="sci-ppt:obj-0183"/>
          <p:cNvSpPr/>
          <p:nvPr/>
        </p:nvSpPr>
        <p:spPr>
          <a:xfrm>
            <a:off x="11149463" y="1721440"/>
            <a:ext cx="159603" cy="11416"/>
          </a:xfrm>
          <a:prstGeom prst="rect">
            <a:avLst/>
          </a:prstGeom>
          <a:solidFill>
            <a:srgbClr val="3F8E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 184: plot geometry" descr="sci-ppt:obj-0184"/>
          <p:cNvSpPr/>
          <p:nvPr/>
        </p:nvSpPr>
        <p:spPr>
          <a:xfrm>
            <a:off x="11149463" y="1732840"/>
            <a:ext cx="159603" cy="11416"/>
          </a:xfrm>
          <a:prstGeom prst="rect">
            <a:avLst/>
          </a:prstGeom>
          <a:solidFill>
            <a:srgbClr val="408F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 185: plot geometry" descr="sci-ppt:obj-0185"/>
          <p:cNvSpPr/>
          <p:nvPr/>
        </p:nvSpPr>
        <p:spPr>
          <a:xfrm>
            <a:off x="11149463" y="1744241"/>
            <a:ext cx="159603" cy="11416"/>
          </a:xfrm>
          <a:prstGeom prst="rect">
            <a:avLst/>
          </a:prstGeom>
          <a:solidFill>
            <a:srgbClr val="4291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 186: plot geometry" descr="sci-ppt:obj-0186"/>
          <p:cNvSpPr/>
          <p:nvPr/>
        </p:nvSpPr>
        <p:spPr>
          <a:xfrm>
            <a:off x="11149463" y="1755641"/>
            <a:ext cx="159603" cy="11416"/>
          </a:xfrm>
          <a:prstGeom prst="rect">
            <a:avLst/>
          </a:prstGeom>
          <a:solidFill>
            <a:srgbClr val="4393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 187: plot geometry" descr="sci-ppt:obj-0187"/>
          <p:cNvSpPr/>
          <p:nvPr/>
        </p:nvSpPr>
        <p:spPr>
          <a:xfrm>
            <a:off x="11149463" y="1767041"/>
            <a:ext cx="159603" cy="11416"/>
          </a:xfrm>
          <a:prstGeom prst="rect">
            <a:avLst/>
          </a:prstGeom>
          <a:solidFill>
            <a:srgbClr val="4695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ect 188: plot geometry" descr="sci-ppt:obj-0188"/>
          <p:cNvSpPr/>
          <p:nvPr/>
        </p:nvSpPr>
        <p:spPr>
          <a:xfrm>
            <a:off x="11149463" y="1778441"/>
            <a:ext cx="159603" cy="11416"/>
          </a:xfrm>
          <a:prstGeom prst="rect">
            <a:avLst/>
          </a:prstGeom>
          <a:solidFill>
            <a:srgbClr val="499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rect 189: plot geometry" descr="sci-ppt:obj-0189"/>
          <p:cNvSpPr/>
          <p:nvPr/>
        </p:nvSpPr>
        <p:spPr>
          <a:xfrm>
            <a:off x="11149463" y="1789842"/>
            <a:ext cx="159603" cy="11416"/>
          </a:xfrm>
          <a:prstGeom prst="rect">
            <a:avLst/>
          </a:prstGeom>
          <a:solidFill>
            <a:srgbClr val="4C99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ct 190: plot geometry" descr="sci-ppt:obj-0190"/>
          <p:cNvSpPr/>
          <p:nvPr/>
        </p:nvSpPr>
        <p:spPr>
          <a:xfrm>
            <a:off x="11149463" y="1801242"/>
            <a:ext cx="159603" cy="11416"/>
          </a:xfrm>
          <a:prstGeom prst="rect">
            <a:avLst/>
          </a:prstGeom>
          <a:solidFill>
            <a:srgbClr val="4F9B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ct 191: plot geometry" descr="sci-ppt:obj-0191"/>
          <p:cNvSpPr/>
          <p:nvPr/>
        </p:nvSpPr>
        <p:spPr>
          <a:xfrm>
            <a:off x="11149463" y="1812642"/>
            <a:ext cx="159603" cy="11416"/>
          </a:xfrm>
          <a:prstGeom prst="rect">
            <a:avLst/>
          </a:prstGeom>
          <a:solidFill>
            <a:srgbClr val="529D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ct 192: plot geometry" descr="sci-ppt:obj-0192"/>
          <p:cNvSpPr/>
          <p:nvPr/>
        </p:nvSpPr>
        <p:spPr>
          <a:xfrm>
            <a:off x="11149463" y="1824043"/>
            <a:ext cx="159603" cy="11416"/>
          </a:xfrm>
          <a:prstGeom prst="rect">
            <a:avLst/>
          </a:prstGeom>
          <a:solidFill>
            <a:srgbClr val="569F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ct 193: plot geometry" descr="sci-ppt:obj-0193"/>
          <p:cNvSpPr/>
          <p:nvPr/>
        </p:nvSpPr>
        <p:spPr>
          <a:xfrm>
            <a:off x="11149463" y="1835443"/>
            <a:ext cx="159603" cy="11416"/>
          </a:xfrm>
          <a:prstGeom prst="rect">
            <a:avLst/>
          </a:prstGeom>
          <a:solidFill>
            <a:srgbClr val="59A1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 194: plot geometry" descr="sci-ppt:obj-0194"/>
          <p:cNvSpPr/>
          <p:nvPr/>
        </p:nvSpPr>
        <p:spPr>
          <a:xfrm>
            <a:off x="11149463" y="1846843"/>
            <a:ext cx="159603" cy="11416"/>
          </a:xfrm>
          <a:prstGeom prst="rect">
            <a:avLst/>
          </a:prstGeom>
          <a:solidFill>
            <a:srgbClr val="5CA3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ect 195: plot geometry" descr="sci-ppt:obj-0195"/>
          <p:cNvSpPr/>
          <p:nvPr/>
        </p:nvSpPr>
        <p:spPr>
          <a:xfrm>
            <a:off x="11149463" y="1858243"/>
            <a:ext cx="159603" cy="11416"/>
          </a:xfrm>
          <a:prstGeom prst="rect">
            <a:avLst/>
          </a:prstGeom>
          <a:solidFill>
            <a:srgbClr val="5FA5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ct 196: plot geometry" descr="sci-ppt:obj-0196"/>
          <p:cNvSpPr/>
          <p:nvPr/>
        </p:nvSpPr>
        <p:spPr>
          <a:xfrm>
            <a:off x="11149463" y="1869644"/>
            <a:ext cx="159603" cy="11416"/>
          </a:xfrm>
          <a:prstGeom prst="rect">
            <a:avLst/>
          </a:prstGeom>
          <a:solidFill>
            <a:srgbClr val="62A7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ct 197: plot geometry" descr="sci-ppt:obj-0197"/>
          <p:cNvSpPr/>
          <p:nvPr/>
        </p:nvSpPr>
        <p:spPr>
          <a:xfrm>
            <a:off x="11149463" y="1881044"/>
            <a:ext cx="159603" cy="11416"/>
          </a:xfrm>
          <a:prstGeom prst="rect">
            <a:avLst/>
          </a:prstGeom>
          <a:solidFill>
            <a:srgbClr val="65A9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 198: plot geometry" descr="sci-ppt:obj-0198"/>
          <p:cNvSpPr/>
          <p:nvPr/>
        </p:nvSpPr>
        <p:spPr>
          <a:xfrm>
            <a:off x="11149463" y="1892444"/>
            <a:ext cx="159603" cy="11416"/>
          </a:xfrm>
          <a:prstGeom prst="rect">
            <a:avLst/>
          </a:prstGeom>
          <a:solidFill>
            <a:srgbClr val="68AB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 199: plot geometry" descr="sci-ppt:obj-0199"/>
          <p:cNvSpPr/>
          <p:nvPr/>
        </p:nvSpPr>
        <p:spPr>
          <a:xfrm>
            <a:off x="11149463" y="1903844"/>
            <a:ext cx="159603" cy="11416"/>
          </a:xfrm>
          <a:prstGeom prst="rect">
            <a:avLst/>
          </a:prstGeom>
          <a:solidFill>
            <a:srgbClr val="68AB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 200: plot geometry" descr="sci-ppt:obj-0200"/>
          <p:cNvSpPr/>
          <p:nvPr/>
        </p:nvSpPr>
        <p:spPr>
          <a:xfrm>
            <a:off x="11149463" y="1915245"/>
            <a:ext cx="159603" cy="11416"/>
          </a:xfrm>
          <a:prstGeom prst="rect">
            <a:avLst/>
          </a:prstGeom>
          <a:solidFill>
            <a:srgbClr val="6BAC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 201: plot geometry" descr="sci-ppt:obj-0201"/>
          <p:cNvSpPr/>
          <p:nvPr/>
        </p:nvSpPr>
        <p:spPr>
          <a:xfrm>
            <a:off x="11149463" y="1926645"/>
            <a:ext cx="159603" cy="11416"/>
          </a:xfrm>
          <a:prstGeom prst="rect">
            <a:avLst/>
          </a:prstGeom>
          <a:solidFill>
            <a:srgbClr val="6EAE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 202: plot geometry" descr="sci-ppt:obj-0202"/>
          <p:cNvSpPr/>
          <p:nvPr/>
        </p:nvSpPr>
        <p:spPr>
          <a:xfrm>
            <a:off x="11149463" y="1938045"/>
            <a:ext cx="159603" cy="11416"/>
          </a:xfrm>
          <a:prstGeom prst="rect">
            <a:avLst/>
          </a:prstGeom>
          <a:solidFill>
            <a:srgbClr val="71B0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 203: plot geometry" descr="sci-ppt:obj-0203"/>
          <p:cNvSpPr/>
          <p:nvPr/>
        </p:nvSpPr>
        <p:spPr>
          <a:xfrm>
            <a:off x="11149463" y="1949446"/>
            <a:ext cx="159603" cy="11416"/>
          </a:xfrm>
          <a:prstGeom prst="rect">
            <a:avLst/>
          </a:prstGeom>
          <a:solidFill>
            <a:srgbClr val="75B2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 204: plot geometry" descr="sci-ppt:obj-0204"/>
          <p:cNvSpPr/>
          <p:nvPr/>
        </p:nvSpPr>
        <p:spPr>
          <a:xfrm>
            <a:off x="11149463" y="1960846"/>
            <a:ext cx="159603" cy="11416"/>
          </a:xfrm>
          <a:prstGeom prst="rect">
            <a:avLst/>
          </a:prstGeom>
          <a:solidFill>
            <a:srgbClr val="78B4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 205: plot geometry" descr="sci-ppt:obj-0205"/>
          <p:cNvSpPr/>
          <p:nvPr/>
        </p:nvSpPr>
        <p:spPr>
          <a:xfrm>
            <a:off x="11149463" y="1972246"/>
            <a:ext cx="159603" cy="11416"/>
          </a:xfrm>
          <a:prstGeom prst="rect">
            <a:avLst/>
          </a:prstGeom>
          <a:solidFill>
            <a:srgbClr val="7BB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 206: plot geometry" descr="sci-ppt:obj-0206"/>
          <p:cNvSpPr/>
          <p:nvPr/>
        </p:nvSpPr>
        <p:spPr>
          <a:xfrm>
            <a:off x="11149463" y="1983646"/>
            <a:ext cx="159603" cy="11416"/>
          </a:xfrm>
          <a:prstGeom prst="rect">
            <a:avLst/>
          </a:prstGeom>
          <a:solidFill>
            <a:srgbClr val="7EB8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 207: plot geometry" descr="sci-ppt:obj-0207"/>
          <p:cNvSpPr/>
          <p:nvPr/>
        </p:nvSpPr>
        <p:spPr>
          <a:xfrm>
            <a:off x="11149463" y="1995047"/>
            <a:ext cx="159603" cy="11416"/>
          </a:xfrm>
          <a:prstGeom prst="rect">
            <a:avLst/>
          </a:prstGeom>
          <a:solidFill>
            <a:srgbClr val="81BA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 208: plot geometry" descr="sci-ppt:obj-0208"/>
          <p:cNvSpPr/>
          <p:nvPr/>
        </p:nvSpPr>
        <p:spPr>
          <a:xfrm>
            <a:off x="11149463" y="2006447"/>
            <a:ext cx="159603" cy="11416"/>
          </a:xfrm>
          <a:prstGeom prst="rect">
            <a:avLst/>
          </a:prstGeom>
          <a:solidFill>
            <a:srgbClr val="84BC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 209: plot geometry" descr="sci-ppt:obj-0209"/>
          <p:cNvSpPr/>
          <p:nvPr/>
        </p:nvSpPr>
        <p:spPr>
          <a:xfrm>
            <a:off x="11149463" y="2017847"/>
            <a:ext cx="159603" cy="11416"/>
          </a:xfrm>
          <a:prstGeom prst="rect">
            <a:avLst/>
          </a:prstGeom>
          <a:solidFill>
            <a:srgbClr val="87B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 210: plot geometry" descr="sci-ppt:obj-0210"/>
          <p:cNvSpPr/>
          <p:nvPr/>
        </p:nvSpPr>
        <p:spPr>
          <a:xfrm>
            <a:off x="11149463" y="2029247"/>
            <a:ext cx="159603" cy="11416"/>
          </a:xfrm>
          <a:prstGeom prst="rect">
            <a:avLst/>
          </a:prstGeom>
          <a:solidFill>
            <a:srgbClr val="8AC0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 211: plot geometry" descr="sci-ppt:obj-0211"/>
          <p:cNvSpPr/>
          <p:nvPr/>
        </p:nvSpPr>
        <p:spPr>
          <a:xfrm>
            <a:off x="11149463" y="2040648"/>
            <a:ext cx="159603" cy="11416"/>
          </a:xfrm>
          <a:prstGeom prst="rect">
            <a:avLst/>
          </a:prstGeom>
          <a:solidFill>
            <a:srgbClr val="8DC2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 212: plot geometry" descr="sci-ppt:obj-0212"/>
          <p:cNvSpPr/>
          <p:nvPr/>
        </p:nvSpPr>
        <p:spPr>
          <a:xfrm>
            <a:off x="11149463" y="2052048"/>
            <a:ext cx="159603" cy="11416"/>
          </a:xfrm>
          <a:prstGeom prst="rect">
            <a:avLst/>
          </a:prstGeom>
          <a:solidFill>
            <a:srgbClr val="90C4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 213: plot geometry" descr="sci-ppt:obj-0213"/>
          <p:cNvSpPr/>
          <p:nvPr/>
        </p:nvSpPr>
        <p:spPr>
          <a:xfrm>
            <a:off x="11149463" y="2063448"/>
            <a:ext cx="159603" cy="11416"/>
          </a:xfrm>
          <a:prstGeom prst="rect">
            <a:avLst/>
          </a:prstGeom>
          <a:solidFill>
            <a:srgbClr val="93C6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 214: plot geometry" descr="sci-ppt:obj-0214"/>
          <p:cNvSpPr/>
          <p:nvPr/>
        </p:nvSpPr>
        <p:spPr>
          <a:xfrm>
            <a:off x="11149463" y="2074848"/>
            <a:ext cx="159603" cy="11416"/>
          </a:xfrm>
          <a:prstGeom prst="rect">
            <a:avLst/>
          </a:prstGeom>
          <a:solidFill>
            <a:srgbClr val="96C7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 215: plot geometry" descr="sci-ppt:obj-0215"/>
          <p:cNvSpPr/>
          <p:nvPr/>
        </p:nvSpPr>
        <p:spPr>
          <a:xfrm>
            <a:off x="11149463" y="2086249"/>
            <a:ext cx="159603" cy="11416"/>
          </a:xfrm>
          <a:prstGeom prst="rect">
            <a:avLst/>
          </a:prstGeom>
          <a:solidFill>
            <a:srgbClr val="98C8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 216: plot geometry" descr="sci-ppt:obj-0216"/>
          <p:cNvSpPr/>
          <p:nvPr/>
        </p:nvSpPr>
        <p:spPr>
          <a:xfrm>
            <a:off x="11149463" y="2097649"/>
            <a:ext cx="159603" cy="11416"/>
          </a:xfrm>
          <a:prstGeom prst="rect">
            <a:avLst/>
          </a:prstGeom>
          <a:solidFill>
            <a:srgbClr val="9BC9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 217: plot geometry" descr="sci-ppt:obj-0217"/>
          <p:cNvSpPr/>
          <p:nvPr/>
        </p:nvSpPr>
        <p:spPr>
          <a:xfrm>
            <a:off x="11149463" y="2109049"/>
            <a:ext cx="159603" cy="11416"/>
          </a:xfrm>
          <a:prstGeom prst="rect">
            <a:avLst/>
          </a:prstGeom>
          <a:solidFill>
            <a:srgbClr val="9DCB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 218: plot geometry" descr="sci-ppt:obj-0218"/>
          <p:cNvSpPr/>
          <p:nvPr/>
        </p:nvSpPr>
        <p:spPr>
          <a:xfrm>
            <a:off x="11149463" y="2120450"/>
            <a:ext cx="159603" cy="11416"/>
          </a:xfrm>
          <a:prstGeom prst="rect">
            <a:avLst/>
          </a:prstGeom>
          <a:solidFill>
            <a:srgbClr val="A0C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 219: plot geometry" descr="sci-ppt:obj-0219"/>
          <p:cNvSpPr/>
          <p:nvPr/>
        </p:nvSpPr>
        <p:spPr>
          <a:xfrm>
            <a:off x="11149463" y="2131850"/>
            <a:ext cx="159603" cy="11416"/>
          </a:xfrm>
          <a:prstGeom prst="rect">
            <a:avLst/>
          </a:prstGeom>
          <a:solidFill>
            <a:srgbClr val="A0CC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 220: plot geometry" descr="sci-ppt:obj-0220"/>
          <p:cNvSpPr/>
          <p:nvPr/>
        </p:nvSpPr>
        <p:spPr>
          <a:xfrm>
            <a:off x="11149463" y="2143250"/>
            <a:ext cx="159603" cy="11416"/>
          </a:xfrm>
          <a:prstGeom prst="rect">
            <a:avLst/>
          </a:prstGeom>
          <a:solidFill>
            <a:srgbClr val="A2CD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 221: plot geometry" descr="sci-ppt:obj-0221"/>
          <p:cNvSpPr/>
          <p:nvPr/>
        </p:nvSpPr>
        <p:spPr>
          <a:xfrm>
            <a:off x="11149463" y="2154650"/>
            <a:ext cx="159603" cy="11416"/>
          </a:xfrm>
          <a:prstGeom prst="rect">
            <a:avLst/>
          </a:prstGeom>
          <a:solidFill>
            <a:srgbClr val="A5CE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 222: plot geometry" descr="sci-ppt:obj-0222"/>
          <p:cNvSpPr/>
          <p:nvPr/>
        </p:nvSpPr>
        <p:spPr>
          <a:xfrm>
            <a:off x="11149463" y="2166051"/>
            <a:ext cx="159603" cy="11416"/>
          </a:xfrm>
          <a:prstGeom prst="rect">
            <a:avLst/>
          </a:prstGeom>
          <a:solidFill>
            <a:srgbClr val="A7D0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 223: plot geometry" descr="sci-ppt:obj-0223"/>
          <p:cNvSpPr/>
          <p:nvPr/>
        </p:nvSpPr>
        <p:spPr>
          <a:xfrm>
            <a:off x="11149463" y="2177451"/>
            <a:ext cx="159603" cy="11416"/>
          </a:xfrm>
          <a:prstGeom prst="rect">
            <a:avLst/>
          </a:prstGeom>
          <a:solidFill>
            <a:srgbClr val="A9D1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 224: plot geometry" descr="sci-ppt:obj-0224"/>
          <p:cNvSpPr/>
          <p:nvPr/>
        </p:nvSpPr>
        <p:spPr>
          <a:xfrm>
            <a:off x="11149463" y="2188851"/>
            <a:ext cx="159603" cy="11416"/>
          </a:xfrm>
          <a:prstGeom prst="rect">
            <a:avLst/>
          </a:prstGeom>
          <a:solidFill>
            <a:srgbClr val="ACD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 225: plot geometry" descr="sci-ppt:obj-0225"/>
          <p:cNvSpPr/>
          <p:nvPr/>
        </p:nvSpPr>
        <p:spPr>
          <a:xfrm>
            <a:off x="11149463" y="2200251"/>
            <a:ext cx="159603" cy="11416"/>
          </a:xfrm>
          <a:prstGeom prst="rect">
            <a:avLst/>
          </a:prstGeom>
          <a:solidFill>
            <a:srgbClr val="AED3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 226: plot geometry" descr="sci-ppt:obj-0226"/>
          <p:cNvSpPr/>
          <p:nvPr/>
        </p:nvSpPr>
        <p:spPr>
          <a:xfrm>
            <a:off x="11149463" y="2211652"/>
            <a:ext cx="159603" cy="11416"/>
          </a:xfrm>
          <a:prstGeom prst="rect">
            <a:avLst/>
          </a:prstGeom>
          <a:solidFill>
            <a:srgbClr val="B1D5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 227: plot geometry" descr="sci-ppt:obj-0227"/>
          <p:cNvSpPr/>
          <p:nvPr/>
        </p:nvSpPr>
        <p:spPr>
          <a:xfrm>
            <a:off x="11149463" y="2223052"/>
            <a:ext cx="159603" cy="11416"/>
          </a:xfrm>
          <a:prstGeom prst="rect">
            <a:avLst/>
          </a:prstGeom>
          <a:solidFill>
            <a:srgbClr val="B3D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 228: plot geometry" descr="sci-ppt:obj-0228"/>
          <p:cNvSpPr/>
          <p:nvPr/>
        </p:nvSpPr>
        <p:spPr>
          <a:xfrm>
            <a:off x="11149463" y="2234452"/>
            <a:ext cx="159603" cy="11416"/>
          </a:xfrm>
          <a:prstGeom prst="rect">
            <a:avLst/>
          </a:prstGeom>
          <a:solidFill>
            <a:srgbClr val="B6D7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 229: plot geometry" descr="sci-ppt:obj-0229"/>
          <p:cNvSpPr/>
          <p:nvPr/>
        </p:nvSpPr>
        <p:spPr>
          <a:xfrm>
            <a:off x="11149463" y="2245853"/>
            <a:ext cx="159603" cy="11416"/>
          </a:xfrm>
          <a:prstGeom prst="rect">
            <a:avLst/>
          </a:prstGeom>
          <a:solidFill>
            <a:srgbClr val="B8D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 230: plot geometry" descr="sci-ppt:obj-0230"/>
          <p:cNvSpPr/>
          <p:nvPr/>
        </p:nvSpPr>
        <p:spPr>
          <a:xfrm>
            <a:off x="11149463" y="2257253"/>
            <a:ext cx="159603" cy="11416"/>
          </a:xfrm>
          <a:prstGeom prst="rect">
            <a:avLst/>
          </a:prstGeom>
          <a:solidFill>
            <a:srgbClr val="BBD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 231: plot geometry" descr="sci-ppt:obj-0231"/>
          <p:cNvSpPr/>
          <p:nvPr/>
        </p:nvSpPr>
        <p:spPr>
          <a:xfrm>
            <a:off x="11149463" y="2268653"/>
            <a:ext cx="159603" cy="11416"/>
          </a:xfrm>
          <a:prstGeom prst="rect">
            <a:avLst/>
          </a:prstGeom>
          <a:solidFill>
            <a:srgbClr val="BDDB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 232: plot geometry" descr="sci-ppt:obj-0232"/>
          <p:cNvSpPr/>
          <p:nvPr/>
        </p:nvSpPr>
        <p:spPr>
          <a:xfrm>
            <a:off x="11149463" y="2280053"/>
            <a:ext cx="159603" cy="11416"/>
          </a:xfrm>
          <a:prstGeom prst="rect">
            <a:avLst/>
          </a:prstGeom>
          <a:solidFill>
            <a:srgbClr val="C0D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 233: plot geometry" descr="sci-ppt:obj-0233"/>
          <p:cNvSpPr/>
          <p:nvPr/>
        </p:nvSpPr>
        <p:spPr>
          <a:xfrm>
            <a:off x="11149463" y="2291454"/>
            <a:ext cx="159603" cy="11416"/>
          </a:xfrm>
          <a:prstGeom prst="rect">
            <a:avLst/>
          </a:prstGeom>
          <a:solidFill>
            <a:srgbClr val="C2DD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 234: plot geometry" descr="sci-ppt:obj-0234"/>
          <p:cNvSpPr/>
          <p:nvPr/>
        </p:nvSpPr>
        <p:spPr>
          <a:xfrm>
            <a:off x="11149463" y="2302854"/>
            <a:ext cx="159603" cy="11416"/>
          </a:xfrm>
          <a:prstGeom prst="rect">
            <a:avLst/>
          </a:prstGeom>
          <a:solidFill>
            <a:srgbClr val="C5D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 235: plot geometry" descr="sci-ppt:obj-0235"/>
          <p:cNvSpPr/>
          <p:nvPr/>
        </p:nvSpPr>
        <p:spPr>
          <a:xfrm>
            <a:off x="11149463" y="2314254"/>
            <a:ext cx="159603" cy="11416"/>
          </a:xfrm>
          <a:prstGeom prst="rect">
            <a:avLst/>
          </a:prstGeom>
          <a:solidFill>
            <a:srgbClr val="C7E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 236: plot geometry" descr="sci-ppt:obj-0236"/>
          <p:cNvSpPr/>
          <p:nvPr/>
        </p:nvSpPr>
        <p:spPr>
          <a:xfrm>
            <a:off x="11149463" y="2325654"/>
            <a:ext cx="159603" cy="11416"/>
          </a:xfrm>
          <a:prstGeom prst="rect">
            <a:avLst/>
          </a:prstGeom>
          <a:solidFill>
            <a:srgbClr val="CAE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 237: plot geometry" descr="sci-ppt:obj-0237"/>
          <p:cNvSpPr/>
          <p:nvPr/>
        </p:nvSpPr>
        <p:spPr>
          <a:xfrm>
            <a:off x="11149463" y="2337055"/>
            <a:ext cx="159603" cy="11416"/>
          </a:xfrm>
          <a:prstGeom prst="rect">
            <a:avLst/>
          </a:prstGeom>
          <a:solidFill>
            <a:srgbClr val="CCE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 238: plot geometry" descr="sci-ppt:obj-0238"/>
          <p:cNvSpPr/>
          <p:nvPr/>
        </p:nvSpPr>
        <p:spPr>
          <a:xfrm>
            <a:off x="11149463" y="2348455"/>
            <a:ext cx="159603" cy="11416"/>
          </a:xfrm>
          <a:prstGeom prst="rect">
            <a:avLst/>
          </a:prstGeom>
          <a:solidFill>
            <a:srgbClr val="CCE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 239: plot geometry" descr="sci-ppt:obj-0239"/>
          <p:cNvSpPr/>
          <p:nvPr/>
        </p:nvSpPr>
        <p:spPr>
          <a:xfrm>
            <a:off x="11149463" y="2359855"/>
            <a:ext cx="159603" cy="11416"/>
          </a:xfrm>
          <a:prstGeom prst="rect">
            <a:avLst/>
          </a:prstGeom>
          <a:solidFill>
            <a:srgbClr val="CFE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 240: plot geometry" descr="sci-ppt:obj-0240"/>
          <p:cNvSpPr/>
          <p:nvPr/>
        </p:nvSpPr>
        <p:spPr>
          <a:xfrm>
            <a:off x="11149463" y="2371255"/>
            <a:ext cx="159603" cy="11416"/>
          </a:xfrm>
          <a:prstGeom prst="rect">
            <a:avLst/>
          </a:prstGeom>
          <a:solidFill>
            <a:srgbClr val="D1E5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 241: plot geometry" descr="sci-ppt:obj-0241"/>
          <p:cNvSpPr/>
          <p:nvPr/>
        </p:nvSpPr>
        <p:spPr>
          <a:xfrm>
            <a:off x="11149463" y="2382656"/>
            <a:ext cx="159603" cy="11416"/>
          </a:xfrm>
          <a:prstGeom prst="rect">
            <a:avLst/>
          </a:prstGeom>
          <a:solidFill>
            <a:srgbClr val="D2E6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 242: plot geometry" descr="sci-ppt:obj-0242"/>
          <p:cNvSpPr/>
          <p:nvPr/>
        </p:nvSpPr>
        <p:spPr>
          <a:xfrm>
            <a:off x="11149463" y="2394056"/>
            <a:ext cx="159603" cy="11416"/>
          </a:xfrm>
          <a:prstGeom prst="rect">
            <a:avLst/>
          </a:prstGeom>
          <a:solidFill>
            <a:srgbClr val="D4E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 243: plot geometry" descr="sci-ppt:obj-0243"/>
          <p:cNvSpPr/>
          <p:nvPr/>
        </p:nvSpPr>
        <p:spPr>
          <a:xfrm>
            <a:off x="11149463" y="2405456"/>
            <a:ext cx="159603" cy="11416"/>
          </a:xfrm>
          <a:prstGeom prst="rect">
            <a:avLst/>
          </a:prstGeom>
          <a:solidFill>
            <a:srgbClr val="D5E7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 244: plot geometry" descr="sci-ppt:obj-0244"/>
          <p:cNvSpPr/>
          <p:nvPr/>
        </p:nvSpPr>
        <p:spPr>
          <a:xfrm>
            <a:off x="11149463" y="2416857"/>
            <a:ext cx="159603" cy="11416"/>
          </a:xfrm>
          <a:prstGeom prst="rect">
            <a:avLst/>
          </a:prstGeom>
          <a:solidFill>
            <a:srgbClr val="D7E8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ct 245: plot geometry" descr="sci-ppt:obj-0245"/>
          <p:cNvSpPr/>
          <p:nvPr/>
        </p:nvSpPr>
        <p:spPr>
          <a:xfrm>
            <a:off x="11149463" y="2428257"/>
            <a:ext cx="159603" cy="11416"/>
          </a:xfrm>
          <a:prstGeom prst="rect">
            <a:avLst/>
          </a:prstGeom>
          <a:solidFill>
            <a:srgbClr val="D8E9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ct 246: plot geometry" descr="sci-ppt:obj-0246"/>
          <p:cNvSpPr/>
          <p:nvPr/>
        </p:nvSpPr>
        <p:spPr>
          <a:xfrm>
            <a:off x="11149463" y="2439657"/>
            <a:ext cx="159603" cy="11416"/>
          </a:xfrm>
          <a:prstGeom prst="rect">
            <a:avLst/>
          </a:prstGeom>
          <a:solidFill>
            <a:srgbClr val="DAE9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rect 247: plot geometry" descr="sci-ppt:obj-0247"/>
          <p:cNvSpPr/>
          <p:nvPr/>
        </p:nvSpPr>
        <p:spPr>
          <a:xfrm>
            <a:off x="11149463" y="2451057"/>
            <a:ext cx="159603" cy="11416"/>
          </a:xfrm>
          <a:prstGeom prst="rect">
            <a:avLst/>
          </a:prstGeom>
          <a:solidFill>
            <a:srgbClr val="DB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ct 248: plot geometry" descr="sci-ppt:obj-0248"/>
          <p:cNvSpPr/>
          <p:nvPr/>
        </p:nvSpPr>
        <p:spPr>
          <a:xfrm>
            <a:off x="11149463" y="2462458"/>
            <a:ext cx="159603" cy="11416"/>
          </a:xfrm>
          <a:prstGeom prst="rect">
            <a:avLst/>
          </a:prstGeom>
          <a:solidFill>
            <a:srgbClr val="DDEB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ct 249: plot geometry" descr="sci-ppt:obj-0249"/>
          <p:cNvSpPr/>
          <p:nvPr/>
        </p:nvSpPr>
        <p:spPr>
          <a:xfrm>
            <a:off x="11149463" y="2473858"/>
            <a:ext cx="159603" cy="11416"/>
          </a:xfrm>
          <a:prstGeom prst="rect">
            <a:avLst/>
          </a:prstGeom>
          <a:solidFill>
            <a:srgbClr val="DEEB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ct 250: plot geometry" descr="sci-ppt:obj-0250"/>
          <p:cNvSpPr/>
          <p:nvPr/>
        </p:nvSpPr>
        <p:spPr>
          <a:xfrm>
            <a:off x="11149463" y="2485258"/>
            <a:ext cx="159603" cy="11416"/>
          </a:xfrm>
          <a:prstGeom prst="rect">
            <a:avLst/>
          </a:prstGeom>
          <a:solidFill>
            <a:srgbClr val="E0EC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ect 251: plot geometry" descr="sci-ppt:obj-0251"/>
          <p:cNvSpPr/>
          <p:nvPr/>
        </p:nvSpPr>
        <p:spPr>
          <a:xfrm>
            <a:off x="11149463" y="2496658"/>
            <a:ext cx="159603" cy="11416"/>
          </a:xfrm>
          <a:prstGeom prst="rect">
            <a:avLst/>
          </a:prstGeom>
          <a:solidFill>
            <a:srgbClr val="E1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ct 252: plot geometry" descr="sci-ppt:obj-0252"/>
          <p:cNvSpPr/>
          <p:nvPr/>
        </p:nvSpPr>
        <p:spPr>
          <a:xfrm>
            <a:off x="11149463" y="2508059"/>
            <a:ext cx="159603" cy="11416"/>
          </a:xfrm>
          <a:prstGeom prst="rect">
            <a:avLst/>
          </a:prstGeom>
          <a:solidFill>
            <a:srgbClr val="E3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ct 253: plot geometry" descr="sci-ppt:obj-0253"/>
          <p:cNvSpPr/>
          <p:nvPr/>
        </p:nvSpPr>
        <p:spPr>
          <a:xfrm>
            <a:off x="11149463" y="2519459"/>
            <a:ext cx="159603" cy="11416"/>
          </a:xfrm>
          <a:prstGeom prst="rect">
            <a:avLst/>
          </a:prstGeom>
          <a:solidFill>
            <a:srgbClr val="E4EE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ct 254: plot geometry" descr="sci-ppt:obj-0254"/>
          <p:cNvSpPr/>
          <p:nvPr/>
        </p:nvSpPr>
        <p:spPr>
          <a:xfrm>
            <a:off x="11149463" y="2530859"/>
            <a:ext cx="159603" cy="11416"/>
          </a:xfrm>
          <a:prstGeom prst="rect">
            <a:avLst/>
          </a:prstGeom>
          <a:solidFill>
            <a:srgbClr val="E6EF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ct 255: plot geometry" descr="sci-ppt:obj-0255"/>
          <p:cNvSpPr/>
          <p:nvPr/>
        </p:nvSpPr>
        <p:spPr>
          <a:xfrm>
            <a:off x="11149463" y="2542260"/>
            <a:ext cx="159603" cy="11416"/>
          </a:xfrm>
          <a:prstGeom prst="rect">
            <a:avLst/>
          </a:prstGeom>
          <a:solidFill>
            <a:srgbClr val="E7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ct 256: plot geometry" descr="sci-ppt:obj-0256"/>
          <p:cNvSpPr/>
          <p:nvPr/>
        </p:nvSpPr>
        <p:spPr>
          <a:xfrm>
            <a:off x="11149463" y="2553660"/>
            <a:ext cx="159603" cy="11416"/>
          </a:xfrm>
          <a:prstGeom prst="rect">
            <a:avLst/>
          </a:prstGeom>
          <a:solidFill>
            <a:srgbClr val="E9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ct 257: plot geometry" descr="sci-ppt:obj-0257"/>
          <p:cNvSpPr/>
          <p:nvPr/>
        </p:nvSpPr>
        <p:spPr>
          <a:xfrm>
            <a:off x="11149463" y="2565060"/>
            <a:ext cx="159603" cy="11416"/>
          </a:xfrm>
          <a:prstGeom prst="rect">
            <a:avLst/>
          </a:prstGeom>
          <a:solidFill>
            <a:srgbClr val="E9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ct 258: plot geometry" descr="sci-ppt:obj-0258"/>
          <p:cNvSpPr/>
          <p:nvPr/>
        </p:nvSpPr>
        <p:spPr>
          <a:xfrm>
            <a:off x="11149463" y="2576460"/>
            <a:ext cx="159603" cy="11416"/>
          </a:xfrm>
          <a:prstGeom prst="rect">
            <a:avLst/>
          </a:prstGeom>
          <a:solidFill>
            <a:srgbClr val="EAF1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ct 259: plot geometry" descr="sci-ppt:obj-0259"/>
          <p:cNvSpPr/>
          <p:nvPr/>
        </p:nvSpPr>
        <p:spPr>
          <a:xfrm>
            <a:off x="11149463" y="2587861"/>
            <a:ext cx="159603" cy="11416"/>
          </a:xfrm>
          <a:prstGeom prst="rect">
            <a:avLst/>
          </a:prstGeom>
          <a:solidFill>
            <a:srgbClr val="EC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ct 260: plot geometry" descr="sci-ppt:obj-0260"/>
          <p:cNvSpPr/>
          <p:nvPr/>
        </p:nvSpPr>
        <p:spPr>
          <a:xfrm>
            <a:off x="11149463" y="2599261"/>
            <a:ext cx="159603" cy="11416"/>
          </a:xfrm>
          <a:prstGeom prst="rect">
            <a:avLst/>
          </a:prstGeom>
          <a:solidFill>
            <a:srgbClr val="EDF2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ct 261: plot geometry" descr="sci-ppt:obj-0261"/>
          <p:cNvSpPr/>
          <p:nvPr/>
        </p:nvSpPr>
        <p:spPr>
          <a:xfrm>
            <a:off x="11149463" y="2610661"/>
            <a:ext cx="159603" cy="11416"/>
          </a:xfrm>
          <a:prstGeom prst="rect">
            <a:avLst/>
          </a:prstGeom>
          <a:solidFill>
            <a:srgbClr val="EFF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 262: plot geometry" descr="sci-ppt:obj-0262"/>
          <p:cNvSpPr/>
          <p:nvPr/>
        </p:nvSpPr>
        <p:spPr>
          <a:xfrm>
            <a:off x="11149463" y="2622061"/>
            <a:ext cx="159603" cy="11416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 263: plot geometry" descr="sci-ppt:obj-0263"/>
          <p:cNvSpPr/>
          <p:nvPr/>
        </p:nvSpPr>
        <p:spPr>
          <a:xfrm>
            <a:off x="11149463" y="2633462"/>
            <a:ext cx="159603" cy="11416"/>
          </a:xfrm>
          <a:prstGeom prst="rect">
            <a:avLst/>
          </a:prstGeom>
          <a:solidFill>
            <a:srgbClr val="F2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 264: plot geometry" descr="sci-ppt:obj-0264"/>
          <p:cNvSpPr/>
          <p:nvPr/>
        </p:nvSpPr>
        <p:spPr>
          <a:xfrm>
            <a:off x="11149463" y="2644862"/>
            <a:ext cx="159603" cy="11416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 265: plot geometry" descr="sci-ppt:obj-0265"/>
          <p:cNvSpPr/>
          <p:nvPr/>
        </p:nvSpPr>
        <p:spPr>
          <a:xfrm>
            <a:off x="11149463" y="2656262"/>
            <a:ext cx="159603" cy="11416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ct 266: plot geometry" descr="sci-ppt:obj-0266"/>
          <p:cNvSpPr/>
          <p:nvPr/>
        </p:nvSpPr>
        <p:spPr>
          <a:xfrm>
            <a:off x="11149463" y="2667662"/>
            <a:ext cx="159603" cy="11416"/>
          </a:xfrm>
          <a:prstGeom prst="rect">
            <a:avLst/>
          </a:prstGeom>
          <a:solidFill>
            <a:srgbClr val="F6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ct 267: plot geometry" descr="sci-ppt:obj-0267"/>
          <p:cNvSpPr/>
          <p:nvPr/>
        </p:nvSpPr>
        <p:spPr>
          <a:xfrm>
            <a:off x="11149463" y="2679063"/>
            <a:ext cx="159603" cy="11416"/>
          </a:xfrm>
          <a:prstGeom prst="rect">
            <a:avLst/>
          </a:prstGeom>
          <a:solidFill>
            <a:srgbClr val="F7F6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 268: plot geometry" descr="sci-ppt:obj-0268"/>
          <p:cNvSpPr/>
          <p:nvPr/>
        </p:nvSpPr>
        <p:spPr>
          <a:xfrm>
            <a:off x="11149463" y="2690463"/>
            <a:ext cx="159603" cy="11416"/>
          </a:xfrm>
          <a:prstGeom prst="rect">
            <a:avLst/>
          </a:prstGeom>
          <a:solidFill>
            <a:srgbClr val="F7F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 269: plot geometry" descr="sci-ppt:obj-0269"/>
          <p:cNvSpPr/>
          <p:nvPr/>
        </p:nvSpPr>
        <p:spPr>
          <a:xfrm>
            <a:off x="11149463" y="2701863"/>
            <a:ext cx="159603" cy="11416"/>
          </a:xfrm>
          <a:prstGeom prst="rect">
            <a:avLst/>
          </a:prstGeom>
          <a:solidFill>
            <a:srgbClr val="F8F4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 270: plot geometry" descr="sci-ppt:obj-0270"/>
          <p:cNvSpPr/>
          <p:nvPr/>
        </p:nvSpPr>
        <p:spPr>
          <a:xfrm>
            <a:off x="11149463" y="2713264"/>
            <a:ext cx="159603" cy="11416"/>
          </a:xfrm>
          <a:prstGeom prst="rect">
            <a:avLst/>
          </a:prstGeom>
          <a:solidFill>
            <a:srgbClr val="F8F3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 271: plot geometry" descr="sci-ppt:obj-0271"/>
          <p:cNvSpPr/>
          <p:nvPr/>
        </p:nvSpPr>
        <p:spPr>
          <a:xfrm>
            <a:off x="11149463" y="2724664"/>
            <a:ext cx="159603" cy="11416"/>
          </a:xfrm>
          <a:prstGeom prst="rect">
            <a:avLst/>
          </a:prstGeom>
          <a:solidFill>
            <a:srgbClr val="F8F2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 272: plot geometry" descr="sci-ppt:obj-0272"/>
          <p:cNvSpPr/>
          <p:nvPr/>
        </p:nvSpPr>
        <p:spPr>
          <a:xfrm>
            <a:off x="11149463" y="2736064"/>
            <a:ext cx="159603" cy="11416"/>
          </a:xfrm>
          <a:prstGeom prst="rect">
            <a:avLst/>
          </a:prstGeom>
          <a:solidFill>
            <a:srgbClr val="F8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 273: plot geometry" descr="sci-ppt:obj-0273"/>
          <p:cNvSpPr/>
          <p:nvPr/>
        </p:nvSpPr>
        <p:spPr>
          <a:xfrm>
            <a:off x="11149463" y="2747464"/>
            <a:ext cx="159603" cy="11416"/>
          </a:xfrm>
          <a:prstGeom prst="rect">
            <a:avLst/>
          </a:prstGeom>
          <a:solidFill>
            <a:srgbClr val="F9F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 274: plot geometry" descr="sci-ppt:obj-0274"/>
          <p:cNvSpPr/>
          <p:nvPr/>
        </p:nvSpPr>
        <p:spPr>
          <a:xfrm>
            <a:off x="11149463" y="2758865"/>
            <a:ext cx="159603" cy="11416"/>
          </a:xfrm>
          <a:prstGeom prst="rect">
            <a:avLst/>
          </a:prstGeom>
          <a:solidFill>
            <a:srgbClr val="F9EF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ct 275: plot geometry" descr="sci-ppt:obj-0275"/>
          <p:cNvSpPr/>
          <p:nvPr/>
        </p:nvSpPr>
        <p:spPr>
          <a:xfrm>
            <a:off x="11149463" y="2770265"/>
            <a:ext cx="159603" cy="11416"/>
          </a:xfrm>
          <a:prstGeom prst="rect">
            <a:avLst/>
          </a:prstGeom>
          <a:solidFill>
            <a:srgbClr val="F9EE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ct 276: plot geometry" descr="sci-ppt:obj-0276"/>
          <p:cNvSpPr/>
          <p:nvPr/>
        </p:nvSpPr>
        <p:spPr>
          <a:xfrm>
            <a:off x="11149463" y="2781665"/>
            <a:ext cx="159603" cy="11416"/>
          </a:xfrm>
          <a:prstGeom prst="rect">
            <a:avLst/>
          </a:prstGeom>
          <a:solidFill>
            <a:srgbClr val="F9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 277: plot geometry" descr="sci-ppt:obj-0277"/>
          <p:cNvSpPr/>
          <p:nvPr/>
        </p:nvSpPr>
        <p:spPr>
          <a:xfrm>
            <a:off x="11149463" y="2793065"/>
            <a:ext cx="159603" cy="11416"/>
          </a:xfrm>
          <a:prstGeom prst="rect">
            <a:avLst/>
          </a:prstGeom>
          <a:solidFill>
            <a:srgbClr val="F9ED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 278: plot geometry" descr="sci-ppt:obj-0278"/>
          <p:cNvSpPr/>
          <p:nvPr/>
        </p:nvSpPr>
        <p:spPr>
          <a:xfrm>
            <a:off x="11149463" y="2804466"/>
            <a:ext cx="159603" cy="11416"/>
          </a:xfrm>
          <a:prstGeom prst="rect">
            <a:avLst/>
          </a:prstGeom>
          <a:solidFill>
            <a:srgbClr val="F9EB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 279: plot geometry" descr="sci-ppt:obj-0279"/>
          <p:cNvSpPr/>
          <p:nvPr/>
        </p:nvSpPr>
        <p:spPr>
          <a:xfrm>
            <a:off x="11149463" y="2815866"/>
            <a:ext cx="159603" cy="11416"/>
          </a:xfrm>
          <a:prstGeom prst="rect">
            <a:avLst/>
          </a:prstGeom>
          <a:solidFill>
            <a:srgbClr val="FAEA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 280: plot geometry" descr="sci-ppt:obj-0280"/>
          <p:cNvSpPr/>
          <p:nvPr/>
        </p:nvSpPr>
        <p:spPr>
          <a:xfrm>
            <a:off x="11149463" y="2827266"/>
            <a:ext cx="159603" cy="11416"/>
          </a:xfrm>
          <a:prstGeom prst="rect">
            <a:avLst/>
          </a:prstGeom>
          <a:solidFill>
            <a:srgbClr val="FAE9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ct 281: plot geometry" descr="sci-ppt:obj-0281"/>
          <p:cNvSpPr/>
          <p:nvPr/>
        </p:nvSpPr>
        <p:spPr>
          <a:xfrm>
            <a:off x="11149463" y="2838667"/>
            <a:ext cx="159603" cy="11416"/>
          </a:xfrm>
          <a:prstGeom prst="rect">
            <a:avLst/>
          </a:prstGeom>
          <a:solidFill>
            <a:srgbClr val="FAE8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ect 282: plot geometry" descr="sci-ppt:obj-0282"/>
          <p:cNvSpPr/>
          <p:nvPr/>
        </p:nvSpPr>
        <p:spPr>
          <a:xfrm>
            <a:off x="11149463" y="2850067"/>
            <a:ext cx="159603" cy="11416"/>
          </a:xfrm>
          <a:prstGeom prst="rect">
            <a:avLst/>
          </a:prstGeom>
          <a:solidFill>
            <a:srgbClr val="FAE7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ct 283: plot geometry" descr="sci-ppt:obj-0283"/>
          <p:cNvSpPr/>
          <p:nvPr/>
        </p:nvSpPr>
        <p:spPr>
          <a:xfrm>
            <a:off x="11149463" y="2861467"/>
            <a:ext cx="159603" cy="11416"/>
          </a:xfrm>
          <a:prstGeom prst="rect">
            <a:avLst/>
          </a:prstGeom>
          <a:solidFill>
            <a:srgbClr val="FBE6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rect 284: plot geometry" descr="sci-ppt:obj-0284"/>
          <p:cNvSpPr/>
          <p:nvPr/>
        </p:nvSpPr>
        <p:spPr>
          <a:xfrm>
            <a:off x="11149463" y="2872867"/>
            <a:ext cx="159603" cy="11416"/>
          </a:xfrm>
          <a:prstGeom prst="rect">
            <a:avLst/>
          </a:prstGeom>
          <a:solidFill>
            <a:srgbClr val="FBE5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ct 285: plot geometry" descr="sci-ppt:obj-0285"/>
          <p:cNvSpPr/>
          <p:nvPr/>
        </p:nvSpPr>
        <p:spPr>
          <a:xfrm>
            <a:off x="11149463" y="2884268"/>
            <a:ext cx="159603" cy="11416"/>
          </a:xfrm>
          <a:prstGeom prst="rect">
            <a:avLst/>
          </a:prstGeom>
          <a:solidFill>
            <a:srgbClr val="FBE4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rect 286: plot geometry" descr="sci-ppt:obj-0286"/>
          <p:cNvSpPr/>
          <p:nvPr/>
        </p:nvSpPr>
        <p:spPr>
          <a:xfrm>
            <a:off x="11149463" y="2895668"/>
            <a:ext cx="159603" cy="11416"/>
          </a:xfrm>
          <a:prstGeom prst="rect">
            <a:avLst/>
          </a:prstGeom>
          <a:solidFill>
            <a:srgbClr val="FBE3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ect 287: plot geometry" descr="sci-ppt:obj-0287"/>
          <p:cNvSpPr/>
          <p:nvPr/>
        </p:nvSpPr>
        <p:spPr>
          <a:xfrm>
            <a:off x="11149463" y="2907068"/>
            <a:ext cx="159603" cy="11416"/>
          </a:xfrm>
          <a:prstGeom prst="rect">
            <a:avLst/>
          </a:prstGeom>
          <a:solidFill>
            <a:srgbClr val="FCE2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ect 288: plot geometry" descr="sci-ppt:obj-0288"/>
          <p:cNvSpPr/>
          <p:nvPr/>
        </p:nvSpPr>
        <p:spPr>
          <a:xfrm>
            <a:off x="11149463" y="2918468"/>
            <a:ext cx="159603" cy="11416"/>
          </a:xfrm>
          <a:prstGeom prst="rect">
            <a:avLst/>
          </a:prstGeom>
          <a:solidFill>
            <a:srgbClr val="FCE0D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rect 289: plot geometry" descr="sci-ppt:obj-0289"/>
          <p:cNvSpPr/>
          <p:nvPr/>
        </p:nvSpPr>
        <p:spPr>
          <a:xfrm>
            <a:off x="11149463" y="2929869"/>
            <a:ext cx="159603" cy="11416"/>
          </a:xfrm>
          <a:prstGeom prst="rect">
            <a:avLst/>
          </a:prstGeom>
          <a:solidFill>
            <a:srgbClr val="FCDF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 290: plot geometry" descr="sci-ppt:obj-0290"/>
          <p:cNvSpPr/>
          <p:nvPr/>
        </p:nvSpPr>
        <p:spPr>
          <a:xfrm>
            <a:off x="11149463" y="2941269"/>
            <a:ext cx="159603" cy="11416"/>
          </a:xfrm>
          <a:prstGeom prst="rect">
            <a:avLst/>
          </a:prstGeom>
          <a:solidFill>
            <a:srgbClr val="FCD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 291: plot geometry" descr="sci-ppt:obj-0291"/>
          <p:cNvSpPr/>
          <p:nvPr/>
        </p:nvSpPr>
        <p:spPr>
          <a:xfrm>
            <a:off x="11149463" y="2952669"/>
            <a:ext cx="159603" cy="11416"/>
          </a:xfrm>
          <a:prstGeom prst="rect">
            <a:avLst/>
          </a:prstGeom>
          <a:solidFill>
            <a:srgbClr val="FDDD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 292: plot geometry" descr="sci-ppt:obj-0292"/>
          <p:cNvSpPr/>
          <p:nvPr/>
        </p:nvSpPr>
        <p:spPr>
          <a:xfrm>
            <a:off x="11149463" y="2964069"/>
            <a:ext cx="159603" cy="11416"/>
          </a:xfrm>
          <a:prstGeom prst="rect">
            <a:avLst/>
          </a:prstGeom>
          <a:solidFill>
            <a:srgbClr val="FDDC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 293: plot geometry" descr="sci-ppt:obj-0293"/>
          <p:cNvSpPr/>
          <p:nvPr/>
        </p:nvSpPr>
        <p:spPr>
          <a:xfrm>
            <a:off x="11149463" y="2975470"/>
            <a:ext cx="159603" cy="11416"/>
          </a:xfrm>
          <a:prstGeom prst="rect">
            <a:avLst/>
          </a:prstGeom>
          <a:solidFill>
            <a:srgbClr val="FDDB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 294: plot geometry" descr="sci-ppt:obj-0294"/>
          <p:cNvSpPr/>
          <p:nvPr/>
        </p:nvSpPr>
        <p:spPr>
          <a:xfrm>
            <a:off x="11149463" y="2986870"/>
            <a:ext cx="159603" cy="11416"/>
          </a:xfrm>
          <a:prstGeom prst="rect">
            <a:avLst/>
          </a:prstGeom>
          <a:solidFill>
            <a:srgbClr val="FDD9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 295: plot geometry" descr="sci-ppt:obj-0295"/>
          <p:cNvSpPr/>
          <p:nvPr/>
        </p:nvSpPr>
        <p:spPr>
          <a:xfrm>
            <a:off x="11149463" y="2998270"/>
            <a:ext cx="159603" cy="11416"/>
          </a:xfrm>
          <a:prstGeom prst="rect">
            <a:avLst/>
          </a:prstGeom>
          <a:solidFill>
            <a:srgbClr val="FCD7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 296: plot geometry" descr="sci-ppt:obj-0296"/>
          <p:cNvSpPr/>
          <p:nvPr/>
        </p:nvSpPr>
        <p:spPr>
          <a:xfrm>
            <a:off x="11149463" y="3009671"/>
            <a:ext cx="159603" cy="11416"/>
          </a:xfrm>
          <a:prstGeom prst="rect">
            <a:avLst/>
          </a:prstGeom>
          <a:solidFill>
            <a:srgbClr val="FCD7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 297: plot geometry" descr="sci-ppt:obj-0297"/>
          <p:cNvSpPr/>
          <p:nvPr/>
        </p:nvSpPr>
        <p:spPr>
          <a:xfrm>
            <a:off x="11149463" y="3021071"/>
            <a:ext cx="159603" cy="11416"/>
          </a:xfrm>
          <a:prstGeom prst="rect">
            <a:avLst/>
          </a:prstGeom>
          <a:solidFill>
            <a:srgbClr val="FCD5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 298: plot geometry" descr="sci-ppt:obj-0298"/>
          <p:cNvSpPr/>
          <p:nvPr/>
        </p:nvSpPr>
        <p:spPr>
          <a:xfrm>
            <a:off x="11149463" y="3032471"/>
            <a:ext cx="159603" cy="11416"/>
          </a:xfrm>
          <a:prstGeom prst="rect">
            <a:avLst/>
          </a:prstGeom>
          <a:solidFill>
            <a:srgbClr val="FCD3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 299: plot geometry" descr="sci-ppt:obj-0299"/>
          <p:cNvSpPr/>
          <p:nvPr/>
        </p:nvSpPr>
        <p:spPr>
          <a:xfrm>
            <a:off x="11149463" y="3043871"/>
            <a:ext cx="159603" cy="11416"/>
          </a:xfrm>
          <a:prstGeom prst="rect">
            <a:avLst/>
          </a:prstGeom>
          <a:solidFill>
            <a:srgbClr val="FBD0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 300: plot geometry" descr="sci-ppt:obj-0300"/>
          <p:cNvSpPr/>
          <p:nvPr/>
        </p:nvSpPr>
        <p:spPr>
          <a:xfrm>
            <a:off x="11149463" y="3055272"/>
            <a:ext cx="159603" cy="11416"/>
          </a:xfrm>
          <a:prstGeom prst="rect">
            <a:avLst/>
          </a:prstGeom>
          <a:solidFill>
            <a:srgbClr val="FBCEB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 301: plot geometry" descr="sci-ppt:obj-0301"/>
          <p:cNvSpPr/>
          <p:nvPr/>
        </p:nvSpPr>
        <p:spPr>
          <a:xfrm>
            <a:off x="11149463" y="3066672"/>
            <a:ext cx="159603" cy="11416"/>
          </a:xfrm>
          <a:prstGeom prst="rect">
            <a:avLst/>
          </a:prstGeom>
          <a:solidFill>
            <a:srgbClr val="FBCC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 302: plot geometry" descr="sci-ppt:obj-0302"/>
          <p:cNvSpPr/>
          <p:nvPr/>
        </p:nvSpPr>
        <p:spPr>
          <a:xfrm>
            <a:off x="11149463" y="3078072"/>
            <a:ext cx="159603" cy="11416"/>
          </a:xfrm>
          <a:prstGeom prst="rect">
            <a:avLst/>
          </a:prstGeom>
          <a:solidFill>
            <a:srgbClr val="FACA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 303: plot geometry" descr="sci-ppt:obj-0303"/>
          <p:cNvSpPr/>
          <p:nvPr/>
        </p:nvSpPr>
        <p:spPr>
          <a:xfrm>
            <a:off x="11149463" y="3089472"/>
            <a:ext cx="159603" cy="11416"/>
          </a:xfrm>
          <a:prstGeom prst="rect">
            <a:avLst/>
          </a:prstGeom>
          <a:solidFill>
            <a:srgbClr val="FAC8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ect 304: plot geometry" descr="sci-ppt:obj-0304"/>
          <p:cNvSpPr/>
          <p:nvPr/>
        </p:nvSpPr>
        <p:spPr>
          <a:xfrm>
            <a:off x="11149463" y="3100873"/>
            <a:ext cx="159603" cy="11416"/>
          </a:xfrm>
          <a:prstGeom prst="rect">
            <a:avLst/>
          </a:prstGeom>
          <a:solidFill>
            <a:srgbClr val="F9C6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ect 305: plot geometry" descr="sci-ppt:obj-0305"/>
          <p:cNvSpPr/>
          <p:nvPr/>
        </p:nvSpPr>
        <p:spPr>
          <a:xfrm>
            <a:off x="11149463" y="3112273"/>
            <a:ext cx="159603" cy="11416"/>
          </a:xfrm>
          <a:prstGeom prst="rect">
            <a:avLst/>
          </a:prstGeom>
          <a:solidFill>
            <a:srgbClr val="F9C4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 306: plot geometry" descr="sci-ppt:obj-0306"/>
          <p:cNvSpPr/>
          <p:nvPr/>
        </p:nvSpPr>
        <p:spPr>
          <a:xfrm>
            <a:off x="11149463" y="3123673"/>
            <a:ext cx="159603" cy="11416"/>
          </a:xfrm>
          <a:prstGeom prst="rect">
            <a:avLst/>
          </a:prstGeom>
          <a:solidFill>
            <a:srgbClr val="F9C2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 307: plot geometry" descr="sci-ppt:obj-0307"/>
          <p:cNvSpPr/>
          <p:nvPr/>
        </p:nvSpPr>
        <p:spPr>
          <a:xfrm>
            <a:off x="11149463" y="3135074"/>
            <a:ext cx="159603" cy="11416"/>
          </a:xfrm>
          <a:prstGeom prst="rect">
            <a:avLst/>
          </a:prstGeom>
          <a:solidFill>
            <a:srgbClr val="F8BFA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 308: plot geometry" descr="sci-ppt:obj-0308"/>
          <p:cNvSpPr/>
          <p:nvPr/>
        </p:nvSpPr>
        <p:spPr>
          <a:xfrm>
            <a:off x="11149463" y="3146474"/>
            <a:ext cx="159603" cy="11416"/>
          </a:xfrm>
          <a:prstGeom prst="rect">
            <a:avLst/>
          </a:prstGeom>
          <a:solidFill>
            <a:srgbClr val="F8BD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 309: plot geometry" descr="sci-ppt:obj-0309"/>
          <p:cNvSpPr/>
          <p:nvPr/>
        </p:nvSpPr>
        <p:spPr>
          <a:xfrm>
            <a:off x="11149463" y="3157874"/>
            <a:ext cx="159603" cy="11416"/>
          </a:xfrm>
          <a:prstGeom prst="rect">
            <a:avLst/>
          </a:prstGeom>
          <a:solidFill>
            <a:srgbClr val="F8BB9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 310: plot geometry" descr="sci-ppt:obj-0310"/>
          <p:cNvSpPr/>
          <p:nvPr/>
        </p:nvSpPr>
        <p:spPr>
          <a:xfrm>
            <a:off x="11149463" y="3169274"/>
            <a:ext cx="159603" cy="11416"/>
          </a:xfrm>
          <a:prstGeom prst="rect">
            <a:avLst/>
          </a:prstGeom>
          <a:solidFill>
            <a:srgbClr val="F7B9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 311: plot geometry" descr="sci-ppt:obj-0311"/>
          <p:cNvSpPr/>
          <p:nvPr/>
        </p:nvSpPr>
        <p:spPr>
          <a:xfrm>
            <a:off x="11149463" y="3180675"/>
            <a:ext cx="159603" cy="11416"/>
          </a:xfrm>
          <a:prstGeom prst="rect">
            <a:avLst/>
          </a:prstGeom>
          <a:solidFill>
            <a:srgbClr val="F7B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 312: plot geometry" descr="sci-ppt:obj-0312"/>
          <p:cNvSpPr/>
          <p:nvPr/>
        </p:nvSpPr>
        <p:spPr>
          <a:xfrm>
            <a:off x="11149463" y="3192075"/>
            <a:ext cx="159603" cy="11416"/>
          </a:xfrm>
          <a:prstGeom prst="rect">
            <a:avLst/>
          </a:prstGeom>
          <a:solidFill>
            <a:srgbClr val="F7B5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 313: plot geometry" descr="sci-ppt:obj-0313"/>
          <p:cNvSpPr/>
          <p:nvPr/>
        </p:nvSpPr>
        <p:spPr>
          <a:xfrm>
            <a:off x="11149463" y="3203475"/>
            <a:ext cx="159603" cy="11416"/>
          </a:xfrm>
          <a:prstGeom prst="rect">
            <a:avLst/>
          </a:prstGeom>
          <a:solidFill>
            <a:srgbClr val="F6B3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 314: plot geometry" descr="sci-ppt:obj-0314"/>
          <p:cNvSpPr/>
          <p:nvPr/>
        </p:nvSpPr>
        <p:spPr>
          <a:xfrm>
            <a:off x="11149463" y="3214875"/>
            <a:ext cx="159603" cy="11416"/>
          </a:xfrm>
          <a:prstGeom prst="rect">
            <a:avLst/>
          </a:prstGeom>
          <a:solidFill>
            <a:srgbClr val="F6B1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 315: plot geometry" descr="sci-ppt:obj-0315"/>
          <p:cNvSpPr/>
          <p:nvPr/>
        </p:nvSpPr>
        <p:spPr>
          <a:xfrm>
            <a:off x="11149463" y="3226276"/>
            <a:ext cx="159603" cy="11416"/>
          </a:xfrm>
          <a:prstGeom prst="rect">
            <a:avLst/>
          </a:prstGeom>
          <a:solidFill>
            <a:srgbClr val="F6B1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 316: plot geometry" descr="sci-ppt:obj-0316"/>
          <p:cNvSpPr/>
          <p:nvPr/>
        </p:nvSpPr>
        <p:spPr>
          <a:xfrm>
            <a:off x="11149463" y="3237676"/>
            <a:ext cx="159603" cy="11416"/>
          </a:xfrm>
          <a:prstGeom prst="rect">
            <a:avLst/>
          </a:prstGeom>
          <a:solidFill>
            <a:srgbClr val="F6AF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 317: plot geometry" descr="sci-ppt:obj-0317"/>
          <p:cNvSpPr/>
          <p:nvPr/>
        </p:nvSpPr>
        <p:spPr>
          <a:xfrm>
            <a:off x="11149463" y="3249076"/>
            <a:ext cx="159603" cy="11416"/>
          </a:xfrm>
          <a:prstGeom prst="rect">
            <a:avLst/>
          </a:prstGeom>
          <a:solidFill>
            <a:srgbClr val="F5AC8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 318: plot geometry" descr="sci-ppt:obj-0318"/>
          <p:cNvSpPr/>
          <p:nvPr/>
        </p:nvSpPr>
        <p:spPr>
          <a:xfrm>
            <a:off x="11149463" y="3260476"/>
            <a:ext cx="159603" cy="11416"/>
          </a:xfrm>
          <a:prstGeom prst="rect">
            <a:avLst/>
          </a:prstGeom>
          <a:solidFill>
            <a:srgbClr val="F5AA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 319: plot geometry" descr="sci-ppt:obj-0319"/>
          <p:cNvSpPr/>
          <p:nvPr/>
        </p:nvSpPr>
        <p:spPr>
          <a:xfrm>
            <a:off x="11149463" y="3271877"/>
            <a:ext cx="159603" cy="11416"/>
          </a:xfrm>
          <a:prstGeom prst="rect">
            <a:avLst/>
          </a:prstGeom>
          <a:solidFill>
            <a:srgbClr val="F5A8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 320: plot geometry" descr="sci-ppt:obj-0320"/>
          <p:cNvSpPr/>
          <p:nvPr/>
        </p:nvSpPr>
        <p:spPr>
          <a:xfrm>
            <a:off x="11149463" y="3283277"/>
            <a:ext cx="159603" cy="11416"/>
          </a:xfrm>
          <a:prstGeom prst="rect">
            <a:avLst/>
          </a:prstGeom>
          <a:solidFill>
            <a:srgbClr val="F4A6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 321: plot geometry" descr="sci-ppt:obj-0321"/>
          <p:cNvSpPr/>
          <p:nvPr/>
        </p:nvSpPr>
        <p:spPr>
          <a:xfrm>
            <a:off x="11149463" y="3294677"/>
            <a:ext cx="159603" cy="11416"/>
          </a:xfrm>
          <a:prstGeom prst="rect">
            <a:avLst/>
          </a:prstGeom>
          <a:solidFill>
            <a:srgbClr val="F3A4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 322: plot geometry" descr="sci-ppt:obj-0322"/>
          <p:cNvSpPr/>
          <p:nvPr/>
        </p:nvSpPr>
        <p:spPr>
          <a:xfrm>
            <a:off x="11149463" y="3306078"/>
            <a:ext cx="159603" cy="11416"/>
          </a:xfrm>
          <a:prstGeom prst="rect">
            <a:avLst/>
          </a:prstGeom>
          <a:solidFill>
            <a:srgbClr val="F2A1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 323: plot geometry" descr="sci-ppt:obj-0323"/>
          <p:cNvSpPr/>
          <p:nvPr/>
        </p:nvSpPr>
        <p:spPr>
          <a:xfrm>
            <a:off x="11149463" y="3317478"/>
            <a:ext cx="159603" cy="11416"/>
          </a:xfrm>
          <a:prstGeom prst="rect">
            <a:avLst/>
          </a:prstGeom>
          <a:solidFill>
            <a:srgbClr val="F19E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 324: plot geometry" descr="sci-ppt:obj-0324"/>
          <p:cNvSpPr/>
          <p:nvPr/>
        </p:nvSpPr>
        <p:spPr>
          <a:xfrm>
            <a:off x="11149463" y="3328878"/>
            <a:ext cx="159603" cy="11416"/>
          </a:xfrm>
          <a:prstGeom prst="rect">
            <a:avLst/>
          </a:prstGeom>
          <a:solidFill>
            <a:srgbClr val="F09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 325: plot geometry" descr="sci-ppt:obj-0325"/>
          <p:cNvSpPr/>
          <p:nvPr/>
        </p:nvSpPr>
        <p:spPr>
          <a:xfrm>
            <a:off x="11149463" y="3340278"/>
            <a:ext cx="159603" cy="11416"/>
          </a:xfrm>
          <a:prstGeom prst="rect">
            <a:avLst/>
          </a:prstGeom>
          <a:solidFill>
            <a:srgbClr val="EF99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 326: plot geometry" descr="sci-ppt:obj-0326"/>
          <p:cNvSpPr/>
          <p:nvPr/>
        </p:nvSpPr>
        <p:spPr>
          <a:xfrm>
            <a:off x="11149463" y="3351679"/>
            <a:ext cx="159603" cy="11416"/>
          </a:xfrm>
          <a:prstGeom prst="rect">
            <a:avLst/>
          </a:prstGeom>
          <a:solidFill>
            <a:srgbClr val="EE96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 327: plot geometry" descr="sci-ppt:obj-0327"/>
          <p:cNvSpPr/>
          <p:nvPr/>
        </p:nvSpPr>
        <p:spPr>
          <a:xfrm>
            <a:off x="11149463" y="3363079"/>
            <a:ext cx="159603" cy="11416"/>
          </a:xfrm>
          <a:prstGeom prst="rect">
            <a:avLst/>
          </a:prstGeom>
          <a:solidFill>
            <a:srgbClr val="EC93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 328: plot geometry" descr="sci-ppt:obj-0328"/>
          <p:cNvSpPr/>
          <p:nvPr/>
        </p:nvSpPr>
        <p:spPr>
          <a:xfrm>
            <a:off x="11149463" y="3374479"/>
            <a:ext cx="159603" cy="11416"/>
          </a:xfrm>
          <a:prstGeom prst="rect">
            <a:avLst/>
          </a:prstGeom>
          <a:solidFill>
            <a:srgbClr val="EB91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 329: plot geometry" descr="sci-ppt:obj-0329"/>
          <p:cNvSpPr/>
          <p:nvPr/>
        </p:nvSpPr>
        <p:spPr>
          <a:xfrm>
            <a:off x="11149463" y="3385879"/>
            <a:ext cx="159603" cy="11416"/>
          </a:xfrm>
          <a:prstGeom prst="rect">
            <a:avLst/>
          </a:prstGeom>
          <a:solidFill>
            <a:srgbClr val="EA8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 330: plot geometry" descr="sci-ppt:obj-0330"/>
          <p:cNvSpPr/>
          <p:nvPr/>
        </p:nvSpPr>
        <p:spPr>
          <a:xfrm>
            <a:off x="11149463" y="3397280"/>
            <a:ext cx="159603" cy="11416"/>
          </a:xfrm>
          <a:prstGeom prst="rect">
            <a:avLst/>
          </a:prstGeom>
          <a:solidFill>
            <a:srgbClr val="E98B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 331: plot geometry" descr="sci-ppt:obj-0331"/>
          <p:cNvSpPr/>
          <p:nvPr/>
        </p:nvSpPr>
        <p:spPr>
          <a:xfrm>
            <a:off x="11149463" y="3408680"/>
            <a:ext cx="159603" cy="11416"/>
          </a:xfrm>
          <a:prstGeom prst="rect">
            <a:avLst/>
          </a:prstGeom>
          <a:solidFill>
            <a:srgbClr val="E889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 332: plot geometry" descr="sci-ppt:obj-0332"/>
          <p:cNvSpPr/>
          <p:nvPr/>
        </p:nvSpPr>
        <p:spPr>
          <a:xfrm>
            <a:off x="11149463" y="3420080"/>
            <a:ext cx="159603" cy="11416"/>
          </a:xfrm>
          <a:prstGeom prst="rect">
            <a:avLst/>
          </a:prstGeom>
          <a:solidFill>
            <a:srgbClr val="E686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 333: plot geometry" descr="sci-ppt:obj-0333"/>
          <p:cNvSpPr/>
          <p:nvPr/>
        </p:nvSpPr>
        <p:spPr>
          <a:xfrm>
            <a:off x="11149463" y="3431480"/>
            <a:ext cx="159603" cy="11416"/>
          </a:xfrm>
          <a:prstGeom prst="rect">
            <a:avLst/>
          </a:prstGeom>
          <a:solidFill>
            <a:srgbClr val="E583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 334: plot geometry" descr="sci-ppt:obj-0334"/>
          <p:cNvSpPr/>
          <p:nvPr/>
        </p:nvSpPr>
        <p:spPr>
          <a:xfrm>
            <a:off x="11149463" y="3442881"/>
            <a:ext cx="159603" cy="11416"/>
          </a:xfrm>
          <a:prstGeom prst="rect">
            <a:avLst/>
          </a:prstGeom>
          <a:solidFill>
            <a:srgbClr val="E5836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 335: plot geometry" descr="sci-ppt:obj-0335"/>
          <p:cNvSpPr/>
          <p:nvPr/>
        </p:nvSpPr>
        <p:spPr>
          <a:xfrm>
            <a:off x="11149463" y="3454281"/>
            <a:ext cx="159603" cy="11416"/>
          </a:xfrm>
          <a:prstGeom prst="rect">
            <a:avLst/>
          </a:prstGeom>
          <a:solidFill>
            <a:srgbClr val="E480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 336: plot geometry" descr="sci-ppt:obj-0336"/>
          <p:cNvSpPr/>
          <p:nvPr/>
        </p:nvSpPr>
        <p:spPr>
          <a:xfrm>
            <a:off x="11149463" y="3465681"/>
            <a:ext cx="159603" cy="11416"/>
          </a:xfrm>
          <a:prstGeom prst="rect">
            <a:avLst/>
          </a:prstGeom>
          <a:solidFill>
            <a:srgbClr val="E37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 337: plot geometry" descr="sci-ppt:obj-0337"/>
          <p:cNvSpPr/>
          <p:nvPr/>
        </p:nvSpPr>
        <p:spPr>
          <a:xfrm>
            <a:off x="11149463" y="3477082"/>
            <a:ext cx="159603" cy="11416"/>
          </a:xfrm>
          <a:prstGeom prst="rect">
            <a:avLst/>
          </a:prstGeom>
          <a:solidFill>
            <a:srgbClr val="E27B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 338: plot geometry" descr="sci-ppt:obj-0338"/>
          <p:cNvSpPr/>
          <p:nvPr/>
        </p:nvSpPr>
        <p:spPr>
          <a:xfrm>
            <a:off x="11149463" y="3488482"/>
            <a:ext cx="159603" cy="11416"/>
          </a:xfrm>
          <a:prstGeom prst="rect">
            <a:avLst/>
          </a:prstGeom>
          <a:solidFill>
            <a:srgbClr val="E178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 339: plot geometry" descr="sci-ppt:obj-0339"/>
          <p:cNvSpPr/>
          <p:nvPr/>
        </p:nvSpPr>
        <p:spPr>
          <a:xfrm>
            <a:off x="11149463" y="3499882"/>
            <a:ext cx="159603" cy="11416"/>
          </a:xfrm>
          <a:prstGeom prst="rect">
            <a:avLst/>
          </a:prstGeom>
          <a:solidFill>
            <a:srgbClr val="DF76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 340: plot geometry" descr="sci-ppt:obj-0340"/>
          <p:cNvSpPr/>
          <p:nvPr/>
        </p:nvSpPr>
        <p:spPr>
          <a:xfrm>
            <a:off x="11149463" y="3511282"/>
            <a:ext cx="159603" cy="11416"/>
          </a:xfrm>
          <a:prstGeom prst="rect">
            <a:avLst/>
          </a:prstGeom>
          <a:solidFill>
            <a:srgbClr val="DE73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 341: plot geometry" descr="sci-ppt:obj-0341"/>
          <p:cNvSpPr/>
          <p:nvPr/>
        </p:nvSpPr>
        <p:spPr>
          <a:xfrm>
            <a:off x="11149463" y="3522683"/>
            <a:ext cx="159603" cy="11416"/>
          </a:xfrm>
          <a:prstGeom prst="rect">
            <a:avLst/>
          </a:prstGeom>
          <a:solidFill>
            <a:srgbClr val="DD70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 342: plot geometry" descr="sci-ppt:obj-0342"/>
          <p:cNvSpPr/>
          <p:nvPr/>
        </p:nvSpPr>
        <p:spPr>
          <a:xfrm>
            <a:off x="11149463" y="3534083"/>
            <a:ext cx="159603" cy="11416"/>
          </a:xfrm>
          <a:prstGeom prst="rect">
            <a:avLst/>
          </a:prstGeom>
          <a:solidFill>
            <a:srgbClr val="DC6E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 343: plot geometry" descr="sci-ppt:obj-0343"/>
          <p:cNvSpPr/>
          <p:nvPr/>
        </p:nvSpPr>
        <p:spPr>
          <a:xfrm>
            <a:off x="11149463" y="3545483"/>
            <a:ext cx="159603" cy="11416"/>
          </a:xfrm>
          <a:prstGeom prst="rect">
            <a:avLst/>
          </a:prstGeom>
          <a:solidFill>
            <a:srgbClr val="DB6B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 344: plot geometry" descr="sci-ppt:obj-0344"/>
          <p:cNvSpPr/>
          <p:nvPr/>
        </p:nvSpPr>
        <p:spPr>
          <a:xfrm>
            <a:off x="11149463" y="3556883"/>
            <a:ext cx="159603" cy="11416"/>
          </a:xfrm>
          <a:prstGeom prst="rect">
            <a:avLst/>
          </a:prstGeom>
          <a:solidFill>
            <a:srgbClr val="DA68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rect 345: plot geometry" descr="sci-ppt:obj-0345"/>
          <p:cNvSpPr/>
          <p:nvPr/>
        </p:nvSpPr>
        <p:spPr>
          <a:xfrm>
            <a:off x="11149463" y="3568284"/>
            <a:ext cx="159603" cy="11416"/>
          </a:xfrm>
          <a:prstGeom prst="rect">
            <a:avLst/>
          </a:prstGeom>
          <a:solidFill>
            <a:srgbClr val="D865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 346: plot geometry" descr="sci-ppt:obj-0346"/>
          <p:cNvSpPr/>
          <p:nvPr/>
        </p:nvSpPr>
        <p:spPr>
          <a:xfrm>
            <a:off x="11149463" y="3579684"/>
            <a:ext cx="159603" cy="11416"/>
          </a:xfrm>
          <a:prstGeom prst="rect">
            <a:avLst/>
          </a:prstGeom>
          <a:solidFill>
            <a:srgbClr val="D763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ect 347: plot geometry" descr="sci-ppt:obj-0347"/>
          <p:cNvSpPr/>
          <p:nvPr/>
        </p:nvSpPr>
        <p:spPr>
          <a:xfrm>
            <a:off x="11149463" y="3591084"/>
            <a:ext cx="159603" cy="11416"/>
          </a:xfrm>
          <a:prstGeom prst="rect">
            <a:avLst/>
          </a:prstGeom>
          <a:solidFill>
            <a:srgbClr val="D660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 348: plot geometry" descr="sci-ppt:obj-0348"/>
          <p:cNvSpPr/>
          <p:nvPr/>
        </p:nvSpPr>
        <p:spPr>
          <a:xfrm>
            <a:off x="11149463" y="3602485"/>
            <a:ext cx="159603" cy="11416"/>
          </a:xfrm>
          <a:prstGeom prst="rect">
            <a:avLst/>
          </a:prstGeom>
          <a:solidFill>
            <a:srgbClr val="D55D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 349: plot geometry" descr="sci-ppt:obj-0349"/>
          <p:cNvSpPr/>
          <p:nvPr/>
        </p:nvSpPr>
        <p:spPr>
          <a:xfrm>
            <a:off x="11149463" y="3613885"/>
            <a:ext cx="159603" cy="11416"/>
          </a:xfrm>
          <a:prstGeom prst="rect">
            <a:avLst/>
          </a:prstGeom>
          <a:solidFill>
            <a:srgbClr val="D35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 350: plot geometry" descr="sci-ppt:obj-0350"/>
          <p:cNvSpPr/>
          <p:nvPr/>
        </p:nvSpPr>
        <p:spPr>
          <a:xfrm>
            <a:off x="11149463" y="3625285"/>
            <a:ext cx="159603" cy="11416"/>
          </a:xfrm>
          <a:prstGeom prst="rect">
            <a:avLst/>
          </a:prstGeom>
          <a:solidFill>
            <a:srgbClr val="D258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 351: plot geometry" descr="sci-ppt:obj-0351"/>
          <p:cNvSpPr/>
          <p:nvPr/>
        </p:nvSpPr>
        <p:spPr>
          <a:xfrm>
            <a:off x="11149463" y="3636685"/>
            <a:ext cx="159603" cy="11416"/>
          </a:xfrm>
          <a:prstGeom prst="rect">
            <a:avLst/>
          </a:prstGeom>
          <a:solidFill>
            <a:srgbClr val="D055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 352: plot geometry" descr="sci-ppt:obj-0352"/>
          <p:cNvSpPr/>
          <p:nvPr/>
        </p:nvSpPr>
        <p:spPr>
          <a:xfrm>
            <a:off x="11149463" y="3648086"/>
            <a:ext cx="159603" cy="11416"/>
          </a:xfrm>
          <a:prstGeom prst="rect">
            <a:avLst/>
          </a:prstGeom>
          <a:solidFill>
            <a:srgbClr val="CF52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 353: plot geometry" descr="sci-ppt:obj-0353"/>
          <p:cNvSpPr/>
          <p:nvPr/>
        </p:nvSpPr>
        <p:spPr>
          <a:xfrm>
            <a:off x="11149463" y="3659486"/>
            <a:ext cx="159603" cy="11416"/>
          </a:xfrm>
          <a:prstGeom prst="rect">
            <a:avLst/>
          </a:prstGeom>
          <a:solidFill>
            <a:srgbClr val="CE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 354: plot geometry" descr="sci-ppt:obj-0354"/>
          <p:cNvSpPr/>
          <p:nvPr/>
        </p:nvSpPr>
        <p:spPr>
          <a:xfrm>
            <a:off x="11149463" y="3670886"/>
            <a:ext cx="159603" cy="11416"/>
          </a:xfrm>
          <a:prstGeom prst="rect">
            <a:avLst/>
          </a:prstGeom>
          <a:solidFill>
            <a:srgbClr val="CE4F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 355: plot geometry" descr="sci-ppt:obj-0355"/>
          <p:cNvSpPr/>
          <p:nvPr/>
        </p:nvSpPr>
        <p:spPr>
          <a:xfrm>
            <a:off x="11149463" y="3682286"/>
            <a:ext cx="159603" cy="11416"/>
          </a:xfrm>
          <a:prstGeom prst="rect">
            <a:avLst/>
          </a:prstGeom>
          <a:solidFill>
            <a:srgbClr val="CC4C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 356: plot geometry" descr="sci-ppt:obj-0356"/>
          <p:cNvSpPr/>
          <p:nvPr/>
        </p:nvSpPr>
        <p:spPr>
          <a:xfrm>
            <a:off x="11149463" y="3693687"/>
            <a:ext cx="159603" cy="11416"/>
          </a:xfrm>
          <a:prstGeom prst="rect">
            <a:avLst/>
          </a:prstGeom>
          <a:solidFill>
            <a:srgbClr val="CB49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 357: plot geometry" descr="sci-ppt:obj-0357"/>
          <p:cNvSpPr/>
          <p:nvPr/>
        </p:nvSpPr>
        <p:spPr>
          <a:xfrm>
            <a:off x="11149463" y="3705087"/>
            <a:ext cx="159603" cy="11416"/>
          </a:xfrm>
          <a:prstGeom prst="rect">
            <a:avLst/>
          </a:prstGeom>
          <a:solidFill>
            <a:srgbClr val="C947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 358: plot geometry" descr="sci-ppt:obj-0358"/>
          <p:cNvSpPr/>
          <p:nvPr/>
        </p:nvSpPr>
        <p:spPr>
          <a:xfrm>
            <a:off x="11149463" y="3716487"/>
            <a:ext cx="159603" cy="11416"/>
          </a:xfrm>
          <a:prstGeom prst="rect">
            <a:avLst/>
          </a:prstGeom>
          <a:solidFill>
            <a:srgbClr val="C8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 359: plot geometry" descr="sci-ppt:obj-0359"/>
          <p:cNvSpPr/>
          <p:nvPr/>
        </p:nvSpPr>
        <p:spPr>
          <a:xfrm>
            <a:off x="11149463" y="3727887"/>
            <a:ext cx="159603" cy="11416"/>
          </a:xfrm>
          <a:prstGeom prst="rect">
            <a:avLst/>
          </a:prstGeom>
          <a:solidFill>
            <a:srgbClr val="C641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 360: plot geometry" descr="sci-ppt:obj-0360"/>
          <p:cNvSpPr/>
          <p:nvPr/>
        </p:nvSpPr>
        <p:spPr>
          <a:xfrm>
            <a:off x="11149463" y="3739288"/>
            <a:ext cx="159603" cy="11416"/>
          </a:xfrm>
          <a:prstGeom prst="rect">
            <a:avLst/>
          </a:prstGeom>
          <a:solidFill>
            <a:srgbClr val="C53E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 361: plot geometry" descr="sci-ppt:obj-0361"/>
          <p:cNvSpPr/>
          <p:nvPr/>
        </p:nvSpPr>
        <p:spPr>
          <a:xfrm>
            <a:off x="11149463" y="3750688"/>
            <a:ext cx="159603" cy="11416"/>
          </a:xfrm>
          <a:prstGeom prst="rect">
            <a:avLst/>
          </a:prstGeom>
          <a:solidFill>
            <a:srgbClr val="C43B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 362: plot geometry" descr="sci-ppt:obj-0362"/>
          <p:cNvSpPr/>
          <p:nvPr/>
        </p:nvSpPr>
        <p:spPr>
          <a:xfrm>
            <a:off x="11149463" y="3762088"/>
            <a:ext cx="159603" cy="11416"/>
          </a:xfrm>
          <a:prstGeom prst="rect">
            <a:avLst/>
          </a:prstGeom>
          <a:solidFill>
            <a:srgbClr val="C238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 363: plot geometry" descr="sci-ppt:obj-0363"/>
          <p:cNvSpPr/>
          <p:nvPr/>
        </p:nvSpPr>
        <p:spPr>
          <a:xfrm>
            <a:off x="11149463" y="3773489"/>
            <a:ext cx="159603" cy="11416"/>
          </a:xfrm>
          <a:prstGeom prst="rect">
            <a:avLst/>
          </a:prstGeom>
          <a:solidFill>
            <a:srgbClr val="C136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rect 364: plot geometry" descr="sci-ppt:obj-0364"/>
          <p:cNvSpPr/>
          <p:nvPr/>
        </p:nvSpPr>
        <p:spPr>
          <a:xfrm>
            <a:off x="11149463" y="3784889"/>
            <a:ext cx="159603" cy="11416"/>
          </a:xfrm>
          <a:prstGeom prst="rect">
            <a:avLst/>
          </a:prstGeom>
          <a:solidFill>
            <a:srgbClr val="BF33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ect 365: plot geometry" descr="sci-ppt:obj-0365"/>
          <p:cNvSpPr/>
          <p:nvPr/>
        </p:nvSpPr>
        <p:spPr>
          <a:xfrm>
            <a:off x="11149463" y="3796289"/>
            <a:ext cx="159603" cy="11416"/>
          </a:xfrm>
          <a:prstGeom prst="rect">
            <a:avLst/>
          </a:prstGeom>
          <a:solidFill>
            <a:srgbClr val="BE30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 366: plot geometry" descr="sci-ppt:obj-0366"/>
          <p:cNvSpPr/>
          <p:nvPr/>
        </p:nvSpPr>
        <p:spPr>
          <a:xfrm>
            <a:off x="11149463" y="3807689"/>
            <a:ext cx="159603" cy="11416"/>
          </a:xfrm>
          <a:prstGeom prst="rect">
            <a:avLst/>
          </a:prstGeom>
          <a:solidFill>
            <a:srgbClr val="BD2D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rect 367: plot geometry" descr="sci-ppt:obj-0367"/>
          <p:cNvSpPr/>
          <p:nvPr/>
        </p:nvSpPr>
        <p:spPr>
          <a:xfrm>
            <a:off x="11149463" y="3819090"/>
            <a:ext cx="159603" cy="11416"/>
          </a:xfrm>
          <a:prstGeom prst="rect">
            <a:avLst/>
          </a:prstGeom>
          <a:solidFill>
            <a:srgbClr val="BB2A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ect 368: plot geometry" descr="sci-ppt:obj-0368"/>
          <p:cNvSpPr/>
          <p:nvPr/>
        </p:nvSpPr>
        <p:spPr>
          <a:xfrm>
            <a:off x="11149463" y="3830490"/>
            <a:ext cx="159603" cy="11416"/>
          </a:xfrm>
          <a:prstGeom prst="rect">
            <a:avLst/>
          </a:prstGeom>
          <a:solidFill>
            <a:srgbClr val="BA28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rect 369: plot geometry" descr="sci-ppt:obj-0369"/>
          <p:cNvSpPr/>
          <p:nvPr/>
        </p:nvSpPr>
        <p:spPr>
          <a:xfrm>
            <a:off x="11149463" y="3841890"/>
            <a:ext cx="159603" cy="11416"/>
          </a:xfrm>
          <a:prstGeom prst="rect">
            <a:avLst/>
          </a:prstGeom>
          <a:solidFill>
            <a:srgbClr val="B8253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rect 370: plot geometry" descr="sci-ppt:obj-0370"/>
          <p:cNvSpPr/>
          <p:nvPr/>
        </p:nvSpPr>
        <p:spPr>
          <a:xfrm>
            <a:off x="11149463" y="3853290"/>
            <a:ext cx="159603" cy="11416"/>
          </a:xfrm>
          <a:prstGeom prst="rect">
            <a:avLst/>
          </a:prstGeom>
          <a:solidFill>
            <a:srgbClr val="B722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 371: plot geometry" descr="sci-ppt:obj-0371"/>
          <p:cNvSpPr/>
          <p:nvPr/>
        </p:nvSpPr>
        <p:spPr>
          <a:xfrm>
            <a:off x="11149463" y="3864691"/>
            <a:ext cx="159603" cy="11416"/>
          </a:xfrm>
          <a:prstGeom prst="rect">
            <a:avLst/>
          </a:prstGeom>
          <a:solidFill>
            <a:srgbClr val="B61F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ect 372: plot geometry" descr="sci-ppt:obj-0372"/>
          <p:cNvSpPr/>
          <p:nvPr/>
        </p:nvSpPr>
        <p:spPr>
          <a:xfrm>
            <a:off x="11149463" y="3876091"/>
            <a:ext cx="159603" cy="11416"/>
          </a:xfrm>
          <a:prstGeom prst="rect">
            <a:avLst/>
          </a:prstGeom>
          <a:solidFill>
            <a:srgbClr val="B41C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 373: plot geometry" descr="sci-ppt:obj-0373"/>
          <p:cNvSpPr/>
          <p:nvPr/>
        </p:nvSpPr>
        <p:spPr>
          <a:xfrm>
            <a:off x="11149463" y="3887491"/>
            <a:ext cx="159603" cy="11416"/>
          </a:xfrm>
          <a:prstGeom prst="rect">
            <a:avLst/>
          </a:prstGeom>
          <a:solidFill>
            <a:srgbClr val="B41C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 374: plot geometry" descr="sci-ppt:obj-0374"/>
          <p:cNvSpPr/>
          <p:nvPr/>
        </p:nvSpPr>
        <p:spPr>
          <a:xfrm>
            <a:off x="11149463" y="3898892"/>
            <a:ext cx="159603" cy="11416"/>
          </a:xfrm>
          <a:prstGeom prst="rect">
            <a:avLst/>
          </a:prstGeom>
          <a:solidFill>
            <a:srgbClr val="B319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rect 375: plot geometry" descr="sci-ppt:obj-0375"/>
          <p:cNvSpPr/>
          <p:nvPr/>
        </p:nvSpPr>
        <p:spPr>
          <a:xfrm>
            <a:off x="11149463" y="3910292"/>
            <a:ext cx="159603" cy="11416"/>
          </a:xfrm>
          <a:prstGeom prst="rect">
            <a:avLst/>
          </a:prstGeom>
          <a:solidFill>
            <a:srgbClr val="B118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rect 376: plot geometry" descr="sci-ppt:obj-0376"/>
          <p:cNvSpPr/>
          <p:nvPr/>
        </p:nvSpPr>
        <p:spPr>
          <a:xfrm>
            <a:off x="11149463" y="3921692"/>
            <a:ext cx="159603" cy="11416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 377: plot geometry" descr="sci-ppt:obj-0377"/>
          <p:cNvSpPr/>
          <p:nvPr/>
        </p:nvSpPr>
        <p:spPr>
          <a:xfrm>
            <a:off x="11149463" y="3933092"/>
            <a:ext cx="159603" cy="11416"/>
          </a:xfrm>
          <a:prstGeom prst="rect">
            <a:avLst/>
          </a:prstGeom>
          <a:solidFill>
            <a:srgbClr val="AB1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rect 378: plot geometry" descr="sci-ppt:obj-0378"/>
          <p:cNvSpPr/>
          <p:nvPr/>
        </p:nvSpPr>
        <p:spPr>
          <a:xfrm>
            <a:off x="11149463" y="3944493"/>
            <a:ext cx="159603" cy="11416"/>
          </a:xfrm>
          <a:prstGeom prst="rect">
            <a:avLst/>
          </a:prstGeom>
          <a:solidFill>
            <a:srgbClr val="A815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 379: plot geometry" descr="sci-ppt:obj-0379"/>
          <p:cNvSpPr/>
          <p:nvPr/>
        </p:nvSpPr>
        <p:spPr>
          <a:xfrm>
            <a:off x="11149463" y="3955893"/>
            <a:ext cx="159603" cy="11416"/>
          </a:xfrm>
          <a:prstGeom prst="rect">
            <a:avLst/>
          </a:prstGeom>
          <a:solidFill>
            <a:srgbClr val="A514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 380: plot geometry" descr="sci-ppt:obj-0380"/>
          <p:cNvSpPr/>
          <p:nvPr/>
        </p:nvSpPr>
        <p:spPr>
          <a:xfrm>
            <a:off x="11149463" y="3967293"/>
            <a:ext cx="159603" cy="11416"/>
          </a:xfrm>
          <a:prstGeom prst="rect">
            <a:avLst/>
          </a:prstGeom>
          <a:solidFill>
            <a:srgbClr val="A213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rect 381: plot geometry" descr="sci-ppt:obj-0381"/>
          <p:cNvSpPr/>
          <p:nvPr/>
        </p:nvSpPr>
        <p:spPr>
          <a:xfrm>
            <a:off x="11149463" y="3978693"/>
            <a:ext cx="159603" cy="11416"/>
          </a:xfrm>
          <a:prstGeom prst="rect">
            <a:avLst/>
          </a:prstGeom>
          <a:solidFill>
            <a:srgbClr val="9F12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rect 382: plot geometry" descr="sci-ppt:obj-0382"/>
          <p:cNvSpPr/>
          <p:nvPr/>
        </p:nvSpPr>
        <p:spPr>
          <a:xfrm>
            <a:off x="11149463" y="3990094"/>
            <a:ext cx="159603" cy="11416"/>
          </a:xfrm>
          <a:prstGeom prst="rect">
            <a:avLst/>
          </a:prstGeom>
          <a:solidFill>
            <a:srgbClr val="9C1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 383: plot geometry" descr="sci-ppt:obj-0383"/>
          <p:cNvSpPr/>
          <p:nvPr/>
        </p:nvSpPr>
        <p:spPr>
          <a:xfrm>
            <a:off x="11149463" y="4001494"/>
            <a:ext cx="159603" cy="11416"/>
          </a:xfrm>
          <a:prstGeom prst="rect">
            <a:avLst/>
          </a:prstGeom>
          <a:solidFill>
            <a:srgbClr val="9910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 384: plot geometry" descr="sci-ppt:obj-0384"/>
          <p:cNvSpPr/>
          <p:nvPr/>
        </p:nvSpPr>
        <p:spPr>
          <a:xfrm>
            <a:off x="11149463" y="4012894"/>
            <a:ext cx="159603" cy="11416"/>
          </a:xfrm>
          <a:prstGeom prst="rect">
            <a:avLst/>
          </a:prstGeom>
          <a:solidFill>
            <a:srgbClr val="960F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rect 385: plot geometry" descr="sci-ppt:obj-0385"/>
          <p:cNvSpPr/>
          <p:nvPr/>
        </p:nvSpPr>
        <p:spPr>
          <a:xfrm>
            <a:off x="11149463" y="4024294"/>
            <a:ext cx="159603" cy="11416"/>
          </a:xfrm>
          <a:prstGeom prst="rect">
            <a:avLst/>
          </a:prstGeom>
          <a:solidFill>
            <a:srgbClr val="930E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rect 386: plot geometry" descr="sci-ppt:obj-0386"/>
          <p:cNvSpPr/>
          <p:nvPr/>
        </p:nvSpPr>
        <p:spPr>
          <a:xfrm>
            <a:off x="11149463" y="4035695"/>
            <a:ext cx="159603" cy="11416"/>
          </a:xfrm>
          <a:prstGeom prst="rect">
            <a:avLst/>
          </a:prstGeom>
          <a:solidFill>
            <a:srgbClr val="900D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ect 387: plot geometry" descr="sci-ppt:obj-0387"/>
          <p:cNvSpPr/>
          <p:nvPr/>
        </p:nvSpPr>
        <p:spPr>
          <a:xfrm>
            <a:off x="11149463" y="4047095"/>
            <a:ext cx="159603" cy="11416"/>
          </a:xfrm>
          <a:prstGeom prst="rect">
            <a:avLst/>
          </a:prstGeom>
          <a:solidFill>
            <a:srgbClr val="8D0C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rect 388: plot geometry" descr="sci-ppt:obj-0388"/>
          <p:cNvSpPr/>
          <p:nvPr/>
        </p:nvSpPr>
        <p:spPr>
          <a:xfrm>
            <a:off x="11149463" y="4058495"/>
            <a:ext cx="159603" cy="11416"/>
          </a:xfrm>
          <a:prstGeom prst="rect">
            <a:avLst/>
          </a:prstGeom>
          <a:solidFill>
            <a:srgbClr val="8A0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ect 389: plot geometry" descr="sci-ppt:obj-0389"/>
          <p:cNvSpPr/>
          <p:nvPr/>
        </p:nvSpPr>
        <p:spPr>
          <a:xfrm>
            <a:off x="11149463" y="4069896"/>
            <a:ext cx="159603" cy="11416"/>
          </a:xfrm>
          <a:prstGeom prst="rect">
            <a:avLst/>
          </a:prstGeom>
          <a:solidFill>
            <a:srgbClr val="870A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rect 390: plot geometry" descr="sci-ppt:obj-0390"/>
          <p:cNvSpPr/>
          <p:nvPr/>
        </p:nvSpPr>
        <p:spPr>
          <a:xfrm>
            <a:off x="11149463" y="4081296"/>
            <a:ext cx="159603" cy="11416"/>
          </a:xfrm>
          <a:prstGeom prst="rect">
            <a:avLst/>
          </a:prstGeom>
          <a:solidFill>
            <a:srgbClr val="8409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ect 391: plot geometry" descr="sci-ppt:obj-0391"/>
          <p:cNvSpPr/>
          <p:nvPr/>
        </p:nvSpPr>
        <p:spPr>
          <a:xfrm>
            <a:off x="11149463" y="4092696"/>
            <a:ext cx="159603" cy="11416"/>
          </a:xfrm>
          <a:prstGeom prst="rect">
            <a:avLst/>
          </a:prstGeom>
          <a:solidFill>
            <a:srgbClr val="8108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rect 392: plot geometry" descr="sci-ppt:obj-0392"/>
          <p:cNvSpPr/>
          <p:nvPr/>
        </p:nvSpPr>
        <p:spPr>
          <a:xfrm>
            <a:off x="11149463" y="4104096"/>
            <a:ext cx="159603" cy="11416"/>
          </a:xfrm>
          <a:prstGeom prst="rect">
            <a:avLst/>
          </a:prstGeom>
          <a:solidFill>
            <a:srgbClr val="8108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rect 393: plot geometry" descr="sci-ppt:obj-0393"/>
          <p:cNvSpPr/>
          <p:nvPr/>
        </p:nvSpPr>
        <p:spPr>
          <a:xfrm>
            <a:off x="11149463" y="4115497"/>
            <a:ext cx="159603" cy="11416"/>
          </a:xfrm>
          <a:prstGeom prst="rect">
            <a:avLst/>
          </a:prstGeom>
          <a:solidFill>
            <a:srgbClr val="7F08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rect 394: plot geometry" descr="sci-ppt:obj-0394"/>
          <p:cNvSpPr/>
          <p:nvPr/>
        </p:nvSpPr>
        <p:spPr>
          <a:xfrm>
            <a:off x="11149463" y="4126897"/>
            <a:ext cx="159603" cy="11416"/>
          </a:xfrm>
          <a:prstGeom prst="rect">
            <a:avLst/>
          </a:prstGeom>
          <a:solidFill>
            <a:srgbClr val="7C07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ect 395: plot geometry" descr="sci-ppt:obj-0395"/>
          <p:cNvSpPr/>
          <p:nvPr/>
        </p:nvSpPr>
        <p:spPr>
          <a:xfrm>
            <a:off x="11149463" y="4138297"/>
            <a:ext cx="159603" cy="11416"/>
          </a:xfrm>
          <a:prstGeom prst="rect">
            <a:avLst/>
          </a:prstGeom>
          <a:solidFill>
            <a:srgbClr val="7906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rect 396: plot geometry" descr="sci-ppt:obj-0396"/>
          <p:cNvSpPr/>
          <p:nvPr/>
        </p:nvSpPr>
        <p:spPr>
          <a:xfrm>
            <a:off x="11149463" y="4149697"/>
            <a:ext cx="159603" cy="11416"/>
          </a:xfrm>
          <a:prstGeom prst="rect">
            <a:avLst/>
          </a:prstGeom>
          <a:solidFill>
            <a:srgbClr val="7605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rect 397: plot geometry" descr="sci-ppt:obj-0397"/>
          <p:cNvSpPr/>
          <p:nvPr/>
        </p:nvSpPr>
        <p:spPr>
          <a:xfrm>
            <a:off x="11149463" y="4161098"/>
            <a:ext cx="159603" cy="11416"/>
          </a:xfrm>
          <a:prstGeom prst="rect">
            <a:avLst/>
          </a:prstGeom>
          <a:solidFill>
            <a:srgbClr val="7304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rect 398: plot geometry" descr="sci-ppt:obj-0398"/>
          <p:cNvSpPr/>
          <p:nvPr/>
        </p:nvSpPr>
        <p:spPr>
          <a:xfrm>
            <a:off x="11149463" y="4172498"/>
            <a:ext cx="159603" cy="11416"/>
          </a:xfrm>
          <a:prstGeom prst="rect">
            <a:avLst/>
          </a:prstGeom>
          <a:solidFill>
            <a:srgbClr val="7003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rect 399: plot geometry" descr="sci-ppt:obj-0399"/>
          <p:cNvSpPr/>
          <p:nvPr/>
        </p:nvSpPr>
        <p:spPr>
          <a:xfrm>
            <a:off x="11149463" y="4183898"/>
            <a:ext cx="159603" cy="11416"/>
          </a:xfrm>
          <a:prstGeom prst="rect">
            <a:avLst/>
          </a:prstGeom>
          <a:solidFill>
            <a:srgbClr val="6D02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rect 400: plot geometry" descr="sci-ppt:obj-0400"/>
          <p:cNvSpPr/>
          <p:nvPr/>
        </p:nvSpPr>
        <p:spPr>
          <a:xfrm>
            <a:off x="11149463" y="4195299"/>
            <a:ext cx="159603" cy="11416"/>
          </a:xfrm>
          <a:prstGeom prst="rect">
            <a:avLst/>
          </a:prstGeom>
          <a:solidFill>
            <a:srgbClr val="6A01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rect 401: plot geometry" descr="sci-ppt:obj-0401"/>
          <p:cNvSpPr/>
          <p:nvPr/>
        </p:nvSpPr>
        <p:spPr>
          <a:xfrm>
            <a:off x="11149463" y="4206699"/>
            <a:ext cx="159603" cy="11416"/>
          </a:xfrm>
          <a:prstGeom prst="rect">
            <a:avLst/>
          </a:prstGeom>
          <a:solidFill>
            <a:srgbClr val="6700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3" name="line 402: plot geometry" descr="sci-ppt:obj-0402"/>
          <p:cNvCxnSpPr/>
          <p:nvPr/>
        </p:nvCxnSpPr>
        <p:spPr>
          <a:xfrm>
            <a:off x="11310264" y="4220398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04" name="text 403: −100" descr="sci-ppt:obj-0403"/>
          <p:cNvSpPr txBox="1"/>
          <p:nvPr/>
        </p:nvSpPr>
        <p:spPr>
          <a:xfrm>
            <a:off x="11393668" y="4117460"/>
            <a:ext cx="446827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−100</a:t>
            </a:r>
          </a:p>
        </p:txBody>
      </p:sp>
      <p:cxnSp>
        <p:nvCxnSpPr>
          <p:cNvPr id="405" name="line 404: plot geometry" descr="sci-ppt:obj-0404"/>
          <p:cNvCxnSpPr/>
          <p:nvPr/>
        </p:nvCxnSpPr>
        <p:spPr>
          <a:xfrm>
            <a:off x="11310264" y="3453017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06" name="text 405: −50" descr="sci-ppt:obj-0405"/>
          <p:cNvSpPr txBox="1"/>
          <p:nvPr/>
        </p:nvSpPr>
        <p:spPr>
          <a:xfrm>
            <a:off x="11393668" y="3350080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−50</a:t>
            </a:r>
          </a:p>
        </p:txBody>
      </p:sp>
      <p:cxnSp>
        <p:nvCxnSpPr>
          <p:cNvPr id="407" name="line 406: plot geometry" descr="sci-ppt:obj-0406"/>
          <p:cNvCxnSpPr/>
          <p:nvPr/>
        </p:nvCxnSpPr>
        <p:spPr>
          <a:xfrm>
            <a:off x="11310264" y="2685637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08" name="text 407: 0" descr="sci-ppt:obj-0407"/>
          <p:cNvSpPr txBox="1"/>
          <p:nvPr/>
        </p:nvSpPr>
        <p:spPr>
          <a:xfrm>
            <a:off x="11393668" y="2582699"/>
            <a:ext cx="166570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409" name="line 408: plot geometry" descr="sci-ppt:obj-0408"/>
          <p:cNvCxnSpPr/>
          <p:nvPr/>
        </p:nvCxnSpPr>
        <p:spPr>
          <a:xfrm>
            <a:off x="11310264" y="2301946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10" name="text 409: 50" descr="sci-ppt:obj-0409"/>
          <p:cNvSpPr txBox="1"/>
          <p:nvPr/>
        </p:nvSpPr>
        <p:spPr>
          <a:xfrm>
            <a:off x="11393668" y="2199009"/>
            <a:ext cx="259989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cxnSp>
        <p:nvCxnSpPr>
          <p:cNvPr id="411" name="line 410: plot geometry" descr="sci-ppt:obj-0410"/>
          <p:cNvCxnSpPr/>
          <p:nvPr/>
        </p:nvCxnSpPr>
        <p:spPr>
          <a:xfrm>
            <a:off x="11310264" y="1918256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12" name="text 411: 100" descr="sci-ppt:obj-0411"/>
          <p:cNvSpPr txBox="1"/>
          <p:nvPr/>
        </p:nvSpPr>
        <p:spPr>
          <a:xfrm>
            <a:off x="11393668" y="1815318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413" name="line 412: plot geometry" descr="sci-ppt:obj-0412"/>
          <p:cNvCxnSpPr/>
          <p:nvPr/>
        </p:nvCxnSpPr>
        <p:spPr>
          <a:xfrm>
            <a:off x="11310264" y="1534566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14" name="text 413: 150" descr="sci-ppt:obj-0413"/>
          <p:cNvSpPr txBox="1"/>
          <p:nvPr/>
        </p:nvSpPr>
        <p:spPr>
          <a:xfrm>
            <a:off x="11393668" y="1431628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cxnSp>
        <p:nvCxnSpPr>
          <p:cNvPr id="415" name="line 414: plot geometry" descr="sci-ppt:obj-0414"/>
          <p:cNvCxnSpPr/>
          <p:nvPr/>
        </p:nvCxnSpPr>
        <p:spPr>
          <a:xfrm>
            <a:off x="11310264" y="1150875"/>
            <a:ext cx="55418" cy="0"/>
          </a:xfrm>
          <a:prstGeom prst="line">
            <a:avLst/>
          </a:prstGeom>
          <a:ln w="12666">
            <a:solidFill>
              <a:srgbClr val="000000"/>
            </a:solidFill>
          </a:ln>
          <a:effectLst/>
        </p:spPr>
      </p:cxnSp>
      <p:sp>
        <p:nvSpPr>
          <p:cNvPr id="416" name="text 415: 200" descr="sci-ppt:obj-0415"/>
          <p:cNvSpPr txBox="1"/>
          <p:nvPr/>
        </p:nvSpPr>
        <p:spPr>
          <a:xfrm>
            <a:off x="11393668" y="1047938"/>
            <a:ext cx="35340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417" name="text 416: Closed-energy restoring slope (kPa per stretch)" descr="sci-ppt:obj-0416"/>
          <p:cNvSpPr txBox="1"/>
          <p:nvPr/>
        </p:nvSpPr>
        <p:spPr>
          <a:xfrm rot="16200000">
            <a:off x="9807735" y="2522549"/>
            <a:ext cx="4463838" cy="2137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6" b="0" i="0">
                <a:solidFill>
                  <a:srgbClr val="000000"/>
                </a:solidFill>
                <a:latin typeface="Arial"/>
              </a:rPr>
              <a:t>Closed-energy restoring slope (kPa per stretch)</a:t>
            </a:r>
          </a:p>
        </p:txBody>
      </p:sp>
      <p:sp>
        <p:nvSpPr>
          <p:cNvPr id="418" name="polygon 417: plot geometry" descr="sci-ppt:obj-0417"/>
          <p:cNvSpPr/>
          <p:nvPr/>
        </p:nvSpPr>
        <p:spPr>
          <a:xfrm>
            <a:off x="11149114" y="1150875"/>
            <a:ext cx="161150" cy="3222999"/>
          </a:xfrm>
          <a:custGeom>
            <a:avLst/>
            <a:gdLst/>
            <a:ahLst/>
            <a:cxnLst/>
            <a:rect l="l" t="t" r="r" b="b"/>
            <a:pathLst>
              <a:path w="161150" h="3222999">
                <a:moveTo>
                  <a:pt x="0" y="3069523"/>
                </a:moveTo>
                <a:lnTo>
                  <a:pt x="80575" y="3222999"/>
                </a:lnTo>
                <a:lnTo>
                  <a:pt x="161150" y="3069523"/>
                </a:lnTo>
                <a:lnTo>
                  <a:pt x="161150" y="0"/>
                </a:lnTo>
                <a:lnTo>
                  <a:pt x="80575" y="0"/>
                </a:lnTo>
                <a:lnTo>
                  <a:pt x="0" y="0"/>
                </a:lnTo>
                <a:lnTo>
                  <a:pt x="0" y="3069523"/>
                </a:lnTo>
                <a:close/>
              </a:path>
            </a:pathLst>
          </a:custGeom>
          <a:noFill/>
          <a:ln w="1266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text 418: Local reduced radial stability: positive restores, negative destabiliz" descr="sci-ppt:obj-0418"/>
          <p:cNvSpPr txBox="1"/>
          <p:nvPr/>
        </p:nvSpPr>
        <p:spPr>
          <a:xfrm>
            <a:off x="3073904" y="84383"/>
            <a:ext cx="7471926" cy="235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000000"/>
                </a:solidFill>
                <a:latin typeface="Arial"/>
              </a:rPr>
              <a:t>Local reduced radial stability: positive restores, negative destabilizes</a:t>
            </a:r>
          </a:p>
        </p:txBody>
      </p:sp>
      <p:sp>
        <p:nvSpPr>
          <p:cNvPr id="420" name="text 419: Internal phase/core stability is a separate fixed-(T,V,m) check" descr="sci-ppt:obj-0419"/>
          <p:cNvSpPr txBox="1"/>
          <p:nvPr/>
        </p:nvSpPr>
        <p:spPr>
          <a:xfrm>
            <a:off x="3397359" y="293436"/>
            <a:ext cx="6547079" cy="235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71" b="0" i="0">
                <a:solidFill>
                  <a:srgbClr val="000000"/>
                </a:solidFill>
                <a:latin typeface="Arial"/>
              </a:rPr>
              <a:t>Internal phase/core stability is a separate fixed-(T,V,m) check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4910802"/>
          </a:xfrm>
          <a:custGeom>
            <a:avLst/>
            <a:gdLst/>
            <a:ahLst/>
            <a:cxnLst/>
            <a:rect l="l" t="t" r="r" b="b"/>
            <a:pathLst>
              <a:path w="12191695" h="4910802">
                <a:moveTo>
                  <a:pt x="0" y="4910802"/>
                </a:moveTo>
                <a:lnTo>
                  <a:pt x="12191695" y="4910802"/>
                </a:lnTo>
                <a:lnTo>
                  <a:pt x="12191695" y="0"/>
                </a:lnTo>
                <a:lnTo>
                  <a:pt x="0" y="0"/>
                </a:lnTo>
                <a:lnTo>
                  <a:pt x="0" y="4910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816900" y="864678"/>
            <a:ext cx="5265264" cy="3414053"/>
          </a:xfrm>
          <a:custGeom>
            <a:avLst/>
            <a:gdLst/>
            <a:ahLst/>
            <a:cxnLst/>
            <a:rect l="l" t="t" r="r" b="b"/>
            <a:pathLst>
              <a:path w="5265264" h="3414053">
                <a:moveTo>
                  <a:pt x="0" y="3414053"/>
                </a:moveTo>
                <a:lnTo>
                  <a:pt x="5265264" y="3414053"/>
                </a:lnTo>
                <a:lnTo>
                  <a:pt x="5265264" y="0"/>
                </a:lnTo>
                <a:lnTo>
                  <a:pt x="0" y="0"/>
                </a:lnTo>
                <a:lnTo>
                  <a:pt x="0" y="34140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1056230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1056230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" name="text 5: 1" descr="sci-ppt:obj-0005"/>
          <p:cNvSpPr txBox="1"/>
          <p:nvPr/>
        </p:nvSpPr>
        <p:spPr>
          <a:xfrm>
            <a:off x="843142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 6: 0" descr="sci-ppt:obj-0006"/>
          <p:cNvSpPr txBox="1"/>
          <p:nvPr/>
        </p:nvSpPr>
        <p:spPr>
          <a:xfrm>
            <a:off x="943670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" name="text 7: −" descr="sci-ppt:obj-0007"/>
          <p:cNvSpPr txBox="1"/>
          <p:nvPr/>
        </p:nvSpPr>
        <p:spPr>
          <a:xfrm>
            <a:off x="1045710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−</a:t>
            </a:r>
          </a:p>
        </p:txBody>
      </p:sp>
      <p:sp>
        <p:nvSpPr>
          <p:cNvPr id="9" name="text 8: 1" descr="sci-ppt:obj-0008"/>
          <p:cNvSpPr txBox="1"/>
          <p:nvPr/>
        </p:nvSpPr>
        <p:spPr>
          <a:xfrm>
            <a:off x="1138384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0" name="line 9: plot geometry" descr="sci-ppt:obj-0009"/>
          <p:cNvCxnSpPr/>
          <p:nvPr/>
        </p:nvCxnSpPr>
        <p:spPr>
          <a:xfrm flipV="1">
            <a:off x="2651765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" name="line 10: plot geometry" descr="sci-ppt:obj-0010"/>
          <p:cNvCxnSpPr/>
          <p:nvPr/>
        </p:nvCxnSpPr>
        <p:spPr>
          <a:xfrm>
            <a:off x="2651765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" name="text 11: 1" descr="sci-ppt:obj-0011"/>
          <p:cNvSpPr txBox="1"/>
          <p:nvPr/>
        </p:nvSpPr>
        <p:spPr>
          <a:xfrm>
            <a:off x="2485288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3" name="text 12: 0" descr="sci-ppt:obj-0012"/>
          <p:cNvSpPr txBox="1"/>
          <p:nvPr/>
        </p:nvSpPr>
        <p:spPr>
          <a:xfrm>
            <a:off x="2585816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4" name="text 13: 0" descr="sci-ppt:obj-0013"/>
          <p:cNvSpPr txBox="1"/>
          <p:nvPr/>
        </p:nvSpPr>
        <p:spPr>
          <a:xfrm>
            <a:off x="2687856" y="434802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5" name="line 14: plot geometry" descr="sci-ppt:obj-0014"/>
          <p:cNvCxnSpPr/>
          <p:nvPr/>
        </p:nvCxnSpPr>
        <p:spPr>
          <a:xfrm flipV="1">
            <a:off x="4247299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6" name="line 15: plot geometry" descr="sci-ppt:obj-0015"/>
          <p:cNvCxnSpPr/>
          <p:nvPr/>
        </p:nvCxnSpPr>
        <p:spPr>
          <a:xfrm>
            <a:off x="4247299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7" name="text 16: 1" descr="sci-ppt:obj-0016"/>
          <p:cNvSpPr txBox="1"/>
          <p:nvPr/>
        </p:nvSpPr>
        <p:spPr>
          <a:xfrm>
            <a:off x="4080822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8" name="text 17: 0" descr="sci-ppt:obj-0017"/>
          <p:cNvSpPr txBox="1"/>
          <p:nvPr/>
        </p:nvSpPr>
        <p:spPr>
          <a:xfrm>
            <a:off x="4181350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9" name="text 18: 1" descr="sci-ppt:obj-0018"/>
          <p:cNvSpPr txBox="1"/>
          <p:nvPr/>
        </p:nvSpPr>
        <p:spPr>
          <a:xfrm>
            <a:off x="4283390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20" name="line 19: plot geometry" descr="sci-ppt:obj-0019"/>
          <p:cNvCxnSpPr/>
          <p:nvPr/>
        </p:nvCxnSpPr>
        <p:spPr>
          <a:xfrm flipV="1">
            <a:off x="5842834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1" name="line 20: plot geometry" descr="sci-ppt:obj-0020"/>
          <p:cNvCxnSpPr/>
          <p:nvPr/>
        </p:nvCxnSpPr>
        <p:spPr>
          <a:xfrm>
            <a:off x="5842834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2" name="text 21: 1" descr="sci-ppt:obj-0021"/>
          <p:cNvSpPr txBox="1"/>
          <p:nvPr/>
        </p:nvSpPr>
        <p:spPr>
          <a:xfrm>
            <a:off x="5676357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3" name="text 22: 0" descr="sci-ppt:obj-0022"/>
          <p:cNvSpPr txBox="1"/>
          <p:nvPr/>
        </p:nvSpPr>
        <p:spPr>
          <a:xfrm>
            <a:off x="5776885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4" name="text 23: 2" descr="sci-ppt:obj-0023"/>
          <p:cNvSpPr txBox="1"/>
          <p:nvPr/>
        </p:nvSpPr>
        <p:spPr>
          <a:xfrm>
            <a:off x="5878925" y="434802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25" name="line 24: plot geometry" descr="sci-ppt:obj-0024"/>
          <p:cNvCxnSpPr/>
          <p:nvPr/>
        </p:nvCxnSpPr>
        <p:spPr>
          <a:xfrm>
            <a:off x="90160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6" name="line 25: plot geometry" descr="sci-ppt:obj-0025"/>
          <p:cNvCxnSpPr/>
          <p:nvPr/>
        </p:nvCxnSpPr>
        <p:spPr>
          <a:xfrm>
            <a:off x="98322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7" name="line 26: plot geometry" descr="sci-ppt:obj-0026"/>
          <p:cNvCxnSpPr/>
          <p:nvPr/>
        </p:nvCxnSpPr>
        <p:spPr>
          <a:xfrm>
            <a:off x="153653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8" name="line 27: plot geometry" descr="sci-ppt:obj-0027"/>
          <p:cNvCxnSpPr/>
          <p:nvPr/>
        </p:nvCxnSpPr>
        <p:spPr>
          <a:xfrm>
            <a:off x="181749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9" name="line 28: plot geometry" descr="sci-ppt:obj-0028"/>
          <p:cNvCxnSpPr/>
          <p:nvPr/>
        </p:nvCxnSpPr>
        <p:spPr>
          <a:xfrm>
            <a:off x="2016838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0" name="line 29: plot geometry" descr="sci-ppt:obj-0029"/>
          <p:cNvCxnSpPr/>
          <p:nvPr/>
        </p:nvCxnSpPr>
        <p:spPr>
          <a:xfrm>
            <a:off x="2171461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1" name="line 30: plot geometry" descr="sci-ppt:obj-0030"/>
          <p:cNvCxnSpPr/>
          <p:nvPr/>
        </p:nvCxnSpPr>
        <p:spPr>
          <a:xfrm>
            <a:off x="229779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2" name="line 31: plot geometry" descr="sci-ppt:obj-0031"/>
          <p:cNvCxnSpPr/>
          <p:nvPr/>
        </p:nvCxnSpPr>
        <p:spPr>
          <a:xfrm>
            <a:off x="240461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3" name="line 32: plot geometry" descr="sci-ppt:obj-0032"/>
          <p:cNvCxnSpPr/>
          <p:nvPr/>
        </p:nvCxnSpPr>
        <p:spPr>
          <a:xfrm>
            <a:off x="249714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4" name="line 33: plot geometry" descr="sci-ppt:obj-0033"/>
          <p:cNvCxnSpPr/>
          <p:nvPr/>
        </p:nvCxnSpPr>
        <p:spPr>
          <a:xfrm>
            <a:off x="257875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5" name="line 34: plot geometry" descr="sci-ppt:obj-0034"/>
          <p:cNvCxnSpPr/>
          <p:nvPr/>
        </p:nvCxnSpPr>
        <p:spPr>
          <a:xfrm>
            <a:off x="3132069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6" name="line 35: plot geometry" descr="sci-ppt:obj-0035"/>
          <p:cNvCxnSpPr/>
          <p:nvPr/>
        </p:nvCxnSpPr>
        <p:spPr>
          <a:xfrm>
            <a:off x="3413028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7" name="line 36: plot geometry" descr="sci-ppt:obj-0036"/>
          <p:cNvCxnSpPr/>
          <p:nvPr/>
        </p:nvCxnSpPr>
        <p:spPr>
          <a:xfrm>
            <a:off x="361237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8" name="line 37: plot geometry" descr="sci-ppt:obj-0037"/>
          <p:cNvCxnSpPr/>
          <p:nvPr/>
        </p:nvCxnSpPr>
        <p:spPr>
          <a:xfrm>
            <a:off x="3766995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9" name="line 38: plot geometry" descr="sci-ppt:obj-0038"/>
          <p:cNvCxnSpPr/>
          <p:nvPr/>
        </p:nvCxnSpPr>
        <p:spPr>
          <a:xfrm>
            <a:off x="389333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0" name="line 39: plot geometry" descr="sci-ppt:obj-0039"/>
          <p:cNvCxnSpPr/>
          <p:nvPr/>
        </p:nvCxnSpPr>
        <p:spPr>
          <a:xfrm>
            <a:off x="4000148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1" name="line 40: plot geometry" descr="sci-ppt:obj-0040"/>
          <p:cNvCxnSpPr/>
          <p:nvPr/>
        </p:nvCxnSpPr>
        <p:spPr>
          <a:xfrm>
            <a:off x="4092676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2" name="line 41: plot geometry" descr="sci-ppt:obj-0041"/>
          <p:cNvCxnSpPr/>
          <p:nvPr/>
        </p:nvCxnSpPr>
        <p:spPr>
          <a:xfrm>
            <a:off x="417429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3" name="line 42: plot geometry" descr="sci-ppt:obj-0042"/>
          <p:cNvCxnSpPr/>
          <p:nvPr/>
        </p:nvCxnSpPr>
        <p:spPr>
          <a:xfrm>
            <a:off x="472760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4" name="line 43: plot geometry" descr="sci-ppt:obj-0043"/>
          <p:cNvCxnSpPr/>
          <p:nvPr/>
        </p:nvCxnSpPr>
        <p:spPr>
          <a:xfrm>
            <a:off x="500856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>
            <a:off x="520790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6" name="line 45: plot geometry" descr="sci-ppt:obj-0045"/>
          <p:cNvCxnSpPr/>
          <p:nvPr/>
        </p:nvCxnSpPr>
        <p:spPr>
          <a:xfrm>
            <a:off x="536253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7" name="line 46: plot geometry" descr="sci-ppt:obj-0046"/>
          <p:cNvCxnSpPr/>
          <p:nvPr/>
        </p:nvCxnSpPr>
        <p:spPr>
          <a:xfrm>
            <a:off x="5488866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8" name="line 47: plot geometry" descr="sci-ppt:obj-0047"/>
          <p:cNvCxnSpPr/>
          <p:nvPr/>
        </p:nvCxnSpPr>
        <p:spPr>
          <a:xfrm>
            <a:off x="559568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9" name="line 48: plot geometry" descr="sci-ppt:obj-0048"/>
          <p:cNvCxnSpPr/>
          <p:nvPr/>
        </p:nvCxnSpPr>
        <p:spPr>
          <a:xfrm>
            <a:off x="568821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50" name="line 49: plot geometry" descr="sci-ppt:obj-0049"/>
          <p:cNvCxnSpPr/>
          <p:nvPr/>
        </p:nvCxnSpPr>
        <p:spPr>
          <a:xfrm>
            <a:off x="5769826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51" name="text 50: Stipulated fracture energy (J/m²)" descr="sci-ppt:obj-0050"/>
          <p:cNvSpPr txBox="1"/>
          <p:nvPr/>
        </p:nvSpPr>
        <p:spPr>
          <a:xfrm>
            <a:off x="1874773" y="4596334"/>
            <a:ext cx="3149518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Stipulated fracture energy (J/m²)</a:t>
            </a:r>
          </a:p>
        </p:txBody>
      </p:sp>
      <p:cxnSp>
        <p:nvCxnSpPr>
          <p:cNvPr id="52" name="line 51: plot geometry" descr="sci-ppt:obj-0051"/>
          <p:cNvCxnSpPr/>
          <p:nvPr/>
        </p:nvCxnSpPr>
        <p:spPr>
          <a:xfrm>
            <a:off x="816900" y="3748007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3" name="line 52: plot geometry" descr="sci-ppt:obj-0052"/>
          <p:cNvCxnSpPr/>
          <p:nvPr/>
        </p:nvCxnSpPr>
        <p:spPr>
          <a:xfrm flipH="1">
            <a:off x="761598" y="3748007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54" name="text 53: 1" descr="sci-ppt:obj-0053"/>
          <p:cNvSpPr txBox="1"/>
          <p:nvPr/>
        </p:nvSpPr>
        <p:spPr>
          <a:xfrm>
            <a:off x="307551" y="364886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5" name="text 54: 0" descr="sci-ppt:obj-0054"/>
          <p:cNvSpPr txBox="1"/>
          <p:nvPr/>
        </p:nvSpPr>
        <p:spPr>
          <a:xfrm>
            <a:off x="408079" y="364886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6" name="text 55: −" descr="sci-ppt:obj-0055"/>
          <p:cNvSpPr txBox="1"/>
          <p:nvPr/>
        </p:nvSpPr>
        <p:spPr>
          <a:xfrm>
            <a:off x="510119" y="363243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−</a:t>
            </a:r>
          </a:p>
        </p:txBody>
      </p:sp>
      <p:sp>
        <p:nvSpPr>
          <p:cNvPr id="57" name="text 56: 2" descr="sci-ppt:obj-0056"/>
          <p:cNvSpPr txBox="1"/>
          <p:nvPr/>
        </p:nvSpPr>
        <p:spPr>
          <a:xfrm>
            <a:off x="602793" y="363243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58" name="line 57: plot geometry" descr="sci-ppt:obj-0057"/>
          <p:cNvCxnSpPr/>
          <p:nvPr/>
        </p:nvCxnSpPr>
        <p:spPr>
          <a:xfrm>
            <a:off x="816900" y="3087504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9" name="line 58: plot geometry" descr="sci-ppt:obj-0058"/>
          <p:cNvCxnSpPr/>
          <p:nvPr/>
        </p:nvCxnSpPr>
        <p:spPr>
          <a:xfrm flipH="1">
            <a:off x="761598" y="3087504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0" name="text 59: 1" descr="sci-ppt:obj-0059"/>
          <p:cNvSpPr txBox="1"/>
          <p:nvPr/>
        </p:nvSpPr>
        <p:spPr>
          <a:xfrm>
            <a:off x="307551" y="298618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1" name="text 60: 0" descr="sci-ppt:obj-0060"/>
          <p:cNvSpPr txBox="1"/>
          <p:nvPr/>
        </p:nvSpPr>
        <p:spPr>
          <a:xfrm>
            <a:off x="408079" y="298618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2" name="text 61: −" descr="sci-ppt:obj-0061"/>
          <p:cNvSpPr txBox="1"/>
          <p:nvPr/>
        </p:nvSpPr>
        <p:spPr>
          <a:xfrm>
            <a:off x="510119" y="2969755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−</a:t>
            </a:r>
          </a:p>
        </p:txBody>
      </p:sp>
      <p:sp>
        <p:nvSpPr>
          <p:cNvPr id="63" name="text 62: 1" descr="sci-ppt:obj-0062"/>
          <p:cNvSpPr txBox="1"/>
          <p:nvPr/>
        </p:nvSpPr>
        <p:spPr>
          <a:xfrm>
            <a:off x="602793" y="2969755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64" name="line 63: plot geometry" descr="sci-ppt:obj-0063"/>
          <p:cNvCxnSpPr/>
          <p:nvPr/>
        </p:nvCxnSpPr>
        <p:spPr>
          <a:xfrm>
            <a:off x="816900" y="2427001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65" name="line 64: plot geometry" descr="sci-ppt:obj-0064"/>
          <p:cNvCxnSpPr/>
          <p:nvPr/>
        </p:nvCxnSpPr>
        <p:spPr>
          <a:xfrm flipH="1">
            <a:off x="761598" y="2427001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6" name="text 65: 1" descr="sci-ppt:obj-0065"/>
          <p:cNvSpPr txBox="1"/>
          <p:nvPr/>
        </p:nvSpPr>
        <p:spPr>
          <a:xfrm>
            <a:off x="400775" y="232785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7" name="text 66: 0" descr="sci-ppt:obj-0066"/>
          <p:cNvSpPr txBox="1"/>
          <p:nvPr/>
        </p:nvSpPr>
        <p:spPr>
          <a:xfrm>
            <a:off x="501303" y="232785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8" name="text 67: 0" descr="sci-ppt:obj-0067"/>
          <p:cNvSpPr txBox="1"/>
          <p:nvPr/>
        </p:nvSpPr>
        <p:spPr>
          <a:xfrm>
            <a:off x="603343" y="2311425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69" name="line 68: plot geometry" descr="sci-ppt:obj-0068"/>
          <p:cNvCxnSpPr/>
          <p:nvPr/>
        </p:nvCxnSpPr>
        <p:spPr>
          <a:xfrm>
            <a:off x="816900" y="1766498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0" name="line 69: plot geometry" descr="sci-ppt:obj-0069"/>
          <p:cNvCxnSpPr/>
          <p:nvPr/>
        </p:nvCxnSpPr>
        <p:spPr>
          <a:xfrm flipH="1">
            <a:off x="761598" y="1766498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1" name="text 70: 1" descr="sci-ppt:obj-0070"/>
          <p:cNvSpPr txBox="1"/>
          <p:nvPr/>
        </p:nvSpPr>
        <p:spPr>
          <a:xfrm>
            <a:off x="400775" y="166518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2" name="text 71: 0" descr="sci-ppt:obj-0071"/>
          <p:cNvSpPr txBox="1"/>
          <p:nvPr/>
        </p:nvSpPr>
        <p:spPr>
          <a:xfrm>
            <a:off x="501303" y="166518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3" name="text 72: 1" descr="sci-ppt:obj-0072"/>
          <p:cNvSpPr txBox="1"/>
          <p:nvPr/>
        </p:nvSpPr>
        <p:spPr>
          <a:xfrm>
            <a:off x="603343" y="164874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74" name="line 73: plot geometry" descr="sci-ppt:obj-0073"/>
          <p:cNvCxnSpPr/>
          <p:nvPr/>
        </p:nvCxnSpPr>
        <p:spPr>
          <a:xfrm>
            <a:off x="816900" y="1105995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5" name="line 74: plot geometry" descr="sci-ppt:obj-0074"/>
          <p:cNvCxnSpPr/>
          <p:nvPr/>
        </p:nvCxnSpPr>
        <p:spPr>
          <a:xfrm flipH="1">
            <a:off x="761598" y="110599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6" name="text 75: 1" descr="sci-ppt:obj-0075"/>
          <p:cNvSpPr txBox="1"/>
          <p:nvPr/>
        </p:nvSpPr>
        <p:spPr>
          <a:xfrm>
            <a:off x="400775" y="100685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7" name="text 76: 0" descr="sci-ppt:obj-0076"/>
          <p:cNvSpPr txBox="1"/>
          <p:nvPr/>
        </p:nvSpPr>
        <p:spPr>
          <a:xfrm>
            <a:off x="501303" y="100685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8" name="text 77: 2" descr="sci-ppt:obj-0077"/>
          <p:cNvSpPr txBox="1"/>
          <p:nvPr/>
        </p:nvSpPr>
        <p:spPr>
          <a:xfrm>
            <a:off x="603343" y="99041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79" name="line 78: plot geometry" descr="sci-ppt:obj-0078"/>
          <p:cNvCxnSpPr/>
          <p:nvPr/>
        </p:nvCxnSpPr>
        <p:spPr>
          <a:xfrm flipH="1">
            <a:off x="785299" y="420967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0" name="line 79: plot geometry" descr="sci-ppt:obj-0079"/>
          <p:cNvCxnSpPr/>
          <p:nvPr/>
        </p:nvCxnSpPr>
        <p:spPr>
          <a:xfrm flipH="1">
            <a:off x="785299" y="409337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1" name="line 80: plot geometry" descr="sci-ppt:obj-0080"/>
          <p:cNvCxnSpPr/>
          <p:nvPr/>
        </p:nvCxnSpPr>
        <p:spPr>
          <a:xfrm flipH="1">
            <a:off x="785299" y="401084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2" name="line 81: plot geometry" descr="sci-ppt:obj-0081"/>
          <p:cNvCxnSpPr/>
          <p:nvPr/>
        </p:nvCxnSpPr>
        <p:spPr>
          <a:xfrm flipH="1">
            <a:off x="785299" y="394683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3" name="line 82: plot geometry" descr="sci-ppt:obj-0082"/>
          <p:cNvCxnSpPr/>
          <p:nvPr/>
        </p:nvCxnSpPr>
        <p:spPr>
          <a:xfrm flipH="1">
            <a:off x="785299" y="389453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4" name="line 83: plot geometry" descr="sci-ppt:obj-0083"/>
          <p:cNvCxnSpPr/>
          <p:nvPr/>
        </p:nvCxnSpPr>
        <p:spPr>
          <a:xfrm flipH="1">
            <a:off x="785299" y="385032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5" name="line 84: plot geometry" descr="sci-ppt:obj-0084"/>
          <p:cNvCxnSpPr/>
          <p:nvPr/>
        </p:nvCxnSpPr>
        <p:spPr>
          <a:xfrm flipH="1">
            <a:off x="785299" y="381201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6" name="line 85: plot geometry" descr="sci-ppt:obj-0085"/>
          <p:cNvCxnSpPr/>
          <p:nvPr/>
        </p:nvCxnSpPr>
        <p:spPr>
          <a:xfrm flipH="1">
            <a:off x="785299" y="377823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7" name="line 86: plot geometry" descr="sci-ppt:obj-0086"/>
          <p:cNvCxnSpPr/>
          <p:nvPr/>
        </p:nvCxnSpPr>
        <p:spPr>
          <a:xfrm flipH="1">
            <a:off x="785299" y="354917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8" name="line 87: plot geometry" descr="sci-ppt:obj-0087"/>
          <p:cNvCxnSpPr/>
          <p:nvPr/>
        </p:nvCxnSpPr>
        <p:spPr>
          <a:xfrm flipH="1">
            <a:off x="785299" y="343286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9" name="line 88: plot geometry" descr="sci-ppt:obj-0088"/>
          <p:cNvCxnSpPr/>
          <p:nvPr/>
        </p:nvCxnSpPr>
        <p:spPr>
          <a:xfrm flipH="1">
            <a:off x="785299" y="335034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0" name="line 89: plot geometry" descr="sci-ppt:obj-0089"/>
          <p:cNvCxnSpPr/>
          <p:nvPr/>
        </p:nvCxnSpPr>
        <p:spPr>
          <a:xfrm flipH="1">
            <a:off x="785299" y="328633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1" name="line 90: plot geometry" descr="sci-ppt:obj-0090"/>
          <p:cNvCxnSpPr/>
          <p:nvPr/>
        </p:nvCxnSpPr>
        <p:spPr>
          <a:xfrm flipH="1">
            <a:off x="785299" y="323403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2" name="line 91: plot geometry" descr="sci-ppt:obj-0091"/>
          <p:cNvCxnSpPr/>
          <p:nvPr/>
        </p:nvCxnSpPr>
        <p:spPr>
          <a:xfrm flipH="1">
            <a:off x="785299" y="318981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3" name="line 92: plot geometry" descr="sci-ppt:obj-0092"/>
          <p:cNvCxnSpPr/>
          <p:nvPr/>
        </p:nvCxnSpPr>
        <p:spPr>
          <a:xfrm flipH="1">
            <a:off x="785299" y="315151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4" name="line 93: plot geometry" descr="sci-ppt:obj-0093"/>
          <p:cNvCxnSpPr/>
          <p:nvPr/>
        </p:nvCxnSpPr>
        <p:spPr>
          <a:xfrm flipH="1">
            <a:off x="785299" y="311772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5" name="line 94: plot geometry" descr="sci-ppt:obj-0094"/>
          <p:cNvCxnSpPr/>
          <p:nvPr/>
        </p:nvCxnSpPr>
        <p:spPr>
          <a:xfrm flipH="1">
            <a:off x="785299" y="288867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6" name="line 95: plot geometry" descr="sci-ppt:obj-0095"/>
          <p:cNvCxnSpPr/>
          <p:nvPr/>
        </p:nvCxnSpPr>
        <p:spPr>
          <a:xfrm flipH="1">
            <a:off x="785299" y="277236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7" name="line 96: plot geometry" descr="sci-ppt:obj-0096"/>
          <p:cNvCxnSpPr/>
          <p:nvPr/>
        </p:nvCxnSpPr>
        <p:spPr>
          <a:xfrm flipH="1">
            <a:off x="785299" y="268984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8" name="line 97: plot geometry" descr="sci-ppt:obj-0097"/>
          <p:cNvCxnSpPr/>
          <p:nvPr/>
        </p:nvCxnSpPr>
        <p:spPr>
          <a:xfrm flipH="1">
            <a:off x="785299" y="262583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9" name="line 98: plot geometry" descr="sci-ppt:obj-0098"/>
          <p:cNvCxnSpPr/>
          <p:nvPr/>
        </p:nvCxnSpPr>
        <p:spPr>
          <a:xfrm flipH="1">
            <a:off x="785299" y="257353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0" name="line 99: plot geometry" descr="sci-ppt:obj-0099"/>
          <p:cNvCxnSpPr/>
          <p:nvPr/>
        </p:nvCxnSpPr>
        <p:spPr>
          <a:xfrm flipH="1">
            <a:off x="785299" y="252931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1" name="line 100: plot geometry" descr="sci-ppt:obj-0100"/>
          <p:cNvCxnSpPr/>
          <p:nvPr/>
        </p:nvCxnSpPr>
        <p:spPr>
          <a:xfrm flipH="1">
            <a:off x="785299" y="249101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2" name="line 101: plot geometry" descr="sci-ppt:obj-0101"/>
          <p:cNvCxnSpPr/>
          <p:nvPr/>
        </p:nvCxnSpPr>
        <p:spPr>
          <a:xfrm flipH="1">
            <a:off x="785299" y="245722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3" name="line 102: plot geometry" descr="sci-ppt:obj-0102"/>
          <p:cNvCxnSpPr/>
          <p:nvPr/>
        </p:nvCxnSpPr>
        <p:spPr>
          <a:xfrm flipH="1">
            <a:off x="785299" y="222817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4" name="line 103: plot geometry" descr="sci-ppt:obj-0103"/>
          <p:cNvCxnSpPr/>
          <p:nvPr/>
        </p:nvCxnSpPr>
        <p:spPr>
          <a:xfrm flipH="1">
            <a:off x="785299" y="211186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5" name="line 104: plot geometry" descr="sci-ppt:obj-0104"/>
          <p:cNvCxnSpPr/>
          <p:nvPr/>
        </p:nvCxnSpPr>
        <p:spPr>
          <a:xfrm flipH="1">
            <a:off x="785299" y="202933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6" name="line 105: plot geometry" descr="sci-ppt:obj-0105"/>
          <p:cNvCxnSpPr/>
          <p:nvPr/>
        </p:nvCxnSpPr>
        <p:spPr>
          <a:xfrm flipH="1">
            <a:off x="785299" y="196532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7" name="line 106: plot geometry" descr="sci-ppt:obj-0106"/>
          <p:cNvCxnSpPr/>
          <p:nvPr/>
        </p:nvCxnSpPr>
        <p:spPr>
          <a:xfrm flipH="1">
            <a:off x="785299" y="191303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8" name="line 107: plot geometry" descr="sci-ppt:obj-0107"/>
          <p:cNvCxnSpPr/>
          <p:nvPr/>
        </p:nvCxnSpPr>
        <p:spPr>
          <a:xfrm flipH="1">
            <a:off x="785299" y="186881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9" name="line 108: plot geometry" descr="sci-ppt:obj-0108"/>
          <p:cNvCxnSpPr/>
          <p:nvPr/>
        </p:nvCxnSpPr>
        <p:spPr>
          <a:xfrm flipH="1">
            <a:off x="785299" y="183050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0" name="line 109: plot geometry" descr="sci-ppt:obj-0109"/>
          <p:cNvCxnSpPr/>
          <p:nvPr/>
        </p:nvCxnSpPr>
        <p:spPr>
          <a:xfrm flipH="1">
            <a:off x="785299" y="179672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1" name="line 110: plot geometry" descr="sci-ppt:obj-0110"/>
          <p:cNvCxnSpPr/>
          <p:nvPr/>
        </p:nvCxnSpPr>
        <p:spPr>
          <a:xfrm flipH="1">
            <a:off x="785299" y="156766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2" name="line 111: plot geometry" descr="sci-ppt:obj-0111"/>
          <p:cNvCxnSpPr/>
          <p:nvPr/>
        </p:nvCxnSpPr>
        <p:spPr>
          <a:xfrm flipH="1">
            <a:off x="785299" y="145135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3" name="line 112: plot geometry" descr="sci-ppt:obj-0112"/>
          <p:cNvCxnSpPr/>
          <p:nvPr/>
        </p:nvCxnSpPr>
        <p:spPr>
          <a:xfrm flipH="1">
            <a:off x="785299" y="136883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4" name="line 113: plot geometry" descr="sci-ppt:obj-0113"/>
          <p:cNvCxnSpPr/>
          <p:nvPr/>
        </p:nvCxnSpPr>
        <p:spPr>
          <a:xfrm flipH="1">
            <a:off x="785299" y="130482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5" name="line 114: plot geometry" descr="sci-ppt:obj-0114"/>
          <p:cNvCxnSpPr/>
          <p:nvPr/>
        </p:nvCxnSpPr>
        <p:spPr>
          <a:xfrm flipH="1">
            <a:off x="785299" y="125252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6" name="line 115: plot geometry" descr="sci-ppt:obj-0115"/>
          <p:cNvCxnSpPr/>
          <p:nvPr/>
        </p:nvCxnSpPr>
        <p:spPr>
          <a:xfrm flipH="1">
            <a:off x="785299" y="120830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7" name="line 116: plot geometry" descr="sci-ppt:obj-0116"/>
          <p:cNvCxnSpPr/>
          <p:nvPr/>
        </p:nvCxnSpPr>
        <p:spPr>
          <a:xfrm flipH="1">
            <a:off x="785299" y="117000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8" name="line 117: plot geometry" descr="sci-ppt:obj-0117"/>
          <p:cNvCxnSpPr/>
          <p:nvPr/>
        </p:nvCxnSpPr>
        <p:spPr>
          <a:xfrm flipH="1">
            <a:off x="785299" y="113621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9" name="line 118: plot geometry" descr="sci-ppt:obj-0118"/>
          <p:cNvCxnSpPr/>
          <p:nvPr/>
        </p:nvCxnSpPr>
        <p:spPr>
          <a:xfrm flipH="1">
            <a:off x="785299" y="90716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120" name="text 119: Retained seed energy / slit work" descr="sci-ppt:obj-0119"/>
          <p:cNvSpPr txBox="1"/>
          <p:nvPr/>
        </p:nvSpPr>
        <p:spPr>
          <a:xfrm rot="16200000">
            <a:off x="-1294324" y="2408959"/>
            <a:ext cx="305629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Retained seed energy / slit work</a:t>
            </a:r>
          </a:p>
        </p:txBody>
      </p:sp>
      <p:sp>
        <p:nvSpPr>
          <p:cNvPr id="121" name="polygon 120: plot geometry" descr="sci-ppt:obj-0120"/>
          <p:cNvSpPr/>
          <p:nvPr/>
        </p:nvSpPr>
        <p:spPr>
          <a:xfrm>
            <a:off x="1056230" y="1019863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4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7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6" y="632751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5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9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8" y="782613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7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1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20" y="932475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9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3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2" y="1082337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3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5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7" y="1948206"/>
                </a:lnTo>
                <a:lnTo>
                  <a:pt x="4746380" y="1964858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1F77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polygon 121: plot geometry" descr="sci-ppt:obj-0121"/>
          <p:cNvSpPr/>
          <p:nvPr/>
        </p:nvSpPr>
        <p:spPr>
          <a:xfrm>
            <a:off x="1056230" y="1481535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4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6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6" y="632750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4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8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8" y="782612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6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0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20" y="932474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8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2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2" y="1082336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0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4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8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2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3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5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7" y="1948206"/>
                </a:lnTo>
                <a:lnTo>
                  <a:pt x="4746380" y="1964857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FF7F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polygon 122: plot geometry" descr="sci-ppt:obj-0122"/>
          <p:cNvSpPr/>
          <p:nvPr/>
        </p:nvSpPr>
        <p:spPr>
          <a:xfrm>
            <a:off x="1056230" y="1879197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3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7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1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5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9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3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7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1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5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4" y="482889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3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7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6" y="632751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5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9"/>
                </a:lnTo>
                <a:lnTo>
                  <a:pt x="1810060" y="749310"/>
                </a:lnTo>
                <a:lnTo>
                  <a:pt x="1850284" y="765962"/>
                </a:lnTo>
                <a:lnTo>
                  <a:pt x="1890508" y="782613"/>
                </a:lnTo>
                <a:lnTo>
                  <a:pt x="1930731" y="799264"/>
                </a:lnTo>
                <a:lnTo>
                  <a:pt x="1970955" y="815916"/>
                </a:lnTo>
                <a:lnTo>
                  <a:pt x="2011178" y="832567"/>
                </a:lnTo>
                <a:lnTo>
                  <a:pt x="2051402" y="849218"/>
                </a:lnTo>
                <a:lnTo>
                  <a:pt x="2091625" y="865870"/>
                </a:lnTo>
                <a:lnTo>
                  <a:pt x="2131849" y="882521"/>
                </a:lnTo>
                <a:lnTo>
                  <a:pt x="2172072" y="899172"/>
                </a:lnTo>
                <a:lnTo>
                  <a:pt x="2212296" y="915824"/>
                </a:lnTo>
                <a:lnTo>
                  <a:pt x="2252520" y="932475"/>
                </a:lnTo>
                <a:lnTo>
                  <a:pt x="2292743" y="949126"/>
                </a:lnTo>
                <a:lnTo>
                  <a:pt x="2332967" y="965778"/>
                </a:lnTo>
                <a:lnTo>
                  <a:pt x="2373190" y="982429"/>
                </a:lnTo>
                <a:lnTo>
                  <a:pt x="2413414" y="999080"/>
                </a:lnTo>
                <a:lnTo>
                  <a:pt x="2453637" y="1015732"/>
                </a:lnTo>
                <a:lnTo>
                  <a:pt x="2493861" y="1032383"/>
                </a:lnTo>
                <a:lnTo>
                  <a:pt x="2534084" y="1049034"/>
                </a:lnTo>
                <a:lnTo>
                  <a:pt x="2574308" y="1065686"/>
                </a:lnTo>
                <a:lnTo>
                  <a:pt x="2614532" y="1082337"/>
                </a:lnTo>
                <a:lnTo>
                  <a:pt x="2654755" y="1098988"/>
                </a:lnTo>
                <a:lnTo>
                  <a:pt x="2694979" y="1115640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4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8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2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6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10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4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8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2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6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80"/>
                </a:lnTo>
                <a:lnTo>
                  <a:pt x="3941909" y="1631831"/>
                </a:lnTo>
                <a:lnTo>
                  <a:pt x="3982133" y="1648482"/>
                </a:lnTo>
                <a:lnTo>
                  <a:pt x="4022356" y="1665134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8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2"/>
                </a:lnTo>
                <a:lnTo>
                  <a:pt x="4303921" y="1781693"/>
                </a:lnTo>
                <a:lnTo>
                  <a:pt x="4344145" y="1798344"/>
                </a:lnTo>
                <a:lnTo>
                  <a:pt x="4384368" y="1814996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50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4"/>
                </a:lnTo>
                <a:lnTo>
                  <a:pt x="4665933" y="1931555"/>
                </a:lnTo>
                <a:lnTo>
                  <a:pt x="4706157" y="1948206"/>
                </a:lnTo>
                <a:lnTo>
                  <a:pt x="4746380" y="1964858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2CA0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polygon 123: plot geometry" descr="sci-ppt:obj-0123"/>
          <p:cNvSpPr/>
          <p:nvPr/>
        </p:nvSpPr>
        <p:spPr>
          <a:xfrm>
            <a:off x="1056230" y="2142038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4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6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6" y="632750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4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8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8" y="782612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6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0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20" y="932474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8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2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2" y="1082336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3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5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7" y="1948206"/>
                </a:lnTo>
                <a:lnTo>
                  <a:pt x="4746380" y="1964857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D627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5" name="line 124: plot geometry" descr="sci-ppt:obj-0124"/>
          <p:cNvCxnSpPr/>
          <p:nvPr/>
        </p:nvCxnSpPr>
        <p:spPr>
          <a:xfrm>
            <a:off x="816900" y="2427001"/>
            <a:ext cx="5265264" cy="0"/>
          </a:xfrm>
          <a:prstGeom prst="line">
            <a:avLst/>
          </a:prstGeom>
          <a:ln w="12640">
            <a:solidFill>
              <a:srgbClr val="333333"/>
            </a:solidFill>
          </a:ln>
          <a:effectLst/>
        </p:spPr>
      </p:cxnSp>
      <p:cxnSp>
        <p:nvCxnSpPr>
          <p:cNvPr id="126" name="line 125: plot geometry" descr="sci-ppt:obj-0125"/>
          <p:cNvCxnSpPr/>
          <p:nvPr/>
        </p:nvCxnSpPr>
        <p:spPr>
          <a:xfrm flipV="1">
            <a:off x="816900" y="864678"/>
            <a:ext cx="0" cy="3414053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127" name="line 126: plot geometry" descr="sci-ppt:obj-0126"/>
          <p:cNvCxnSpPr/>
          <p:nvPr/>
        </p:nvCxnSpPr>
        <p:spPr>
          <a:xfrm>
            <a:off x="816900" y="4278731"/>
            <a:ext cx="5265264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8" name="text 127: Diameter 0.6 µm; half-width 0.5 µm" descr="sci-ppt:obj-0127"/>
          <p:cNvSpPr txBox="1"/>
          <p:nvPr/>
        </p:nvSpPr>
        <p:spPr>
          <a:xfrm>
            <a:off x="1511202" y="574580"/>
            <a:ext cx="3876659" cy="2559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2" b="0" i="0">
                <a:solidFill>
                  <a:srgbClr val="000000"/>
                </a:solidFill>
                <a:latin typeface="Arial"/>
              </a:rPr>
              <a:t>Diameter 0.6 µm; half-width 0.5 µm</a:t>
            </a:r>
          </a:p>
        </p:txBody>
      </p:sp>
      <p:sp>
        <p:nvSpPr>
          <p:cNvPr id="129" name="polygon 128: plot geometry" descr="sci-ppt:obj-0128"/>
          <p:cNvSpPr/>
          <p:nvPr/>
        </p:nvSpPr>
        <p:spPr>
          <a:xfrm>
            <a:off x="4582346" y="935781"/>
            <a:ext cx="1428715" cy="895935"/>
          </a:xfrm>
          <a:custGeom>
            <a:avLst/>
            <a:gdLst/>
            <a:ahLst/>
            <a:cxnLst/>
            <a:rect l="l" t="t" r="r" b="b"/>
            <a:pathLst>
              <a:path w="1428715" h="895935">
                <a:moveTo>
                  <a:pt x="28441" y="895935"/>
                </a:moveTo>
                <a:lnTo>
                  <a:pt x="1400274" y="895935"/>
                </a:lnTo>
                <a:lnTo>
                  <a:pt x="1404817" y="895738"/>
                </a:lnTo>
                <a:lnTo>
                  <a:pt x="1408965" y="895145"/>
                </a:lnTo>
                <a:lnTo>
                  <a:pt x="1412717" y="894158"/>
                </a:lnTo>
                <a:lnTo>
                  <a:pt x="1416075" y="892775"/>
                </a:lnTo>
                <a:lnTo>
                  <a:pt x="1419038" y="890998"/>
                </a:lnTo>
                <a:lnTo>
                  <a:pt x="1421605" y="888825"/>
                </a:lnTo>
                <a:lnTo>
                  <a:pt x="1423778" y="886258"/>
                </a:lnTo>
                <a:lnTo>
                  <a:pt x="1425555" y="883295"/>
                </a:lnTo>
                <a:lnTo>
                  <a:pt x="1426938" y="879937"/>
                </a:lnTo>
                <a:lnTo>
                  <a:pt x="1427925" y="876185"/>
                </a:lnTo>
                <a:lnTo>
                  <a:pt x="1428518" y="872037"/>
                </a:lnTo>
                <a:lnTo>
                  <a:pt x="1428715" y="867494"/>
                </a:lnTo>
                <a:lnTo>
                  <a:pt x="1428715" y="28441"/>
                </a:lnTo>
                <a:lnTo>
                  <a:pt x="1428518" y="23898"/>
                </a:lnTo>
                <a:lnTo>
                  <a:pt x="1427925" y="19751"/>
                </a:lnTo>
                <a:lnTo>
                  <a:pt x="1426938" y="15998"/>
                </a:lnTo>
                <a:lnTo>
                  <a:pt x="1425555" y="12640"/>
                </a:lnTo>
                <a:lnTo>
                  <a:pt x="1423778" y="9678"/>
                </a:lnTo>
                <a:lnTo>
                  <a:pt x="1421605" y="7110"/>
                </a:lnTo>
                <a:lnTo>
                  <a:pt x="1419038" y="4938"/>
                </a:lnTo>
                <a:lnTo>
                  <a:pt x="1416075" y="3160"/>
                </a:lnTo>
                <a:lnTo>
                  <a:pt x="1412717" y="1778"/>
                </a:lnTo>
                <a:lnTo>
                  <a:pt x="1408965" y="790"/>
                </a:lnTo>
                <a:lnTo>
                  <a:pt x="1404817" y="197"/>
                </a:lnTo>
                <a:lnTo>
                  <a:pt x="1400274" y="0"/>
                </a:lnTo>
                <a:lnTo>
                  <a:pt x="28441" y="0"/>
                </a:lnTo>
                <a:lnTo>
                  <a:pt x="23899" y="197"/>
                </a:lnTo>
                <a:lnTo>
                  <a:pt x="19751" y="790"/>
                </a:lnTo>
                <a:lnTo>
                  <a:pt x="15998" y="1778"/>
                </a:lnTo>
                <a:lnTo>
                  <a:pt x="12641" y="3160"/>
                </a:lnTo>
                <a:lnTo>
                  <a:pt x="9678" y="4938"/>
                </a:lnTo>
                <a:lnTo>
                  <a:pt x="7110" y="7110"/>
                </a:lnTo>
                <a:lnTo>
                  <a:pt x="4938" y="9678"/>
                </a:lnTo>
                <a:lnTo>
                  <a:pt x="3160" y="12640"/>
                </a:lnTo>
                <a:lnTo>
                  <a:pt x="1778" y="15998"/>
                </a:lnTo>
                <a:lnTo>
                  <a:pt x="790" y="19751"/>
                </a:lnTo>
                <a:lnTo>
                  <a:pt x="198" y="23898"/>
                </a:lnTo>
                <a:lnTo>
                  <a:pt x="0" y="28441"/>
                </a:lnTo>
                <a:lnTo>
                  <a:pt x="0" y="867494"/>
                </a:lnTo>
                <a:lnTo>
                  <a:pt x="198" y="872037"/>
                </a:lnTo>
                <a:lnTo>
                  <a:pt x="790" y="876185"/>
                </a:lnTo>
                <a:lnTo>
                  <a:pt x="1778" y="879937"/>
                </a:lnTo>
                <a:lnTo>
                  <a:pt x="3160" y="883295"/>
                </a:lnTo>
                <a:lnTo>
                  <a:pt x="4938" y="886258"/>
                </a:lnTo>
                <a:lnTo>
                  <a:pt x="7110" y="888825"/>
                </a:lnTo>
                <a:lnTo>
                  <a:pt x="9678" y="890998"/>
                </a:lnTo>
                <a:lnTo>
                  <a:pt x="12641" y="892775"/>
                </a:lnTo>
                <a:lnTo>
                  <a:pt x="15998" y="894158"/>
                </a:lnTo>
                <a:lnTo>
                  <a:pt x="19751" y="895145"/>
                </a:lnTo>
                <a:lnTo>
                  <a:pt x="23899" y="895738"/>
                </a:lnTo>
                <a:lnTo>
                  <a:pt x="28441" y="895935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polygon 129: plot geometry" descr="sci-ppt:obj-0129"/>
          <p:cNvSpPr/>
          <p:nvPr/>
        </p:nvSpPr>
        <p:spPr>
          <a:xfrm>
            <a:off x="4639228" y="1050945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1F77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 130: Cover 1 µm" descr="sci-ppt:obj-0130"/>
          <p:cNvSpPr txBox="1"/>
          <p:nvPr/>
        </p:nvSpPr>
        <p:spPr>
          <a:xfrm>
            <a:off x="5009970" y="954245"/>
            <a:ext cx="912161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1 µm</a:t>
            </a:r>
          </a:p>
        </p:txBody>
      </p:sp>
      <p:sp>
        <p:nvSpPr>
          <p:cNvPr id="132" name="polygon 131: plot geometry" descr="sci-ppt:obj-0131"/>
          <p:cNvSpPr/>
          <p:nvPr/>
        </p:nvSpPr>
        <p:spPr>
          <a:xfrm>
            <a:off x="4639228" y="1264263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FF7F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 132: Cover 5 µm" descr="sci-ppt:obj-0132"/>
          <p:cNvSpPr txBox="1"/>
          <p:nvPr/>
        </p:nvSpPr>
        <p:spPr>
          <a:xfrm>
            <a:off x="5009970" y="1167564"/>
            <a:ext cx="912161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5 µm</a:t>
            </a:r>
          </a:p>
        </p:txBody>
      </p:sp>
      <p:sp>
        <p:nvSpPr>
          <p:cNvPr id="134" name="polygon 133: plot geometry" descr="sci-ppt:obj-0133"/>
          <p:cNvSpPr/>
          <p:nvPr/>
        </p:nvSpPr>
        <p:spPr>
          <a:xfrm>
            <a:off x="4639228" y="1477582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2CA0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 134: Cover 20 µm" descr="sci-ppt:obj-0134"/>
          <p:cNvSpPr txBox="1"/>
          <p:nvPr/>
        </p:nvSpPr>
        <p:spPr>
          <a:xfrm>
            <a:off x="5009970" y="1380882"/>
            <a:ext cx="996062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20 µm</a:t>
            </a:r>
          </a:p>
        </p:txBody>
      </p:sp>
      <p:sp>
        <p:nvSpPr>
          <p:cNvPr id="136" name="polygon 135: plot geometry" descr="sci-ppt:obj-0135"/>
          <p:cNvSpPr/>
          <p:nvPr/>
        </p:nvSpPr>
        <p:spPr>
          <a:xfrm>
            <a:off x="4639228" y="1690900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D627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 136: Cover 50 µm" descr="sci-ppt:obj-0136"/>
          <p:cNvSpPr txBox="1"/>
          <p:nvPr/>
        </p:nvSpPr>
        <p:spPr>
          <a:xfrm>
            <a:off x="5009970" y="1594201"/>
            <a:ext cx="996062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50 µm</a:t>
            </a:r>
          </a:p>
        </p:txBody>
      </p:sp>
      <p:sp>
        <p:nvSpPr>
          <p:cNvPr id="138" name="polygon 137: plot geometry" descr="sci-ppt:obj-0137"/>
          <p:cNvSpPr/>
          <p:nvPr/>
        </p:nvSpPr>
        <p:spPr>
          <a:xfrm>
            <a:off x="6812667" y="864678"/>
            <a:ext cx="5265264" cy="3414053"/>
          </a:xfrm>
          <a:custGeom>
            <a:avLst/>
            <a:gdLst/>
            <a:ahLst/>
            <a:cxnLst/>
            <a:rect l="l" t="t" r="r" b="b"/>
            <a:pathLst>
              <a:path w="5265264" h="3414053">
                <a:moveTo>
                  <a:pt x="0" y="3414053"/>
                </a:moveTo>
                <a:lnTo>
                  <a:pt x="5265264" y="3414053"/>
                </a:lnTo>
                <a:lnTo>
                  <a:pt x="5265264" y="0"/>
                </a:lnTo>
                <a:lnTo>
                  <a:pt x="0" y="0"/>
                </a:lnTo>
                <a:lnTo>
                  <a:pt x="0" y="34140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9" name="line 138: plot geometry" descr="sci-ppt:obj-0138"/>
          <p:cNvCxnSpPr/>
          <p:nvPr/>
        </p:nvCxnSpPr>
        <p:spPr>
          <a:xfrm flipV="1">
            <a:off x="7051997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0" name="line 139: plot geometry" descr="sci-ppt:obj-0139"/>
          <p:cNvCxnSpPr/>
          <p:nvPr/>
        </p:nvCxnSpPr>
        <p:spPr>
          <a:xfrm>
            <a:off x="7051997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41" name="text 140: 1" descr="sci-ppt:obj-0140"/>
          <p:cNvSpPr txBox="1"/>
          <p:nvPr/>
        </p:nvSpPr>
        <p:spPr>
          <a:xfrm>
            <a:off x="6838909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42" name="text 141: 0" descr="sci-ppt:obj-0141"/>
          <p:cNvSpPr txBox="1"/>
          <p:nvPr/>
        </p:nvSpPr>
        <p:spPr>
          <a:xfrm>
            <a:off x="6939437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43" name="text 142: −" descr="sci-ppt:obj-0142"/>
          <p:cNvSpPr txBox="1"/>
          <p:nvPr/>
        </p:nvSpPr>
        <p:spPr>
          <a:xfrm>
            <a:off x="7041477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−</a:t>
            </a:r>
          </a:p>
        </p:txBody>
      </p:sp>
      <p:sp>
        <p:nvSpPr>
          <p:cNvPr id="144" name="text 143: 1" descr="sci-ppt:obj-0143"/>
          <p:cNvSpPr txBox="1"/>
          <p:nvPr/>
        </p:nvSpPr>
        <p:spPr>
          <a:xfrm>
            <a:off x="7134151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45" name="line 144: plot geometry" descr="sci-ppt:obj-0144"/>
          <p:cNvCxnSpPr/>
          <p:nvPr/>
        </p:nvCxnSpPr>
        <p:spPr>
          <a:xfrm flipV="1">
            <a:off x="8647532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6" name="line 145: plot geometry" descr="sci-ppt:obj-0145"/>
          <p:cNvCxnSpPr/>
          <p:nvPr/>
        </p:nvCxnSpPr>
        <p:spPr>
          <a:xfrm>
            <a:off x="8647532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47" name="text 146: 1" descr="sci-ppt:obj-0146"/>
          <p:cNvSpPr txBox="1"/>
          <p:nvPr/>
        </p:nvSpPr>
        <p:spPr>
          <a:xfrm>
            <a:off x="8481055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48" name="text 147: 0" descr="sci-ppt:obj-0147"/>
          <p:cNvSpPr txBox="1"/>
          <p:nvPr/>
        </p:nvSpPr>
        <p:spPr>
          <a:xfrm>
            <a:off x="8581583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49" name="text 148: 0" descr="sci-ppt:obj-0148"/>
          <p:cNvSpPr txBox="1"/>
          <p:nvPr/>
        </p:nvSpPr>
        <p:spPr>
          <a:xfrm>
            <a:off x="8683623" y="434802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50" name="line 149: plot geometry" descr="sci-ppt:obj-0149"/>
          <p:cNvCxnSpPr/>
          <p:nvPr/>
        </p:nvCxnSpPr>
        <p:spPr>
          <a:xfrm flipV="1">
            <a:off x="10243066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51" name="line 150: plot geometry" descr="sci-ppt:obj-0150"/>
          <p:cNvCxnSpPr/>
          <p:nvPr/>
        </p:nvCxnSpPr>
        <p:spPr>
          <a:xfrm>
            <a:off x="10243066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52" name="text 151: 1" descr="sci-ppt:obj-0151"/>
          <p:cNvSpPr txBox="1"/>
          <p:nvPr/>
        </p:nvSpPr>
        <p:spPr>
          <a:xfrm>
            <a:off x="10076589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53" name="text 152: 0" descr="sci-ppt:obj-0152"/>
          <p:cNvSpPr txBox="1"/>
          <p:nvPr/>
        </p:nvSpPr>
        <p:spPr>
          <a:xfrm>
            <a:off x="10177117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54" name="text 153: 1" descr="sci-ppt:obj-0153"/>
          <p:cNvSpPr txBox="1"/>
          <p:nvPr/>
        </p:nvSpPr>
        <p:spPr>
          <a:xfrm>
            <a:off x="10279157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55" name="line 154: plot geometry" descr="sci-ppt:obj-0154"/>
          <p:cNvCxnSpPr/>
          <p:nvPr/>
        </p:nvCxnSpPr>
        <p:spPr>
          <a:xfrm flipV="1">
            <a:off x="11838601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56" name="line 155: plot geometry" descr="sci-ppt:obj-0155"/>
          <p:cNvCxnSpPr/>
          <p:nvPr/>
        </p:nvCxnSpPr>
        <p:spPr>
          <a:xfrm>
            <a:off x="11838601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57" name="text 156: 1" descr="sci-ppt:obj-0156"/>
          <p:cNvSpPr txBox="1"/>
          <p:nvPr/>
        </p:nvSpPr>
        <p:spPr>
          <a:xfrm>
            <a:off x="11672124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58" name="text 157: 0" descr="sci-ppt:obj-0157"/>
          <p:cNvSpPr txBox="1"/>
          <p:nvPr/>
        </p:nvSpPr>
        <p:spPr>
          <a:xfrm>
            <a:off x="11772652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59" name="text 158: 2" descr="sci-ppt:obj-0158"/>
          <p:cNvSpPr txBox="1"/>
          <p:nvPr/>
        </p:nvSpPr>
        <p:spPr>
          <a:xfrm>
            <a:off x="11874692" y="434802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60" name="line 159: plot geometry" descr="sci-ppt:obj-0159"/>
          <p:cNvCxnSpPr/>
          <p:nvPr/>
        </p:nvCxnSpPr>
        <p:spPr>
          <a:xfrm>
            <a:off x="689737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1" name="line 160: plot geometry" descr="sci-ppt:obj-0160"/>
          <p:cNvCxnSpPr/>
          <p:nvPr/>
        </p:nvCxnSpPr>
        <p:spPr>
          <a:xfrm>
            <a:off x="697899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2" name="line 161: plot geometry" descr="sci-ppt:obj-0161"/>
          <p:cNvCxnSpPr/>
          <p:nvPr/>
        </p:nvCxnSpPr>
        <p:spPr>
          <a:xfrm>
            <a:off x="7532301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3" name="line 162: plot geometry" descr="sci-ppt:obj-0162"/>
          <p:cNvCxnSpPr/>
          <p:nvPr/>
        </p:nvCxnSpPr>
        <p:spPr>
          <a:xfrm>
            <a:off x="7813261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4" name="line 163: plot geometry" descr="sci-ppt:obj-0163"/>
          <p:cNvCxnSpPr/>
          <p:nvPr/>
        </p:nvCxnSpPr>
        <p:spPr>
          <a:xfrm>
            <a:off x="8012605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5" name="line 164: plot geometry" descr="sci-ppt:obj-0164"/>
          <p:cNvCxnSpPr/>
          <p:nvPr/>
        </p:nvCxnSpPr>
        <p:spPr>
          <a:xfrm>
            <a:off x="8167228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6" name="line 165: plot geometry" descr="sci-ppt:obj-0165"/>
          <p:cNvCxnSpPr/>
          <p:nvPr/>
        </p:nvCxnSpPr>
        <p:spPr>
          <a:xfrm>
            <a:off x="829356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7" name="line 166: plot geometry" descr="sci-ppt:obj-0166"/>
          <p:cNvCxnSpPr/>
          <p:nvPr/>
        </p:nvCxnSpPr>
        <p:spPr>
          <a:xfrm>
            <a:off x="840038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8" name="line 167: plot geometry" descr="sci-ppt:obj-0167"/>
          <p:cNvCxnSpPr/>
          <p:nvPr/>
        </p:nvCxnSpPr>
        <p:spPr>
          <a:xfrm>
            <a:off x="8492908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9" name="line 168: plot geometry" descr="sci-ppt:obj-0168"/>
          <p:cNvCxnSpPr/>
          <p:nvPr/>
        </p:nvCxnSpPr>
        <p:spPr>
          <a:xfrm>
            <a:off x="857452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0" name="line 169: plot geometry" descr="sci-ppt:obj-0169"/>
          <p:cNvCxnSpPr/>
          <p:nvPr/>
        </p:nvCxnSpPr>
        <p:spPr>
          <a:xfrm>
            <a:off x="9127835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1" name="line 170: plot geometry" descr="sci-ppt:obj-0170"/>
          <p:cNvCxnSpPr/>
          <p:nvPr/>
        </p:nvCxnSpPr>
        <p:spPr>
          <a:xfrm>
            <a:off x="9408795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2" name="line 171: plot geometry" descr="sci-ppt:obj-0171"/>
          <p:cNvCxnSpPr/>
          <p:nvPr/>
        </p:nvCxnSpPr>
        <p:spPr>
          <a:xfrm>
            <a:off x="9608139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3" name="line 172: plot geometry" descr="sci-ppt:obj-0172"/>
          <p:cNvCxnSpPr/>
          <p:nvPr/>
        </p:nvCxnSpPr>
        <p:spPr>
          <a:xfrm>
            <a:off x="976276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4" name="line 173: plot geometry" descr="sci-ppt:obj-0173"/>
          <p:cNvCxnSpPr/>
          <p:nvPr/>
        </p:nvCxnSpPr>
        <p:spPr>
          <a:xfrm>
            <a:off x="9889099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5" name="line 174: plot geometry" descr="sci-ppt:obj-0174"/>
          <p:cNvCxnSpPr/>
          <p:nvPr/>
        </p:nvCxnSpPr>
        <p:spPr>
          <a:xfrm>
            <a:off x="9995915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6" name="line 175: plot geometry" descr="sci-ppt:obj-0175"/>
          <p:cNvCxnSpPr/>
          <p:nvPr/>
        </p:nvCxnSpPr>
        <p:spPr>
          <a:xfrm>
            <a:off x="1008844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7" name="line 176: plot geometry" descr="sci-ppt:obj-0176"/>
          <p:cNvCxnSpPr/>
          <p:nvPr/>
        </p:nvCxnSpPr>
        <p:spPr>
          <a:xfrm>
            <a:off x="10170059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8" name="line 177: plot geometry" descr="sci-ppt:obj-0177"/>
          <p:cNvCxnSpPr/>
          <p:nvPr/>
        </p:nvCxnSpPr>
        <p:spPr>
          <a:xfrm>
            <a:off x="1072337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9" name="line 178: plot geometry" descr="sci-ppt:obj-0178"/>
          <p:cNvCxnSpPr/>
          <p:nvPr/>
        </p:nvCxnSpPr>
        <p:spPr>
          <a:xfrm>
            <a:off x="1100433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0" name="line 179: plot geometry" descr="sci-ppt:obj-0179"/>
          <p:cNvCxnSpPr/>
          <p:nvPr/>
        </p:nvCxnSpPr>
        <p:spPr>
          <a:xfrm>
            <a:off x="1120367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1" name="line 180: plot geometry" descr="sci-ppt:obj-0180"/>
          <p:cNvCxnSpPr/>
          <p:nvPr/>
        </p:nvCxnSpPr>
        <p:spPr>
          <a:xfrm>
            <a:off x="1135829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2" name="line 181: plot geometry" descr="sci-ppt:obj-0181"/>
          <p:cNvCxnSpPr/>
          <p:nvPr/>
        </p:nvCxnSpPr>
        <p:spPr>
          <a:xfrm>
            <a:off x="1148463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3" name="line 182: plot geometry" descr="sci-ppt:obj-0182"/>
          <p:cNvCxnSpPr/>
          <p:nvPr/>
        </p:nvCxnSpPr>
        <p:spPr>
          <a:xfrm>
            <a:off x="11591449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4" name="line 183: plot geometry" descr="sci-ppt:obj-0183"/>
          <p:cNvCxnSpPr/>
          <p:nvPr/>
        </p:nvCxnSpPr>
        <p:spPr>
          <a:xfrm>
            <a:off x="1168397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5" name="line 184: plot geometry" descr="sci-ppt:obj-0184"/>
          <p:cNvCxnSpPr/>
          <p:nvPr/>
        </p:nvCxnSpPr>
        <p:spPr>
          <a:xfrm>
            <a:off x="1176559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186" name="text 185: Stipulated fracture energy (J/m²)" descr="sci-ppt:obj-0185"/>
          <p:cNvSpPr txBox="1"/>
          <p:nvPr/>
        </p:nvSpPr>
        <p:spPr>
          <a:xfrm>
            <a:off x="7870540" y="4596334"/>
            <a:ext cx="3149518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Stipulated fracture energy (J/m²)</a:t>
            </a:r>
          </a:p>
        </p:txBody>
      </p:sp>
      <p:cxnSp>
        <p:nvCxnSpPr>
          <p:cNvPr id="187" name="line 186: plot geometry" descr="sci-ppt:obj-0186"/>
          <p:cNvCxnSpPr/>
          <p:nvPr/>
        </p:nvCxnSpPr>
        <p:spPr>
          <a:xfrm>
            <a:off x="6812667" y="4168940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88" name="line 187: plot geometry" descr="sci-ppt:obj-0187"/>
          <p:cNvCxnSpPr/>
          <p:nvPr/>
        </p:nvCxnSpPr>
        <p:spPr>
          <a:xfrm flipH="1">
            <a:off x="6757365" y="416894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9" name="text 188: 1" descr="sci-ppt:obj-0188"/>
          <p:cNvSpPr txBox="1"/>
          <p:nvPr/>
        </p:nvSpPr>
        <p:spPr>
          <a:xfrm>
            <a:off x="6396542" y="4069797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90" name="text 189: 0" descr="sci-ppt:obj-0189"/>
          <p:cNvSpPr txBox="1"/>
          <p:nvPr/>
        </p:nvSpPr>
        <p:spPr>
          <a:xfrm>
            <a:off x="6497070" y="4069797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91" name="text 190: 0" descr="sci-ppt:obj-0190"/>
          <p:cNvSpPr txBox="1"/>
          <p:nvPr/>
        </p:nvSpPr>
        <p:spPr>
          <a:xfrm>
            <a:off x="6599110" y="4053364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92" name="line 191: plot geometry" descr="sci-ppt:obj-0191"/>
          <p:cNvCxnSpPr/>
          <p:nvPr/>
        </p:nvCxnSpPr>
        <p:spPr>
          <a:xfrm>
            <a:off x="6812667" y="3508437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93" name="line 192: plot geometry" descr="sci-ppt:obj-0192"/>
          <p:cNvCxnSpPr/>
          <p:nvPr/>
        </p:nvCxnSpPr>
        <p:spPr>
          <a:xfrm flipH="1">
            <a:off x="6757365" y="3508437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94" name="text 193: 1" descr="sci-ppt:obj-0193"/>
          <p:cNvSpPr txBox="1"/>
          <p:nvPr/>
        </p:nvSpPr>
        <p:spPr>
          <a:xfrm>
            <a:off x="6396542" y="340712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95" name="text 194: 0" descr="sci-ppt:obj-0194"/>
          <p:cNvSpPr txBox="1"/>
          <p:nvPr/>
        </p:nvSpPr>
        <p:spPr>
          <a:xfrm>
            <a:off x="6497070" y="340712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96" name="text 195: 1" descr="sci-ppt:obj-0195"/>
          <p:cNvSpPr txBox="1"/>
          <p:nvPr/>
        </p:nvSpPr>
        <p:spPr>
          <a:xfrm>
            <a:off x="6599110" y="339068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97" name="line 196: plot geometry" descr="sci-ppt:obj-0196"/>
          <p:cNvCxnSpPr/>
          <p:nvPr/>
        </p:nvCxnSpPr>
        <p:spPr>
          <a:xfrm>
            <a:off x="6812667" y="2847934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98" name="line 197: plot geometry" descr="sci-ppt:obj-0197"/>
          <p:cNvCxnSpPr/>
          <p:nvPr/>
        </p:nvCxnSpPr>
        <p:spPr>
          <a:xfrm flipH="1">
            <a:off x="6757365" y="2847934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99" name="text 198: 1" descr="sci-ppt:obj-0198"/>
          <p:cNvSpPr txBox="1"/>
          <p:nvPr/>
        </p:nvSpPr>
        <p:spPr>
          <a:xfrm>
            <a:off x="6396542" y="27487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00" name="text 199: 0" descr="sci-ppt:obj-0199"/>
          <p:cNvSpPr txBox="1"/>
          <p:nvPr/>
        </p:nvSpPr>
        <p:spPr>
          <a:xfrm>
            <a:off x="6497070" y="27487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01" name="text 200: 2" descr="sci-ppt:obj-0200"/>
          <p:cNvSpPr txBox="1"/>
          <p:nvPr/>
        </p:nvSpPr>
        <p:spPr>
          <a:xfrm>
            <a:off x="6599110" y="2732358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202" name="line 201: plot geometry" descr="sci-ppt:obj-0201"/>
          <p:cNvCxnSpPr/>
          <p:nvPr/>
        </p:nvCxnSpPr>
        <p:spPr>
          <a:xfrm>
            <a:off x="6812667" y="2187431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03" name="line 202: plot geometry" descr="sci-ppt:obj-0202"/>
          <p:cNvCxnSpPr/>
          <p:nvPr/>
        </p:nvCxnSpPr>
        <p:spPr>
          <a:xfrm flipH="1">
            <a:off x="6757365" y="2187431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04" name="text 203: 1" descr="sci-ppt:obj-0203"/>
          <p:cNvSpPr txBox="1"/>
          <p:nvPr/>
        </p:nvSpPr>
        <p:spPr>
          <a:xfrm>
            <a:off x="6396542" y="208828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05" name="text 204: 0" descr="sci-ppt:obj-0204"/>
          <p:cNvSpPr txBox="1"/>
          <p:nvPr/>
        </p:nvSpPr>
        <p:spPr>
          <a:xfrm>
            <a:off x="6497070" y="208828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06" name="text 205: 3" descr="sci-ppt:obj-0205"/>
          <p:cNvSpPr txBox="1"/>
          <p:nvPr/>
        </p:nvSpPr>
        <p:spPr>
          <a:xfrm>
            <a:off x="6599110" y="2071855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207" name="line 206: plot geometry" descr="sci-ppt:obj-0206"/>
          <p:cNvCxnSpPr/>
          <p:nvPr/>
        </p:nvCxnSpPr>
        <p:spPr>
          <a:xfrm>
            <a:off x="6812667" y="1526928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08" name="line 207: plot geometry" descr="sci-ppt:obj-0207"/>
          <p:cNvCxnSpPr/>
          <p:nvPr/>
        </p:nvCxnSpPr>
        <p:spPr>
          <a:xfrm flipH="1">
            <a:off x="6757365" y="1526928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09" name="text 208: 1" descr="sci-ppt:obj-0208"/>
          <p:cNvSpPr txBox="1"/>
          <p:nvPr/>
        </p:nvSpPr>
        <p:spPr>
          <a:xfrm>
            <a:off x="6396542" y="142561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10" name="text 209: 0" descr="sci-ppt:obj-0209"/>
          <p:cNvSpPr txBox="1"/>
          <p:nvPr/>
        </p:nvSpPr>
        <p:spPr>
          <a:xfrm>
            <a:off x="6497070" y="142561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11" name="text 210: 4" descr="sci-ppt:obj-0210"/>
          <p:cNvSpPr txBox="1"/>
          <p:nvPr/>
        </p:nvSpPr>
        <p:spPr>
          <a:xfrm>
            <a:off x="6599110" y="1409180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212" name="line 211: plot geometry" descr="sci-ppt:obj-0211"/>
          <p:cNvCxnSpPr/>
          <p:nvPr/>
        </p:nvCxnSpPr>
        <p:spPr>
          <a:xfrm>
            <a:off x="6812667" y="866425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13" name="line 212: plot geometry" descr="sci-ppt:obj-0212"/>
          <p:cNvCxnSpPr/>
          <p:nvPr/>
        </p:nvCxnSpPr>
        <p:spPr>
          <a:xfrm flipH="1">
            <a:off x="6757365" y="86642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14" name="text 213: 1" descr="sci-ppt:obj-0213"/>
          <p:cNvSpPr txBox="1"/>
          <p:nvPr/>
        </p:nvSpPr>
        <p:spPr>
          <a:xfrm>
            <a:off x="6396542" y="76510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15" name="text 214: 0" descr="sci-ppt:obj-0214"/>
          <p:cNvSpPr txBox="1"/>
          <p:nvPr/>
        </p:nvSpPr>
        <p:spPr>
          <a:xfrm>
            <a:off x="6497070" y="76510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16" name="text 215: 5" descr="sci-ppt:obj-0215"/>
          <p:cNvSpPr txBox="1"/>
          <p:nvPr/>
        </p:nvSpPr>
        <p:spPr>
          <a:xfrm>
            <a:off x="6599110" y="748677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217" name="line 216: plot geometry" descr="sci-ppt:obj-0216"/>
          <p:cNvCxnSpPr/>
          <p:nvPr/>
        </p:nvCxnSpPr>
        <p:spPr>
          <a:xfrm flipH="1">
            <a:off x="6781066" y="427125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18" name="line 217: plot geometry" descr="sci-ppt:obj-0217"/>
          <p:cNvCxnSpPr/>
          <p:nvPr/>
        </p:nvCxnSpPr>
        <p:spPr>
          <a:xfrm flipH="1">
            <a:off x="6781066" y="423295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19" name="line 218: plot geometry" descr="sci-ppt:obj-0218"/>
          <p:cNvCxnSpPr/>
          <p:nvPr/>
        </p:nvCxnSpPr>
        <p:spPr>
          <a:xfrm flipH="1">
            <a:off x="6781066" y="419916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0" name="line 219: plot geometry" descr="sci-ppt:obj-0219"/>
          <p:cNvCxnSpPr/>
          <p:nvPr/>
        </p:nvCxnSpPr>
        <p:spPr>
          <a:xfrm flipH="1">
            <a:off x="6781066" y="397010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1" name="line 220: plot geometry" descr="sci-ppt:obj-0220"/>
          <p:cNvCxnSpPr/>
          <p:nvPr/>
        </p:nvCxnSpPr>
        <p:spPr>
          <a:xfrm flipH="1">
            <a:off x="6781066" y="385380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2" name="line 221: plot geometry" descr="sci-ppt:obj-0221"/>
          <p:cNvCxnSpPr/>
          <p:nvPr/>
        </p:nvCxnSpPr>
        <p:spPr>
          <a:xfrm flipH="1">
            <a:off x="6781066" y="377127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3" name="line 222: plot geometry" descr="sci-ppt:obj-0222"/>
          <p:cNvCxnSpPr/>
          <p:nvPr/>
        </p:nvCxnSpPr>
        <p:spPr>
          <a:xfrm flipH="1">
            <a:off x="6781066" y="370726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4" name="line 223: plot geometry" descr="sci-ppt:obj-0223"/>
          <p:cNvCxnSpPr/>
          <p:nvPr/>
        </p:nvCxnSpPr>
        <p:spPr>
          <a:xfrm flipH="1">
            <a:off x="6781066" y="365496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5" name="line 224: plot geometry" descr="sci-ppt:obj-0224"/>
          <p:cNvCxnSpPr/>
          <p:nvPr/>
        </p:nvCxnSpPr>
        <p:spPr>
          <a:xfrm flipH="1">
            <a:off x="6781066" y="361075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6" name="line 225: plot geometry" descr="sci-ppt:obj-0225"/>
          <p:cNvCxnSpPr/>
          <p:nvPr/>
        </p:nvCxnSpPr>
        <p:spPr>
          <a:xfrm flipH="1">
            <a:off x="6781066" y="357244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7" name="line 226: plot geometry" descr="sci-ppt:obj-0226"/>
          <p:cNvCxnSpPr/>
          <p:nvPr/>
        </p:nvCxnSpPr>
        <p:spPr>
          <a:xfrm flipH="1">
            <a:off x="6781066" y="353866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8" name="line 227: plot geometry" descr="sci-ppt:obj-0227"/>
          <p:cNvCxnSpPr/>
          <p:nvPr/>
        </p:nvCxnSpPr>
        <p:spPr>
          <a:xfrm flipH="1">
            <a:off x="6781066" y="330960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9" name="line 228: plot geometry" descr="sci-ppt:obj-0228"/>
          <p:cNvCxnSpPr/>
          <p:nvPr/>
        </p:nvCxnSpPr>
        <p:spPr>
          <a:xfrm flipH="1">
            <a:off x="6781066" y="319329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0" name="line 229: plot geometry" descr="sci-ppt:obj-0229"/>
          <p:cNvCxnSpPr/>
          <p:nvPr/>
        </p:nvCxnSpPr>
        <p:spPr>
          <a:xfrm flipH="1">
            <a:off x="6781066" y="311077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1" name="line 230: plot geometry" descr="sci-ppt:obj-0230"/>
          <p:cNvCxnSpPr/>
          <p:nvPr/>
        </p:nvCxnSpPr>
        <p:spPr>
          <a:xfrm flipH="1">
            <a:off x="6781066" y="304676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2" name="line 231: plot geometry" descr="sci-ppt:obj-0231"/>
          <p:cNvCxnSpPr/>
          <p:nvPr/>
        </p:nvCxnSpPr>
        <p:spPr>
          <a:xfrm flipH="1">
            <a:off x="6781066" y="299446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3" name="line 232: plot geometry" descr="sci-ppt:obj-0232"/>
          <p:cNvCxnSpPr/>
          <p:nvPr/>
        </p:nvCxnSpPr>
        <p:spPr>
          <a:xfrm flipH="1">
            <a:off x="6781066" y="295024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4" name="line 233: plot geometry" descr="sci-ppt:obj-0233"/>
          <p:cNvCxnSpPr/>
          <p:nvPr/>
        </p:nvCxnSpPr>
        <p:spPr>
          <a:xfrm flipH="1">
            <a:off x="6781066" y="291194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5" name="line 234: plot geometry" descr="sci-ppt:obj-0234"/>
          <p:cNvCxnSpPr/>
          <p:nvPr/>
        </p:nvCxnSpPr>
        <p:spPr>
          <a:xfrm flipH="1">
            <a:off x="6781066" y="287815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6" name="line 235: plot geometry" descr="sci-ppt:obj-0235"/>
          <p:cNvCxnSpPr/>
          <p:nvPr/>
        </p:nvCxnSpPr>
        <p:spPr>
          <a:xfrm flipH="1">
            <a:off x="6781066" y="264910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7" name="line 236: plot geometry" descr="sci-ppt:obj-0236"/>
          <p:cNvCxnSpPr/>
          <p:nvPr/>
        </p:nvCxnSpPr>
        <p:spPr>
          <a:xfrm flipH="1">
            <a:off x="6781066" y="253279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8" name="line 237: plot geometry" descr="sci-ppt:obj-0237"/>
          <p:cNvCxnSpPr/>
          <p:nvPr/>
        </p:nvCxnSpPr>
        <p:spPr>
          <a:xfrm flipH="1">
            <a:off x="6781066" y="245027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9" name="line 238: plot geometry" descr="sci-ppt:obj-0238"/>
          <p:cNvCxnSpPr/>
          <p:nvPr/>
        </p:nvCxnSpPr>
        <p:spPr>
          <a:xfrm flipH="1">
            <a:off x="6781066" y="238626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0" name="line 239: plot geometry" descr="sci-ppt:obj-0239"/>
          <p:cNvCxnSpPr/>
          <p:nvPr/>
        </p:nvCxnSpPr>
        <p:spPr>
          <a:xfrm flipH="1">
            <a:off x="6781066" y="233396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1" name="line 240: plot geometry" descr="sci-ppt:obj-0240"/>
          <p:cNvCxnSpPr/>
          <p:nvPr/>
        </p:nvCxnSpPr>
        <p:spPr>
          <a:xfrm flipH="1">
            <a:off x="6781066" y="228974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2" name="line 241: plot geometry" descr="sci-ppt:obj-0241"/>
          <p:cNvCxnSpPr/>
          <p:nvPr/>
        </p:nvCxnSpPr>
        <p:spPr>
          <a:xfrm flipH="1">
            <a:off x="6781066" y="225144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3" name="line 242: plot geometry" descr="sci-ppt:obj-0242"/>
          <p:cNvCxnSpPr/>
          <p:nvPr/>
        </p:nvCxnSpPr>
        <p:spPr>
          <a:xfrm flipH="1">
            <a:off x="6781066" y="221765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4" name="line 243: plot geometry" descr="sci-ppt:obj-0243"/>
          <p:cNvCxnSpPr/>
          <p:nvPr/>
        </p:nvCxnSpPr>
        <p:spPr>
          <a:xfrm flipH="1">
            <a:off x="6781066" y="198860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5" name="line 244: plot geometry" descr="sci-ppt:obj-0244"/>
          <p:cNvCxnSpPr/>
          <p:nvPr/>
        </p:nvCxnSpPr>
        <p:spPr>
          <a:xfrm flipH="1">
            <a:off x="6781066" y="187229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6" name="line 245: plot geometry" descr="sci-ppt:obj-0245"/>
          <p:cNvCxnSpPr/>
          <p:nvPr/>
        </p:nvCxnSpPr>
        <p:spPr>
          <a:xfrm flipH="1">
            <a:off x="6781066" y="178976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7" name="line 246: plot geometry" descr="sci-ppt:obj-0246"/>
          <p:cNvCxnSpPr/>
          <p:nvPr/>
        </p:nvCxnSpPr>
        <p:spPr>
          <a:xfrm flipH="1">
            <a:off x="6781066" y="172575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8" name="line 247: plot geometry" descr="sci-ppt:obj-0247"/>
          <p:cNvCxnSpPr/>
          <p:nvPr/>
        </p:nvCxnSpPr>
        <p:spPr>
          <a:xfrm flipH="1">
            <a:off x="6781066" y="167346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9" name="line 248: plot geometry" descr="sci-ppt:obj-0248"/>
          <p:cNvCxnSpPr/>
          <p:nvPr/>
        </p:nvCxnSpPr>
        <p:spPr>
          <a:xfrm flipH="1">
            <a:off x="6781066" y="162924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0" name="line 249: plot geometry" descr="sci-ppt:obj-0249"/>
          <p:cNvCxnSpPr/>
          <p:nvPr/>
        </p:nvCxnSpPr>
        <p:spPr>
          <a:xfrm flipH="1">
            <a:off x="6781066" y="159093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1" name="line 250: plot geometry" descr="sci-ppt:obj-0250"/>
          <p:cNvCxnSpPr/>
          <p:nvPr/>
        </p:nvCxnSpPr>
        <p:spPr>
          <a:xfrm flipH="1">
            <a:off x="6781066" y="155715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2" name="line 251: plot geometry" descr="sci-ppt:obj-0251"/>
          <p:cNvCxnSpPr/>
          <p:nvPr/>
        </p:nvCxnSpPr>
        <p:spPr>
          <a:xfrm flipH="1">
            <a:off x="6781066" y="132809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3" name="line 252: plot geometry" descr="sci-ppt:obj-0252"/>
          <p:cNvCxnSpPr/>
          <p:nvPr/>
        </p:nvCxnSpPr>
        <p:spPr>
          <a:xfrm flipH="1">
            <a:off x="6781066" y="121178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4" name="line 253: plot geometry" descr="sci-ppt:obj-0253"/>
          <p:cNvCxnSpPr/>
          <p:nvPr/>
        </p:nvCxnSpPr>
        <p:spPr>
          <a:xfrm flipH="1">
            <a:off x="6781066" y="112926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5" name="line 254: plot geometry" descr="sci-ppt:obj-0254"/>
          <p:cNvCxnSpPr/>
          <p:nvPr/>
        </p:nvCxnSpPr>
        <p:spPr>
          <a:xfrm flipH="1">
            <a:off x="6781066" y="106525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6" name="line 255: plot geometry" descr="sci-ppt:obj-0255"/>
          <p:cNvCxnSpPr/>
          <p:nvPr/>
        </p:nvCxnSpPr>
        <p:spPr>
          <a:xfrm flipH="1">
            <a:off x="6781066" y="101295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7" name="line 256: plot geometry" descr="sci-ppt:obj-0256"/>
          <p:cNvCxnSpPr/>
          <p:nvPr/>
        </p:nvCxnSpPr>
        <p:spPr>
          <a:xfrm flipH="1">
            <a:off x="6781066" y="96873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8" name="line 257: plot geometry" descr="sci-ppt:obj-0257"/>
          <p:cNvCxnSpPr/>
          <p:nvPr/>
        </p:nvCxnSpPr>
        <p:spPr>
          <a:xfrm flipH="1">
            <a:off x="6781066" y="93043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9" name="line 258: plot geometry" descr="sci-ppt:obj-0258"/>
          <p:cNvCxnSpPr/>
          <p:nvPr/>
        </p:nvCxnSpPr>
        <p:spPr>
          <a:xfrm flipH="1">
            <a:off x="6781066" y="89664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260" name="text 259: Retained seed energy / slit work" descr="sci-ppt:obj-0259"/>
          <p:cNvSpPr txBox="1"/>
          <p:nvPr/>
        </p:nvSpPr>
        <p:spPr>
          <a:xfrm rot="16200000">
            <a:off x="4794665" y="2408959"/>
            <a:ext cx="305629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Retained seed energy / slit work</a:t>
            </a:r>
          </a:p>
        </p:txBody>
      </p:sp>
      <p:sp>
        <p:nvSpPr>
          <p:cNvPr id="261" name="polygon 260: plot geometry" descr="sci-ppt:obj-0260"/>
          <p:cNvSpPr/>
          <p:nvPr/>
        </p:nvSpPr>
        <p:spPr>
          <a:xfrm>
            <a:off x="7051997" y="1019863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3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7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5" y="632751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5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9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7" y="782613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7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1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19" y="932475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9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3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1" y="1082337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2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4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6" y="1948206"/>
                </a:lnTo>
                <a:lnTo>
                  <a:pt x="4746380" y="1964858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1F77B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polygon 261: plot geometry" descr="sci-ppt:obj-0261"/>
          <p:cNvSpPr/>
          <p:nvPr/>
        </p:nvSpPr>
        <p:spPr>
          <a:xfrm>
            <a:off x="7051997" y="1481535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3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6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5" y="632750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4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8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7" y="782612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6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0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19" y="932474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8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2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1" y="1082336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0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4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8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2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2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4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6" y="1948206"/>
                </a:lnTo>
                <a:lnTo>
                  <a:pt x="4746380" y="1964857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FF7F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polygon 262: plot geometry" descr="sci-ppt:obj-0262"/>
          <p:cNvSpPr/>
          <p:nvPr/>
        </p:nvSpPr>
        <p:spPr>
          <a:xfrm>
            <a:off x="7051997" y="1879197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3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7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1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5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9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3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7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1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5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3" y="482889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3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7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5" y="632751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5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9"/>
                </a:lnTo>
                <a:lnTo>
                  <a:pt x="1810060" y="749310"/>
                </a:lnTo>
                <a:lnTo>
                  <a:pt x="1850284" y="765962"/>
                </a:lnTo>
                <a:lnTo>
                  <a:pt x="1890507" y="782613"/>
                </a:lnTo>
                <a:lnTo>
                  <a:pt x="1930731" y="799264"/>
                </a:lnTo>
                <a:lnTo>
                  <a:pt x="1970955" y="815916"/>
                </a:lnTo>
                <a:lnTo>
                  <a:pt x="2011178" y="832567"/>
                </a:lnTo>
                <a:lnTo>
                  <a:pt x="2051402" y="849218"/>
                </a:lnTo>
                <a:lnTo>
                  <a:pt x="2091625" y="865870"/>
                </a:lnTo>
                <a:lnTo>
                  <a:pt x="2131849" y="882521"/>
                </a:lnTo>
                <a:lnTo>
                  <a:pt x="2172072" y="899172"/>
                </a:lnTo>
                <a:lnTo>
                  <a:pt x="2212296" y="915824"/>
                </a:lnTo>
                <a:lnTo>
                  <a:pt x="2252519" y="932475"/>
                </a:lnTo>
                <a:lnTo>
                  <a:pt x="2292743" y="949126"/>
                </a:lnTo>
                <a:lnTo>
                  <a:pt x="2332967" y="965778"/>
                </a:lnTo>
                <a:lnTo>
                  <a:pt x="2373190" y="982429"/>
                </a:lnTo>
                <a:lnTo>
                  <a:pt x="2413414" y="999080"/>
                </a:lnTo>
                <a:lnTo>
                  <a:pt x="2453637" y="1015732"/>
                </a:lnTo>
                <a:lnTo>
                  <a:pt x="2493861" y="1032383"/>
                </a:lnTo>
                <a:lnTo>
                  <a:pt x="2534084" y="1049034"/>
                </a:lnTo>
                <a:lnTo>
                  <a:pt x="2574308" y="1065686"/>
                </a:lnTo>
                <a:lnTo>
                  <a:pt x="2614531" y="1082337"/>
                </a:lnTo>
                <a:lnTo>
                  <a:pt x="2654755" y="1098988"/>
                </a:lnTo>
                <a:lnTo>
                  <a:pt x="2694979" y="1115640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4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8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2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6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10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4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8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2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6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80"/>
                </a:lnTo>
                <a:lnTo>
                  <a:pt x="3941909" y="1631831"/>
                </a:lnTo>
                <a:lnTo>
                  <a:pt x="3982132" y="1648482"/>
                </a:lnTo>
                <a:lnTo>
                  <a:pt x="4022356" y="1665134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8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2"/>
                </a:lnTo>
                <a:lnTo>
                  <a:pt x="4303921" y="1781693"/>
                </a:lnTo>
                <a:lnTo>
                  <a:pt x="4344144" y="1798344"/>
                </a:lnTo>
                <a:lnTo>
                  <a:pt x="4384368" y="1814996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50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4"/>
                </a:lnTo>
                <a:lnTo>
                  <a:pt x="4665933" y="1931555"/>
                </a:lnTo>
                <a:lnTo>
                  <a:pt x="4706156" y="1948206"/>
                </a:lnTo>
                <a:lnTo>
                  <a:pt x="4746380" y="1964858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2CA0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polygon 263: plot geometry" descr="sci-ppt:obj-0263"/>
          <p:cNvSpPr/>
          <p:nvPr/>
        </p:nvSpPr>
        <p:spPr>
          <a:xfrm>
            <a:off x="7051997" y="2142038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3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6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5" y="632750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4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8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7" y="782612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6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0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19" y="932474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8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2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1" y="1082336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2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4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6" y="1948206"/>
                </a:lnTo>
                <a:lnTo>
                  <a:pt x="4746380" y="1964857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D627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5" name="line 264: plot geometry" descr="sci-ppt:obj-0264"/>
          <p:cNvCxnSpPr/>
          <p:nvPr/>
        </p:nvCxnSpPr>
        <p:spPr>
          <a:xfrm>
            <a:off x="6812667" y="4168940"/>
            <a:ext cx="5265264" cy="0"/>
          </a:xfrm>
          <a:prstGeom prst="line">
            <a:avLst/>
          </a:prstGeom>
          <a:ln w="12640">
            <a:solidFill>
              <a:srgbClr val="333333"/>
            </a:solidFill>
          </a:ln>
          <a:effectLst/>
        </p:spPr>
      </p:cxnSp>
      <p:cxnSp>
        <p:nvCxnSpPr>
          <p:cNvPr id="266" name="line 265: plot geometry" descr="sci-ppt:obj-0265"/>
          <p:cNvCxnSpPr/>
          <p:nvPr/>
        </p:nvCxnSpPr>
        <p:spPr>
          <a:xfrm flipV="1">
            <a:off x="6812667" y="864678"/>
            <a:ext cx="0" cy="3414053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267" name="line 266: plot geometry" descr="sci-ppt:obj-0266"/>
          <p:cNvCxnSpPr/>
          <p:nvPr/>
        </p:nvCxnSpPr>
        <p:spPr>
          <a:xfrm>
            <a:off x="6812667" y="4278731"/>
            <a:ext cx="5265264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68" name="text 267: Diameter 6 µm; half-width 0.5 µm" descr="sci-ppt:obj-0267"/>
          <p:cNvSpPr txBox="1"/>
          <p:nvPr/>
        </p:nvSpPr>
        <p:spPr>
          <a:xfrm>
            <a:off x="7618837" y="574580"/>
            <a:ext cx="3652924" cy="2559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2" b="0" i="0">
                <a:solidFill>
                  <a:srgbClr val="000000"/>
                </a:solidFill>
                <a:latin typeface="Arial"/>
              </a:rPr>
              <a:t>Diameter 6 µm; half-width 0.5 µm</a:t>
            </a:r>
          </a:p>
        </p:txBody>
      </p:sp>
      <p:sp>
        <p:nvSpPr>
          <p:cNvPr id="269" name="polygon 268: plot geometry" descr="sci-ppt:obj-0268"/>
          <p:cNvSpPr/>
          <p:nvPr/>
        </p:nvSpPr>
        <p:spPr>
          <a:xfrm>
            <a:off x="10552294" y="935781"/>
            <a:ext cx="1454534" cy="895935"/>
          </a:xfrm>
          <a:custGeom>
            <a:avLst/>
            <a:gdLst/>
            <a:ahLst/>
            <a:cxnLst/>
            <a:rect l="l" t="t" r="r" b="b"/>
            <a:pathLst>
              <a:path w="1454534" h="895935">
                <a:moveTo>
                  <a:pt x="28441" y="895935"/>
                </a:moveTo>
                <a:lnTo>
                  <a:pt x="1426093" y="895935"/>
                </a:lnTo>
                <a:lnTo>
                  <a:pt x="1430636" y="895738"/>
                </a:lnTo>
                <a:lnTo>
                  <a:pt x="1434784" y="895145"/>
                </a:lnTo>
                <a:lnTo>
                  <a:pt x="1438536" y="894158"/>
                </a:lnTo>
                <a:lnTo>
                  <a:pt x="1441894" y="892775"/>
                </a:lnTo>
                <a:lnTo>
                  <a:pt x="1444856" y="890998"/>
                </a:lnTo>
                <a:lnTo>
                  <a:pt x="1447424" y="888825"/>
                </a:lnTo>
                <a:lnTo>
                  <a:pt x="1449597" y="886258"/>
                </a:lnTo>
                <a:lnTo>
                  <a:pt x="1451374" y="883295"/>
                </a:lnTo>
                <a:lnTo>
                  <a:pt x="1452757" y="879937"/>
                </a:lnTo>
                <a:lnTo>
                  <a:pt x="1453744" y="876185"/>
                </a:lnTo>
                <a:lnTo>
                  <a:pt x="1454337" y="872037"/>
                </a:lnTo>
                <a:lnTo>
                  <a:pt x="1454534" y="867494"/>
                </a:lnTo>
                <a:lnTo>
                  <a:pt x="1454534" y="28441"/>
                </a:lnTo>
                <a:lnTo>
                  <a:pt x="1454337" y="23898"/>
                </a:lnTo>
                <a:lnTo>
                  <a:pt x="1453744" y="19751"/>
                </a:lnTo>
                <a:lnTo>
                  <a:pt x="1452757" y="15998"/>
                </a:lnTo>
                <a:lnTo>
                  <a:pt x="1451374" y="12640"/>
                </a:lnTo>
                <a:lnTo>
                  <a:pt x="1449597" y="9678"/>
                </a:lnTo>
                <a:lnTo>
                  <a:pt x="1447424" y="7110"/>
                </a:lnTo>
                <a:lnTo>
                  <a:pt x="1444856" y="4938"/>
                </a:lnTo>
                <a:lnTo>
                  <a:pt x="1441894" y="3160"/>
                </a:lnTo>
                <a:lnTo>
                  <a:pt x="1438536" y="1778"/>
                </a:lnTo>
                <a:lnTo>
                  <a:pt x="1434784" y="790"/>
                </a:lnTo>
                <a:lnTo>
                  <a:pt x="1430636" y="197"/>
                </a:lnTo>
                <a:lnTo>
                  <a:pt x="1426093" y="0"/>
                </a:lnTo>
                <a:lnTo>
                  <a:pt x="28441" y="0"/>
                </a:lnTo>
                <a:lnTo>
                  <a:pt x="23898" y="197"/>
                </a:lnTo>
                <a:lnTo>
                  <a:pt x="19751" y="790"/>
                </a:lnTo>
                <a:lnTo>
                  <a:pt x="15998" y="1778"/>
                </a:lnTo>
                <a:lnTo>
                  <a:pt x="12640" y="3160"/>
                </a:lnTo>
                <a:lnTo>
                  <a:pt x="9678" y="4938"/>
                </a:lnTo>
                <a:lnTo>
                  <a:pt x="7110" y="7110"/>
                </a:lnTo>
                <a:lnTo>
                  <a:pt x="4938" y="9678"/>
                </a:lnTo>
                <a:lnTo>
                  <a:pt x="3160" y="12640"/>
                </a:lnTo>
                <a:lnTo>
                  <a:pt x="1778" y="15998"/>
                </a:lnTo>
                <a:lnTo>
                  <a:pt x="790" y="19751"/>
                </a:lnTo>
                <a:lnTo>
                  <a:pt x="198" y="23898"/>
                </a:lnTo>
                <a:lnTo>
                  <a:pt x="0" y="28441"/>
                </a:lnTo>
                <a:lnTo>
                  <a:pt x="0" y="867494"/>
                </a:lnTo>
                <a:lnTo>
                  <a:pt x="198" y="872037"/>
                </a:lnTo>
                <a:lnTo>
                  <a:pt x="790" y="876185"/>
                </a:lnTo>
                <a:lnTo>
                  <a:pt x="1778" y="879937"/>
                </a:lnTo>
                <a:lnTo>
                  <a:pt x="3160" y="883295"/>
                </a:lnTo>
                <a:lnTo>
                  <a:pt x="4938" y="886258"/>
                </a:lnTo>
                <a:lnTo>
                  <a:pt x="7110" y="888825"/>
                </a:lnTo>
                <a:lnTo>
                  <a:pt x="9678" y="890998"/>
                </a:lnTo>
                <a:lnTo>
                  <a:pt x="12640" y="892775"/>
                </a:lnTo>
                <a:lnTo>
                  <a:pt x="15998" y="894158"/>
                </a:lnTo>
                <a:lnTo>
                  <a:pt x="19751" y="895145"/>
                </a:lnTo>
                <a:lnTo>
                  <a:pt x="23898" y="895738"/>
                </a:lnTo>
                <a:lnTo>
                  <a:pt x="28441" y="895935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polygon 269: plot geometry" descr="sci-ppt:obj-0269"/>
          <p:cNvSpPr/>
          <p:nvPr/>
        </p:nvSpPr>
        <p:spPr>
          <a:xfrm>
            <a:off x="10609176" y="1050945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1F77B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text 270: Cover 1 µm *" descr="sci-ppt:obj-0270"/>
          <p:cNvSpPr txBox="1"/>
          <p:nvPr/>
        </p:nvSpPr>
        <p:spPr>
          <a:xfrm>
            <a:off x="10979918" y="954245"/>
            <a:ext cx="1079962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1 µm *</a:t>
            </a:r>
          </a:p>
        </p:txBody>
      </p:sp>
      <p:sp>
        <p:nvSpPr>
          <p:cNvPr id="272" name="polygon 271: plot geometry" descr="sci-ppt:obj-0271"/>
          <p:cNvSpPr/>
          <p:nvPr/>
        </p:nvSpPr>
        <p:spPr>
          <a:xfrm>
            <a:off x="10609176" y="1264263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FF7F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text 272: Cover 5 µm" descr="sci-ppt:obj-0272"/>
          <p:cNvSpPr txBox="1"/>
          <p:nvPr/>
        </p:nvSpPr>
        <p:spPr>
          <a:xfrm>
            <a:off x="10979918" y="1167564"/>
            <a:ext cx="912161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5 µm</a:t>
            </a:r>
          </a:p>
        </p:txBody>
      </p:sp>
      <p:sp>
        <p:nvSpPr>
          <p:cNvPr id="274" name="polygon 273: plot geometry" descr="sci-ppt:obj-0273"/>
          <p:cNvSpPr/>
          <p:nvPr/>
        </p:nvSpPr>
        <p:spPr>
          <a:xfrm>
            <a:off x="10609176" y="1477582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2CA0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text 274: Cover 20 µm" descr="sci-ppt:obj-0274"/>
          <p:cNvSpPr txBox="1"/>
          <p:nvPr/>
        </p:nvSpPr>
        <p:spPr>
          <a:xfrm>
            <a:off x="10979918" y="1380882"/>
            <a:ext cx="996062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20 µm</a:t>
            </a:r>
          </a:p>
        </p:txBody>
      </p:sp>
      <p:sp>
        <p:nvSpPr>
          <p:cNvPr id="276" name="polygon 275: plot geometry" descr="sci-ppt:obj-0275"/>
          <p:cNvSpPr/>
          <p:nvPr/>
        </p:nvSpPr>
        <p:spPr>
          <a:xfrm>
            <a:off x="10609176" y="1690900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D627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text 276: Cover 50 µm" descr="sci-ppt:obj-0276"/>
          <p:cNvSpPr txBox="1"/>
          <p:nvPr/>
        </p:nvSpPr>
        <p:spPr>
          <a:xfrm>
            <a:off x="10979918" y="1594201"/>
            <a:ext cx="996062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50 µm</a:t>
            </a:r>
          </a:p>
        </p:txBody>
      </p:sp>
      <p:sp>
        <p:nvSpPr>
          <p:cNvPr id="278" name="text 277: Slit work comparison only: other energy changes and crack coupling omi" descr="sci-ppt:obj-0277"/>
          <p:cNvSpPr txBox="1"/>
          <p:nvPr/>
        </p:nvSpPr>
        <p:spPr>
          <a:xfrm>
            <a:off x="2723925" y="84206"/>
            <a:ext cx="7661523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Slit work comparison only: other energy changes and crack coupling omitted</a:t>
            </a:r>
          </a:p>
        </p:txBody>
      </p:sp>
      <p:sp>
        <p:nvSpPr>
          <p:cNvPr id="279" name="text 278: * Infinite-host trajectory intersects the initial free-surface plane" descr="sci-ppt:obj-0278"/>
          <p:cNvSpPr txBox="1"/>
          <p:nvPr/>
        </p:nvSpPr>
        <p:spPr>
          <a:xfrm>
            <a:off x="3312707" y="292821"/>
            <a:ext cx="7046249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* Infinite-host trajectory intersects the initial free-surface plane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