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-E1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A-E12 · Derived mechanical energy balance</a:t>
            </a:r>
          </a:p>
        </p:txBody>
      </p:sp>
      <p:sp>
        <p:nvSpPr>
          <p:cNvPr id="3" name="A-E12 text 1" descr="sci-ppt:o001"/>
          <p:cNvSpPr txBox="1"/>
          <p:nvPr/>
        </p:nvSpPr>
        <p:spPr>
          <a:xfrm>
            <a:off x="457200" y="914400"/>
            <a:ext cx="6400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Where the pressure power goes (schematic share)</a:t>
            </a:r>
          </a:p>
        </p:txBody>
      </p:sp>
      <p:cxnSp>
        <p:nvCxnSpPr>
          <p:cNvPr id="4" name="A-E12 line 2" descr="sci-ppt:o002"/>
          <p:cNvCxnSpPr/>
          <p:nvPr/>
        </p:nvCxnSpPr>
        <p:spPr>
          <a:xfrm>
            <a:off x="548640" y="475488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A-E12 line 3" descr="sci-ppt:o003"/>
          <p:cNvCxnSpPr/>
          <p:nvPr/>
        </p:nvCxnSpPr>
        <p:spPr>
          <a:xfrm>
            <a:off x="548640" y="146304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" name="A-E12 line 4" descr="sci-ppt:o004"/>
          <p:cNvCxnSpPr/>
          <p:nvPr/>
        </p:nvCxnSpPr>
        <p:spPr>
          <a:xfrm>
            <a:off x="484632" y="47548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A-E12 line 5" descr="sci-ppt:o005"/>
          <p:cNvCxnSpPr/>
          <p:nvPr/>
        </p:nvCxnSpPr>
        <p:spPr>
          <a:xfrm>
            <a:off x="548640" y="475488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8" name="A-E12 text 6" descr="sci-ppt:o006"/>
          <p:cNvSpPr txBox="1"/>
          <p:nvPr/>
        </p:nvSpPr>
        <p:spPr>
          <a:xfrm>
            <a:off x="-320040" y="46725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9" name="A-E12 line 7" descr="sci-ppt:o007"/>
          <p:cNvCxnSpPr/>
          <p:nvPr/>
        </p:nvCxnSpPr>
        <p:spPr>
          <a:xfrm>
            <a:off x="484632" y="40690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A-E12 line 8" descr="sci-ppt:o008"/>
          <p:cNvCxnSpPr/>
          <p:nvPr/>
        </p:nvCxnSpPr>
        <p:spPr>
          <a:xfrm>
            <a:off x="548640" y="406908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1" name="A-E12 text 9" descr="sci-ppt:o009"/>
          <p:cNvSpPr txBox="1"/>
          <p:nvPr/>
        </p:nvSpPr>
        <p:spPr>
          <a:xfrm>
            <a:off x="-320040" y="39867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2" name="A-E12 line 10" descr="sci-ppt:o010"/>
          <p:cNvCxnSpPr/>
          <p:nvPr/>
        </p:nvCxnSpPr>
        <p:spPr>
          <a:xfrm>
            <a:off x="484632" y="33832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A-E12 line 11" descr="sci-ppt:o011"/>
          <p:cNvCxnSpPr/>
          <p:nvPr/>
        </p:nvCxnSpPr>
        <p:spPr>
          <a:xfrm>
            <a:off x="548640" y="338328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4" name="A-E12 text 12" descr="sci-ppt:o012"/>
          <p:cNvSpPr txBox="1"/>
          <p:nvPr/>
        </p:nvSpPr>
        <p:spPr>
          <a:xfrm>
            <a:off x="-320040" y="33009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5" name="A-E12 line 13" descr="sci-ppt:o013"/>
          <p:cNvCxnSpPr/>
          <p:nvPr/>
        </p:nvCxnSpPr>
        <p:spPr>
          <a:xfrm>
            <a:off x="484632" y="26974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A-E12 line 14" descr="sci-ppt:o014"/>
          <p:cNvCxnSpPr/>
          <p:nvPr/>
        </p:nvCxnSpPr>
        <p:spPr>
          <a:xfrm>
            <a:off x="548640" y="269748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A-E12 text 15" descr="sci-ppt:o015"/>
          <p:cNvSpPr txBox="1"/>
          <p:nvPr/>
        </p:nvSpPr>
        <p:spPr>
          <a:xfrm>
            <a:off x="-320040" y="26151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8" name="A-E12 line 16" descr="sci-ppt:o016"/>
          <p:cNvCxnSpPr/>
          <p:nvPr/>
        </p:nvCxnSpPr>
        <p:spPr>
          <a:xfrm>
            <a:off x="484632" y="2011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A-E12 line 17" descr="sci-ppt:o017"/>
          <p:cNvCxnSpPr/>
          <p:nvPr/>
        </p:nvCxnSpPr>
        <p:spPr>
          <a:xfrm>
            <a:off x="548640" y="201168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A-E12 text 18" descr="sci-ppt:o018"/>
          <p:cNvSpPr txBox="1"/>
          <p:nvPr/>
        </p:nvSpPr>
        <p:spPr>
          <a:xfrm>
            <a:off x="-320040" y="1929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21" name="A-E12 rect 19" descr="sci-ppt:o019"/>
          <p:cNvSpPr/>
          <p:nvPr/>
        </p:nvSpPr>
        <p:spPr>
          <a:xfrm>
            <a:off x="727862" y="2011680"/>
            <a:ext cx="921715" cy="274320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A-E12 text 20" descr="sci-ppt:o020"/>
          <p:cNvSpPr txBox="1"/>
          <p:nvPr/>
        </p:nvSpPr>
        <p:spPr>
          <a:xfrm>
            <a:off x="499262" y="1737360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1.00</a:t>
            </a:r>
          </a:p>
        </p:txBody>
      </p:sp>
      <p:sp>
        <p:nvSpPr>
          <p:cNvPr id="23" name="A-E12 text 21" descr="sci-ppt:o021"/>
          <p:cNvSpPr txBox="1"/>
          <p:nvPr/>
        </p:nvSpPr>
        <p:spPr>
          <a:xfrm>
            <a:off x="453542" y="482803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(p_b−p_∞)V̇</a:t>
            </a:r>
          </a:p>
        </p:txBody>
      </p:sp>
      <p:sp>
        <p:nvSpPr>
          <p:cNvPr id="24" name="A-E12 rect 22" descr="sci-ppt:o022"/>
          <p:cNvSpPr/>
          <p:nvPr/>
        </p:nvSpPr>
        <p:spPr>
          <a:xfrm>
            <a:off x="2008022" y="2011680"/>
            <a:ext cx="921715" cy="768095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A-E12 text 23" descr="sci-ppt:o023"/>
          <p:cNvSpPr txBox="1"/>
          <p:nvPr/>
        </p:nvSpPr>
        <p:spPr>
          <a:xfrm>
            <a:off x="1779422" y="1737360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-0.28</a:t>
            </a:r>
          </a:p>
        </p:txBody>
      </p:sp>
      <p:sp>
        <p:nvSpPr>
          <p:cNvPr id="26" name="A-E12 text 24" descr="sci-ppt:o024"/>
          <p:cNvSpPr txBox="1"/>
          <p:nvPr/>
        </p:nvSpPr>
        <p:spPr>
          <a:xfrm>
            <a:off x="1733702" y="482803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 P_dis</a:t>
            </a:r>
          </a:p>
        </p:txBody>
      </p:sp>
      <p:sp>
        <p:nvSpPr>
          <p:cNvPr id="27" name="A-E12 rect 25" descr="sci-ppt:o025"/>
          <p:cNvSpPr/>
          <p:nvPr/>
        </p:nvSpPr>
        <p:spPr>
          <a:xfrm>
            <a:off x="3288182" y="2779776"/>
            <a:ext cx="921715" cy="137159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A-E12 text 26" descr="sci-ppt:o026"/>
          <p:cNvSpPr txBox="1"/>
          <p:nvPr/>
        </p:nvSpPr>
        <p:spPr>
          <a:xfrm>
            <a:off x="3059582" y="2505456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-0.05</a:t>
            </a:r>
          </a:p>
        </p:txBody>
      </p:sp>
      <p:sp>
        <p:nvSpPr>
          <p:cNvPr id="29" name="A-E12 text 27" descr="sci-ppt:o027"/>
          <p:cNvSpPr txBox="1"/>
          <p:nvPr/>
        </p:nvSpPr>
        <p:spPr>
          <a:xfrm>
            <a:off x="3013862" y="482803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 dE_σ/dt</a:t>
            </a:r>
          </a:p>
        </p:txBody>
      </p:sp>
      <p:sp>
        <p:nvSpPr>
          <p:cNvPr id="30" name="A-E12 rect 28" descr="sci-ppt:o028"/>
          <p:cNvSpPr/>
          <p:nvPr/>
        </p:nvSpPr>
        <p:spPr>
          <a:xfrm>
            <a:off x="4568342" y="2916936"/>
            <a:ext cx="921715" cy="877824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A-E12 text 29" descr="sci-ppt:o029"/>
          <p:cNvSpPr txBox="1"/>
          <p:nvPr/>
        </p:nvSpPr>
        <p:spPr>
          <a:xfrm>
            <a:off x="4339742" y="2642616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-0.32</a:t>
            </a:r>
          </a:p>
        </p:txBody>
      </p:sp>
      <p:sp>
        <p:nvSpPr>
          <p:cNvPr id="32" name="A-E12 text 30" descr="sci-ppt:o030"/>
          <p:cNvSpPr txBox="1"/>
          <p:nvPr/>
        </p:nvSpPr>
        <p:spPr>
          <a:xfrm>
            <a:off x="4294022" y="482803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 dW_g/dt</a:t>
            </a:r>
          </a:p>
        </p:txBody>
      </p:sp>
      <p:sp>
        <p:nvSpPr>
          <p:cNvPr id="33" name="A-E12 rect 31" descr="sci-ppt:o031"/>
          <p:cNvSpPr/>
          <p:nvPr/>
        </p:nvSpPr>
        <p:spPr>
          <a:xfrm>
            <a:off x="5848502" y="3794760"/>
            <a:ext cx="921715" cy="960119"/>
          </a:xfrm>
          <a:prstGeom prst="rect">
            <a:avLst/>
          </a:prstGeom>
          <a:solidFill>
            <a:srgbClr val="A8E6A1">
              <a:alpha val="85000"/>
            </a:srgbClr>
          </a:solidFill>
          <a:ln w="12700">
            <a:solidFill>
              <a:srgbClr val="A8E6A1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A-E12 text 32" descr="sci-ppt:o032"/>
          <p:cNvSpPr txBox="1"/>
          <p:nvPr/>
        </p:nvSpPr>
        <p:spPr>
          <a:xfrm>
            <a:off x="5619902" y="3520440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0.35</a:t>
            </a:r>
          </a:p>
        </p:txBody>
      </p:sp>
      <p:sp>
        <p:nvSpPr>
          <p:cNvPr id="35" name="A-E12 text 33" descr="sci-ppt:o033"/>
          <p:cNvSpPr txBox="1"/>
          <p:nvPr/>
        </p:nvSpPr>
        <p:spPr>
          <a:xfrm>
            <a:off x="5574182" y="482803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= dK_g/dt</a:t>
            </a:r>
          </a:p>
        </p:txBody>
      </p:sp>
      <p:sp>
        <p:nvSpPr>
          <p:cNvPr id="36" name="A-E12 round_rect 34" descr="sci-ppt:o034"/>
          <p:cNvSpPr/>
          <p:nvPr/>
        </p:nvSpPr>
        <p:spPr>
          <a:xfrm>
            <a:off x="7315200" y="914400"/>
            <a:ext cx="4526280" cy="4023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A-E12 text 35" descr="sci-ppt:o035"/>
          <p:cNvSpPr txBox="1"/>
          <p:nvPr/>
        </p:nvSpPr>
        <p:spPr>
          <a:xfrm>
            <a:off x="7424927" y="9692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Energy bookkeeping</a:t>
            </a:r>
          </a:p>
        </p:txBody>
      </p:sp>
      <p:sp>
        <p:nvSpPr>
          <p:cNvPr id="38" name="A-E12 text 36" descr="sci-ppt:o036"/>
          <p:cNvSpPr txBox="1"/>
          <p:nvPr/>
        </p:nvSpPr>
        <p:spPr>
          <a:xfrm>
            <a:off x="7452360" y="1371600"/>
            <a:ext cx="4297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K_g = 2πρ_gR³Ṙ²,   E_σ = 4πσR²</a:t>
            </a:r>
          </a:p>
        </p:txBody>
      </p:sp>
      <p:sp>
        <p:nvSpPr>
          <p:cNvPr id="39" name="A-E12 text 37" descr="sci-ppt:o037"/>
          <p:cNvSpPr txBox="1"/>
          <p:nvPr/>
        </p:nvSpPr>
        <p:spPr>
          <a:xfrm>
            <a:off x="7452360" y="1874519"/>
            <a:ext cx="4297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d(K_g + W_g + E_σ)/dt = (p_b − p_∞)V̇ − P_dis</a:t>
            </a:r>
          </a:p>
        </p:txBody>
      </p:sp>
      <p:sp>
        <p:nvSpPr>
          <p:cNvPr id="40" name="A-E12 text 38" descr="sci-ppt:o038"/>
          <p:cNvSpPr txBox="1"/>
          <p:nvPr/>
        </p:nvSpPr>
        <p:spPr>
          <a:xfrm>
            <a:off x="7452360" y="2468880"/>
            <a:ext cx="4297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P_dis = 16πη_g R Ṙ² ≥ 0</a:t>
            </a:r>
          </a:p>
        </p:txBody>
      </p:sp>
      <p:sp>
        <p:nvSpPr>
          <p:cNvPr id="41" name="A-E12 text 39" descr="sci-ppt:o039"/>
          <p:cNvSpPr txBox="1"/>
          <p:nvPr/>
        </p:nvSpPr>
        <p:spPr>
          <a:xfrm>
            <a:off x="7452360" y="3063240"/>
            <a:ext cx="42976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Network work is recoverable; viscous dissipation is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not.</a:t>
            </a:r>
          </a:p>
        </p:txBody>
      </p:sp>
      <p:sp>
        <p:nvSpPr>
          <p:cNvPr id="42" name="A-E12 text 40" descr="sci-ppt:o040"/>
          <p:cNvSpPr txBox="1"/>
          <p:nvPr/>
        </p:nvSpPr>
        <p:spPr>
          <a:xfrm>
            <a:off x="548640" y="507492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Pressure work splits into medium inertia, recoverable network energy, surface energy and a positive viscous loss.</a:t>
            </a:r>
          </a:p>
        </p:txBody>
      </p:sp>
      <p:sp>
        <p:nvSpPr>
          <p:cNvPr id="43" name="A-E12 text 41" descr="sci-ppt:o041"/>
          <p:cNvSpPr txBox="1"/>
          <p:nvPr/>
        </p:nvSpPr>
        <p:spPr>
          <a:xfrm>
            <a:off x="548640" y="5577840"/>
            <a:ext cx="11247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Shares are illustrative; the identity itself is exact within the model.</a:t>
            </a:r>
          </a:p>
        </p:txBody>
      </p:sp>
      <p:sp>
        <p:nvSpPr>
          <p:cNvPr id="44" name="A-E12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Mechanical energy balance of Eq. A-E12 (shares schematic).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