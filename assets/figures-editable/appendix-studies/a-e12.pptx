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961120" cy="58704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A-E12 · Physical variable map</a:t>
            </a:r>
          </a:p>
        </p:txBody>
      </p:sp>
      <p:sp>
        <p:nvSpPr>
          <p:cNvPr id="3" name="ellipse 1" descr="sci-ppt:obj-001"/>
          <p:cNvSpPr/>
          <p:nvPr/>
        </p:nvSpPr>
        <p:spPr>
          <a:xfrm>
            <a:off x="941832" y="932688"/>
            <a:ext cx="1408176" cy="1408176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 2" descr="sci-ppt:obj-002"/>
          <p:cNvSpPr/>
          <p:nvPr/>
        </p:nvSpPr>
        <p:spPr>
          <a:xfrm>
            <a:off x="1380744" y="1371600"/>
            <a:ext cx="530352" cy="530352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arrow 3" descr="sci-ppt:obj-003"/>
          <p:cNvCxnSpPr/>
          <p:nvPr/>
        </p:nvCxnSpPr>
        <p:spPr>
          <a:xfrm>
            <a:off x="1645920" y="1636776"/>
            <a:ext cx="704088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 4" descr="sci-ppt:obj-004"/>
          <p:cNvSpPr txBox="1"/>
          <p:nvPr/>
        </p:nvSpPr>
        <p:spPr>
          <a:xfrm>
            <a:off x="2011680" y="1252728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sp>
        <p:nvSpPr>
          <p:cNvPr id="7" name="text 5" descr="sci-ppt:obj-005"/>
          <p:cNvSpPr txBox="1"/>
          <p:nvPr/>
        </p:nvSpPr>
        <p:spPr>
          <a:xfrm>
            <a:off x="1005840" y="2459736"/>
            <a:ext cx="21945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Rref → R</a:t>
            </a:r>
          </a:p>
        </p:txBody>
      </p:sp>
      <p:sp>
        <p:nvSpPr>
          <p:cNvPr id="8" name="text 6" descr="sci-ppt:obj-006"/>
          <p:cNvSpPr txBox="1"/>
          <p:nvPr/>
        </p:nvSpPr>
        <p:spPr>
          <a:xfrm>
            <a:off x="749808" y="649224"/>
            <a:ext cx="35661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Cavity pressure work: pb dV</a:t>
            </a:r>
          </a:p>
        </p:txBody>
      </p:sp>
      <p:sp>
        <p:nvSpPr>
          <p:cNvPr id="9" name="rect 7" descr="sci-ppt:obj-007"/>
          <p:cNvSpPr/>
          <p:nvPr/>
        </p:nvSpPr>
        <p:spPr>
          <a:xfrm>
            <a:off x="3986784" y="1143000"/>
            <a:ext cx="3749039" cy="1124712"/>
          </a:xfrm>
          <a:prstGeom prst="rect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 8" descr="sci-ppt:obj-008"/>
          <p:cNvSpPr txBox="1"/>
          <p:nvPr/>
        </p:nvSpPr>
        <p:spPr>
          <a:xfrm>
            <a:off x="4197096" y="1307592"/>
            <a:ext cx="34747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Elastic storage: Wg</a:t>
            </a:r>
          </a:p>
        </p:txBody>
      </p:sp>
      <p:sp>
        <p:nvSpPr>
          <p:cNvPr id="11" name="text 9" descr="sci-ppt:obj-009"/>
          <p:cNvSpPr txBox="1"/>
          <p:nvPr/>
        </p:nvSpPr>
        <p:spPr>
          <a:xfrm>
            <a:off x="4197096" y="1700784"/>
            <a:ext cx="34747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Viscous loss: Ḋg ≥ 0</a:t>
            </a:r>
          </a:p>
        </p:txBody>
      </p:sp>
      <p:cxnSp>
        <p:nvCxnSpPr>
          <p:cNvPr id="12" name="arrow 10" descr="sci-ppt:obj-010"/>
          <p:cNvCxnSpPr/>
          <p:nvPr/>
        </p:nvCxnSpPr>
        <p:spPr>
          <a:xfrm>
            <a:off x="2496312" y="1645920"/>
            <a:ext cx="1444751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3" name="text 11" descr="sci-ppt:obj-011"/>
          <p:cNvSpPr txBox="1"/>
          <p:nvPr/>
        </p:nvSpPr>
        <p:spPr>
          <a:xfrm>
            <a:off x="3986784" y="2432304"/>
            <a:ext cx="41148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Gg , ηg ; intact network</a:t>
            </a:r>
          </a:p>
        </p:txBody>
      </p:sp>
      <p:sp>
        <p:nvSpPr>
          <p:cNvPr id="14" name="text 12" descr="sci-ppt:obj-012"/>
          <p:cNvSpPr txBox="1"/>
          <p:nvPr/>
        </p:nvSpPr>
        <p:spPr>
          <a:xfrm>
            <a:off x="749808" y="2871216"/>
            <a:ext cx="77724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24" b="0" i="0">
                <a:solidFill>
                  <a:srgbClr val="E7F0F3"/>
                </a:solidFill>
                <a:latin typeface="Arial"/>
              </a:rPr>
              <a:t>Jet energy requires a separate load path and budget</a:t>
            </a:r>
          </a:p>
        </p:txBody>
      </p:sp>
      <p:sp>
        <p:nvSpPr>
          <p:cNvPr id="15" name="text 13" descr="sci-ppt:obj-013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16" name="text 14" descr="sci-ppt:obj-014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(pb−p∞)V̇: pressure work</a:t>
            </a:r>
          </a:p>
        </p:txBody>
      </p:sp>
      <p:sp>
        <p:nvSpPr>
          <p:cNvPr id="17" name="text 15" descr="sci-ppt:obj-015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Kg: moving exterior</a:t>
            </a:r>
          </a:p>
        </p:txBody>
      </p:sp>
      <p:sp>
        <p:nvSpPr>
          <p:cNvPr id="18" name="text 16" descr="sci-ppt:obj-016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Wg: network storage</a:t>
            </a:r>
          </a:p>
        </p:txBody>
      </p:sp>
      <p:sp>
        <p:nvSpPr>
          <p:cNvPr id="19" name="text 17" descr="sci-ppt:obj-017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Eσ: cavity surface</a:t>
            </a:r>
          </a:p>
        </p:txBody>
      </p:sp>
      <p:sp>
        <p:nvSpPr>
          <p:cNvPr id="20" name="text 18" descr="sci-ppt:obj-018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Pdis ≥ 0: irreversible loss</a:t>
            </a:r>
          </a:p>
        </p:txBody>
      </p:sp>
      <p:sp>
        <p:nvSpPr>
          <p:cNvPr id="21" name="text 19" descr="sci-ppt:obj-019"/>
          <p:cNvSpPr txBox="1"/>
          <p:nvPr/>
        </p:nvSpPr>
        <p:spPr>
          <a:xfrm>
            <a:off x="365760" y="486460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R, Ṙ, ρg, ηg, σ, t</a:t>
            </a:r>
          </a:p>
        </p:txBody>
      </p:sp>
      <p:sp>
        <p:nvSpPr>
          <p:cNvPr id="22" name="text 20" descr="sci-ppt:obj-020"/>
          <p:cNvSpPr txBox="1"/>
          <p:nvPr/>
        </p:nvSpPr>
        <p:spPr>
          <a:xfrm>
            <a:off x="365760" y="507492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Network work can return; dashpot loss cannot</a:t>
            </a:r>
          </a:p>
        </p:txBody>
      </p:sp>
      <p:sp>
        <p:nvSpPr>
          <p:cNvPr id="23" name="text 21" descr="sci-ppt:obj-021"/>
          <p:cNvSpPr txBox="1"/>
          <p:nvPr/>
        </p:nvSpPr>
        <p:spPr>
          <a:xfrm>
            <a:off x="365760" y="528523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Volume rate fixes work signs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