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2631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63116"/>
          </a:xfrm>
          <a:custGeom>
            <a:avLst/>
            <a:gdLst/>
            <a:ahLst/>
            <a:cxnLst/>
            <a:rect l="l" t="t" r="r" b="b"/>
            <a:pathLst>
              <a:path w="12191695" h="5263116">
                <a:moveTo>
                  <a:pt x="0" y="5263116"/>
                </a:moveTo>
                <a:lnTo>
                  <a:pt x="12191695" y="5263116"/>
                </a:lnTo>
                <a:lnTo>
                  <a:pt x="12191695" y="0"/>
                </a:lnTo>
                <a:lnTo>
                  <a:pt x="0" y="0"/>
                </a:lnTo>
                <a:lnTo>
                  <a:pt x="0" y="52631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99070" y="866493"/>
            <a:ext cx="4525637" cy="3791763"/>
          </a:xfrm>
          <a:custGeom>
            <a:avLst/>
            <a:gdLst/>
            <a:ahLst/>
            <a:cxnLst/>
            <a:rect l="l" t="t" r="r" b="b"/>
            <a:pathLst>
              <a:path w="4525637" h="3791763">
                <a:moveTo>
                  <a:pt x="0" y="3791763"/>
                </a:moveTo>
                <a:lnTo>
                  <a:pt x="4525637" y="3791763"/>
                </a:lnTo>
                <a:lnTo>
                  <a:pt x="4525637" y="0"/>
                </a:lnTo>
                <a:lnTo>
                  <a:pt x="0" y="0"/>
                </a:lnTo>
                <a:lnTo>
                  <a:pt x="0" y="37917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 3: plot geometry" descr="sci-ppt:obj-0003"/>
          <p:cNvSpPr/>
          <p:nvPr/>
        </p:nvSpPr>
        <p:spPr>
          <a:xfrm>
            <a:off x="798018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 4: plot geometry" descr="sci-ppt:obj-0004"/>
          <p:cNvSpPr/>
          <p:nvPr/>
        </p:nvSpPr>
        <p:spPr>
          <a:xfrm>
            <a:off x="1929495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 5: plot geometry" descr="sci-ppt:obj-0005"/>
          <p:cNvSpPr/>
          <p:nvPr/>
        </p:nvSpPr>
        <p:spPr>
          <a:xfrm>
            <a:off x="3060972" y="862612"/>
            <a:ext cx="1131492" cy="759273"/>
          </a:xfrm>
          <a:prstGeom prst="rect">
            <a:avLst/>
          </a:prstGeom>
          <a:solidFill>
            <a:srgbClr val="BDDB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 6: plot geometry" descr="sci-ppt:obj-0006"/>
          <p:cNvSpPr/>
          <p:nvPr/>
        </p:nvSpPr>
        <p:spPr>
          <a:xfrm>
            <a:off x="4192448" y="862612"/>
            <a:ext cx="1131492" cy="759273"/>
          </a:xfrm>
          <a:prstGeom prst="rect">
            <a:avLst/>
          </a:prstGeom>
          <a:solidFill>
            <a:srgbClr val="3885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 7: plot geometry" descr="sci-ppt:obj-0007"/>
          <p:cNvSpPr/>
          <p:nvPr/>
        </p:nvSpPr>
        <p:spPr>
          <a:xfrm>
            <a:off x="798018" y="1621870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 8: plot geometry" descr="sci-ppt:obj-0008"/>
          <p:cNvSpPr/>
          <p:nvPr/>
        </p:nvSpPr>
        <p:spPr>
          <a:xfrm>
            <a:off x="1929495" y="1621870"/>
            <a:ext cx="1131492" cy="759273"/>
          </a:xfrm>
          <a:prstGeom prst="rect">
            <a:avLst/>
          </a:prstGeom>
          <a:solidFill>
            <a:srgbClr val="E480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 9: plot geometry" descr="sci-ppt:obj-0009"/>
          <p:cNvSpPr/>
          <p:nvPr/>
        </p:nvSpPr>
        <p:spPr>
          <a:xfrm>
            <a:off x="3060972" y="1621870"/>
            <a:ext cx="1131492" cy="759273"/>
          </a:xfrm>
          <a:prstGeom prst="rect">
            <a:avLst/>
          </a:prstGeom>
          <a:solidFill>
            <a:srgbClr val="DB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 10: plot geometry" descr="sci-ppt:obj-0010"/>
          <p:cNvSpPr/>
          <p:nvPr/>
        </p:nvSpPr>
        <p:spPr>
          <a:xfrm>
            <a:off x="4192448" y="1621870"/>
            <a:ext cx="1131492" cy="759273"/>
          </a:xfrm>
          <a:prstGeom prst="rect">
            <a:avLst/>
          </a:prstGeom>
          <a:solidFill>
            <a:srgbClr val="9BC9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 11: plot geometry" descr="sci-ppt:obj-0011"/>
          <p:cNvSpPr/>
          <p:nvPr/>
        </p:nvSpPr>
        <p:spPr>
          <a:xfrm>
            <a:off x="798018" y="2381128"/>
            <a:ext cx="1131492" cy="759273"/>
          </a:xfrm>
          <a:prstGeom prst="rect">
            <a:avLst/>
          </a:prstGeom>
          <a:solidFill>
            <a:srgbClr val="FAE8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 12: plot geometry" descr="sci-ppt:obj-0012"/>
          <p:cNvSpPr/>
          <p:nvPr/>
        </p:nvSpPr>
        <p:spPr>
          <a:xfrm>
            <a:off x="1929495" y="2381128"/>
            <a:ext cx="1131492" cy="759273"/>
          </a:xfrm>
          <a:prstGeom prst="rect">
            <a:avLst/>
          </a:prstGeom>
          <a:solidFill>
            <a:srgbClr val="E4EE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 13: plot geometry" descr="sci-ppt:obj-0013"/>
          <p:cNvSpPr/>
          <p:nvPr/>
        </p:nvSpPr>
        <p:spPr>
          <a:xfrm>
            <a:off x="3060972" y="2381128"/>
            <a:ext cx="1131492" cy="759273"/>
          </a:xfrm>
          <a:prstGeom prst="rect">
            <a:avLst/>
          </a:prstGeom>
          <a:solidFill>
            <a:srgbClr val="D4E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 14: plot geometry" descr="sci-ppt:obj-0014"/>
          <p:cNvSpPr/>
          <p:nvPr/>
        </p:nvSpPr>
        <p:spPr>
          <a:xfrm>
            <a:off x="4192448" y="2381128"/>
            <a:ext cx="1131492" cy="759273"/>
          </a:xfrm>
          <a:prstGeom prst="rect">
            <a:avLst/>
          </a:prstGeom>
          <a:solidFill>
            <a:srgbClr val="BDDB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 15: plot geometry" descr="sci-ppt:obj-0015"/>
          <p:cNvSpPr/>
          <p:nvPr/>
        </p:nvSpPr>
        <p:spPr>
          <a:xfrm>
            <a:off x="798018" y="3140386"/>
            <a:ext cx="1131492" cy="759273"/>
          </a:xfrm>
          <a:prstGeom prst="rect">
            <a:avLst/>
          </a:prstGeom>
          <a:solidFill>
            <a:srgbClr val="E1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 16: plot geometry" descr="sci-ppt:obj-0016"/>
          <p:cNvSpPr/>
          <p:nvPr/>
        </p:nvSpPr>
        <p:spPr>
          <a:xfrm>
            <a:off x="1929495" y="3140386"/>
            <a:ext cx="1131492" cy="759273"/>
          </a:xfrm>
          <a:prstGeom prst="rect">
            <a:avLst/>
          </a:prstGeom>
          <a:solidFill>
            <a:srgbClr val="D8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 17: plot geometry" descr="sci-ppt:obj-0017"/>
          <p:cNvSpPr/>
          <p:nvPr/>
        </p:nvSpPr>
        <p:spPr>
          <a:xfrm>
            <a:off x="3060972" y="3140386"/>
            <a:ext cx="1131492" cy="759273"/>
          </a:xfrm>
          <a:prstGeom prst="rect">
            <a:avLst/>
          </a:prstGeom>
          <a:solidFill>
            <a:srgbClr val="CFE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 18: plot geometry" descr="sci-ppt:obj-0018"/>
          <p:cNvSpPr/>
          <p:nvPr/>
        </p:nvSpPr>
        <p:spPr>
          <a:xfrm>
            <a:off x="4192448" y="3140386"/>
            <a:ext cx="1131492" cy="759273"/>
          </a:xfrm>
          <a:prstGeom prst="rect">
            <a:avLst/>
          </a:prstGeom>
          <a:solidFill>
            <a:srgbClr val="C0D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 19: plot geometry" descr="sci-ppt:obj-0019"/>
          <p:cNvSpPr/>
          <p:nvPr/>
        </p:nvSpPr>
        <p:spPr>
          <a:xfrm>
            <a:off x="798018" y="3899644"/>
            <a:ext cx="1131492" cy="759273"/>
          </a:xfrm>
          <a:prstGeom prst="rect">
            <a:avLst/>
          </a:prstGeom>
          <a:solidFill>
            <a:srgbClr val="D1E5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 20: plot geometry" descr="sci-ppt:obj-0020"/>
          <p:cNvSpPr/>
          <p:nvPr/>
        </p:nvSpPr>
        <p:spPr>
          <a:xfrm>
            <a:off x="1929495" y="3899644"/>
            <a:ext cx="1131492" cy="759273"/>
          </a:xfrm>
          <a:prstGeom prst="rect">
            <a:avLst/>
          </a:prstGeom>
          <a:solidFill>
            <a:srgbClr val="D2E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 21: plot geometry" descr="sci-ppt:obj-0021"/>
          <p:cNvSpPr/>
          <p:nvPr/>
        </p:nvSpPr>
        <p:spPr>
          <a:xfrm>
            <a:off x="3060972" y="3899644"/>
            <a:ext cx="1131492" cy="759273"/>
          </a:xfrm>
          <a:prstGeom prst="rect">
            <a:avLst/>
          </a:prstGeom>
          <a:solidFill>
            <a:srgbClr val="CCE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 22: plot geometry" descr="sci-ppt:obj-0022"/>
          <p:cNvSpPr/>
          <p:nvPr/>
        </p:nvSpPr>
        <p:spPr>
          <a:xfrm>
            <a:off x="4192448" y="3899644"/>
            <a:ext cx="1131492" cy="759273"/>
          </a:xfrm>
          <a:prstGeom prst="rect">
            <a:avLst/>
          </a:prstGeom>
          <a:solidFill>
            <a:srgbClr val="C0D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line 23: plot geometry" descr="sci-ppt:obj-0023"/>
          <p:cNvCxnSpPr/>
          <p:nvPr/>
        </p:nvCxnSpPr>
        <p:spPr>
          <a:xfrm>
            <a:off x="1364774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25" name="text 24: 1.2" descr="sci-ppt:obj-0024"/>
          <p:cNvSpPr txBox="1"/>
          <p:nvPr/>
        </p:nvSpPr>
        <p:spPr>
          <a:xfrm>
            <a:off x="1188070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26" name="line 25: plot geometry" descr="sci-ppt:obj-0025"/>
          <p:cNvCxnSpPr/>
          <p:nvPr/>
        </p:nvCxnSpPr>
        <p:spPr>
          <a:xfrm>
            <a:off x="2496184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27" name="text 26: 1.5" descr="sci-ppt:obj-0026"/>
          <p:cNvSpPr txBox="1"/>
          <p:nvPr/>
        </p:nvSpPr>
        <p:spPr>
          <a:xfrm>
            <a:off x="2319480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28" name="line 27: plot geometry" descr="sci-ppt:obj-0027"/>
          <p:cNvCxnSpPr/>
          <p:nvPr/>
        </p:nvCxnSpPr>
        <p:spPr>
          <a:xfrm>
            <a:off x="3627593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29" name="text 28: 1.8" descr="sci-ppt:obj-0028"/>
          <p:cNvSpPr txBox="1"/>
          <p:nvPr/>
        </p:nvSpPr>
        <p:spPr>
          <a:xfrm>
            <a:off x="3450889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30" name="line 29: plot geometry" descr="sci-ppt:obj-0029"/>
          <p:cNvCxnSpPr/>
          <p:nvPr/>
        </p:nvCxnSpPr>
        <p:spPr>
          <a:xfrm>
            <a:off x="4759003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1" name="text 30: 2.1" descr="sci-ppt:obj-0030"/>
          <p:cNvSpPr txBox="1"/>
          <p:nvPr/>
        </p:nvSpPr>
        <p:spPr>
          <a:xfrm>
            <a:off x="4582298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32" name="text 31: Outer-radius stretch" descr="sci-ppt:obj-0031"/>
          <p:cNvSpPr txBox="1"/>
          <p:nvPr/>
        </p:nvSpPr>
        <p:spPr>
          <a:xfrm>
            <a:off x="2091124" y="4947988"/>
            <a:ext cx="1941529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cxnSp>
        <p:nvCxnSpPr>
          <p:cNvPr id="33" name="line 32: plot geometry" descr="sci-ppt:obj-0032"/>
          <p:cNvCxnSpPr/>
          <p:nvPr/>
        </p:nvCxnSpPr>
        <p:spPr>
          <a:xfrm flipH="1">
            <a:off x="743652" y="1245669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4" name="text 33: 0.15" descr="sci-ppt:obj-0033"/>
          <p:cNvSpPr txBox="1"/>
          <p:nvPr/>
        </p:nvSpPr>
        <p:spPr>
          <a:xfrm>
            <a:off x="277982" y="1142732"/>
            <a:ext cx="446827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 flipH="1">
            <a:off x="743652" y="2004022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6" name="text 35: 0.3" descr="sci-ppt:obj-0035"/>
          <p:cNvSpPr txBox="1"/>
          <p:nvPr/>
        </p:nvSpPr>
        <p:spPr>
          <a:xfrm>
            <a:off x="371401" y="190108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cxnSp>
        <p:nvCxnSpPr>
          <p:cNvPr id="37" name="line 36: plot geometry" descr="sci-ppt:obj-0036"/>
          <p:cNvCxnSpPr/>
          <p:nvPr/>
        </p:nvCxnSpPr>
        <p:spPr>
          <a:xfrm flipH="1">
            <a:off x="743652" y="2762375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8" name="text 37: 1.5" descr="sci-ppt:obj-0037"/>
          <p:cNvSpPr txBox="1"/>
          <p:nvPr/>
        </p:nvSpPr>
        <p:spPr>
          <a:xfrm>
            <a:off x="371401" y="2659437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39" name="line 38: plot geometry" descr="sci-ppt:obj-0038"/>
          <p:cNvCxnSpPr/>
          <p:nvPr/>
        </p:nvCxnSpPr>
        <p:spPr>
          <a:xfrm flipH="1">
            <a:off x="743652" y="352072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" name="text 39: 3" descr="sci-ppt:obj-0039"/>
          <p:cNvSpPr txBox="1"/>
          <p:nvPr/>
        </p:nvSpPr>
        <p:spPr>
          <a:xfrm>
            <a:off x="558239" y="3417790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 flipH="1">
            <a:off x="743652" y="4279080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2" name="text 41: 6" descr="sci-ppt:obj-0041"/>
          <p:cNvSpPr txBox="1"/>
          <p:nvPr/>
        </p:nvSpPr>
        <p:spPr>
          <a:xfrm>
            <a:off x="558239" y="4176142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3" name="text 42: Initial radius (µm)" descr="sci-ppt:obj-0042"/>
          <p:cNvSpPr txBox="1"/>
          <p:nvPr/>
        </p:nvSpPr>
        <p:spPr>
          <a:xfrm rot="16200000">
            <a:off x="-689741" y="2599287"/>
            <a:ext cx="184811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Initial radius (µm)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 flipV="1">
            <a:off x="799070" y="866493"/>
            <a:ext cx="0" cy="3791763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>
            <a:off x="799070" y="4658256"/>
            <a:ext cx="4525637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6" name="text 45: -774.4" descr="sci-ppt:obj-0045"/>
          <p:cNvSpPr txBox="1"/>
          <p:nvPr/>
        </p:nvSpPr>
        <p:spPr>
          <a:xfrm>
            <a:off x="1075968" y="1135908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-774.4</a:t>
            </a:r>
          </a:p>
        </p:txBody>
      </p:sp>
      <p:sp>
        <p:nvSpPr>
          <p:cNvPr id="47" name="text 46: -103.2" descr="sci-ppt:obj-0046"/>
          <p:cNvSpPr txBox="1"/>
          <p:nvPr/>
        </p:nvSpPr>
        <p:spPr>
          <a:xfrm>
            <a:off x="2207377" y="1135908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-103.2</a:t>
            </a:r>
          </a:p>
        </p:txBody>
      </p:sp>
      <p:sp>
        <p:nvSpPr>
          <p:cNvPr id="48" name="text 47: 52.1" descr="sci-ppt:obj-0047"/>
          <p:cNvSpPr txBox="1"/>
          <p:nvPr/>
        </p:nvSpPr>
        <p:spPr>
          <a:xfrm>
            <a:off x="3422863" y="1135908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52.1</a:t>
            </a:r>
          </a:p>
        </p:txBody>
      </p:sp>
      <p:sp>
        <p:nvSpPr>
          <p:cNvPr id="49" name="text 48: 131.6" descr="sci-ppt:obj-0048"/>
          <p:cNvSpPr txBox="1"/>
          <p:nvPr/>
        </p:nvSpPr>
        <p:spPr>
          <a:xfrm>
            <a:off x="4512234" y="1135908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131.6</a:t>
            </a:r>
          </a:p>
        </p:txBody>
      </p:sp>
      <p:sp>
        <p:nvSpPr>
          <p:cNvPr id="50" name="text 49: -289.1" descr="sci-ppt:obj-0049"/>
          <p:cNvSpPr txBox="1"/>
          <p:nvPr/>
        </p:nvSpPr>
        <p:spPr>
          <a:xfrm>
            <a:off x="1075968" y="1894261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-289.1</a:t>
            </a:r>
          </a:p>
        </p:txBody>
      </p:sp>
      <p:sp>
        <p:nvSpPr>
          <p:cNvPr id="51" name="text 50: -50.7" descr="sci-ppt:obj-0050"/>
          <p:cNvSpPr txBox="1"/>
          <p:nvPr/>
        </p:nvSpPr>
        <p:spPr>
          <a:xfrm>
            <a:off x="2249415" y="1894261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-50.7</a:t>
            </a:r>
          </a:p>
        </p:txBody>
      </p:sp>
      <p:sp>
        <p:nvSpPr>
          <p:cNvPr id="52" name="text 51: 28.3" descr="sci-ppt:obj-0051"/>
          <p:cNvSpPr txBox="1"/>
          <p:nvPr/>
        </p:nvSpPr>
        <p:spPr>
          <a:xfrm>
            <a:off x="3422863" y="1894261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28.3</a:t>
            </a:r>
          </a:p>
        </p:txBody>
      </p:sp>
      <p:sp>
        <p:nvSpPr>
          <p:cNvPr id="53" name="text 52: 74.4" descr="sci-ppt:obj-0052"/>
          <p:cNvSpPr txBox="1"/>
          <p:nvPr/>
        </p:nvSpPr>
        <p:spPr>
          <a:xfrm>
            <a:off x="4554273" y="1894261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74.4</a:t>
            </a:r>
          </a:p>
        </p:txBody>
      </p:sp>
      <p:sp>
        <p:nvSpPr>
          <p:cNvPr id="54" name="text 53: -10.3" descr="sci-ppt:obj-0053"/>
          <p:cNvSpPr txBox="1"/>
          <p:nvPr/>
        </p:nvSpPr>
        <p:spPr>
          <a:xfrm>
            <a:off x="1118006" y="2652614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-10.3</a:t>
            </a:r>
          </a:p>
        </p:txBody>
      </p:sp>
      <p:sp>
        <p:nvSpPr>
          <p:cNvPr id="55" name="text 54: 20.1" descr="sci-ppt:obj-0054"/>
          <p:cNvSpPr txBox="1"/>
          <p:nvPr/>
        </p:nvSpPr>
        <p:spPr>
          <a:xfrm>
            <a:off x="2291454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20.1</a:t>
            </a:r>
          </a:p>
        </p:txBody>
      </p:sp>
      <p:sp>
        <p:nvSpPr>
          <p:cNvPr id="56" name="text 55: 37.3" descr="sci-ppt:obj-0055"/>
          <p:cNvSpPr txBox="1"/>
          <p:nvPr/>
        </p:nvSpPr>
        <p:spPr>
          <a:xfrm>
            <a:off x="3422863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37.3</a:t>
            </a:r>
          </a:p>
        </p:txBody>
      </p:sp>
      <p:sp>
        <p:nvSpPr>
          <p:cNvPr id="57" name="text 56: 51.9" descr="sci-ppt:obj-0056"/>
          <p:cNvSpPr txBox="1"/>
          <p:nvPr/>
        </p:nvSpPr>
        <p:spPr>
          <a:xfrm>
            <a:off x="4554273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51.9</a:t>
            </a:r>
          </a:p>
        </p:txBody>
      </p:sp>
      <p:sp>
        <p:nvSpPr>
          <p:cNvPr id="58" name="text 57: 22.9" descr="sci-ppt:obj-0057"/>
          <p:cNvSpPr txBox="1"/>
          <p:nvPr/>
        </p:nvSpPr>
        <p:spPr>
          <a:xfrm>
            <a:off x="1160045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22.9</a:t>
            </a:r>
          </a:p>
        </p:txBody>
      </p:sp>
      <p:sp>
        <p:nvSpPr>
          <p:cNvPr id="59" name="text 58: 31.7" descr="sci-ppt:obj-0058"/>
          <p:cNvSpPr txBox="1"/>
          <p:nvPr/>
        </p:nvSpPr>
        <p:spPr>
          <a:xfrm>
            <a:off x="2291454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31.7</a:t>
            </a:r>
          </a:p>
        </p:txBody>
      </p:sp>
      <p:sp>
        <p:nvSpPr>
          <p:cNvPr id="60" name="text 59: 40.9" descr="sci-ppt:obj-0059"/>
          <p:cNvSpPr txBox="1"/>
          <p:nvPr/>
        </p:nvSpPr>
        <p:spPr>
          <a:xfrm>
            <a:off x="3422863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40.9</a:t>
            </a:r>
          </a:p>
        </p:txBody>
      </p:sp>
      <p:sp>
        <p:nvSpPr>
          <p:cNvPr id="61" name="text 60: 51.2" descr="sci-ppt:obj-0060"/>
          <p:cNvSpPr txBox="1"/>
          <p:nvPr/>
        </p:nvSpPr>
        <p:spPr>
          <a:xfrm>
            <a:off x="4554273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51.2</a:t>
            </a:r>
          </a:p>
        </p:txBody>
      </p:sp>
      <p:sp>
        <p:nvSpPr>
          <p:cNvPr id="62" name="text 61: 39.5" descr="sci-ppt:obj-0061"/>
          <p:cNvSpPr txBox="1"/>
          <p:nvPr/>
        </p:nvSpPr>
        <p:spPr>
          <a:xfrm>
            <a:off x="1160045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39.5</a:t>
            </a:r>
          </a:p>
        </p:txBody>
      </p:sp>
      <p:sp>
        <p:nvSpPr>
          <p:cNvPr id="63" name="text 62: 37.7" descr="sci-ppt:obj-0062"/>
          <p:cNvSpPr txBox="1"/>
          <p:nvPr/>
        </p:nvSpPr>
        <p:spPr>
          <a:xfrm>
            <a:off x="2291454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37.7</a:t>
            </a:r>
          </a:p>
        </p:txBody>
      </p:sp>
      <p:sp>
        <p:nvSpPr>
          <p:cNvPr id="64" name="text 63: 43.0" descr="sci-ppt:obj-0063"/>
          <p:cNvSpPr txBox="1"/>
          <p:nvPr/>
        </p:nvSpPr>
        <p:spPr>
          <a:xfrm>
            <a:off x="3422863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43.0</a:t>
            </a:r>
          </a:p>
        </p:txBody>
      </p:sp>
      <p:sp>
        <p:nvSpPr>
          <p:cNvPr id="65" name="text 64: 51.1" descr="sci-ppt:obj-0064"/>
          <p:cNvSpPr txBox="1"/>
          <p:nvPr/>
        </p:nvSpPr>
        <p:spPr>
          <a:xfrm>
            <a:off x="4554273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51.1</a:t>
            </a:r>
          </a:p>
        </p:txBody>
      </p:sp>
      <p:sp>
        <p:nvSpPr>
          <p:cNvPr id="66" name="text 65: PFP; G = 20 kPa" descr="sci-ppt:obj-0065"/>
          <p:cNvSpPr txBox="1"/>
          <p:nvPr/>
        </p:nvSpPr>
        <p:spPr>
          <a:xfrm>
            <a:off x="2184543" y="575786"/>
            <a:ext cx="1754691" cy="2565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6" b="0" i="0">
                <a:solidFill>
                  <a:srgbClr val="000000"/>
                </a:solidFill>
                <a:latin typeface="Arial"/>
              </a:rPr>
              <a:t>PFP; G = 20 kPa</a:t>
            </a:r>
          </a:p>
        </p:txBody>
      </p:sp>
      <p:sp>
        <p:nvSpPr>
          <p:cNvPr id="67" name="polygon 66: plot geometry" descr="sci-ppt:obj-0066"/>
          <p:cNvSpPr/>
          <p:nvPr/>
        </p:nvSpPr>
        <p:spPr>
          <a:xfrm>
            <a:off x="6130618" y="866493"/>
            <a:ext cx="4525637" cy="3791763"/>
          </a:xfrm>
          <a:custGeom>
            <a:avLst/>
            <a:gdLst/>
            <a:ahLst/>
            <a:cxnLst/>
            <a:rect l="l" t="t" r="r" b="b"/>
            <a:pathLst>
              <a:path w="4525637" h="3791763">
                <a:moveTo>
                  <a:pt x="0" y="3791763"/>
                </a:moveTo>
                <a:lnTo>
                  <a:pt x="4525637" y="3791763"/>
                </a:lnTo>
                <a:lnTo>
                  <a:pt x="4525637" y="0"/>
                </a:lnTo>
                <a:lnTo>
                  <a:pt x="0" y="0"/>
                </a:lnTo>
                <a:lnTo>
                  <a:pt x="0" y="37917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 67: plot geometry" descr="sci-ppt:obj-0067"/>
          <p:cNvSpPr/>
          <p:nvPr/>
        </p:nvSpPr>
        <p:spPr>
          <a:xfrm>
            <a:off x="6133344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 68: plot geometry" descr="sci-ppt:obj-0068"/>
          <p:cNvSpPr/>
          <p:nvPr/>
        </p:nvSpPr>
        <p:spPr>
          <a:xfrm>
            <a:off x="7264821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 69: plot geometry" descr="sci-ppt:obj-0069"/>
          <p:cNvSpPr/>
          <p:nvPr/>
        </p:nvSpPr>
        <p:spPr>
          <a:xfrm>
            <a:off x="8396298" y="862612"/>
            <a:ext cx="1131492" cy="759273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 70: plot geometry" descr="sci-ppt:obj-0070"/>
          <p:cNvSpPr/>
          <p:nvPr/>
        </p:nvSpPr>
        <p:spPr>
          <a:xfrm>
            <a:off x="9527774" y="862612"/>
            <a:ext cx="1131492" cy="759273"/>
          </a:xfrm>
          <a:prstGeom prst="rect">
            <a:avLst/>
          </a:prstGeom>
          <a:solidFill>
            <a:srgbClr val="65A9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 71: plot geometry" descr="sci-ppt:obj-0071"/>
          <p:cNvSpPr/>
          <p:nvPr/>
        </p:nvSpPr>
        <p:spPr>
          <a:xfrm>
            <a:off x="6133344" y="1621870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 72: plot geometry" descr="sci-ppt:obj-0072"/>
          <p:cNvSpPr/>
          <p:nvPr/>
        </p:nvSpPr>
        <p:spPr>
          <a:xfrm>
            <a:off x="7264821" y="1621870"/>
            <a:ext cx="1131492" cy="759273"/>
          </a:xfrm>
          <a:prstGeom prst="rect">
            <a:avLst/>
          </a:prstGeom>
          <a:solidFill>
            <a:srgbClr val="B61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 73: plot geometry" descr="sci-ppt:obj-0073"/>
          <p:cNvSpPr/>
          <p:nvPr/>
        </p:nvSpPr>
        <p:spPr>
          <a:xfrm>
            <a:off x="8396298" y="1621870"/>
            <a:ext cx="1131492" cy="759273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 74: plot geometry" descr="sci-ppt:obj-0074"/>
          <p:cNvSpPr/>
          <p:nvPr/>
        </p:nvSpPr>
        <p:spPr>
          <a:xfrm>
            <a:off x="9527774" y="1621870"/>
            <a:ext cx="1131492" cy="759273"/>
          </a:xfrm>
          <a:prstGeom prst="rect">
            <a:avLst/>
          </a:prstGeom>
          <a:solidFill>
            <a:srgbClr val="B6D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 75: plot geometry" descr="sci-ppt:obj-0075"/>
          <p:cNvSpPr/>
          <p:nvPr/>
        </p:nvSpPr>
        <p:spPr>
          <a:xfrm>
            <a:off x="6133344" y="2381128"/>
            <a:ext cx="1131492" cy="759273"/>
          </a:xfrm>
          <a:prstGeom prst="rect">
            <a:avLst/>
          </a:prstGeom>
          <a:solidFill>
            <a:srgbClr val="FAC8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 76: plot geometry" descr="sci-ppt:obj-0076"/>
          <p:cNvSpPr/>
          <p:nvPr/>
        </p:nvSpPr>
        <p:spPr>
          <a:xfrm>
            <a:off x="7264821" y="2381128"/>
            <a:ext cx="1131492" cy="759273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 77: plot geometry" descr="sci-ppt:obj-0077"/>
          <p:cNvSpPr/>
          <p:nvPr/>
        </p:nvSpPr>
        <p:spPr>
          <a:xfrm>
            <a:off x="8396298" y="2381128"/>
            <a:ext cx="1131492" cy="759273"/>
          </a:xfrm>
          <a:prstGeom prst="rect">
            <a:avLst/>
          </a:prstGeom>
          <a:solidFill>
            <a:srgbClr val="DAE9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 78: plot geometry" descr="sci-ppt:obj-0078"/>
          <p:cNvSpPr/>
          <p:nvPr/>
        </p:nvSpPr>
        <p:spPr>
          <a:xfrm>
            <a:off x="9527774" y="2381128"/>
            <a:ext cx="1131492" cy="759273"/>
          </a:xfrm>
          <a:prstGeom prst="rect">
            <a:avLst/>
          </a:prstGeom>
          <a:solidFill>
            <a:srgbClr val="CAE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 79: plot geometry" descr="sci-ppt:obj-0079"/>
          <p:cNvSpPr/>
          <p:nvPr/>
        </p:nvSpPr>
        <p:spPr>
          <a:xfrm>
            <a:off x="6133344" y="3140386"/>
            <a:ext cx="1131492" cy="759273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 80: plot geometry" descr="sci-ppt:obj-0080"/>
          <p:cNvSpPr/>
          <p:nvPr/>
        </p:nvSpPr>
        <p:spPr>
          <a:xfrm>
            <a:off x="7264821" y="3140386"/>
            <a:ext cx="1131492" cy="759273"/>
          </a:xfrm>
          <a:prstGeom prst="rect">
            <a:avLst/>
          </a:prstGeom>
          <a:solidFill>
            <a:srgbClr val="DD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 81: plot geometry" descr="sci-ppt:obj-0081"/>
          <p:cNvSpPr/>
          <p:nvPr/>
        </p:nvSpPr>
        <p:spPr>
          <a:xfrm>
            <a:off x="8396298" y="3140386"/>
            <a:ext cx="1131492" cy="759273"/>
          </a:xfrm>
          <a:prstGeom prst="rect">
            <a:avLst/>
          </a:prstGeom>
          <a:solidFill>
            <a:srgbClr val="D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 82: plot geometry" descr="sci-ppt:obj-0082"/>
          <p:cNvSpPr/>
          <p:nvPr/>
        </p:nvSpPr>
        <p:spPr>
          <a:xfrm>
            <a:off x="9527774" y="3140386"/>
            <a:ext cx="1131492" cy="759273"/>
          </a:xfrm>
          <a:prstGeom prst="rect">
            <a:avLst/>
          </a:prstGeom>
          <a:solidFill>
            <a:srgbClr val="CAE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 83: plot geometry" descr="sci-ppt:obj-0083"/>
          <p:cNvSpPr/>
          <p:nvPr/>
        </p:nvSpPr>
        <p:spPr>
          <a:xfrm>
            <a:off x="6133344" y="3899644"/>
            <a:ext cx="1131492" cy="759273"/>
          </a:xfrm>
          <a:prstGeom prst="rect">
            <a:avLst/>
          </a:prstGeom>
          <a:solidFill>
            <a:srgbClr val="D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 84: plot geometry" descr="sci-ppt:obj-0084"/>
          <p:cNvSpPr/>
          <p:nvPr/>
        </p:nvSpPr>
        <p:spPr>
          <a:xfrm>
            <a:off x="7264821" y="3899644"/>
            <a:ext cx="1131492" cy="759273"/>
          </a:xfrm>
          <a:prstGeom prst="rect">
            <a:avLst/>
          </a:prstGeom>
          <a:solidFill>
            <a:srgbClr val="D7E8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 85: plot geometry" descr="sci-ppt:obj-0085"/>
          <p:cNvSpPr/>
          <p:nvPr/>
        </p:nvSpPr>
        <p:spPr>
          <a:xfrm>
            <a:off x="8396298" y="3899644"/>
            <a:ext cx="1131492" cy="759273"/>
          </a:xfrm>
          <a:prstGeom prst="rect">
            <a:avLst/>
          </a:prstGeom>
          <a:solidFill>
            <a:srgbClr val="D2E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 86: plot geometry" descr="sci-ppt:obj-0086"/>
          <p:cNvSpPr/>
          <p:nvPr/>
        </p:nvSpPr>
        <p:spPr>
          <a:xfrm>
            <a:off x="9527774" y="3899644"/>
            <a:ext cx="1131492" cy="759273"/>
          </a:xfrm>
          <a:prstGeom prst="rect">
            <a:avLst/>
          </a:prstGeom>
          <a:solidFill>
            <a:srgbClr val="C7E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8" name="line 87: plot geometry" descr="sci-ppt:obj-0087"/>
          <p:cNvCxnSpPr/>
          <p:nvPr/>
        </p:nvCxnSpPr>
        <p:spPr>
          <a:xfrm>
            <a:off x="6696322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89" name="text 88: 1.2" descr="sci-ppt:obj-0088"/>
          <p:cNvSpPr txBox="1"/>
          <p:nvPr/>
        </p:nvSpPr>
        <p:spPr>
          <a:xfrm>
            <a:off x="6519618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90" name="line 89: plot geometry" descr="sci-ppt:obj-0089"/>
          <p:cNvCxnSpPr/>
          <p:nvPr/>
        </p:nvCxnSpPr>
        <p:spPr>
          <a:xfrm>
            <a:off x="7827732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1" name="text 90: 1.5" descr="sci-ppt:obj-0090"/>
          <p:cNvSpPr txBox="1"/>
          <p:nvPr/>
        </p:nvSpPr>
        <p:spPr>
          <a:xfrm>
            <a:off x="7651027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92" name="line 91: plot geometry" descr="sci-ppt:obj-0091"/>
          <p:cNvCxnSpPr/>
          <p:nvPr/>
        </p:nvCxnSpPr>
        <p:spPr>
          <a:xfrm>
            <a:off x="8959141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3" name="text 92: 1.8" descr="sci-ppt:obj-0092"/>
          <p:cNvSpPr txBox="1"/>
          <p:nvPr/>
        </p:nvSpPr>
        <p:spPr>
          <a:xfrm>
            <a:off x="8782437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94" name="line 93: plot geometry" descr="sci-ppt:obj-0093"/>
          <p:cNvCxnSpPr/>
          <p:nvPr/>
        </p:nvCxnSpPr>
        <p:spPr>
          <a:xfrm>
            <a:off x="10090550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5" name="text 94: 2.1" descr="sci-ppt:obj-0094"/>
          <p:cNvSpPr txBox="1"/>
          <p:nvPr/>
        </p:nvSpPr>
        <p:spPr>
          <a:xfrm>
            <a:off x="9913846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96" name="text 95: Outer-radius stretch" descr="sci-ppt:obj-0095"/>
          <p:cNvSpPr txBox="1"/>
          <p:nvPr/>
        </p:nvSpPr>
        <p:spPr>
          <a:xfrm>
            <a:off x="7422672" y="4947988"/>
            <a:ext cx="1941529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cxnSp>
        <p:nvCxnSpPr>
          <p:cNvPr id="97" name="line 96: plot geometry" descr="sci-ppt:obj-0096"/>
          <p:cNvCxnSpPr/>
          <p:nvPr/>
        </p:nvCxnSpPr>
        <p:spPr>
          <a:xfrm flipH="1">
            <a:off x="6075200" y="1245669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8" name="text 97: 0.15" descr="sci-ppt:obj-0097"/>
          <p:cNvSpPr txBox="1"/>
          <p:nvPr/>
        </p:nvSpPr>
        <p:spPr>
          <a:xfrm>
            <a:off x="5609530" y="1142732"/>
            <a:ext cx="446827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cxnSp>
        <p:nvCxnSpPr>
          <p:cNvPr id="99" name="line 98: plot geometry" descr="sci-ppt:obj-0098"/>
          <p:cNvCxnSpPr/>
          <p:nvPr/>
        </p:nvCxnSpPr>
        <p:spPr>
          <a:xfrm flipH="1">
            <a:off x="6075200" y="2004022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0" name="text 99: 0.3" descr="sci-ppt:obj-0099"/>
          <p:cNvSpPr txBox="1"/>
          <p:nvPr/>
        </p:nvSpPr>
        <p:spPr>
          <a:xfrm>
            <a:off x="5702949" y="190108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 flipH="1">
            <a:off x="6075200" y="2762375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2" name="text 101: 1.5" descr="sci-ppt:obj-0101"/>
          <p:cNvSpPr txBox="1"/>
          <p:nvPr/>
        </p:nvSpPr>
        <p:spPr>
          <a:xfrm>
            <a:off x="5702949" y="2659437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103" name="line 102: plot geometry" descr="sci-ppt:obj-0102"/>
          <p:cNvCxnSpPr/>
          <p:nvPr/>
        </p:nvCxnSpPr>
        <p:spPr>
          <a:xfrm flipH="1">
            <a:off x="6075200" y="352072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4" name="text 103: 3" descr="sci-ppt:obj-0103"/>
          <p:cNvSpPr txBox="1"/>
          <p:nvPr/>
        </p:nvSpPr>
        <p:spPr>
          <a:xfrm>
            <a:off x="5889787" y="3417790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05" name="line 104: plot geometry" descr="sci-ppt:obj-0104"/>
          <p:cNvCxnSpPr/>
          <p:nvPr/>
        </p:nvCxnSpPr>
        <p:spPr>
          <a:xfrm flipH="1">
            <a:off x="6075200" y="4279080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6" name="text 105: 6" descr="sci-ppt:obj-0105"/>
          <p:cNvSpPr txBox="1"/>
          <p:nvPr/>
        </p:nvSpPr>
        <p:spPr>
          <a:xfrm>
            <a:off x="5889787" y="4176142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7" name="text 106: Initial radius (µm)" descr="sci-ppt:obj-0106"/>
          <p:cNvSpPr txBox="1"/>
          <p:nvPr/>
        </p:nvSpPr>
        <p:spPr>
          <a:xfrm rot="16200000">
            <a:off x="4641806" y="2599287"/>
            <a:ext cx="184811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Initial radius (µm)</a:t>
            </a:r>
          </a:p>
        </p:txBody>
      </p:sp>
      <p:cxnSp>
        <p:nvCxnSpPr>
          <p:cNvPr id="108" name="line 107: plot geometry" descr="sci-ppt:obj-0107"/>
          <p:cNvCxnSpPr/>
          <p:nvPr/>
        </p:nvCxnSpPr>
        <p:spPr>
          <a:xfrm flipV="1">
            <a:off x="6130618" y="866493"/>
            <a:ext cx="0" cy="3791763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cxnSp>
        <p:nvCxnSpPr>
          <p:cNvPr id="109" name="line 108: plot geometry" descr="sci-ppt:obj-0108"/>
          <p:cNvCxnSpPr/>
          <p:nvPr/>
        </p:nvCxnSpPr>
        <p:spPr>
          <a:xfrm>
            <a:off x="6130618" y="4658256"/>
            <a:ext cx="4525637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10" name="text 109: -1649.6" descr="sci-ppt:obj-0109"/>
          <p:cNvSpPr txBox="1"/>
          <p:nvPr/>
        </p:nvSpPr>
        <p:spPr>
          <a:xfrm>
            <a:off x="6365477" y="1135908"/>
            <a:ext cx="661690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-1649.6</a:t>
            </a:r>
          </a:p>
        </p:txBody>
      </p:sp>
      <p:sp>
        <p:nvSpPr>
          <p:cNvPr id="111" name="text 110: -163.5" descr="sci-ppt:obj-0110"/>
          <p:cNvSpPr txBox="1"/>
          <p:nvPr/>
        </p:nvSpPr>
        <p:spPr>
          <a:xfrm>
            <a:off x="7538925" y="1135908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-163.5</a:t>
            </a:r>
          </a:p>
        </p:txBody>
      </p:sp>
      <p:sp>
        <p:nvSpPr>
          <p:cNvPr id="112" name="text 111: 15.0" descr="sci-ppt:obj-0111"/>
          <p:cNvSpPr txBox="1"/>
          <p:nvPr/>
        </p:nvSpPr>
        <p:spPr>
          <a:xfrm>
            <a:off x="8754411" y="1135908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15.0</a:t>
            </a:r>
          </a:p>
        </p:txBody>
      </p:sp>
      <p:sp>
        <p:nvSpPr>
          <p:cNvPr id="113" name="text 112: 102.7" descr="sci-ppt:obj-0112"/>
          <p:cNvSpPr txBox="1"/>
          <p:nvPr/>
        </p:nvSpPr>
        <p:spPr>
          <a:xfrm>
            <a:off x="9843782" y="1135908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102.7</a:t>
            </a:r>
          </a:p>
        </p:txBody>
      </p:sp>
      <p:sp>
        <p:nvSpPr>
          <p:cNvPr id="114" name="text 113: -414.6" descr="sci-ppt:obj-0113"/>
          <p:cNvSpPr txBox="1"/>
          <p:nvPr/>
        </p:nvSpPr>
        <p:spPr>
          <a:xfrm>
            <a:off x="6407515" y="1894261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-414.6</a:t>
            </a:r>
          </a:p>
        </p:txBody>
      </p:sp>
      <p:sp>
        <p:nvSpPr>
          <p:cNvPr id="115" name="text 114: -78.1" descr="sci-ppt:obj-0114"/>
          <p:cNvSpPr txBox="1"/>
          <p:nvPr/>
        </p:nvSpPr>
        <p:spPr>
          <a:xfrm>
            <a:off x="7580963" y="1894261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-78.1</a:t>
            </a:r>
          </a:p>
        </p:txBody>
      </p:sp>
      <p:sp>
        <p:nvSpPr>
          <p:cNvPr id="116" name="text 115: 8.6" descr="sci-ppt:obj-0115"/>
          <p:cNvSpPr txBox="1"/>
          <p:nvPr/>
        </p:nvSpPr>
        <p:spPr>
          <a:xfrm>
            <a:off x="8796450" y="1894261"/>
            <a:ext cx="325382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8.6</a:t>
            </a:r>
          </a:p>
        </p:txBody>
      </p:sp>
      <p:sp>
        <p:nvSpPr>
          <p:cNvPr id="117" name="text 116: 57.5" descr="sci-ppt:obj-0116"/>
          <p:cNvSpPr txBox="1"/>
          <p:nvPr/>
        </p:nvSpPr>
        <p:spPr>
          <a:xfrm>
            <a:off x="9885821" y="1894261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57.5</a:t>
            </a:r>
          </a:p>
        </p:txBody>
      </p:sp>
      <p:sp>
        <p:nvSpPr>
          <p:cNvPr id="118" name="text 117: -27.0" descr="sci-ppt:obj-0117"/>
          <p:cNvSpPr txBox="1"/>
          <p:nvPr/>
        </p:nvSpPr>
        <p:spPr>
          <a:xfrm>
            <a:off x="6449554" y="2652614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-27.0</a:t>
            </a:r>
          </a:p>
        </p:txBody>
      </p:sp>
      <p:sp>
        <p:nvSpPr>
          <p:cNvPr id="119" name="text 118: 12.9" descr="sci-ppt:obj-0118"/>
          <p:cNvSpPr txBox="1"/>
          <p:nvPr/>
        </p:nvSpPr>
        <p:spPr>
          <a:xfrm>
            <a:off x="7623002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12.9</a:t>
            </a:r>
          </a:p>
        </p:txBody>
      </p:sp>
      <p:sp>
        <p:nvSpPr>
          <p:cNvPr id="120" name="text 119: 30.4" descr="sci-ppt:obj-0119"/>
          <p:cNvSpPr txBox="1"/>
          <p:nvPr/>
        </p:nvSpPr>
        <p:spPr>
          <a:xfrm>
            <a:off x="8754411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30.4</a:t>
            </a:r>
          </a:p>
        </p:txBody>
      </p:sp>
      <p:sp>
        <p:nvSpPr>
          <p:cNvPr id="121" name="text 120: 44.6" descr="sci-ppt:obj-0120"/>
          <p:cNvSpPr txBox="1"/>
          <p:nvPr/>
        </p:nvSpPr>
        <p:spPr>
          <a:xfrm>
            <a:off x="9885821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44.6</a:t>
            </a:r>
          </a:p>
        </p:txBody>
      </p:sp>
      <p:sp>
        <p:nvSpPr>
          <p:cNvPr id="122" name="text 121: 14.2" descr="sci-ppt:obj-0121"/>
          <p:cNvSpPr txBox="1"/>
          <p:nvPr/>
        </p:nvSpPr>
        <p:spPr>
          <a:xfrm>
            <a:off x="6491592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14.2</a:t>
            </a:r>
          </a:p>
        </p:txBody>
      </p:sp>
      <p:sp>
        <p:nvSpPr>
          <p:cNvPr id="123" name="text 122: 26.7" descr="sci-ppt:obj-0122"/>
          <p:cNvSpPr txBox="1"/>
          <p:nvPr/>
        </p:nvSpPr>
        <p:spPr>
          <a:xfrm>
            <a:off x="7623002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26.7</a:t>
            </a:r>
          </a:p>
        </p:txBody>
      </p:sp>
      <p:sp>
        <p:nvSpPr>
          <p:cNvPr id="124" name="text 123: 35.5" descr="sci-ppt:obj-0123"/>
          <p:cNvSpPr txBox="1"/>
          <p:nvPr/>
        </p:nvSpPr>
        <p:spPr>
          <a:xfrm>
            <a:off x="8754411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35.5</a:t>
            </a:r>
          </a:p>
        </p:txBody>
      </p:sp>
      <p:sp>
        <p:nvSpPr>
          <p:cNvPr id="125" name="text 124: 45.1" descr="sci-ppt:obj-0124"/>
          <p:cNvSpPr txBox="1"/>
          <p:nvPr/>
        </p:nvSpPr>
        <p:spPr>
          <a:xfrm>
            <a:off x="9885821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45.1</a:t>
            </a:r>
          </a:p>
        </p:txBody>
      </p:sp>
      <p:sp>
        <p:nvSpPr>
          <p:cNvPr id="126" name="text 125: 34.4" descr="sci-ppt:obj-0125"/>
          <p:cNvSpPr txBox="1"/>
          <p:nvPr/>
        </p:nvSpPr>
        <p:spPr>
          <a:xfrm>
            <a:off x="6491592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34.4</a:t>
            </a:r>
          </a:p>
        </p:txBody>
      </p:sp>
      <p:sp>
        <p:nvSpPr>
          <p:cNvPr id="127" name="text 126: 33.9" descr="sci-ppt:obj-0126"/>
          <p:cNvSpPr txBox="1"/>
          <p:nvPr/>
        </p:nvSpPr>
        <p:spPr>
          <a:xfrm>
            <a:off x="7623002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33.9</a:t>
            </a:r>
          </a:p>
        </p:txBody>
      </p:sp>
      <p:sp>
        <p:nvSpPr>
          <p:cNvPr id="128" name="text 127: 38.4" descr="sci-ppt:obj-0127"/>
          <p:cNvSpPr txBox="1"/>
          <p:nvPr/>
        </p:nvSpPr>
        <p:spPr>
          <a:xfrm>
            <a:off x="8754411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38.4</a:t>
            </a:r>
          </a:p>
        </p:txBody>
      </p:sp>
      <p:sp>
        <p:nvSpPr>
          <p:cNvPr id="129" name="text 128: 45.6" descr="sci-ppt:obj-0128"/>
          <p:cNvSpPr txBox="1"/>
          <p:nvPr/>
        </p:nvSpPr>
        <p:spPr>
          <a:xfrm>
            <a:off x="9885821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45.6</a:t>
            </a:r>
          </a:p>
        </p:txBody>
      </p:sp>
      <p:sp>
        <p:nvSpPr>
          <p:cNvPr id="130" name="text 129: PFH; G = 20 kPa" descr="sci-ppt:obj-0129"/>
          <p:cNvSpPr txBox="1"/>
          <p:nvPr/>
        </p:nvSpPr>
        <p:spPr>
          <a:xfrm>
            <a:off x="7516091" y="575786"/>
            <a:ext cx="1754691" cy="2565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6" b="0" i="0">
                <a:solidFill>
                  <a:srgbClr val="000000"/>
                </a:solidFill>
                <a:latin typeface="Arial"/>
              </a:rPr>
              <a:t>PFH; G = 20 kPa</a:t>
            </a:r>
          </a:p>
        </p:txBody>
      </p:sp>
      <p:sp>
        <p:nvSpPr>
          <p:cNvPr id="131" name="polygon 130: plot geometry" descr="sci-ppt:obj-0130"/>
          <p:cNvSpPr/>
          <p:nvPr/>
        </p:nvSpPr>
        <p:spPr>
          <a:xfrm>
            <a:off x="11149114" y="1150875"/>
            <a:ext cx="161150" cy="3069523"/>
          </a:xfrm>
          <a:custGeom>
            <a:avLst/>
            <a:gdLst/>
            <a:ahLst/>
            <a:cxnLst/>
            <a:rect l="l" t="t" r="r" b="b"/>
            <a:pathLst>
              <a:path w="161150" h="3069523">
                <a:moveTo>
                  <a:pt x="0" y="3069523"/>
                </a:moveTo>
                <a:lnTo>
                  <a:pt x="161150" y="3069523"/>
                </a:lnTo>
                <a:lnTo>
                  <a:pt x="161150" y="0"/>
                </a:lnTo>
                <a:lnTo>
                  <a:pt x="0" y="0"/>
                </a:lnTo>
                <a:lnTo>
                  <a:pt x="0" y="30695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polygon 131: plot geometry" descr="sci-ppt:obj-0131"/>
          <p:cNvSpPr/>
          <p:nvPr/>
        </p:nvSpPr>
        <p:spPr>
          <a:xfrm>
            <a:off x="11149114" y="4220398"/>
            <a:ext cx="161150" cy="153476"/>
          </a:xfrm>
          <a:custGeom>
            <a:avLst/>
            <a:gdLst/>
            <a:ahLst/>
            <a:cxnLst/>
            <a:rect l="l" t="t" r="r" b="b"/>
            <a:pathLst>
              <a:path w="161150" h="153476">
                <a:moveTo>
                  <a:pt x="0" y="0"/>
                </a:moveTo>
                <a:lnTo>
                  <a:pt x="80575" y="153476"/>
                </a:lnTo>
                <a:lnTo>
                  <a:pt x="161150" y="0"/>
                </a:lnTo>
              </a:path>
            </a:pathLst>
          </a:cu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 132: plot geometry" descr="sci-ppt:obj-0132"/>
          <p:cNvSpPr/>
          <p:nvPr/>
        </p:nvSpPr>
        <p:spPr>
          <a:xfrm>
            <a:off x="11149463" y="1140026"/>
            <a:ext cx="159603" cy="11416"/>
          </a:xfrm>
          <a:prstGeom prst="rect">
            <a:avLst/>
          </a:prstGeom>
          <a:solidFill>
            <a:srgbClr val="0530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 133: plot geometry" descr="sci-ppt:obj-0133"/>
          <p:cNvSpPr/>
          <p:nvPr/>
        </p:nvSpPr>
        <p:spPr>
          <a:xfrm>
            <a:off x="11149463" y="1151427"/>
            <a:ext cx="159603" cy="11416"/>
          </a:xfrm>
          <a:prstGeom prst="rect">
            <a:avLst/>
          </a:prstGeom>
          <a:solidFill>
            <a:srgbClr val="0632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 134: plot geometry" descr="sci-ppt:obj-0134"/>
          <p:cNvSpPr/>
          <p:nvPr/>
        </p:nvSpPr>
        <p:spPr>
          <a:xfrm>
            <a:off x="11149463" y="1162827"/>
            <a:ext cx="159603" cy="11416"/>
          </a:xfrm>
          <a:prstGeom prst="rect">
            <a:avLst/>
          </a:prstGeom>
          <a:solidFill>
            <a:srgbClr val="0734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 135: plot geometry" descr="sci-ppt:obj-0135"/>
          <p:cNvSpPr/>
          <p:nvPr/>
        </p:nvSpPr>
        <p:spPr>
          <a:xfrm>
            <a:off x="11149463" y="1174227"/>
            <a:ext cx="159603" cy="11416"/>
          </a:xfrm>
          <a:prstGeom prst="rect">
            <a:avLst/>
          </a:prstGeom>
          <a:solidFill>
            <a:srgbClr val="08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 136: plot geometry" descr="sci-ppt:obj-0136"/>
          <p:cNvSpPr/>
          <p:nvPr/>
        </p:nvSpPr>
        <p:spPr>
          <a:xfrm>
            <a:off x="11149463" y="1185627"/>
            <a:ext cx="159603" cy="11416"/>
          </a:xfrm>
          <a:prstGeom prst="rect">
            <a:avLst/>
          </a:prstGeom>
          <a:solidFill>
            <a:srgbClr val="09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 137: plot geometry" descr="sci-ppt:obj-0137"/>
          <p:cNvSpPr/>
          <p:nvPr/>
        </p:nvSpPr>
        <p:spPr>
          <a:xfrm>
            <a:off x="11149463" y="1197028"/>
            <a:ext cx="159603" cy="11416"/>
          </a:xfrm>
          <a:prstGeom prst="rect">
            <a:avLst/>
          </a:prstGeom>
          <a:solidFill>
            <a:srgbClr val="0A3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 138: plot geometry" descr="sci-ppt:obj-0138"/>
          <p:cNvSpPr/>
          <p:nvPr/>
        </p:nvSpPr>
        <p:spPr>
          <a:xfrm>
            <a:off x="11149463" y="1208428"/>
            <a:ext cx="159603" cy="11416"/>
          </a:xfrm>
          <a:prstGeom prst="rect">
            <a:avLst/>
          </a:prstGeom>
          <a:solidFill>
            <a:srgbClr val="0C3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 139: plot geometry" descr="sci-ppt:obj-0139"/>
          <p:cNvSpPr/>
          <p:nvPr/>
        </p:nvSpPr>
        <p:spPr>
          <a:xfrm>
            <a:off x="11149463" y="1219828"/>
            <a:ext cx="159603" cy="11416"/>
          </a:xfrm>
          <a:prstGeom prst="rect">
            <a:avLst/>
          </a:prstGeom>
          <a:solidFill>
            <a:srgbClr val="0D3F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 140: plot geometry" descr="sci-ppt:obj-0140"/>
          <p:cNvSpPr/>
          <p:nvPr/>
        </p:nvSpPr>
        <p:spPr>
          <a:xfrm>
            <a:off x="11149463" y="1231229"/>
            <a:ext cx="159603" cy="11416"/>
          </a:xfrm>
          <a:prstGeom prst="rect">
            <a:avLst/>
          </a:prstGeom>
          <a:solidFill>
            <a:srgbClr val="0E41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 141: plot geometry" descr="sci-ppt:obj-0141"/>
          <p:cNvSpPr/>
          <p:nvPr/>
        </p:nvSpPr>
        <p:spPr>
          <a:xfrm>
            <a:off x="11149463" y="1242629"/>
            <a:ext cx="159603" cy="11416"/>
          </a:xfrm>
          <a:prstGeom prst="rect">
            <a:avLst/>
          </a:prstGeom>
          <a:solidFill>
            <a:srgbClr val="0F4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 142: plot geometry" descr="sci-ppt:obj-0142"/>
          <p:cNvSpPr/>
          <p:nvPr/>
        </p:nvSpPr>
        <p:spPr>
          <a:xfrm>
            <a:off x="11149463" y="1254029"/>
            <a:ext cx="159603" cy="11416"/>
          </a:xfrm>
          <a:prstGeom prst="rect">
            <a:avLst/>
          </a:prstGeom>
          <a:solidFill>
            <a:srgbClr val="0F4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 143: plot geometry" descr="sci-ppt:obj-0143"/>
          <p:cNvSpPr/>
          <p:nvPr/>
        </p:nvSpPr>
        <p:spPr>
          <a:xfrm>
            <a:off x="11149463" y="1265429"/>
            <a:ext cx="159603" cy="11416"/>
          </a:xfrm>
          <a:prstGeom prst="rect">
            <a:avLst/>
          </a:prstGeom>
          <a:solidFill>
            <a:srgbClr val="1045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 144: plot geometry" descr="sci-ppt:obj-0144"/>
          <p:cNvSpPr/>
          <p:nvPr/>
        </p:nvSpPr>
        <p:spPr>
          <a:xfrm>
            <a:off x="11149463" y="1276830"/>
            <a:ext cx="159603" cy="11416"/>
          </a:xfrm>
          <a:prstGeom prst="rect">
            <a:avLst/>
          </a:prstGeom>
          <a:solidFill>
            <a:srgbClr val="1147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 145: plot geometry" descr="sci-ppt:obj-0145"/>
          <p:cNvSpPr/>
          <p:nvPr/>
        </p:nvSpPr>
        <p:spPr>
          <a:xfrm>
            <a:off x="11149463" y="1288230"/>
            <a:ext cx="159603" cy="11416"/>
          </a:xfrm>
          <a:prstGeom prst="rect">
            <a:avLst/>
          </a:prstGeom>
          <a:solidFill>
            <a:srgbClr val="1249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 146: plot geometry" descr="sci-ppt:obj-0146"/>
          <p:cNvSpPr/>
          <p:nvPr/>
        </p:nvSpPr>
        <p:spPr>
          <a:xfrm>
            <a:off x="11149463" y="1299630"/>
            <a:ext cx="159603" cy="11416"/>
          </a:xfrm>
          <a:prstGeom prst="rect">
            <a:avLst/>
          </a:prstGeom>
          <a:solidFill>
            <a:srgbClr val="134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 147: plot geometry" descr="sci-ppt:obj-0147"/>
          <p:cNvSpPr/>
          <p:nvPr/>
        </p:nvSpPr>
        <p:spPr>
          <a:xfrm>
            <a:off x="11149463" y="1311030"/>
            <a:ext cx="159603" cy="11416"/>
          </a:xfrm>
          <a:prstGeom prst="rect">
            <a:avLst/>
          </a:prstGeom>
          <a:solidFill>
            <a:srgbClr val="144E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 148: plot geometry" descr="sci-ppt:obj-0148"/>
          <p:cNvSpPr/>
          <p:nvPr/>
        </p:nvSpPr>
        <p:spPr>
          <a:xfrm>
            <a:off x="11149463" y="1322431"/>
            <a:ext cx="159603" cy="11416"/>
          </a:xfrm>
          <a:prstGeom prst="rect">
            <a:avLst/>
          </a:prstGeom>
          <a:solidFill>
            <a:srgbClr val="1550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 149: plot geometry" descr="sci-ppt:obj-0149"/>
          <p:cNvSpPr/>
          <p:nvPr/>
        </p:nvSpPr>
        <p:spPr>
          <a:xfrm>
            <a:off x="11149463" y="1333831"/>
            <a:ext cx="159603" cy="11416"/>
          </a:xfrm>
          <a:prstGeom prst="rect">
            <a:avLst/>
          </a:prstGeom>
          <a:solidFill>
            <a:srgbClr val="1752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ct 150: plot geometry" descr="sci-ppt:obj-0150"/>
          <p:cNvSpPr/>
          <p:nvPr/>
        </p:nvSpPr>
        <p:spPr>
          <a:xfrm>
            <a:off x="11149463" y="1345231"/>
            <a:ext cx="159603" cy="11416"/>
          </a:xfrm>
          <a:prstGeom prst="rect">
            <a:avLst/>
          </a:prstGeom>
          <a:solidFill>
            <a:srgbClr val="1854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 151: plot geometry" descr="sci-ppt:obj-0151"/>
          <p:cNvSpPr/>
          <p:nvPr/>
        </p:nvSpPr>
        <p:spPr>
          <a:xfrm>
            <a:off x="11149463" y="1356632"/>
            <a:ext cx="159603" cy="11416"/>
          </a:xfrm>
          <a:prstGeom prst="rect">
            <a:avLst/>
          </a:prstGeom>
          <a:solidFill>
            <a:srgbClr val="1956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 152: plot geometry" descr="sci-ppt:obj-0152"/>
          <p:cNvSpPr/>
          <p:nvPr/>
        </p:nvSpPr>
        <p:spPr>
          <a:xfrm>
            <a:off x="11149463" y="1368032"/>
            <a:ext cx="159603" cy="11416"/>
          </a:xfrm>
          <a:prstGeom prst="rect">
            <a:avLst/>
          </a:prstGeom>
          <a:solidFill>
            <a:srgbClr val="1A58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 153: plot geometry" descr="sci-ppt:obj-0153"/>
          <p:cNvSpPr/>
          <p:nvPr/>
        </p:nvSpPr>
        <p:spPr>
          <a:xfrm>
            <a:off x="11149463" y="1379432"/>
            <a:ext cx="159603" cy="11416"/>
          </a:xfrm>
          <a:prstGeom prst="rect">
            <a:avLst/>
          </a:prstGeom>
          <a:solidFill>
            <a:srgbClr val="1B5A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 154: plot geometry" descr="sci-ppt:obj-0154"/>
          <p:cNvSpPr/>
          <p:nvPr/>
        </p:nvSpPr>
        <p:spPr>
          <a:xfrm>
            <a:off x="11149463" y="1390832"/>
            <a:ext cx="159603" cy="11416"/>
          </a:xfrm>
          <a:prstGeom prst="rect">
            <a:avLst/>
          </a:prstGeom>
          <a:solidFill>
            <a:srgbClr val="1C5C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 155: plot geometry" descr="sci-ppt:obj-0155"/>
          <p:cNvSpPr/>
          <p:nvPr/>
        </p:nvSpPr>
        <p:spPr>
          <a:xfrm>
            <a:off x="11149463" y="1402233"/>
            <a:ext cx="159603" cy="11416"/>
          </a:xfrm>
          <a:prstGeom prst="rect">
            <a:avLst/>
          </a:prstGeom>
          <a:solidFill>
            <a:srgbClr val="1D5F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 156: plot geometry" descr="sci-ppt:obj-0156"/>
          <p:cNvSpPr/>
          <p:nvPr/>
        </p:nvSpPr>
        <p:spPr>
          <a:xfrm>
            <a:off x="11149463" y="1413633"/>
            <a:ext cx="159603" cy="11416"/>
          </a:xfrm>
          <a:prstGeom prst="rect">
            <a:avLst/>
          </a:prstGeom>
          <a:solidFill>
            <a:srgbClr val="1E61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 157: plot geometry" descr="sci-ppt:obj-0157"/>
          <p:cNvSpPr/>
          <p:nvPr/>
        </p:nvSpPr>
        <p:spPr>
          <a:xfrm>
            <a:off x="11149463" y="1425033"/>
            <a:ext cx="159603" cy="11416"/>
          </a:xfrm>
          <a:prstGeom prst="rect">
            <a:avLst/>
          </a:prstGeom>
          <a:solidFill>
            <a:srgbClr val="1F6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 158: plot geometry" descr="sci-ppt:obj-0158"/>
          <p:cNvSpPr/>
          <p:nvPr/>
        </p:nvSpPr>
        <p:spPr>
          <a:xfrm>
            <a:off x="11149463" y="1436433"/>
            <a:ext cx="159603" cy="11416"/>
          </a:xfrm>
          <a:prstGeom prst="rect">
            <a:avLst/>
          </a:prstGeom>
          <a:solidFill>
            <a:srgbClr val="2065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 159: plot geometry" descr="sci-ppt:obj-0159"/>
          <p:cNvSpPr/>
          <p:nvPr/>
        </p:nvSpPr>
        <p:spPr>
          <a:xfrm>
            <a:off x="11149463" y="1447834"/>
            <a:ext cx="159603" cy="11416"/>
          </a:xfrm>
          <a:prstGeom prst="rect">
            <a:avLst/>
          </a:prstGeom>
          <a:solidFill>
            <a:srgbClr val="2267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 160: plot geometry" descr="sci-ppt:obj-0160"/>
          <p:cNvSpPr/>
          <p:nvPr/>
        </p:nvSpPr>
        <p:spPr>
          <a:xfrm>
            <a:off x="11149463" y="1459234"/>
            <a:ext cx="159603" cy="11416"/>
          </a:xfrm>
          <a:prstGeom prst="rect">
            <a:avLst/>
          </a:prstGeom>
          <a:solidFill>
            <a:srgbClr val="2369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 161: plot geometry" descr="sci-ppt:obj-0161"/>
          <p:cNvSpPr/>
          <p:nvPr/>
        </p:nvSpPr>
        <p:spPr>
          <a:xfrm>
            <a:off x="11149463" y="1470634"/>
            <a:ext cx="159603" cy="11416"/>
          </a:xfrm>
          <a:prstGeom prst="rect">
            <a:avLst/>
          </a:prstGeom>
          <a:solidFill>
            <a:srgbClr val="2369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 162: plot geometry" descr="sci-ppt:obj-0162"/>
          <p:cNvSpPr/>
          <p:nvPr/>
        </p:nvSpPr>
        <p:spPr>
          <a:xfrm>
            <a:off x="11149463" y="1482034"/>
            <a:ext cx="159603" cy="11416"/>
          </a:xfrm>
          <a:prstGeom prst="rect">
            <a:avLst/>
          </a:prstGeom>
          <a:solidFill>
            <a:srgbClr val="246A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 163: plot geometry" descr="sci-ppt:obj-0163"/>
          <p:cNvSpPr/>
          <p:nvPr/>
        </p:nvSpPr>
        <p:spPr>
          <a:xfrm>
            <a:off x="11149463" y="1493435"/>
            <a:ext cx="159603" cy="11416"/>
          </a:xfrm>
          <a:prstGeom prst="rect">
            <a:avLst/>
          </a:prstGeom>
          <a:solidFill>
            <a:srgbClr val="266C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 164: plot geometry" descr="sci-ppt:obj-0164"/>
          <p:cNvSpPr/>
          <p:nvPr/>
        </p:nvSpPr>
        <p:spPr>
          <a:xfrm>
            <a:off x="11149463" y="1504835"/>
            <a:ext cx="159603" cy="11416"/>
          </a:xfrm>
          <a:prstGeom prst="rect">
            <a:avLst/>
          </a:prstGeom>
          <a:solidFill>
            <a:srgbClr val="276E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 165: plot geometry" descr="sci-ppt:obj-0165"/>
          <p:cNvSpPr/>
          <p:nvPr/>
        </p:nvSpPr>
        <p:spPr>
          <a:xfrm>
            <a:off x="11149463" y="1516235"/>
            <a:ext cx="159603" cy="11416"/>
          </a:xfrm>
          <a:prstGeom prst="rect">
            <a:avLst/>
          </a:prstGeom>
          <a:solidFill>
            <a:srgbClr val="2870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 166: plot geometry" descr="sci-ppt:obj-0166"/>
          <p:cNvSpPr/>
          <p:nvPr/>
        </p:nvSpPr>
        <p:spPr>
          <a:xfrm>
            <a:off x="11149463" y="1527636"/>
            <a:ext cx="159603" cy="11416"/>
          </a:xfrm>
          <a:prstGeom prst="rect">
            <a:avLst/>
          </a:prstGeom>
          <a:solidFill>
            <a:srgbClr val="2A71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 167: plot geometry" descr="sci-ppt:obj-0167"/>
          <p:cNvSpPr/>
          <p:nvPr/>
        </p:nvSpPr>
        <p:spPr>
          <a:xfrm>
            <a:off x="11149463" y="1539036"/>
            <a:ext cx="159603" cy="11416"/>
          </a:xfrm>
          <a:prstGeom prst="rect">
            <a:avLst/>
          </a:prstGeom>
          <a:solidFill>
            <a:srgbClr val="2B7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ct 168: plot geometry" descr="sci-ppt:obj-0168"/>
          <p:cNvSpPr/>
          <p:nvPr/>
        </p:nvSpPr>
        <p:spPr>
          <a:xfrm>
            <a:off x="11149463" y="1550436"/>
            <a:ext cx="159603" cy="11416"/>
          </a:xfrm>
          <a:prstGeom prst="rect">
            <a:avLst/>
          </a:prstGeom>
          <a:solidFill>
            <a:srgbClr val="2C75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 169: plot geometry" descr="sci-ppt:obj-0169"/>
          <p:cNvSpPr/>
          <p:nvPr/>
        </p:nvSpPr>
        <p:spPr>
          <a:xfrm>
            <a:off x="11149463" y="1561836"/>
            <a:ext cx="159603" cy="11416"/>
          </a:xfrm>
          <a:prstGeom prst="rect">
            <a:avLst/>
          </a:prstGeom>
          <a:solidFill>
            <a:srgbClr val="2E77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 170: plot geometry" descr="sci-ppt:obj-0170"/>
          <p:cNvSpPr/>
          <p:nvPr/>
        </p:nvSpPr>
        <p:spPr>
          <a:xfrm>
            <a:off x="11149463" y="1573237"/>
            <a:ext cx="159603" cy="11416"/>
          </a:xfrm>
          <a:prstGeom prst="rect">
            <a:avLst/>
          </a:prstGeom>
          <a:solidFill>
            <a:srgbClr val="2F79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 171: plot geometry" descr="sci-ppt:obj-0171"/>
          <p:cNvSpPr/>
          <p:nvPr/>
        </p:nvSpPr>
        <p:spPr>
          <a:xfrm>
            <a:off x="11149463" y="1584637"/>
            <a:ext cx="159603" cy="11416"/>
          </a:xfrm>
          <a:prstGeom prst="rect">
            <a:avLst/>
          </a:prstGeom>
          <a:solidFill>
            <a:srgbClr val="307A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 172: plot geometry" descr="sci-ppt:obj-0172"/>
          <p:cNvSpPr/>
          <p:nvPr/>
        </p:nvSpPr>
        <p:spPr>
          <a:xfrm>
            <a:off x="11149463" y="1596037"/>
            <a:ext cx="159603" cy="11416"/>
          </a:xfrm>
          <a:prstGeom prst="rect">
            <a:avLst/>
          </a:prstGeom>
          <a:solidFill>
            <a:srgbClr val="327C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 173: plot geometry" descr="sci-ppt:obj-0173"/>
          <p:cNvSpPr/>
          <p:nvPr/>
        </p:nvSpPr>
        <p:spPr>
          <a:xfrm>
            <a:off x="11149463" y="1607437"/>
            <a:ext cx="159603" cy="11416"/>
          </a:xfrm>
          <a:prstGeom prst="rect">
            <a:avLst/>
          </a:prstGeom>
          <a:solidFill>
            <a:srgbClr val="337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 174: plot geometry" descr="sci-ppt:obj-0174"/>
          <p:cNvSpPr/>
          <p:nvPr/>
        </p:nvSpPr>
        <p:spPr>
          <a:xfrm>
            <a:off x="11149463" y="1618838"/>
            <a:ext cx="159603" cy="11416"/>
          </a:xfrm>
          <a:prstGeom prst="rect">
            <a:avLst/>
          </a:prstGeom>
          <a:solidFill>
            <a:srgbClr val="3480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 175: plot geometry" descr="sci-ppt:obj-0175"/>
          <p:cNvSpPr/>
          <p:nvPr/>
        </p:nvSpPr>
        <p:spPr>
          <a:xfrm>
            <a:off x="11149463" y="1630238"/>
            <a:ext cx="159603" cy="11416"/>
          </a:xfrm>
          <a:prstGeom prst="rect">
            <a:avLst/>
          </a:prstGeom>
          <a:solidFill>
            <a:srgbClr val="3681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 176: plot geometry" descr="sci-ppt:obj-0176"/>
          <p:cNvSpPr/>
          <p:nvPr/>
        </p:nvSpPr>
        <p:spPr>
          <a:xfrm>
            <a:off x="11149463" y="1641638"/>
            <a:ext cx="159603" cy="11416"/>
          </a:xfrm>
          <a:prstGeom prst="rect">
            <a:avLst/>
          </a:prstGeom>
          <a:solidFill>
            <a:srgbClr val="3783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 177: plot geometry" descr="sci-ppt:obj-0177"/>
          <p:cNvSpPr/>
          <p:nvPr/>
        </p:nvSpPr>
        <p:spPr>
          <a:xfrm>
            <a:off x="11149463" y="1653039"/>
            <a:ext cx="159603" cy="11416"/>
          </a:xfrm>
          <a:prstGeom prst="rect">
            <a:avLst/>
          </a:prstGeom>
          <a:solidFill>
            <a:srgbClr val="3885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 178: plot geometry" descr="sci-ppt:obj-0178"/>
          <p:cNvSpPr/>
          <p:nvPr/>
        </p:nvSpPr>
        <p:spPr>
          <a:xfrm>
            <a:off x="11149463" y="1664439"/>
            <a:ext cx="159603" cy="11416"/>
          </a:xfrm>
          <a:prstGeom prst="rect">
            <a:avLst/>
          </a:prstGeom>
          <a:solidFill>
            <a:srgbClr val="3A87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 179: plot geometry" descr="sci-ppt:obj-0179"/>
          <p:cNvSpPr/>
          <p:nvPr/>
        </p:nvSpPr>
        <p:spPr>
          <a:xfrm>
            <a:off x="11149463" y="1675839"/>
            <a:ext cx="159603" cy="11416"/>
          </a:xfrm>
          <a:prstGeom prst="rect">
            <a:avLst/>
          </a:prstGeom>
          <a:solidFill>
            <a:srgbClr val="3B88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 180: plot geometry" descr="sci-ppt:obj-0180"/>
          <p:cNvSpPr/>
          <p:nvPr/>
        </p:nvSpPr>
        <p:spPr>
          <a:xfrm>
            <a:off x="11149463" y="1687239"/>
            <a:ext cx="159603" cy="11416"/>
          </a:xfrm>
          <a:prstGeom prst="rect">
            <a:avLst/>
          </a:prstGeom>
          <a:solidFill>
            <a:srgbClr val="3B88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 181: plot geometry" descr="sci-ppt:obj-0181"/>
          <p:cNvSpPr/>
          <p:nvPr/>
        </p:nvSpPr>
        <p:spPr>
          <a:xfrm>
            <a:off x="11149463" y="1698640"/>
            <a:ext cx="159603" cy="11416"/>
          </a:xfrm>
          <a:prstGeom prst="rect">
            <a:avLst/>
          </a:prstGeom>
          <a:solidFill>
            <a:srgbClr val="3C8A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 182: plot geometry" descr="sci-ppt:obj-0182"/>
          <p:cNvSpPr/>
          <p:nvPr/>
        </p:nvSpPr>
        <p:spPr>
          <a:xfrm>
            <a:off x="11149463" y="1710040"/>
            <a:ext cx="159603" cy="11416"/>
          </a:xfrm>
          <a:prstGeom prst="rect">
            <a:avLst/>
          </a:prstGeom>
          <a:solidFill>
            <a:srgbClr val="3E8C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 183: plot geometry" descr="sci-ppt:obj-0183"/>
          <p:cNvSpPr/>
          <p:nvPr/>
        </p:nvSpPr>
        <p:spPr>
          <a:xfrm>
            <a:off x="11149463" y="1721440"/>
            <a:ext cx="159603" cy="11416"/>
          </a:xfrm>
          <a:prstGeom prst="rect">
            <a:avLst/>
          </a:prstGeom>
          <a:solidFill>
            <a:srgbClr val="3F8E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 184: plot geometry" descr="sci-ppt:obj-0184"/>
          <p:cNvSpPr/>
          <p:nvPr/>
        </p:nvSpPr>
        <p:spPr>
          <a:xfrm>
            <a:off x="11149463" y="1732840"/>
            <a:ext cx="159603" cy="11416"/>
          </a:xfrm>
          <a:prstGeom prst="rect">
            <a:avLst/>
          </a:prstGeom>
          <a:solidFill>
            <a:srgbClr val="408F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 185: plot geometry" descr="sci-ppt:obj-0185"/>
          <p:cNvSpPr/>
          <p:nvPr/>
        </p:nvSpPr>
        <p:spPr>
          <a:xfrm>
            <a:off x="11149463" y="1744241"/>
            <a:ext cx="159603" cy="11416"/>
          </a:xfrm>
          <a:prstGeom prst="rect">
            <a:avLst/>
          </a:prstGeom>
          <a:solidFill>
            <a:srgbClr val="4291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 186: plot geometry" descr="sci-ppt:obj-0186"/>
          <p:cNvSpPr/>
          <p:nvPr/>
        </p:nvSpPr>
        <p:spPr>
          <a:xfrm>
            <a:off x="11149463" y="1755641"/>
            <a:ext cx="159603" cy="11416"/>
          </a:xfrm>
          <a:prstGeom prst="rect">
            <a:avLst/>
          </a:prstGeom>
          <a:solidFill>
            <a:srgbClr val="4393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 187: plot geometry" descr="sci-ppt:obj-0187"/>
          <p:cNvSpPr/>
          <p:nvPr/>
        </p:nvSpPr>
        <p:spPr>
          <a:xfrm>
            <a:off x="11149463" y="1767041"/>
            <a:ext cx="159603" cy="11416"/>
          </a:xfrm>
          <a:prstGeom prst="rect">
            <a:avLst/>
          </a:prstGeom>
          <a:solidFill>
            <a:srgbClr val="4695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 188: plot geometry" descr="sci-ppt:obj-0188"/>
          <p:cNvSpPr/>
          <p:nvPr/>
        </p:nvSpPr>
        <p:spPr>
          <a:xfrm>
            <a:off x="11149463" y="1778441"/>
            <a:ext cx="159603" cy="11416"/>
          </a:xfrm>
          <a:prstGeom prst="rect">
            <a:avLst/>
          </a:prstGeom>
          <a:solidFill>
            <a:srgbClr val="499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 189: plot geometry" descr="sci-ppt:obj-0189"/>
          <p:cNvSpPr/>
          <p:nvPr/>
        </p:nvSpPr>
        <p:spPr>
          <a:xfrm>
            <a:off x="11149463" y="1789842"/>
            <a:ext cx="159603" cy="11416"/>
          </a:xfrm>
          <a:prstGeom prst="rect">
            <a:avLst/>
          </a:prstGeom>
          <a:solidFill>
            <a:srgbClr val="4C99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 190: plot geometry" descr="sci-ppt:obj-0190"/>
          <p:cNvSpPr/>
          <p:nvPr/>
        </p:nvSpPr>
        <p:spPr>
          <a:xfrm>
            <a:off x="11149463" y="1801242"/>
            <a:ext cx="159603" cy="11416"/>
          </a:xfrm>
          <a:prstGeom prst="rect">
            <a:avLst/>
          </a:prstGeom>
          <a:solidFill>
            <a:srgbClr val="4F9B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 191: plot geometry" descr="sci-ppt:obj-0191"/>
          <p:cNvSpPr/>
          <p:nvPr/>
        </p:nvSpPr>
        <p:spPr>
          <a:xfrm>
            <a:off x="11149463" y="1812642"/>
            <a:ext cx="159603" cy="11416"/>
          </a:xfrm>
          <a:prstGeom prst="rect">
            <a:avLst/>
          </a:prstGeom>
          <a:solidFill>
            <a:srgbClr val="529D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 192: plot geometry" descr="sci-ppt:obj-0192"/>
          <p:cNvSpPr/>
          <p:nvPr/>
        </p:nvSpPr>
        <p:spPr>
          <a:xfrm>
            <a:off x="11149463" y="1824043"/>
            <a:ext cx="159603" cy="11416"/>
          </a:xfrm>
          <a:prstGeom prst="rect">
            <a:avLst/>
          </a:prstGeom>
          <a:solidFill>
            <a:srgbClr val="569F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 193: plot geometry" descr="sci-ppt:obj-0193"/>
          <p:cNvSpPr/>
          <p:nvPr/>
        </p:nvSpPr>
        <p:spPr>
          <a:xfrm>
            <a:off x="11149463" y="1835443"/>
            <a:ext cx="159603" cy="11416"/>
          </a:xfrm>
          <a:prstGeom prst="rect">
            <a:avLst/>
          </a:prstGeom>
          <a:solidFill>
            <a:srgbClr val="59A1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 194: plot geometry" descr="sci-ppt:obj-0194"/>
          <p:cNvSpPr/>
          <p:nvPr/>
        </p:nvSpPr>
        <p:spPr>
          <a:xfrm>
            <a:off x="11149463" y="1846843"/>
            <a:ext cx="159603" cy="11416"/>
          </a:xfrm>
          <a:prstGeom prst="rect">
            <a:avLst/>
          </a:prstGeom>
          <a:solidFill>
            <a:srgbClr val="5CA3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 195: plot geometry" descr="sci-ppt:obj-0195"/>
          <p:cNvSpPr/>
          <p:nvPr/>
        </p:nvSpPr>
        <p:spPr>
          <a:xfrm>
            <a:off x="11149463" y="1858243"/>
            <a:ext cx="159603" cy="11416"/>
          </a:xfrm>
          <a:prstGeom prst="rect">
            <a:avLst/>
          </a:prstGeom>
          <a:solidFill>
            <a:srgbClr val="5FA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 196: plot geometry" descr="sci-ppt:obj-0196"/>
          <p:cNvSpPr/>
          <p:nvPr/>
        </p:nvSpPr>
        <p:spPr>
          <a:xfrm>
            <a:off x="11149463" y="1869644"/>
            <a:ext cx="159603" cy="11416"/>
          </a:xfrm>
          <a:prstGeom prst="rect">
            <a:avLst/>
          </a:prstGeom>
          <a:solidFill>
            <a:srgbClr val="62A7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 197: plot geometry" descr="sci-ppt:obj-0197"/>
          <p:cNvSpPr/>
          <p:nvPr/>
        </p:nvSpPr>
        <p:spPr>
          <a:xfrm>
            <a:off x="11149463" y="1881044"/>
            <a:ext cx="159603" cy="11416"/>
          </a:xfrm>
          <a:prstGeom prst="rect">
            <a:avLst/>
          </a:prstGeom>
          <a:solidFill>
            <a:srgbClr val="65A9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 198: plot geometry" descr="sci-ppt:obj-0198"/>
          <p:cNvSpPr/>
          <p:nvPr/>
        </p:nvSpPr>
        <p:spPr>
          <a:xfrm>
            <a:off x="11149463" y="1892444"/>
            <a:ext cx="159603" cy="11416"/>
          </a:xfrm>
          <a:prstGeom prst="rect">
            <a:avLst/>
          </a:prstGeom>
          <a:solidFill>
            <a:srgbClr val="68A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 199: plot geometry" descr="sci-ppt:obj-0199"/>
          <p:cNvSpPr/>
          <p:nvPr/>
        </p:nvSpPr>
        <p:spPr>
          <a:xfrm>
            <a:off x="11149463" y="1903844"/>
            <a:ext cx="159603" cy="11416"/>
          </a:xfrm>
          <a:prstGeom prst="rect">
            <a:avLst/>
          </a:prstGeom>
          <a:solidFill>
            <a:srgbClr val="68A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 200: plot geometry" descr="sci-ppt:obj-0200"/>
          <p:cNvSpPr/>
          <p:nvPr/>
        </p:nvSpPr>
        <p:spPr>
          <a:xfrm>
            <a:off x="11149463" y="1915245"/>
            <a:ext cx="159603" cy="11416"/>
          </a:xfrm>
          <a:prstGeom prst="rect">
            <a:avLst/>
          </a:prstGeom>
          <a:solidFill>
            <a:srgbClr val="6BAC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 201: plot geometry" descr="sci-ppt:obj-0201"/>
          <p:cNvSpPr/>
          <p:nvPr/>
        </p:nvSpPr>
        <p:spPr>
          <a:xfrm>
            <a:off x="11149463" y="1926645"/>
            <a:ext cx="159603" cy="11416"/>
          </a:xfrm>
          <a:prstGeom prst="rect">
            <a:avLst/>
          </a:prstGeom>
          <a:solidFill>
            <a:srgbClr val="6EAE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 202: plot geometry" descr="sci-ppt:obj-0202"/>
          <p:cNvSpPr/>
          <p:nvPr/>
        </p:nvSpPr>
        <p:spPr>
          <a:xfrm>
            <a:off x="11149463" y="1938045"/>
            <a:ext cx="159603" cy="11416"/>
          </a:xfrm>
          <a:prstGeom prst="rect">
            <a:avLst/>
          </a:prstGeom>
          <a:solidFill>
            <a:srgbClr val="71B0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 203: plot geometry" descr="sci-ppt:obj-0203"/>
          <p:cNvSpPr/>
          <p:nvPr/>
        </p:nvSpPr>
        <p:spPr>
          <a:xfrm>
            <a:off x="11149463" y="1949446"/>
            <a:ext cx="159603" cy="11416"/>
          </a:xfrm>
          <a:prstGeom prst="rect">
            <a:avLst/>
          </a:prstGeom>
          <a:solidFill>
            <a:srgbClr val="75B2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 204: plot geometry" descr="sci-ppt:obj-0204"/>
          <p:cNvSpPr/>
          <p:nvPr/>
        </p:nvSpPr>
        <p:spPr>
          <a:xfrm>
            <a:off x="11149463" y="1960846"/>
            <a:ext cx="159603" cy="11416"/>
          </a:xfrm>
          <a:prstGeom prst="rect">
            <a:avLst/>
          </a:prstGeom>
          <a:solidFill>
            <a:srgbClr val="78B4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 205: plot geometry" descr="sci-ppt:obj-0205"/>
          <p:cNvSpPr/>
          <p:nvPr/>
        </p:nvSpPr>
        <p:spPr>
          <a:xfrm>
            <a:off x="11149463" y="1972246"/>
            <a:ext cx="159603" cy="11416"/>
          </a:xfrm>
          <a:prstGeom prst="rect">
            <a:avLst/>
          </a:prstGeom>
          <a:solidFill>
            <a:srgbClr val="7BB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 206: plot geometry" descr="sci-ppt:obj-0206"/>
          <p:cNvSpPr/>
          <p:nvPr/>
        </p:nvSpPr>
        <p:spPr>
          <a:xfrm>
            <a:off x="11149463" y="1983646"/>
            <a:ext cx="159603" cy="11416"/>
          </a:xfrm>
          <a:prstGeom prst="rect">
            <a:avLst/>
          </a:prstGeom>
          <a:solidFill>
            <a:srgbClr val="7EB8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 207: plot geometry" descr="sci-ppt:obj-0207"/>
          <p:cNvSpPr/>
          <p:nvPr/>
        </p:nvSpPr>
        <p:spPr>
          <a:xfrm>
            <a:off x="11149463" y="1995047"/>
            <a:ext cx="159603" cy="11416"/>
          </a:xfrm>
          <a:prstGeom prst="rect">
            <a:avLst/>
          </a:prstGeom>
          <a:solidFill>
            <a:srgbClr val="81BA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 208: plot geometry" descr="sci-ppt:obj-0208"/>
          <p:cNvSpPr/>
          <p:nvPr/>
        </p:nvSpPr>
        <p:spPr>
          <a:xfrm>
            <a:off x="11149463" y="2006447"/>
            <a:ext cx="159603" cy="11416"/>
          </a:xfrm>
          <a:prstGeom prst="rect">
            <a:avLst/>
          </a:prstGeom>
          <a:solidFill>
            <a:srgbClr val="84BC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 209: plot geometry" descr="sci-ppt:obj-0209"/>
          <p:cNvSpPr/>
          <p:nvPr/>
        </p:nvSpPr>
        <p:spPr>
          <a:xfrm>
            <a:off x="11149463" y="2017847"/>
            <a:ext cx="159603" cy="11416"/>
          </a:xfrm>
          <a:prstGeom prst="rect">
            <a:avLst/>
          </a:prstGeom>
          <a:solidFill>
            <a:srgbClr val="87B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 210: plot geometry" descr="sci-ppt:obj-0210"/>
          <p:cNvSpPr/>
          <p:nvPr/>
        </p:nvSpPr>
        <p:spPr>
          <a:xfrm>
            <a:off x="11149463" y="2029247"/>
            <a:ext cx="159603" cy="11416"/>
          </a:xfrm>
          <a:prstGeom prst="rect">
            <a:avLst/>
          </a:prstGeom>
          <a:solidFill>
            <a:srgbClr val="8AC0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 211: plot geometry" descr="sci-ppt:obj-0211"/>
          <p:cNvSpPr/>
          <p:nvPr/>
        </p:nvSpPr>
        <p:spPr>
          <a:xfrm>
            <a:off x="11149463" y="2040648"/>
            <a:ext cx="159603" cy="11416"/>
          </a:xfrm>
          <a:prstGeom prst="rect">
            <a:avLst/>
          </a:prstGeom>
          <a:solidFill>
            <a:srgbClr val="8DC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 212: plot geometry" descr="sci-ppt:obj-0212"/>
          <p:cNvSpPr/>
          <p:nvPr/>
        </p:nvSpPr>
        <p:spPr>
          <a:xfrm>
            <a:off x="11149463" y="2052048"/>
            <a:ext cx="159603" cy="11416"/>
          </a:xfrm>
          <a:prstGeom prst="rect">
            <a:avLst/>
          </a:prstGeom>
          <a:solidFill>
            <a:srgbClr val="90C4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 213: plot geometry" descr="sci-ppt:obj-0213"/>
          <p:cNvSpPr/>
          <p:nvPr/>
        </p:nvSpPr>
        <p:spPr>
          <a:xfrm>
            <a:off x="11149463" y="2063448"/>
            <a:ext cx="159603" cy="11416"/>
          </a:xfrm>
          <a:prstGeom prst="rect">
            <a:avLst/>
          </a:prstGeom>
          <a:solidFill>
            <a:srgbClr val="93C6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 214: plot geometry" descr="sci-ppt:obj-0214"/>
          <p:cNvSpPr/>
          <p:nvPr/>
        </p:nvSpPr>
        <p:spPr>
          <a:xfrm>
            <a:off x="11149463" y="2074848"/>
            <a:ext cx="159603" cy="11416"/>
          </a:xfrm>
          <a:prstGeom prst="rect">
            <a:avLst/>
          </a:prstGeom>
          <a:solidFill>
            <a:srgbClr val="96C7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 215: plot geometry" descr="sci-ppt:obj-0215"/>
          <p:cNvSpPr/>
          <p:nvPr/>
        </p:nvSpPr>
        <p:spPr>
          <a:xfrm>
            <a:off x="11149463" y="2086249"/>
            <a:ext cx="159603" cy="11416"/>
          </a:xfrm>
          <a:prstGeom prst="rect">
            <a:avLst/>
          </a:prstGeom>
          <a:solidFill>
            <a:srgbClr val="98C8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 216: plot geometry" descr="sci-ppt:obj-0216"/>
          <p:cNvSpPr/>
          <p:nvPr/>
        </p:nvSpPr>
        <p:spPr>
          <a:xfrm>
            <a:off x="11149463" y="2097649"/>
            <a:ext cx="159603" cy="11416"/>
          </a:xfrm>
          <a:prstGeom prst="rect">
            <a:avLst/>
          </a:prstGeom>
          <a:solidFill>
            <a:srgbClr val="9BC9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 217: plot geometry" descr="sci-ppt:obj-0217"/>
          <p:cNvSpPr/>
          <p:nvPr/>
        </p:nvSpPr>
        <p:spPr>
          <a:xfrm>
            <a:off x="11149463" y="2109049"/>
            <a:ext cx="159603" cy="11416"/>
          </a:xfrm>
          <a:prstGeom prst="rect">
            <a:avLst/>
          </a:prstGeom>
          <a:solidFill>
            <a:srgbClr val="9DC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 218: plot geometry" descr="sci-ppt:obj-0218"/>
          <p:cNvSpPr/>
          <p:nvPr/>
        </p:nvSpPr>
        <p:spPr>
          <a:xfrm>
            <a:off x="11149463" y="2120450"/>
            <a:ext cx="159603" cy="11416"/>
          </a:xfrm>
          <a:prstGeom prst="rect">
            <a:avLst/>
          </a:prstGeom>
          <a:solidFill>
            <a:srgbClr val="A0C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 219: plot geometry" descr="sci-ppt:obj-0219"/>
          <p:cNvSpPr/>
          <p:nvPr/>
        </p:nvSpPr>
        <p:spPr>
          <a:xfrm>
            <a:off x="11149463" y="2131850"/>
            <a:ext cx="159603" cy="11416"/>
          </a:xfrm>
          <a:prstGeom prst="rect">
            <a:avLst/>
          </a:prstGeom>
          <a:solidFill>
            <a:srgbClr val="A0C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 220: plot geometry" descr="sci-ppt:obj-0220"/>
          <p:cNvSpPr/>
          <p:nvPr/>
        </p:nvSpPr>
        <p:spPr>
          <a:xfrm>
            <a:off x="11149463" y="2143250"/>
            <a:ext cx="159603" cy="11416"/>
          </a:xfrm>
          <a:prstGeom prst="rect">
            <a:avLst/>
          </a:prstGeom>
          <a:solidFill>
            <a:srgbClr val="A2C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 221: plot geometry" descr="sci-ppt:obj-0221"/>
          <p:cNvSpPr/>
          <p:nvPr/>
        </p:nvSpPr>
        <p:spPr>
          <a:xfrm>
            <a:off x="11149463" y="2154650"/>
            <a:ext cx="159603" cy="11416"/>
          </a:xfrm>
          <a:prstGeom prst="rect">
            <a:avLst/>
          </a:prstGeom>
          <a:solidFill>
            <a:srgbClr val="A5C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 222: plot geometry" descr="sci-ppt:obj-0222"/>
          <p:cNvSpPr/>
          <p:nvPr/>
        </p:nvSpPr>
        <p:spPr>
          <a:xfrm>
            <a:off x="11149463" y="2166051"/>
            <a:ext cx="159603" cy="11416"/>
          </a:xfrm>
          <a:prstGeom prst="rect">
            <a:avLst/>
          </a:prstGeom>
          <a:solidFill>
            <a:srgbClr val="A7D0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 223: plot geometry" descr="sci-ppt:obj-0223"/>
          <p:cNvSpPr/>
          <p:nvPr/>
        </p:nvSpPr>
        <p:spPr>
          <a:xfrm>
            <a:off x="11149463" y="2177451"/>
            <a:ext cx="159603" cy="11416"/>
          </a:xfrm>
          <a:prstGeom prst="rect">
            <a:avLst/>
          </a:prstGeom>
          <a:solidFill>
            <a:srgbClr val="A9D1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 224: plot geometry" descr="sci-ppt:obj-0224"/>
          <p:cNvSpPr/>
          <p:nvPr/>
        </p:nvSpPr>
        <p:spPr>
          <a:xfrm>
            <a:off x="11149463" y="2188851"/>
            <a:ext cx="159603" cy="11416"/>
          </a:xfrm>
          <a:prstGeom prst="rect">
            <a:avLst/>
          </a:prstGeom>
          <a:solidFill>
            <a:srgbClr val="ACD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 225: plot geometry" descr="sci-ppt:obj-0225"/>
          <p:cNvSpPr/>
          <p:nvPr/>
        </p:nvSpPr>
        <p:spPr>
          <a:xfrm>
            <a:off x="11149463" y="2200251"/>
            <a:ext cx="159603" cy="11416"/>
          </a:xfrm>
          <a:prstGeom prst="rect">
            <a:avLst/>
          </a:prstGeom>
          <a:solidFill>
            <a:srgbClr val="AE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 226: plot geometry" descr="sci-ppt:obj-0226"/>
          <p:cNvSpPr/>
          <p:nvPr/>
        </p:nvSpPr>
        <p:spPr>
          <a:xfrm>
            <a:off x="11149463" y="2211652"/>
            <a:ext cx="159603" cy="11416"/>
          </a:xfrm>
          <a:prstGeom prst="rect">
            <a:avLst/>
          </a:prstGeom>
          <a:solidFill>
            <a:srgbClr val="B1D5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 227: plot geometry" descr="sci-ppt:obj-0227"/>
          <p:cNvSpPr/>
          <p:nvPr/>
        </p:nvSpPr>
        <p:spPr>
          <a:xfrm>
            <a:off x="11149463" y="2223052"/>
            <a:ext cx="159603" cy="11416"/>
          </a:xfrm>
          <a:prstGeom prst="rect">
            <a:avLst/>
          </a:prstGeom>
          <a:solidFill>
            <a:srgbClr val="B3D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 228: plot geometry" descr="sci-ppt:obj-0228"/>
          <p:cNvSpPr/>
          <p:nvPr/>
        </p:nvSpPr>
        <p:spPr>
          <a:xfrm>
            <a:off x="11149463" y="2234452"/>
            <a:ext cx="159603" cy="11416"/>
          </a:xfrm>
          <a:prstGeom prst="rect">
            <a:avLst/>
          </a:prstGeom>
          <a:solidFill>
            <a:srgbClr val="B6D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 229: plot geometry" descr="sci-ppt:obj-0229"/>
          <p:cNvSpPr/>
          <p:nvPr/>
        </p:nvSpPr>
        <p:spPr>
          <a:xfrm>
            <a:off x="11149463" y="2245853"/>
            <a:ext cx="159603" cy="11416"/>
          </a:xfrm>
          <a:prstGeom prst="rect">
            <a:avLst/>
          </a:prstGeom>
          <a:solidFill>
            <a:srgbClr val="B8D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 230: plot geometry" descr="sci-ppt:obj-0230"/>
          <p:cNvSpPr/>
          <p:nvPr/>
        </p:nvSpPr>
        <p:spPr>
          <a:xfrm>
            <a:off x="11149463" y="2257253"/>
            <a:ext cx="159603" cy="11416"/>
          </a:xfrm>
          <a:prstGeom prst="rect">
            <a:avLst/>
          </a:prstGeom>
          <a:solidFill>
            <a:srgbClr val="BBD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 231: plot geometry" descr="sci-ppt:obj-0231"/>
          <p:cNvSpPr/>
          <p:nvPr/>
        </p:nvSpPr>
        <p:spPr>
          <a:xfrm>
            <a:off x="11149463" y="2268653"/>
            <a:ext cx="159603" cy="11416"/>
          </a:xfrm>
          <a:prstGeom prst="rect">
            <a:avLst/>
          </a:prstGeom>
          <a:solidFill>
            <a:srgbClr val="BDDB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 232: plot geometry" descr="sci-ppt:obj-0232"/>
          <p:cNvSpPr/>
          <p:nvPr/>
        </p:nvSpPr>
        <p:spPr>
          <a:xfrm>
            <a:off x="11149463" y="2280053"/>
            <a:ext cx="159603" cy="11416"/>
          </a:xfrm>
          <a:prstGeom prst="rect">
            <a:avLst/>
          </a:prstGeom>
          <a:solidFill>
            <a:srgbClr val="C0D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 233: plot geometry" descr="sci-ppt:obj-0233"/>
          <p:cNvSpPr/>
          <p:nvPr/>
        </p:nvSpPr>
        <p:spPr>
          <a:xfrm>
            <a:off x="11149463" y="2291454"/>
            <a:ext cx="159603" cy="11416"/>
          </a:xfrm>
          <a:prstGeom prst="rect">
            <a:avLst/>
          </a:prstGeom>
          <a:solidFill>
            <a:srgbClr val="C2DD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 234: plot geometry" descr="sci-ppt:obj-0234"/>
          <p:cNvSpPr/>
          <p:nvPr/>
        </p:nvSpPr>
        <p:spPr>
          <a:xfrm>
            <a:off x="11149463" y="2302854"/>
            <a:ext cx="159603" cy="11416"/>
          </a:xfrm>
          <a:prstGeom prst="rect">
            <a:avLst/>
          </a:prstGeom>
          <a:solidFill>
            <a:srgbClr val="C5D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 235: plot geometry" descr="sci-ppt:obj-0235"/>
          <p:cNvSpPr/>
          <p:nvPr/>
        </p:nvSpPr>
        <p:spPr>
          <a:xfrm>
            <a:off x="11149463" y="2314254"/>
            <a:ext cx="159603" cy="11416"/>
          </a:xfrm>
          <a:prstGeom prst="rect">
            <a:avLst/>
          </a:prstGeom>
          <a:solidFill>
            <a:srgbClr val="C7E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 236: plot geometry" descr="sci-ppt:obj-0236"/>
          <p:cNvSpPr/>
          <p:nvPr/>
        </p:nvSpPr>
        <p:spPr>
          <a:xfrm>
            <a:off x="11149463" y="2325654"/>
            <a:ext cx="159603" cy="11416"/>
          </a:xfrm>
          <a:prstGeom prst="rect">
            <a:avLst/>
          </a:prstGeom>
          <a:solidFill>
            <a:srgbClr val="CAE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 237: plot geometry" descr="sci-ppt:obj-0237"/>
          <p:cNvSpPr/>
          <p:nvPr/>
        </p:nvSpPr>
        <p:spPr>
          <a:xfrm>
            <a:off x="11149463" y="2337055"/>
            <a:ext cx="159603" cy="11416"/>
          </a:xfrm>
          <a:prstGeom prst="rect">
            <a:avLst/>
          </a:prstGeom>
          <a:solidFill>
            <a:srgbClr val="CCE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 238: plot geometry" descr="sci-ppt:obj-0238"/>
          <p:cNvSpPr/>
          <p:nvPr/>
        </p:nvSpPr>
        <p:spPr>
          <a:xfrm>
            <a:off x="11149463" y="2348455"/>
            <a:ext cx="159603" cy="11416"/>
          </a:xfrm>
          <a:prstGeom prst="rect">
            <a:avLst/>
          </a:prstGeom>
          <a:solidFill>
            <a:srgbClr val="CCE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 239: plot geometry" descr="sci-ppt:obj-0239"/>
          <p:cNvSpPr/>
          <p:nvPr/>
        </p:nvSpPr>
        <p:spPr>
          <a:xfrm>
            <a:off x="11149463" y="2359855"/>
            <a:ext cx="159603" cy="11416"/>
          </a:xfrm>
          <a:prstGeom prst="rect">
            <a:avLst/>
          </a:prstGeom>
          <a:solidFill>
            <a:srgbClr val="CFE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 240: plot geometry" descr="sci-ppt:obj-0240"/>
          <p:cNvSpPr/>
          <p:nvPr/>
        </p:nvSpPr>
        <p:spPr>
          <a:xfrm>
            <a:off x="11149463" y="2371255"/>
            <a:ext cx="159603" cy="11416"/>
          </a:xfrm>
          <a:prstGeom prst="rect">
            <a:avLst/>
          </a:prstGeom>
          <a:solidFill>
            <a:srgbClr val="D1E5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 241: plot geometry" descr="sci-ppt:obj-0241"/>
          <p:cNvSpPr/>
          <p:nvPr/>
        </p:nvSpPr>
        <p:spPr>
          <a:xfrm>
            <a:off x="11149463" y="2382656"/>
            <a:ext cx="159603" cy="11416"/>
          </a:xfrm>
          <a:prstGeom prst="rect">
            <a:avLst/>
          </a:prstGeom>
          <a:solidFill>
            <a:srgbClr val="D2E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 242: plot geometry" descr="sci-ppt:obj-0242"/>
          <p:cNvSpPr/>
          <p:nvPr/>
        </p:nvSpPr>
        <p:spPr>
          <a:xfrm>
            <a:off x="11149463" y="2394056"/>
            <a:ext cx="159603" cy="11416"/>
          </a:xfrm>
          <a:prstGeom prst="rect">
            <a:avLst/>
          </a:prstGeom>
          <a:solidFill>
            <a:srgbClr val="D4E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 243: plot geometry" descr="sci-ppt:obj-0243"/>
          <p:cNvSpPr/>
          <p:nvPr/>
        </p:nvSpPr>
        <p:spPr>
          <a:xfrm>
            <a:off x="11149463" y="2405456"/>
            <a:ext cx="159603" cy="11416"/>
          </a:xfrm>
          <a:prstGeom prst="rect">
            <a:avLst/>
          </a:prstGeom>
          <a:solidFill>
            <a:srgbClr val="D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 244: plot geometry" descr="sci-ppt:obj-0244"/>
          <p:cNvSpPr/>
          <p:nvPr/>
        </p:nvSpPr>
        <p:spPr>
          <a:xfrm>
            <a:off x="11149463" y="2416857"/>
            <a:ext cx="159603" cy="11416"/>
          </a:xfrm>
          <a:prstGeom prst="rect">
            <a:avLst/>
          </a:prstGeom>
          <a:solidFill>
            <a:srgbClr val="D7E8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 245: plot geometry" descr="sci-ppt:obj-0245"/>
          <p:cNvSpPr/>
          <p:nvPr/>
        </p:nvSpPr>
        <p:spPr>
          <a:xfrm>
            <a:off x="11149463" y="2428257"/>
            <a:ext cx="159603" cy="11416"/>
          </a:xfrm>
          <a:prstGeom prst="rect">
            <a:avLst/>
          </a:prstGeom>
          <a:solidFill>
            <a:srgbClr val="D8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 246: plot geometry" descr="sci-ppt:obj-0246"/>
          <p:cNvSpPr/>
          <p:nvPr/>
        </p:nvSpPr>
        <p:spPr>
          <a:xfrm>
            <a:off x="11149463" y="2439657"/>
            <a:ext cx="159603" cy="11416"/>
          </a:xfrm>
          <a:prstGeom prst="rect">
            <a:avLst/>
          </a:prstGeom>
          <a:solidFill>
            <a:srgbClr val="DAE9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 247: plot geometry" descr="sci-ppt:obj-0247"/>
          <p:cNvSpPr/>
          <p:nvPr/>
        </p:nvSpPr>
        <p:spPr>
          <a:xfrm>
            <a:off x="11149463" y="2451057"/>
            <a:ext cx="159603" cy="11416"/>
          </a:xfrm>
          <a:prstGeom prst="rect">
            <a:avLst/>
          </a:prstGeom>
          <a:solidFill>
            <a:srgbClr val="DB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 248: plot geometry" descr="sci-ppt:obj-0248"/>
          <p:cNvSpPr/>
          <p:nvPr/>
        </p:nvSpPr>
        <p:spPr>
          <a:xfrm>
            <a:off x="11149463" y="2462458"/>
            <a:ext cx="159603" cy="11416"/>
          </a:xfrm>
          <a:prstGeom prst="rect">
            <a:avLst/>
          </a:prstGeom>
          <a:solidFill>
            <a:srgbClr val="DD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 249: plot geometry" descr="sci-ppt:obj-0249"/>
          <p:cNvSpPr/>
          <p:nvPr/>
        </p:nvSpPr>
        <p:spPr>
          <a:xfrm>
            <a:off x="11149463" y="2473858"/>
            <a:ext cx="159603" cy="11416"/>
          </a:xfrm>
          <a:prstGeom prst="rect">
            <a:avLst/>
          </a:prstGeom>
          <a:solidFill>
            <a:srgbClr val="DE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ct 250: plot geometry" descr="sci-ppt:obj-0250"/>
          <p:cNvSpPr/>
          <p:nvPr/>
        </p:nvSpPr>
        <p:spPr>
          <a:xfrm>
            <a:off x="11149463" y="2485258"/>
            <a:ext cx="159603" cy="11416"/>
          </a:xfrm>
          <a:prstGeom prst="rect">
            <a:avLst/>
          </a:prstGeom>
          <a:solidFill>
            <a:srgbClr val="E0E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ct 251: plot geometry" descr="sci-ppt:obj-0251"/>
          <p:cNvSpPr/>
          <p:nvPr/>
        </p:nvSpPr>
        <p:spPr>
          <a:xfrm>
            <a:off x="11149463" y="2496658"/>
            <a:ext cx="159603" cy="11416"/>
          </a:xfrm>
          <a:prstGeom prst="rect">
            <a:avLst/>
          </a:prstGeom>
          <a:solidFill>
            <a:srgbClr val="E1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ct 252: plot geometry" descr="sci-ppt:obj-0252"/>
          <p:cNvSpPr/>
          <p:nvPr/>
        </p:nvSpPr>
        <p:spPr>
          <a:xfrm>
            <a:off x="11149463" y="2508059"/>
            <a:ext cx="159603" cy="11416"/>
          </a:xfrm>
          <a:prstGeom prst="rect">
            <a:avLst/>
          </a:prstGeom>
          <a:solidFill>
            <a:srgbClr val="E3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ct 253: plot geometry" descr="sci-ppt:obj-0253"/>
          <p:cNvSpPr/>
          <p:nvPr/>
        </p:nvSpPr>
        <p:spPr>
          <a:xfrm>
            <a:off x="11149463" y="2519459"/>
            <a:ext cx="159603" cy="11416"/>
          </a:xfrm>
          <a:prstGeom prst="rect">
            <a:avLst/>
          </a:prstGeom>
          <a:solidFill>
            <a:srgbClr val="E4EE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ct 254: plot geometry" descr="sci-ppt:obj-0254"/>
          <p:cNvSpPr/>
          <p:nvPr/>
        </p:nvSpPr>
        <p:spPr>
          <a:xfrm>
            <a:off x="11149463" y="2530859"/>
            <a:ext cx="159603" cy="11416"/>
          </a:xfrm>
          <a:prstGeom prst="rect">
            <a:avLst/>
          </a:prstGeom>
          <a:solidFill>
            <a:srgbClr val="E6EF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ct 255: plot geometry" descr="sci-ppt:obj-0255"/>
          <p:cNvSpPr/>
          <p:nvPr/>
        </p:nvSpPr>
        <p:spPr>
          <a:xfrm>
            <a:off x="11149463" y="2542260"/>
            <a:ext cx="159603" cy="11416"/>
          </a:xfrm>
          <a:prstGeom prst="rect">
            <a:avLst/>
          </a:prstGeom>
          <a:solidFill>
            <a:srgbClr val="E7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 256: plot geometry" descr="sci-ppt:obj-0256"/>
          <p:cNvSpPr/>
          <p:nvPr/>
        </p:nvSpPr>
        <p:spPr>
          <a:xfrm>
            <a:off x="11149463" y="2553660"/>
            <a:ext cx="159603" cy="11416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 257: plot geometry" descr="sci-ppt:obj-0257"/>
          <p:cNvSpPr/>
          <p:nvPr/>
        </p:nvSpPr>
        <p:spPr>
          <a:xfrm>
            <a:off x="11149463" y="2565060"/>
            <a:ext cx="159603" cy="11416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ct 258: plot geometry" descr="sci-ppt:obj-0258"/>
          <p:cNvSpPr/>
          <p:nvPr/>
        </p:nvSpPr>
        <p:spPr>
          <a:xfrm>
            <a:off x="11149463" y="2576460"/>
            <a:ext cx="159603" cy="1141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 259: plot geometry" descr="sci-ppt:obj-0259"/>
          <p:cNvSpPr/>
          <p:nvPr/>
        </p:nvSpPr>
        <p:spPr>
          <a:xfrm>
            <a:off x="11149463" y="2587861"/>
            <a:ext cx="159603" cy="11416"/>
          </a:xfrm>
          <a:prstGeom prst="rect">
            <a:avLst/>
          </a:prstGeom>
          <a:solidFill>
            <a:srgbClr val="EC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 260: plot geometry" descr="sci-ppt:obj-0260"/>
          <p:cNvSpPr/>
          <p:nvPr/>
        </p:nvSpPr>
        <p:spPr>
          <a:xfrm>
            <a:off x="11149463" y="2599261"/>
            <a:ext cx="159603" cy="11416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 261: plot geometry" descr="sci-ppt:obj-0261"/>
          <p:cNvSpPr/>
          <p:nvPr/>
        </p:nvSpPr>
        <p:spPr>
          <a:xfrm>
            <a:off x="11149463" y="2610661"/>
            <a:ext cx="159603" cy="11416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 262: plot geometry" descr="sci-ppt:obj-0262"/>
          <p:cNvSpPr/>
          <p:nvPr/>
        </p:nvSpPr>
        <p:spPr>
          <a:xfrm>
            <a:off x="11149463" y="2622061"/>
            <a:ext cx="159603" cy="11416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 263: plot geometry" descr="sci-ppt:obj-0263"/>
          <p:cNvSpPr/>
          <p:nvPr/>
        </p:nvSpPr>
        <p:spPr>
          <a:xfrm>
            <a:off x="11149463" y="2633462"/>
            <a:ext cx="159603" cy="11416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 264: plot geometry" descr="sci-ppt:obj-0264"/>
          <p:cNvSpPr/>
          <p:nvPr/>
        </p:nvSpPr>
        <p:spPr>
          <a:xfrm>
            <a:off x="11149463" y="2644862"/>
            <a:ext cx="159603" cy="11416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 265: plot geometry" descr="sci-ppt:obj-0265"/>
          <p:cNvSpPr/>
          <p:nvPr/>
        </p:nvSpPr>
        <p:spPr>
          <a:xfrm>
            <a:off x="11149463" y="2656262"/>
            <a:ext cx="159603" cy="11416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 266: plot geometry" descr="sci-ppt:obj-0266"/>
          <p:cNvSpPr/>
          <p:nvPr/>
        </p:nvSpPr>
        <p:spPr>
          <a:xfrm>
            <a:off x="11149463" y="2667662"/>
            <a:ext cx="159603" cy="11416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 267: plot geometry" descr="sci-ppt:obj-0267"/>
          <p:cNvSpPr/>
          <p:nvPr/>
        </p:nvSpPr>
        <p:spPr>
          <a:xfrm>
            <a:off x="11149463" y="2679063"/>
            <a:ext cx="159603" cy="11416"/>
          </a:xfrm>
          <a:prstGeom prst="rect">
            <a:avLst/>
          </a:prstGeom>
          <a:solidFill>
            <a:srgbClr val="F7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 268: plot geometry" descr="sci-ppt:obj-0268"/>
          <p:cNvSpPr/>
          <p:nvPr/>
        </p:nvSpPr>
        <p:spPr>
          <a:xfrm>
            <a:off x="11149463" y="2690463"/>
            <a:ext cx="159603" cy="11416"/>
          </a:xfrm>
          <a:prstGeom prst="rect">
            <a:avLst/>
          </a:prstGeom>
          <a:solidFill>
            <a:srgbClr val="F7F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 269: plot geometry" descr="sci-ppt:obj-0269"/>
          <p:cNvSpPr/>
          <p:nvPr/>
        </p:nvSpPr>
        <p:spPr>
          <a:xfrm>
            <a:off x="11149463" y="2701863"/>
            <a:ext cx="159603" cy="11416"/>
          </a:xfrm>
          <a:prstGeom prst="rect">
            <a:avLst/>
          </a:prstGeom>
          <a:solidFill>
            <a:srgbClr val="F8F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 270: plot geometry" descr="sci-ppt:obj-0270"/>
          <p:cNvSpPr/>
          <p:nvPr/>
        </p:nvSpPr>
        <p:spPr>
          <a:xfrm>
            <a:off x="11149463" y="2713264"/>
            <a:ext cx="159603" cy="11416"/>
          </a:xfrm>
          <a:prstGeom prst="rect">
            <a:avLst/>
          </a:prstGeom>
          <a:solidFill>
            <a:srgbClr val="F8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 271: plot geometry" descr="sci-ppt:obj-0271"/>
          <p:cNvSpPr/>
          <p:nvPr/>
        </p:nvSpPr>
        <p:spPr>
          <a:xfrm>
            <a:off x="11149463" y="2724664"/>
            <a:ext cx="159603" cy="11416"/>
          </a:xfrm>
          <a:prstGeom prst="rect">
            <a:avLst/>
          </a:prstGeom>
          <a:solidFill>
            <a:srgbClr val="F8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 272: plot geometry" descr="sci-ppt:obj-0272"/>
          <p:cNvSpPr/>
          <p:nvPr/>
        </p:nvSpPr>
        <p:spPr>
          <a:xfrm>
            <a:off x="11149463" y="2736064"/>
            <a:ext cx="159603" cy="11416"/>
          </a:xfrm>
          <a:prstGeom prst="rect">
            <a:avLst/>
          </a:prstGeom>
          <a:solidFill>
            <a:srgbClr val="F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 273: plot geometry" descr="sci-ppt:obj-0273"/>
          <p:cNvSpPr/>
          <p:nvPr/>
        </p:nvSpPr>
        <p:spPr>
          <a:xfrm>
            <a:off x="11149463" y="2747464"/>
            <a:ext cx="159603" cy="11416"/>
          </a:xfrm>
          <a:prstGeom prst="rect">
            <a:avLst/>
          </a:prstGeom>
          <a:solidFill>
            <a:srgbClr val="F9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 274: plot geometry" descr="sci-ppt:obj-0274"/>
          <p:cNvSpPr/>
          <p:nvPr/>
        </p:nvSpPr>
        <p:spPr>
          <a:xfrm>
            <a:off x="11149463" y="2758865"/>
            <a:ext cx="159603" cy="11416"/>
          </a:xfrm>
          <a:prstGeom prst="rect">
            <a:avLst/>
          </a:prstGeom>
          <a:solidFill>
            <a:srgbClr val="F9E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 275: plot geometry" descr="sci-ppt:obj-0275"/>
          <p:cNvSpPr/>
          <p:nvPr/>
        </p:nvSpPr>
        <p:spPr>
          <a:xfrm>
            <a:off x="11149463" y="2770265"/>
            <a:ext cx="159603" cy="11416"/>
          </a:xfrm>
          <a:prstGeom prst="rect">
            <a:avLst/>
          </a:prstGeom>
          <a:solidFill>
            <a:srgbClr val="F9E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 276: plot geometry" descr="sci-ppt:obj-0276"/>
          <p:cNvSpPr/>
          <p:nvPr/>
        </p:nvSpPr>
        <p:spPr>
          <a:xfrm>
            <a:off x="11149463" y="2781665"/>
            <a:ext cx="159603" cy="11416"/>
          </a:xfrm>
          <a:prstGeom prst="rect">
            <a:avLst/>
          </a:prstGeom>
          <a:solidFill>
            <a:srgbClr val="F9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 277: plot geometry" descr="sci-ppt:obj-0277"/>
          <p:cNvSpPr/>
          <p:nvPr/>
        </p:nvSpPr>
        <p:spPr>
          <a:xfrm>
            <a:off x="11149463" y="2793065"/>
            <a:ext cx="159603" cy="11416"/>
          </a:xfrm>
          <a:prstGeom prst="rect">
            <a:avLst/>
          </a:prstGeom>
          <a:solidFill>
            <a:srgbClr val="F9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 278: plot geometry" descr="sci-ppt:obj-0278"/>
          <p:cNvSpPr/>
          <p:nvPr/>
        </p:nvSpPr>
        <p:spPr>
          <a:xfrm>
            <a:off x="11149463" y="2804466"/>
            <a:ext cx="159603" cy="11416"/>
          </a:xfrm>
          <a:prstGeom prst="rect">
            <a:avLst/>
          </a:prstGeom>
          <a:solidFill>
            <a:srgbClr val="F9EB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 279: plot geometry" descr="sci-ppt:obj-0279"/>
          <p:cNvSpPr/>
          <p:nvPr/>
        </p:nvSpPr>
        <p:spPr>
          <a:xfrm>
            <a:off x="11149463" y="2815866"/>
            <a:ext cx="159603" cy="11416"/>
          </a:xfrm>
          <a:prstGeom prst="rect">
            <a:avLst/>
          </a:prstGeom>
          <a:solidFill>
            <a:srgbClr val="FA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 280: plot geometry" descr="sci-ppt:obj-0280"/>
          <p:cNvSpPr/>
          <p:nvPr/>
        </p:nvSpPr>
        <p:spPr>
          <a:xfrm>
            <a:off x="11149463" y="2827266"/>
            <a:ext cx="159603" cy="11416"/>
          </a:xfrm>
          <a:prstGeom prst="rect">
            <a:avLst/>
          </a:prstGeom>
          <a:solidFill>
            <a:srgbClr val="FA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 281: plot geometry" descr="sci-ppt:obj-0281"/>
          <p:cNvSpPr/>
          <p:nvPr/>
        </p:nvSpPr>
        <p:spPr>
          <a:xfrm>
            <a:off x="11149463" y="2838667"/>
            <a:ext cx="159603" cy="11416"/>
          </a:xfrm>
          <a:prstGeom prst="rect">
            <a:avLst/>
          </a:prstGeom>
          <a:solidFill>
            <a:srgbClr val="FAE8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 282: plot geometry" descr="sci-ppt:obj-0282"/>
          <p:cNvSpPr/>
          <p:nvPr/>
        </p:nvSpPr>
        <p:spPr>
          <a:xfrm>
            <a:off x="11149463" y="2850067"/>
            <a:ext cx="159603" cy="11416"/>
          </a:xfrm>
          <a:prstGeom prst="rect">
            <a:avLst/>
          </a:prstGeom>
          <a:solidFill>
            <a:srgbClr val="FAE7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 283: plot geometry" descr="sci-ppt:obj-0283"/>
          <p:cNvSpPr/>
          <p:nvPr/>
        </p:nvSpPr>
        <p:spPr>
          <a:xfrm>
            <a:off x="11149463" y="2861467"/>
            <a:ext cx="159603" cy="11416"/>
          </a:xfrm>
          <a:prstGeom prst="rect">
            <a:avLst/>
          </a:prstGeom>
          <a:solidFill>
            <a:srgbClr val="FBE6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 284: plot geometry" descr="sci-ppt:obj-0284"/>
          <p:cNvSpPr/>
          <p:nvPr/>
        </p:nvSpPr>
        <p:spPr>
          <a:xfrm>
            <a:off x="11149463" y="2872867"/>
            <a:ext cx="159603" cy="11416"/>
          </a:xfrm>
          <a:prstGeom prst="rect">
            <a:avLst/>
          </a:prstGeom>
          <a:solidFill>
            <a:srgbClr val="FBE5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 285: plot geometry" descr="sci-ppt:obj-0285"/>
          <p:cNvSpPr/>
          <p:nvPr/>
        </p:nvSpPr>
        <p:spPr>
          <a:xfrm>
            <a:off x="11149463" y="2884268"/>
            <a:ext cx="159603" cy="11416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 286: plot geometry" descr="sci-ppt:obj-0286"/>
          <p:cNvSpPr/>
          <p:nvPr/>
        </p:nvSpPr>
        <p:spPr>
          <a:xfrm>
            <a:off x="11149463" y="2895668"/>
            <a:ext cx="159603" cy="11416"/>
          </a:xfrm>
          <a:prstGeom prst="rect">
            <a:avLst/>
          </a:prstGeom>
          <a:solidFill>
            <a:srgbClr val="FBE3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 287: plot geometry" descr="sci-ppt:obj-0287"/>
          <p:cNvSpPr/>
          <p:nvPr/>
        </p:nvSpPr>
        <p:spPr>
          <a:xfrm>
            <a:off x="11149463" y="2907068"/>
            <a:ext cx="159603" cy="11416"/>
          </a:xfrm>
          <a:prstGeom prst="rect">
            <a:avLst/>
          </a:prstGeom>
          <a:solidFill>
            <a:srgbClr val="FCE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 288: plot geometry" descr="sci-ppt:obj-0288"/>
          <p:cNvSpPr/>
          <p:nvPr/>
        </p:nvSpPr>
        <p:spPr>
          <a:xfrm>
            <a:off x="11149463" y="2918468"/>
            <a:ext cx="159603" cy="11416"/>
          </a:xfrm>
          <a:prstGeom prst="rect">
            <a:avLst/>
          </a:prstGeom>
          <a:solidFill>
            <a:srgbClr val="FCE0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 289: plot geometry" descr="sci-ppt:obj-0289"/>
          <p:cNvSpPr/>
          <p:nvPr/>
        </p:nvSpPr>
        <p:spPr>
          <a:xfrm>
            <a:off x="11149463" y="2929869"/>
            <a:ext cx="159603" cy="11416"/>
          </a:xfrm>
          <a:prstGeom prst="rect">
            <a:avLst/>
          </a:prstGeom>
          <a:solidFill>
            <a:srgbClr val="FCDF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 290: plot geometry" descr="sci-ppt:obj-0290"/>
          <p:cNvSpPr/>
          <p:nvPr/>
        </p:nvSpPr>
        <p:spPr>
          <a:xfrm>
            <a:off x="11149463" y="2941269"/>
            <a:ext cx="159603" cy="11416"/>
          </a:xfrm>
          <a:prstGeom prst="rect">
            <a:avLst/>
          </a:prstGeom>
          <a:solidFill>
            <a:srgbClr val="FCD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 291: plot geometry" descr="sci-ppt:obj-0291"/>
          <p:cNvSpPr/>
          <p:nvPr/>
        </p:nvSpPr>
        <p:spPr>
          <a:xfrm>
            <a:off x="11149463" y="2952669"/>
            <a:ext cx="159603" cy="11416"/>
          </a:xfrm>
          <a:prstGeom prst="rect">
            <a:avLst/>
          </a:prstGeom>
          <a:solidFill>
            <a:srgbClr val="FDDD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 292: plot geometry" descr="sci-ppt:obj-0292"/>
          <p:cNvSpPr/>
          <p:nvPr/>
        </p:nvSpPr>
        <p:spPr>
          <a:xfrm>
            <a:off x="11149463" y="2964069"/>
            <a:ext cx="159603" cy="11416"/>
          </a:xfrm>
          <a:prstGeom prst="rect">
            <a:avLst/>
          </a:prstGeom>
          <a:solidFill>
            <a:srgbClr val="FDDC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 293: plot geometry" descr="sci-ppt:obj-0293"/>
          <p:cNvSpPr/>
          <p:nvPr/>
        </p:nvSpPr>
        <p:spPr>
          <a:xfrm>
            <a:off x="11149463" y="2975470"/>
            <a:ext cx="159603" cy="11416"/>
          </a:xfrm>
          <a:prstGeom prst="rect">
            <a:avLst/>
          </a:prstGeom>
          <a:solidFill>
            <a:srgbClr val="FDDB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 294: plot geometry" descr="sci-ppt:obj-0294"/>
          <p:cNvSpPr/>
          <p:nvPr/>
        </p:nvSpPr>
        <p:spPr>
          <a:xfrm>
            <a:off x="11149463" y="2986870"/>
            <a:ext cx="159603" cy="11416"/>
          </a:xfrm>
          <a:prstGeom prst="rect">
            <a:avLst/>
          </a:prstGeom>
          <a:solidFill>
            <a:srgbClr val="FDD9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 295: plot geometry" descr="sci-ppt:obj-0295"/>
          <p:cNvSpPr/>
          <p:nvPr/>
        </p:nvSpPr>
        <p:spPr>
          <a:xfrm>
            <a:off x="11149463" y="2998270"/>
            <a:ext cx="159603" cy="11416"/>
          </a:xfrm>
          <a:prstGeom prst="rect">
            <a:avLst/>
          </a:prstGeom>
          <a:solidFill>
            <a:srgbClr val="FCD7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 296: plot geometry" descr="sci-ppt:obj-0296"/>
          <p:cNvSpPr/>
          <p:nvPr/>
        </p:nvSpPr>
        <p:spPr>
          <a:xfrm>
            <a:off x="11149463" y="3009671"/>
            <a:ext cx="159603" cy="11416"/>
          </a:xfrm>
          <a:prstGeom prst="rect">
            <a:avLst/>
          </a:prstGeom>
          <a:solidFill>
            <a:srgbClr val="FCD7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 297: plot geometry" descr="sci-ppt:obj-0297"/>
          <p:cNvSpPr/>
          <p:nvPr/>
        </p:nvSpPr>
        <p:spPr>
          <a:xfrm>
            <a:off x="11149463" y="3021071"/>
            <a:ext cx="159603" cy="11416"/>
          </a:xfrm>
          <a:prstGeom prst="rect">
            <a:avLst/>
          </a:prstGeom>
          <a:solidFill>
            <a:srgbClr val="FCD5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 298: plot geometry" descr="sci-ppt:obj-0298"/>
          <p:cNvSpPr/>
          <p:nvPr/>
        </p:nvSpPr>
        <p:spPr>
          <a:xfrm>
            <a:off x="11149463" y="3032471"/>
            <a:ext cx="159603" cy="11416"/>
          </a:xfrm>
          <a:prstGeom prst="rect">
            <a:avLst/>
          </a:prstGeom>
          <a:solidFill>
            <a:srgbClr val="FCD3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 299: plot geometry" descr="sci-ppt:obj-0299"/>
          <p:cNvSpPr/>
          <p:nvPr/>
        </p:nvSpPr>
        <p:spPr>
          <a:xfrm>
            <a:off x="11149463" y="3043871"/>
            <a:ext cx="159603" cy="11416"/>
          </a:xfrm>
          <a:prstGeom prst="rect">
            <a:avLst/>
          </a:prstGeom>
          <a:solidFill>
            <a:srgbClr val="FBD0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 300: plot geometry" descr="sci-ppt:obj-0300"/>
          <p:cNvSpPr/>
          <p:nvPr/>
        </p:nvSpPr>
        <p:spPr>
          <a:xfrm>
            <a:off x="11149463" y="3055272"/>
            <a:ext cx="159603" cy="11416"/>
          </a:xfrm>
          <a:prstGeom prst="rect">
            <a:avLst/>
          </a:prstGeom>
          <a:solidFill>
            <a:srgbClr val="FBCE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 301: plot geometry" descr="sci-ppt:obj-0301"/>
          <p:cNvSpPr/>
          <p:nvPr/>
        </p:nvSpPr>
        <p:spPr>
          <a:xfrm>
            <a:off x="11149463" y="3066672"/>
            <a:ext cx="159603" cy="11416"/>
          </a:xfrm>
          <a:prstGeom prst="rect">
            <a:avLst/>
          </a:prstGeom>
          <a:solidFill>
            <a:srgbClr val="FBCC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 302: plot geometry" descr="sci-ppt:obj-0302"/>
          <p:cNvSpPr/>
          <p:nvPr/>
        </p:nvSpPr>
        <p:spPr>
          <a:xfrm>
            <a:off x="11149463" y="3078072"/>
            <a:ext cx="159603" cy="11416"/>
          </a:xfrm>
          <a:prstGeom prst="rect">
            <a:avLst/>
          </a:prstGeom>
          <a:solidFill>
            <a:srgbClr val="FACA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 303: plot geometry" descr="sci-ppt:obj-0303"/>
          <p:cNvSpPr/>
          <p:nvPr/>
        </p:nvSpPr>
        <p:spPr>
          <a:xfrm>
            <a:off x="11149463" y="3089472"/>
            <a:ext cx="159603" cy="11416"/>
          </a:xfrm>
          <a:prstGeom prst="rect">
            <a:avLst/>
          </a:prstGeom>
          <a:solidFill>
            <a:srgbClr val="FAC8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 304: plot geometry" descr="sci-ppt:obj-0304"/>
          <p:cNvSpPr/>
          <p:nvPr/>
        </p:nvSpPr>
        <p:spPr>
          <a:xfrm>
            <a:off x="11149463" y="3100873"/>
            <a:ext cx="159603" cy="11416"/>
          </a:xfrm>
          <a:prstGeom prst="rect">
            <a:avLst/>
          </a:prstGeom>
          <a:solidFill>
            <a:srgbClr val="F9C6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 305: plot geometry" descr="sci-ppt:obj-0305"/>
          <p:cNvSpPr/>
          <p:nvPr/>
        </p:nvSpPr>
        <p:spPr>
          <a:xfrm>
            <a:off x="11149463" y="3112273"/>
            <a:ext cx="159603" cy="11416"/>
          </a:xfrm>
          <a:prstGeom prst="rect">
            <a:avLst/>
          </a:prstGeom>
          <a:solidFill>
            <a:srgbClr val="F9C4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 306: plot geometry" descr="sci-ppt:obj-0306"/>
          <p:cNvSpPr/>
          <p:nvPr/>
        </p:nvSpPr>
        <p:spPr>
          <a:xfrm>
            <a:off x="11149463" y="3123673"/>
            <a:ext cx="159603" cy="11416"/>
          </a:xfrm>
          <a:prstGeom prst="rect">
            <a:avLst/>
          </a:prstGeom>
          <a:solidFill>
            <a:srgbClr val="F9C2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 307: plot geometry" descr="sci-ppt:obj-0307"/>
          <p:cNvSpPr/>
          <p:nvPr/>
        </p:nvSpPr>
        <p:spPr>
          <a:xfrm>
            <a:off x="11149463" y="3135074"/>
            <a:ext cx="159603" cy="11416"/>
          </a:xfrm>
          <a:prstGeom prst="rect">
            <a:avLst/>
          </a:prstGeom>
          <a:solidFill>
            <a:srgbClr val="F8BF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 308: plot geometry" descr="sci-ppt:obj-0308"/>
          <p:cNvSpPr/>
          <p:nvPr/>
        </p:nvSpPr>
        <p:spPr>
          <a:xfrm>
            <a:off x="11149463" y="3146474"/>
            <a:ext cx="159603" cy="11416"/>
          </a:xfrm>
          <a:prstGeom prst="rect">
            <a:avLst/>
          </a:prstGeom>
          <a:solidFill>
            <a:srgbClr val="F8BD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 309: plot geometry" descr="sci-ppt:obj-0309"/>
          <p:cNvSpPr/>
          <p:nvPr/>
        </p:nvSpPr>
        <p:spPr>
          <a:xfrm>
            <a:off x="11149463" y="3157874"/>
            <a:ext cx="159603" cy="11416"/>
          </a:xfrm>
          <a:prstGeom prst="rect">
            <a:avLst/>
          </a:prstGeom>
          <a:solidFill>
            <a:srgbClr val="F8BB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 310: plot geometry" descr="sci-ppt:obj-0310"/>
          <p:cNvSpPr/>
          <p:nvPr/>
        </p:nvSpPr>
        <p:spPr>
          <a:xfrm>
            <a:off x="11149463" y="3169274"/>
            <a:ext cx="159603" cy="11416"/>
          </a:xfrm>
          <a:prstGeom prst="rect">
            <a:avLst/>
          </a:prstGeom>
          <a:solidFill>
            <a:srgbClr val="F7B9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 311: plot geometry" descr="sci-ppt:obj-0311"/>
          <p:cNvSpPr/>
          <p:nvPr/>
        </p:nvSpPr>
        <p:spPr>
          <a:xfrm>
            <a:off x="11149463" y="3180675"/>
            <a:ext cx="159603" cy="11416"/>
          </a:xfrm>
          <a:prstGeom prst="rect">
            <a:avLst/>
          </a:prstGeom>
          <a:solidFill>
            <a:srgbClr val="F7B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 312: plot geometry" descr="sci-ppt:obj-0312"/>
          <p:cNvSpPr/>
          <p:nvPr/>
        </p:nvSpPr>
        <p:spPr>
          <a:xfrm>
            <a:off x="11149463" y="3192075"/>
            <a:ext cx="159603" cy="11416"/>
          </a:xfrm>
          <a:prstGeom prst="rect">
            <a:avLst/>
          </a:prstGeom>
          <a:solidFill>
            <a:srgbClr val="F7B5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 313: plot geometry" descr="sci-ppt:obj-0313"/>
          <p:cNvSpPr/>
          <p:nvPr/>
        </p:nvSpPr>
        <p:spPr>
          <a:xfrm>
            <a:off x="11149463" y="3203475"/>
            <a:ext cx="159603" cy="11416"/>
          </a:xfrm>
          <a:prstGeom prst="rect">
            <a:avLst/>
          </a:prstGeom>
          <a:solidFill>
            <a:srgbClr val="F6B3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 314: plot geometry" descr="sci-ppt:obj-0314"/>
          <p:cNvSpPr/>
          <p:nvPr/>
        </p:nvSpPr>
        <p:spPr>
          <a:xfrm>
            <a:off x="11149463" y="3214875"/>
            <a:ext cx="159603" cy="11416"/>
          </a:xfrm>
          <a:prstGeom prst="rect">
            <a:avLst/>
          </a:prstGeom>
          <a:solidFill>
            <a:srgbClr val="F6B1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 315: plot geometry" descr="sci-ppt:obj-0315"/>
          <p:cNvSpPr/>
          <p:nvPr/>
        </p:nvSpPr>
        <p:spPr>
          <a:xfrm>
            <a:off x="11149463" y="3226276"/>
            <a:ext cx="159603" cy="11416"/>
          </a:xfrm>
          <a:prstGeom prst="rect">
            <a:avLst/>
          </a:prstGeom>
          <a:solidFill>
            <a:srgbClr val="F6B1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 316: plot geometry" descr="sci-ppt:obj-0316"/>
          <p:cNvSpPr/>
          <p:nvPr/>
        </p:nvSpPr>
        <p:spPr>
          <a:xfrm>
            <a:off x="11149463" y="3237676"/>
            <a:ext cx="159603" cy="11416"/>
          </a:xfrm>
          <a:prstGeom prst="rect">
            <a:avLst/>
          </a:prstGeom>
          <a:solidFill>
            <a:srgbClr val="F6AF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 317: plot geometry" descr="sci-ppt:obj-0317"/>
          <p:cNvSpPr/>
          <p:nvPr/>
        </p:nvSpPr>
        <p:spPr>
          <a:xfrm>
            <a:off x="11149463" y="3249076"/>
            <a:ext cx="159603" cy="11416"/>
          </a:xfrm>
          <a:prstGeom prst="rect">
            <a:avLst/>
          </a:prstGeom>
          <a:solidFill>
            <a:srgbClr val="F5AC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 318: plot geometry" descr="sci-ppt:obj-0318"/>
          <p:cNvSpPr/>
          <p:nvPr/>
        </p:nvSpPr>
        <p:spPr>
          <a:xfrm>
            <a:off x="11149463" y="3260476"/>
            <a:ext cx="159603" cy="11416"/>
          </a:xfrm>
          <a:prstGeom prst="rect">
            <a:avLst/>
          </a:prstGeom>
          <a:solidFill>
            <a:srgbClr val="F5AA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 319: plot geometry" descr="sci-ppt:obj-0319"/>
          <p:cNvSpPr/>
          <p:nvPr/>
        </p:nvSpPr>
        <p:spPr>
          <a:xfrm>
            <a:off x="11149463" y="3271877"/>
            <a:ext cx="159603" cy="11416"/>
          </a:xfrm>
          <a:prstGeom prst="rect">
            <a:avLst/>
          </a:prstGeom>
          <a:solidFill>
            <a:srgbClr val="F5A8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 320: plot geometry" descr="sci-ppt:obj-0320"/>
          <p:cNvSpPr/>
          <p:nvPr/>
        </p:nvSpPr>
        <p:spPr>
          <a:xfrm>
            <a:off x="11149463" y="3283277"/>
            <a:ext cx="159603" cy="11416"/>
          </a:xfrm>
          <a:prstGeom prst="rect">
            <a:avLst/>
          </a:prstGeom>
          <a:solidFill>
            <a:srgbClr val="F4A6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 321: plot geometry" descr="sci-ppt:obj-0321"/>
          <p:cNvSpPr/>
          <p:nvPr/>
        </p:nvSpPr>
        <p:spPr>
          <a:xfrm>
            <a:off x="11149463" y="3294677"/>
            <a:ext cx="159603" cy="11416"/>
          </a:xfrm>
          <a:prstGeom prst="rect">
            <a:avLst/>
          </a:prstGeom>
          <a:solidFill>
            <a:srgbClr val="F3A4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 322: plot geometry" descr="sci-ppt:obj-0322"/>
          <p:cNvSpPr/>
          <p:nvPr/>
        </p:nvSpPr>
        <p:spPr>
          <a:xfrm>
            <a:off x="11149463" y="3306078"/>
            <a:ext cx="159603" cy="11416"/>
          </a:xfrm>
          <a:prstGeom prst="rect">
            <a:avLst/>
          </a:prstGeom>
          <a:solidFill>
            <a:srgbClr val="F2A1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 323: plot geometry" descr="sci-ppt:obj-0323"/>
          <p:cNvSpPr/>
          <p:nvPr/>
        </p:nvSpPr>
        <p:spPr>
          <a:xfrm>
            <a:off x="11149463" y="3317478"/>
            <a:ext cx="159603" cy="11416"/>
          </a:xfrm>
          <a:prstGeom prst="rect">
            <a:avLst/>
          </a:prstGeom>
          <a:solidFill>
            <a:srgbClr val="F19E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 324: plot geometry" descr="sci-ppt:obj-0324"/>
          <p:cNvSpPr/>
          <p:nvPr/>
        </p:nvSpPr>
        <p:spPr>
          <a:xfrm>
            <a:off x="11149463" y="3328878"/>
            <a:ext cx="159603" cy="11416"/>
          </a:xfrm>
          <a:prstGeom prst="rect">
            <a:avLst/>
          </a:prstGeom>
          <a:solidFill>
            <a:srgbClr val="F0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 325: plot geometry" descr="sci-ppt:obj-0325"/>
          <p:cNvSpPr/>
          <p:nvPr/>
        </p:nvSpPr>
        <p:spPr>
          <a:xfrm>
            <a:off x="11149463" y="3340278"/>
            <a:ext cx="159603" cy="11416"/>
          </a:xfrm>
          <a:prstGeom prst="rect">
            <a:avLst/>
          </a:prstGeom>
          <a:solidFill>
            <a:srgbClr val="EF99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 326: plot geometry" descr="sci-ppt:obj-0326"/>
          <p:cNvSpPr/>
          <p:nvPr/>
        </p:nvSpPr>
        <p:spPr>
          <a:xfrm>
            <a:off x="11149463" y="3351679"/>
            <a:ext cx="159603" cy="11416"/>
          </a:xfrm>
          <a:prstGeom prst="rect">
            <a:avLst/>
          </a:prstGeom>
          <a:solidFill>
            <a:srgbClr val="EE9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 327: plot geometry" descr="sci-ppt:obj-0327"/>
          <p:cNvSpPr/>
          <p:nvPr/>
        </p:nvSpPr>
        <p:spPr>
          <a:xfrm>
            <a:off x="11149463" y="3363079"/>
            <a:ext cx="159603" cy="11416"/>
          </a:xfrm>
          <a:prstGeom prst="rect">
            <a:avLst/>
          </a:prstGeom>
          <a:solidFill>
            <a:srgbClr val="EC93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 328: plot geometry" descr="sci-ppt:obj-0328"/>
          <p:cNvSpPr/>
          <p:nvPr/>
        </p:nvSpPr>
        <p:spPr>
          <a:xfrm>
            <a:off x="11149463" y="3374479"/>
            <a:ext cx="159603" cy="11416"/>
          </a:xfrm>
          <a:prstGeom prst="rect">
            <a:avLst/>
          </a:prstGeom>
          <a:solidFill>
            <a:srgbClr val="EB9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 329: plot geometry" descr="sci-ppt:obj-0329"/>
          <p:cNvSpPr/>
          <p:nvPr/>
        </p:nvSpPr>
        <p:spPr>
          <a:xfrm>
            <a:off x="11149463" y="3385879"/>
            <a:ext cx="159603" cy="11416"/>
          </a:xfrm>
          <a:prstGeom prst="rect">
            <a:avLst/>
          </a:prstGeom>
          <a:solidFill>
            <a:srgbClr val="EA8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 330: plot geometry" descr="sci-ppt:obj-0330"/>
          <p:cNvSpPr/>
          <p:nvPr/>
        </p:nvSpPr>
        <p:spPr>
          <a:xfrm>
            <a:off x="11149463" y="3397280"/>
            <a:ext cx="159603" cy="11416"/>
          </a:xfrm>
          <a:prstGeom prst="rect">
            <a:avLst/>
          </a:prstGeom>
          <a:solidFill>
            <a:srgbClr val="E98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 331: plot geometry" descr="sci-ppt:obj-0331"/>
          <p:cNvSpPr/>
          <p:nvPr/>
        </p:nvSpPr>
        <p:spPr>
          <a:xfrm>
            <a:off x="11149463" y="3408680"/>
            <a:ext cx="159603" cy="11416"/>
          </a:xfrm>
          <a:prstGeom prst="rect">
            <a:avLst/>
          </a:prstGeom>
          <a:solidFill>
            <a:srgbClr val="E889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 332: plot geometry" descr="sci-ppt:obj-0332"/>
          <p:cNvSpPr/>
          <p:nvPr/>
        </p:nvSpPr>
        <p:spPr>
          <a:xfrm>
            <a:off x="11149463" y="3420080"/>
            <a:ext cx="159603" cy="11416"/>
          </a:xfrm>
          <a:prstGeom prst="rect">
            <a:avLst/>
          </a:prstGeom>
          <a:solidFill>
            <a:srgbClr val="E68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 333: plot geometry" descr="sci-ppt:obj-0333"/>
          <p:cNvSpPr/>
          <p:nvPr/>
        </p:nvSpPr>
        <p:spPr>
          <a:xfrm>
            <a:off x="11149463" y="3431480"/>
            <a:ext cx="159603" cy="11416"/>
          </a:xfrm>
          <a:prstGeom prst="rect">
            <a:avLst/>
          </a:prstGeom>
          <a:solidFill>
            <a:srgbClr val="E583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 334: plot geometry" descr="sci-ppt:obj-0334"/>
          <p:cNvSpPr/>
          <p:nvPr/>
        </p:nvSpPr>
        <p:spPr>
          <a:xfrm>
            <a:off x="11149463" y="3442881"/>
            <a:ext cx="159603" cy="11416"/>
          </a:xfrm>
          <a:prstGeom prst="rect">
            <a:avLst/>
          </a:prstGeom>
          <a:solidFill>
            <a:srgbClr val="E583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 335: plot geometry" descr="sci-ppt:obj-0335"/>
          <p:cNvSpPr/>
          <p:nvPr/>
        </p:nvSpPr>
        <p:spPr>
          <a:xfrm>
            <a:off x="11149463" y="3454281"/>
            <a:ext cx="159603" cy="11416"/>
          </a:xfrm>
          <a:prstGeom prst="rect">
            <a:avLst/>
          </a:prstGeom>
          <a:solidFill>
            <a:srgbClr val="E480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 336: plot geometry" descr="sci-ppt:obj-0336"/>
          <p:cNvSpPr/>
          <p:nvPr/>
        </p:nvSpPr>
        <p:spPr>
          <a:xfrm>
            <a:off x="11149463" y="3465681"/>
            <a:ext cx="159603" cy="11416"/>
          </a:xfrm>
          <a:prstGeom prst="rect">
            <a:avLst/>
          </a:prstGeom>
          <a:solidFill>
            <a:srgbClr val="E37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 337: plot geometry" descr="sci-ppt:obj-0337"/>
          <p:cNvSpPr/>
          <p:nvPr/>
        </p:nvSpPr>
        <p:spPr>
          <a:xfrm>
            <a:off x="11149463" y="3477082"/>
            <a:ext cx="159603" cy="11416"/>
          </a:xfrm>
          <a:prstGeom prst="rect">
            <a:avLst/>
          </a:prstGeom>
          <a:solidFill>
            <a:srgbClr val="E27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 338: plot geometry" descr="sci-ppt:obj-0338"/>
          <p:cNvSpPr/>
          <p:nvPr/>
        </p:nvSpPr>
        <p:spPr>
          <a:xfrm>
            <a:off x="11149463" y="3488482"/>
            <a:ext cx="159603" cy="11416"/>
          </a:xfrm>
          <a:prstGeom prst="rect">
            <a:avLst/>
          </a:prstGeom>
          <a:solidFill>
            <a:srgbClr val="E178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 339: plot geometry" descr="sci-ppt:obj-0339"/>
          <p:cNvSpPr/>
          <p:nvPr/>
        </p:nvSpPr>
        <p:spPr>
          <a:xfrm>
            <a:off x="11149463" y="3499882"/>
            <a:ext cx="159603" cy="11416"/>
          </a:xfrm>
          <a:prstGeom prst="rect">
            <a:avLst/>
          </a:prstGeom>
          <a:solidFill>
            <a:srgbClr val="DF76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 340: plot geometry" descr="sci-ppt:obj-0340"/>
          <p:cNvSpPr/>
          <p:nvPr/>
        </p:nvSpPr>
        <p:spPr>
          <a:xfrm>
            <a:off x="11149463" y="3511282"/>
            <a:ext cx="159603" cy="11416"/>
          </a:xfrm>
          <a:prstGeom prst="rect">
            <a:avLst/>
          </a:prstGeom>
          <a:solidFill>
            <a:srgbClr val="DE73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 341: plot geometry" descr="sci-ppt:obj-0341"/>
          <p:cNvSpPr/>
          <p:nvPr/>
        </p:nvSpPr>
        <p:spPr>
          <a:xfrm>
            <a:off x="11149463" y="3522683"/>
            <a:ext cx="159603" cy="11416"/>
          </a:xfrm>
          <a:prstGeom prst="rect">
            <a:avLst/>
          </a:prstGeom>
          <a:solidFill>
            <a:srgbClr val="DD70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 342: plot geometry" descr="sci-ppt:obj-0342"/>
          <p:cNvSpPr/>
          <p:nvPr/>
        </p:nvSpPr>
        <p:spPr>
          <a:xfrm>
            <a:off x="11149463" y="3534083"/>
            <a:ext cx="159603" cy="11416"/>
          </a:xfrm>
          <a:prstGeom prst="rect">
            <a:avLst/>
          </a:prstGeom>
          <a:solidFill>
            <a:srgbClr val="DC6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 343: plot geometry" descr="sci-ppt:obj-0343"/>
          <p:cNvSpPr/>
          <p:nvPr/>
        </p:nvSpPr>
        <p:spPr>
          <a:xfrm>
            <a:off x="11149463" y="3545483"/>
            <a:ext cx="159603" cy="11416"/>
          </a:xfrm>
          <a:prstGeom prst="rect">
            <a:avLst/>
          </a:prstGeom>
          <a:solidFill>
            <a:srgbClr val="DB6B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 344: plot geometry" descr="sci-ppt:obj-0344"/>
          <p:cNvSpPr/>
          <p:nvPr/>
        </p:nvSpPr>
        <p:spPr>
          <a:xfrm>
            <a:off x="11149463" y="3556883"/>
            <a:ext cx="159603" cy="11416"/>
          </a:xfrm>
          <a:prstGeom prst="rect">
            <a:avLst/>
          </a:prstGeom>
          <a:solidFill>
            <a:srgbClr val="DA6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 345: plot geometry" descr="sci-ppt:obj-0345"/>
          <p:cNvSpPr/>
          <p:nvPr/>
        </p:nvSpPr>
        <p:spPr>
          <a:xfrm>
            <a:off x="11149463" y="3568284"/>
            <a:ext cx="159603" cy="11416"/>
          </a:xfrm>
          <a:prstGeom prst="rect">
            <a:avLst/>
          </a:prstGeom>
          <a:solidFill>
            <a:srgbClr val="D865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 346: plot geometry" descr="sci-ppt:obj-0346"/>
          <p:cNvSpPr/>
          <p:nvPr/>
        </p:nvSpPr>
        <p:spPr>
          <a:xfrm>
            <a:off x="11149463" y="3579684"/>
            <a:ext cx="159603" cy="11416"/>
          </a:xfrm>
          <a:prstGeom prst="rect">
            <a:avLst/>
          </a:prstGeom>
          <a:solidFill>
            <a:srgbClr val="D763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 347: plot geometry" descr="sci-ppt:obj-0347"/>
          <p:cNvSpPr/>
          <p:nvPr/>
        </p:nvSpPr>
        <p:spPr>
          <a:xfrm>
            <a:off x="11149463" y="3591084"/>
            <a:ext cx="159603" cy="11416"/>
          </a:xfrm>
          <a:prstGeom prst="rect">
            <a:avLst/>
          </a:prstGeom>
          <a:solidFill>
            <a:srgbClr val="D660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 348: plot geometry" descr="sci-ppt:obj-0348"/>
          <p:cNvSpPr/>
          <p:nvPr/>
        </p:nvSpPr>
        <p:spPr>
          <a:xfrm>
            <a:off x="11149463" y="3602485"/>
            <a:ext cx="159603" cy="11416"/>
          </a:xfrm>
          <a:prstGeom prst="rect">
            <a:avLst/>
          </a:prstGeom>
          <a:solidFill>
            <a:srgbClr val="D55D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 349: plot geometry" descr="sci-ppt:obj-0349"/>
          <p:cNvSpPr/>
          <p:nvPr/>
        </p:nvSpPr>
        <p:spPr>
          <a:xfrm>
            <a:off x="11149463" y="3613885"/>
            <a:ext cx="159603" cy="11416"/>
          </a:xfrm>
          <a:prstGeom prst="rect">
            <a:avLst/>
          </a:prstGeom>
          <a:solidFill>
            <a:srgbClr val="D35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 350: plot geometry" descr="sci-ppt:obj-0350"/>
          <p:cNvSpPr/>
          <p:nvPr/>
        </p:nvSpPr>
        <p:spPr>
          <a:xfrm>
            <a:off x="11149463" y="3625285"/>
            <a:ext cx="159603" cy="11416"/>
          </a:xfrm>
          <a:prstGeom prst="rect">
            <a:avLst/>
          </a:prstGeom>
          <a:solidFill>
            <a:srgbClr val="D258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 351: plot geometry" descr="sci-ppt:obj-0351"/>
          <p:cNvSpPr/>
          <p:nvPr/>
        </p:nvSpPr>
        <p:spPr>
          <a:xfrm>
            <a:off x="11149463" y="3636685"/>
            <a:ext cx="159603" cy="11416"/>
          </a:xfrm>
          <a:prstGeom prst="rect">
            <a:avLst/>
          </a:prstGeom>
          <a:solidFill>
            <a:srgbClr val="D055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 352: plot geometry" descr="sci-ppt:obj-0352"/>
          <p:cNvSpPr/>
          <p:nvPr/>
        </p:nvSpPr>
        <p:spPr>
          <a:xfrm>
            <a:off x="11149463" y="3648086"/>
            <a:ext cx="159603" cy="11416"/>
          </a:xfrm>
          <a:prstGeom prst="rect">
            <a:avLst/>
          </a:prstGeom>
          <a:solidFill>
            <a:srgbClr val="CF52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 353: plot geometry" descr="sci-ppt:obj-0353"/>
          <p:cNvSpPr/>
          <p:nvPr/>
        </p:nvSpPr>
        <p:spPr>
          <a:xfrm>
            <a:off x="11149463" y="3659486"/>
            <a:ext cx="159603" cy="11416"/>
          </a:xfrm>
          <a:prstGeom prst="rect">
            <a:avLst/>
          </a:prstGeom>
          <a:solidFill>
            <a:srgbClr val="CE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 354: plot geometry" descr="sci-ppt:obj-0354"/>
          <p:cNvSpPr/>
          <p:nvPr/>
        </p:nvSpPr>
        <p:spPr>
          <a:xfrm>
            <a:off x="11149463" y="3670886"/>
            <a:ext cx="159603" cy="11416"/>
          </a:xfrm>
          <a:prstGeom prst="rect">
            <a:avLst/>
          </a:prstGeom>
          <a:solidFill>
            <a:srgbClr val="CE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 355: plot geometry" descr="sci-ppt:obj-0355"/>
          <p:cNvSpPr/>
          <p:nvPr/>
        </p:nvSpPr>
        <p:spPr>
          <a:xfrm>
            <a:off x="11149463" y="3682286"/>
            <a:ext cx="159603" cy="11416"/>
          </a:xfrm>
          <a:prstGeom prst="rect">
            <a:avLst/>
          </a:prstGeom>
          <a:solidFill>
            <a:srgbClr val="CC4C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 356: plot geometry" descr="sci-ppt:obj-0356"/>
          <p:cNvSpPr/>
          <p:nvPr/>
        </p:nvSpPr>
        <p:spPr>
          <a:xfrm>
            <a:off x="11149463" y="3693687"/>
            <a:ext cx="159603" cy="11416"/>
          </a:xfrm>
          <a:prstGeom prst="rect">
            <a:avLst/>
          </a:prstGeom>
          <a:solidFill>
            <a:srgbClr val="CB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 357: plot geometry" descr="sci-ppt:obj-0357"/>
          <p:cNvSpPr/>
          <p:nvPr/>
        </p:nvSpPr>
        <p:spPr>
          <a:xfrm>
            <a:off x="11149463" y="3705087"/>
            <a:ext cx="159603" cy="11416"/>
          </a:xfrm>
          <a:prstGeom prst="rect">
            <a:avLst/>
          </a:prstGeom>
          <a:solidFill>
            <a:srgbClr val="C947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 358: plot geometry" descr="sci-ppt:obj-0358"/>
          <p:cNvSpPr/>
          <p:nvPr/>
        </p:nvSpPr>
        <p:spPr>
          <a:xfrm>
            <a:off x="11149463" y="3716487"/>
            <a:ext cx="159603" cy="11416"/>
          </a:xfrm>
          <a:prstGeom prst="rect">
            <a:avLst/>
          </a:prstGeom>
          <a:solidFill>
            <a:srgbClr val="C8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 359: plot geometry" descr="sci-ppt:obj-0359"/>
          <p:cNvSpPr/>
          <p:nvPr/>
        </p:nvSpPr>
        <p:spPr>
          <a:xfrm>
            <a:off x="11149463" y="3727887"/>
            <a:ext cx="159603" cy="11416"/>
          </a:xfrm>
          <a:prstGeom prst="rect">
            <a:avLst/>
          </a:prstGeom>
          <a:solidFill>
            <a:srgbClr val="C641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 360: plot geometry" descr="sci-ppt:obj-0360"/>
          <p:cNvSpPr/>
          <p:nvPr/>
        </p:nvSpPr>
        <p:spPr>
          <a:xfrm>
            <a:off x="11149463" y="3739288"/>
            <a:ext cx="159603" cy="11416"/>
          </a:xfrm>
          <a:prstGeom prst="rect">
            <a:avLst/>
          </a:prstGeom>
          <a:solidFill>
            <a:srgbClr val="C53E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 361: plot geometry" descr="sci-ppt:obj-0361"/>
          <p:cNvSpPr/>
          <p:nvPr/>
        </p:nvSpPr>
        <p:spPr>
          <a:xfrm>
            <a:off x="11149463" y="3750688"/>
            <a:ext cx="159603" cy="11416"/>
          </a:xfrm>
          <a:prstGeom prst="rect">
            <a:avLst/>
          </a:prstGeom>
          <a:solidFill>
            <a:srgbClr val="C43B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 362: plot geometry" descr="sci-ppt:obj-0362"/>
          <p:cNvSpPr/>
          <p:nvPr/>
        </p:nvSpPr>
        <p:spPr>
          <a:xfrm>
            <a:off x="11149463" y="3762088"/>
            <a:ext cx="159603" cy="11416"/>
          </a:xfrm>
          <a:prstGeom prst="rect">
            <a:avLst/>
          </a:prstGeom>
          <a:solidFill>
            <a:srgbClr val="C238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 363: plot geometry" descr="sci-ppt:obj-0363"/>
          <p:cNvSpPr/>
          <p:nvPr/>
        </p:nvSpPr>
        <p:spPr>
          <a:xfrm>
            <a:off x="11149463" y="3773489"/>
            <a:ext cx="159603" cy="11416"/>
          </a:xfrm>
          <a:prstGeom prst="rect">
            <a:avLst/>
          </a:prstGeom>
          <a:solidFill>
            <a:srgbClr val="C136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 364: plot geometry" descr="sci-ppt:obj-0364"/>
          <p:cNvSpPr/>
          <p:nvPr/>
        </p:nvSpPr>
        <p:spPr>
          <a:xfrm>
            <a:off x="11149463" y="3784889"/>
            <a:ext cx="159603" cy="11416"/>
          </a:xfrm>
          <a:prstGeom prst="rect">
            <a:avLst/>
          </a:prstGeom>
          <a:solidFill>
            <a:srgbClr val="BF33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 365: plot geometry" descr="sci-ppt:obj-0365"/>
          <p:cNvSpPr/>
          <p:nvPr/>
        </p:nvSpPr>
        <p:spPr>
          <a:xfrm>
            <a:off x="11149463" y="3796289"/>
            <a:ext cx="159603" cy="11416"/>
          </a:xfrm>
          <a:prstGeom prst="rect">
            <a:avLst/>
          </a:prstGeom>
          <a:solidFill>
            <a:srgbClr val="BE30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 366: plot geometry" descr="sci-ppt:obj-0366"/>
          <p:cNvSpPr/>
          <p:nvPr/>
        </p:nvSpPr>
        <p:spPr>
          <a:xfrm>
            <a:off x="11149463" y="3807689"/>
            <a:ext cx="159603" cy="11416"/>
          </a:xfrm>
          <a:prstGeom prst="rect">
            <a:avLst/>
          </a:prstGeom>
          <a:solidFill>
            <a:srgbClr val="BD2D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 367: plot geometry" descr="sci-ppt:obj-0367"/>
          <p:cNvSpPr/>
          <p:nvPr/>
        </p:nvSpPr>
        <p:spPr>
          <a:xfrm>
            <a:off x="11149463" y="3819090"/>
            <a:ext cx="159603" cy="11416"/>
          </a:xfrm>
          <a:prstGeom prst="rect">
            <a:avLst/>
          </a:prstGeom>
          <a:solidFill>
            <a:srgbClr val="BB2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 368: plot geometry" descr="sci-ppt:obj-0368"/>
          <p:cNvSpPr/>
          <p:nvPr/>
        </p:nvSpPr>
        <p:spPr>
          <a:xfrm>
            <a:off x="11149463" y="3830490"/>
            <a:ext cx="159603" cy="11416"/>
          </a:xfrm>
          <a:prstGeom prst="rect">
            <a:avLst/>
          </a:prstGeom>
          <a:solidFill>
            <a:srgbClr val="BA2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 369: plot geometry" descr="sci-ppt:obj-0369"/>
          <p:cNvSpPr/>
          <p:nvPr/>
        </p:nvSpPr>
        <p:spPr>
          <a:xfrm>
            <a:off x="11149463" y="3841890"/>
            <a:ext cx="159603" cy="11416"/>
          </a:xfrm>
          <a:prstGeom prst="rect">
            <a:avLst/>
          </a:prstGeom>
          <a:solidFill>
            <a:srgbClr val="B825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 370: plot geometry" descr="sci-ppt:obj-0370"/>
          <p:cNvSpPr/>
          <p:nvPr/>
        </p:nvSpPr>
        <p:spPr>
          <a:xfrm>
            <a:off x="11149463" y="3853290"/>
            <a:ext cx="159603" cy="11416"/>
          </a:xfrm>
          <a:prstGeom prst="rect">
            <a:avLst/>
          </a:prstGeom>
          <a:solidFill>
            <a:srgbClr val="B72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 371: plot geometry" descr="sci-ppt:obj-0371"/>
          <p:cNvSpPr/>
          <p:nvPr/>
        </p:nvSpPr>
        <p:spPr>
          <a:xfrm>
            <a:off x="11149463" y="3864691"/>
            <a:ext cx="159603" cy="11416"/>
          </a:xfrm>
          <a:prstGeom prst="rect">
            <a:avLst/>
          </a:prstGeom>
          <a:solidFill>
            <a:srgbClr val="B61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 372: plot geometry" descr="sci-ppt:obj-0372"/>
          <p:cNvSpPr/>
          <p:nvPr/>
        </p:nvSpPr>
        <p:spPr>
          <a:xfrm>
            <a:off x="11149463" y="3876091"/>
            <a:ext cx="159603" cy="11416"/>
          </a:xfrm>
          <a:prstGeom prst="rect">
            <a:avLst/>
          </a:prstGeom>
          <a:solidFill>
            <a:srgbClr val="B4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 373: plot geometry" descr="sci-ppt:obj-0373"/>
          <p:cNvSpPr/>
          <p:nvPr/>
        </p:nvSpPr>
        <p:spPr>
          <a:xfrm>
            <a:off x="11149463" y="3887491"/>
            <a:ext cx="159603" cy="11416"/>
          </a:xfrm>
          <a:prstGeom prst="rect">
            <a:avLst/>
          </a:prstGeom>
          <a:solidFill>
            <a:srgbClr val="B4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 374: plot geometry" descr="sci-ppt:obj-0374"/>
          <p:cNvSpPr/>
          <p:nvPr/>
        </p:nvSpPr>
        <p:spPr>
          <a:xfrm>
            <a:off x="11149463" y="3898892"/>
            <a:ext cx="159603" cy="11416"/>
          </a:xfrm>
          <a:prstGeom prst="rect">
            <a:avLst/>
          </a:prstGeom>
          <a:solidFill>
            <a:srgbClr val="B319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 375: plot geometry" descr="sci-ppt:obj-0375"/>
          <p:cNvSpPr/>
          <p:nvPr/>
        </p:nvSpPr>
        <p:spPr>
          <a:xfrm>
            <a:off x="11149463" y="3910292"/>
            <a:ext cx="159603" cy="11416"/>
          </a:xfrm>
          <a:prstGeom prst="rect">
            <a:avLst/>
          </a:prstGeom>
          <a:solidFill>
            <a:srgbClr val="B118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 376: plot geometry" descr="sci-ppt:obj-0376"/>
          <p:cNvSpPr/>
          <p:nvPr/>
        </p:nvSpPr>
        <p:spPr>
          <a:xfrm>
            <a:off x="11149463" y="3921692"/>
            <a:ext cx="159603" cy="114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 377: plot geometry" descr="sci-ppt:obj-0377"/>
          <p:cNvSpPr/>
          <p:nvPr/>
        </p:nvSpPr>
        <p:spPr>
          <a:xfrm>
            <a:off x="11149463" y="3933092"/>
            <a:ext cx="159603" cy="11416"/>
          </a:xfrm>
          <a:prstGeom prst="rect">
            <a:avLst/>
          </a:prstGeom>
          <a:solidFill>
            <a:srgbClr val="AB1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 378: plot geometry" descr="sci-ppt:obj-0378"/>
          <p:cNvSpPr/>
          <p:nvPr/>
        </p:nvSpPr>
        <p:spPr>
          <a:xfrm>
            <a:off x="11149463" y="3944493"/>
            <a:ext cx="159603" cy="11416"/>
          </a:xfrm>
          <a:prstGeom prst="rect">
            <a:avLst/>
          </a:prstGeom>
          <a:solidFill>
            <a:srgbClr val="A815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 379: plot geometry" descr="sci-ppt:obj-0379"/>
          <p:cNvSpPr/>
          <p:nvPr/>
        </p:nvSpPr>
        <p:spPr>
          <a:xfrm>
            <a:off x="11149463" y="3955893"/>
            <a:ext cx="159603" cy="11416"/>
          </a:xfrm>
          <a:prstGeom prst="rect">
            <a:avLst/>
          </a:prstGeom>
          <a:solidFill>
            <a:srgbClr val="A514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 380: plot geometry" descr="sci-ppt:obj-0380"/>
          <p:cNvSpPr/>
          <p:nvPr/>
        </p:nvSpPr>
        <p:spPr>
          <a:xfrm>
            <a:off x="11149463" y="3967293"/>
            <a:ext cx="159603" cy="11416"/>
          </a:xfrm>
          <a:prstGeom prst="rect">
            <a:avLst/>
          </a:prstGeom>
          <a:solidFill>
            <a:srgbClr val="A213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 381: plot geometry" descr="sci-ppt:obj-0381"/>
          <p:cNvSpPr/>
          <p:nvPr/>
        </p:nvSpPr>
        <p:spPr>
          <a:xfrm>
            <a:off x="11149463" y="3978693"/>
            <a:ext cx="159603" cy="11416"/>
          </a:xfrm>
          <a:prstGeom prst="rect">
            <a:avLst/>
          </a:prstGeom>
          <a:solidFill>
            <a:srgbClr val="9F12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 382: plot geometry" descr="sci-ppt:obj-0382"/>
          <p:cNvSpPr/>
          <p:nvPr/>
        </p:nvSpPr>
        <p:spPr>
          <a:xfrm>
            <a:off x="11149463" y="3990094"/>
            <a:ext cx="159603" cy="11416"/>
          </a:xfrm>
          <a:prstGeom prst="rect">
            <a:avLst/>
          </a:prstGeom>
          <a:solidFill>
            <a:srgbClr val="9C1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 383: plot geometry" descr="sci-ppt:obj-0383"/>
          <p:cNvSpPr/>
          <p:nvPr/>
        </p:nvSpPr>
        <p:spPr>
          <a:xfrm>
            <a:off x="11149463" y="4001494"/>
            <a:ext cx="159603" cy="11416"/>
          </a:xfrm>
          <a:prstGeom prst="rect">
            <a:avLst/>
          </a:prstGeom>
          <a:solidFill>
            <a:srgbClr val="991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 384: plot geometry" descr="sci-ppt:obj-0384"/>
          <p:cNvSpPr/>
          <p:nvPr/>
        </p:nvSpPr>
        <p:spPr>
          <a:xfrm>
            <a:off x="11149463" y="4012894"/>
            <a:ext cx="159603" cy="11416"/>
          </a:xfrm>
          <a:prstGeom prst="rect">
            <a:avLst/>
          </a:prstGeom>
          <a:solidFill>
            <a:srgbClr val="960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 385: plot geometry" descr="sci-ppt:obj-0385"/>
          <p:cNvSpPr/>
          <p:nvPr/>
        </p:nvSpPr>
        <p:spPr>
          <a:xfrm>
            <a:off x="11149463" y="4024294"/>
            <a:ext cx="159603" cy="11416"/>
          </a:xfrm>
          <a:prstGeom prst="rect">
            <a:avLst/>
          </a:prstGeom>
          <a:solidFill>
            <a:srgbClr val="930E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 386: plot geometry" descr="sci-ppt:obj-0386"/>
          <p:cNvSpPr/>
          <p:nvPr/>
        </p:nvSpPr>
        <p:spPr>
          <a:xfrm>
            <a:off x="11149463" y="4035695"/>
            <a:ext cx="159603" cy="11416"/>
          </a:xfrm>
          <a:prstGeom prst="rect">
            <a:avLst/>
          </a:prstGeom>
          <a:solidFill>
            <a:srgbClr val="900D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 387: plot geometry" descr="sci-ppt:obj-0387"/>
          <p:cNvSpPr/>
          <p:nvPr/>
        </p:nvSpPr>
        <p:spPr>
          <a:xfrm>
            <a:off x="11149463" y="4047095"/>
            <a:ext cx="159603" cy="11416"/>
          </a:xfrm>
          <a:prstGeom prst="rect">
            <a:avLst/>
          </a:prstGeom>
          <a:solidFill>
            <a:srgbClr val="8D0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 388: plot geometry" descr="sci-ppt:obj-0388"/>
          <p:cNvSpPr/>
          <p:nvPr/>
        </p:nvSpPr>
        <p:spPr>
          <a:xfrm>
            <a:off x="11149463" y="4058495"/>
            <a:ext cx="159603" cy="11416"/>
          </a:xfrm>
          <a:prstGeom prst="rect">
            <a:avLst/>
          </a:prstGeom>
          <a:solidFill>
            <a:srgbClr val="8A0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 389: plot geometry" descr="sci-ppt:obj-0389"/>
          <p:cNvSpPr/>
          <p:nvPr/>
        </p:nvSpPr>
        <p:spPr>
          <a:xfrm>
            <a:off x="11149463" y="4069896"/>
            <a:ext cx="159603" cy="11416"/>
          </a:xfrm>
          <a:prstGeom prst="rect">
            <a:avLst/>
          </a:prstGeom>
          <a:solidFill>
            <a:srgbClr val="870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ect 390: plot geometry" descr="sci-ppt:obj-0390"/>
          <p:cNvSpPr/>
          <p:nvPr/>
        </p:nvSpPr>
        <p:spPr>
          <a:xfrm>
            <a:off x="11149463" y="4081296"/>
            <a:ext cx="159603" cy="11416"/>
          </a:xfrm>
          <a:prstGeom prst="rect">
            <a:avLst/>
          </a:prstGeom>
          <a:solidFill>
            <a:srgbClr val="8409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 391: plot geometry" descr="sci-ppt:obj-0391"/>
          <p:cNvSpPr/>
          <p:nvPr/>
        </p:nvSpPr>
        <p:spPr>
          <a:xfrm>
            <a:off x="11149463" y="4092696"/>
            <a:ext cx="159603" cy="11416"/>
          </a:xfrm>
          <a:prstGeom prst="rect">
            <a:avLst/>
          </a:prstGeom>
          <a:solidFill>
            <a:srgbClr val="8108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ect 392: plot geometry" descr="sci-ppt:obj-0392"/>
          <p:cNvSpPr/>
          <p:nvPr/>
        </p:nvSpPr>
        <p:spPr>
          <a:xfrm>
            <a:off x="11149463" y="4104096"/>
            <a:ext cx="159603" cy="11416"/>
          </a:xfrm>
          <a:prstGeom prst="rect">
            <a:avLst/>
          </a:prstGeom>
          <a:solidFill>
            <a:srgbClr val="8108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ect 393: plot geometry" descr="sci-ppt:obj-0393"/>
          <p:cNvSpPr/>
          <p:nvPr/>
        </p:nvSpPr>
        <p:spPr>
          <a:xfrm>
            <a:off x="11149463" y="4115497"/>
            <a:ext cx="159603" cy="11416"/>
          </a:xfrm>
          <a:prstGeom prst="rect">
            <a:avLst/>
          </a:prstGeom>
          <a:solidFill>
            <a:srgbClr val="7F08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 394: plot geometry" descr="sci-ppt:obj-0394"/>
          <p:cNvSpPr/>
          <p:nvPr/>
        </p:nvSpPr>
        <p:spPr>
          <a:xfrm>
            <a:off x="11149463" y="4126897"/>
            <a:ext cx="159603" cy="11416"/>
          </a:xfrm>
          <a:prstGeom prst="rect">
            <a:avLst/>
          </a:prstGeom>
          <a:solidFill>
            <a:srgbClr val="7C0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 395: plot geometry" descr="sci-ppt:obj-0395"/>
          <p:cNvSpPr/>
          <p:nvPr/>
        </p:nvSpPr>
        <p:spPr>
          <a:xfrm>
            <a:off x="11149463" y="4138297"/>
            <a:ext cx="159603" cy="11416"/>
          </a:xfrm>
          <a:prstGeom prst="rect">
            <a:avLst/>
          </a:prstGeom>
          <a:solidFill>
            <a:srgbClr val="7906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 396: plot geometry" descr="sci-ppt:obj-0396"/>
          <p:cNvSpPr/>
          <p:nvPr/>
        </p:nvSpPr>
        <p:spPr>
          <a:xfrm>
            <a:off x="11149463" y="4149697"/>
            <a:ext cx="159603" cy="11416"/>
          </a:xfrm>
          <a:prstGeom prst="rect">
            <a:avLst/>
          </a:prstGeom>
          <a:solidFill>
            <a:srgbClr val="7605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ect 397: plot geometry" descr="sci-ppt:obj-0397"/>
          <p:cNvSpPr/>
          <p:nvPr/>
        </p:nvSpPr>
        <p:spPr>
          <a:xfrm>
            <a:off x="11149463" y="4161098"/>
            <a:ext cx="159603" cy="11416"/>
          </a:xfrm>
          <a:prstGeom prst="rect">
            <a:avLst/>
          </a:prstGeom>
          <a:solidFill>
            <a:srgbClr val="7304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ect 398: plot geometry" descr="sci-ppt:obj-0398"/>
          <p:cNvSpPr/>
          <p:nvPr/>
        </p:nvSpPr>
        <p:spPr>
          <a:xfrm>
            <a:off x="11149463" y="4172498"/>
            <a:ext cx="159603" cy="11416"/>
          </a:xfrm>
          <a:prstGeom prst="rect">
            <a:avLst/>
          </a:prstGeom>
          <a:solidFill>
            <a:srgbClr val="7003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 399: plot geometry" descr="sci-ppt:obj-0399"/>
          <p:cNvSpPr/>
          <p:nvPr/>
        </p:nvSpPr>
        <p:spPr>
          <a:xfrm>
            <a:off x="11149463" y="4183898"/>
            <a:ext cx="159603" cy="11416"/>
          </a:xfrm>
          <a:prstGeom prst="rect">
            <a:avLst/>
          </a:prstGeom>
          <a:solidFill>
            <a:srgbClr val="6D02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 400: plot geometry" descr="sci-ppt:obj-0400"/>
          <p:cNvSpPr/>
          <p:nvPr/>
        </p:nvSpPr>
        <p:spPr>
          <a:xfrm>
            <a:off x="11149463" y="4195299"/>
            <a:ext cx="159603" cy="11416"/>
          </a:xfrm>
          <a:prstGeom prst="rect">
            <a:avLst/>
          </a:prstGeom>
          <a:solidFill>
            <a:srgbClr val="6A01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 401: plot geometry" descr="sci-ppt:obj-0401"/>
          <p:cNvSpPr/>
          <p:nvPr/>
        </p:nvSpPr>
        <p:spPr>
          <a:xfrm>
            <a:off x="11149463" y="4206699"/>
            <a:ext cx="159603" cy="11416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3" name="line 402: plot geometry" descr="sci-ppt:obj-0402"/>
          <p:cNvCxnSpPr/>
          <p:nvPr/>
        </p:nvCxnSpPr>
        <p:spPr>
          <a:xfrm>
            <a:off x="11310264" y="4220398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4" name="text 403: −100" descr="sci-ppt:obj-0403"/>
          <p:cNvSpPr txBox="1"/>
          <p:nvPr/>
        </p:nvSpPr>
        <p:spPr>
          <a:xfrm>
            <a:off x="11393668" y="4117460"/>
            <a:ext cx="446827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−100</a:t>
            </a:r>
          </a:p>
        </p:txBody>
      </p:sp>
      <p:cxnSp>
        <p:nvCxnSpPr>
          <p:cNvPr id="405" name="line 404: plot geometry" descr="sci-ppt:obj-0404"/>
          <p:cNvCxnSpPr/>
          <p:nvPr/>
        </p:nvCxnSpPr>
        <p:spPr>
          <a:xfrm>
            <a:off x="11310264" y="345301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6" name="text 405: −50" descr="sci-ppt:obj-0405"/>
          <p:cNvSpPr txBox="1"/>
          <p:nvPr/>
        </p:nvSpPr>
        <p:spPr>
          <a:xfrm>
            <a:off x="11393668" y="3350080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−50</a:t>
            </a:r>
          </a:p>
        </p:txBody>
      </p:sp>
      <p:cxnSp>
        <p:nvCxnSpPr>
          <p:cNvPr id="407" name="line 406: plot geometry" descr="sci-ppt:obj-0406"/>
          <p:cNvCxnSpPr/>
          <p:nvPr/>
        </p:nvCxnSpPr>
        <p:spPr>
          <a:xfrm>
            <a:off x="11310264" y="268563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8" name="text 407: 0" descr="sci-ppt:obj-0407"/>
          <p:cNvSpPr txBox="1"/>
          <p:nvPr/>
        </p:nvSpPr>
        <p:spPr>
          <a:xfrm>
            <a:off x="11393668" y="2582699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409" name="line 408: plot geometry" descr="sci-ppt:obj-0408"/>
          <p:cNvCxnSpPr/>
          <p:nvPr/>
        </p:nvCxnSpPr>
        <p:spPr>
          <a:xfrm>
            <a:off x="11310264" y="2301946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0" name="text 409: 50" descr="sci-ppt:obj-0409"/>
          <p:cNvSpPr txBox="1"/>
          <p:nvPr/>
        </p:nvSpPr>
        <p:spPr>
          <a:xfrm>
            <a:off x="11393668" y="2199009"/>
            <a:ext cx="259989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411" name="line 410: plot geometry" descr="sci-ppt:obj-0410"/>
          <p:cNvCxnSpPr/>
          <p:nvPr/>
        </p:nvCxnSpPr>
        <p:spPr>
          <a:xfrm>
            <a:off x="11310264" y="1918256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2" name="text 411: 100" descr="sci-ppt:obj-0411"/>
          <p:cNvSpPr txBox="1"/>
          <p:nvPr/>
        </p:nvSpPr>
        <p:spPr>
          <a:xfrm>
            <a:off x="11393668" y="1815318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13" name="line 412: plot geometry" descr="sci-ppt:obj-0412"/>
          <p:cNvCxnSpPr/>
          <p:nvPr/>
        </p:nvCxnSpPr>
        <p:spPr>
          <a:xfrm>
            <a:off x="11310264" y="1534566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4" name="text 413: 150" descr="sci-ppt:obj-0413"/>
          <p:cNvSpPr txBox="1"/>
          <p:nvPr/>
        </p:nvSpPr>
        <p:spPr>
          <a:xfrm>
            <a:off x="11393668" y="1431628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cxnSp>
        <p:nvCxnSpPr>
          <p:cNvPr id="415" name="line 414: plot geometry" descr="sci-ppt:obj-0414"/>
          <p:cNvCxnSpPr/>
          <p:nvPr/>
        </p:nvCxnSpPr>
        <p:spPr>
          <a:xfrm>
            <a:off x="11310264" y="1150875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6" name="text 415: 200" descr="sci-ppt:obj-0415"/>
          <p:cNvSpPr txBox="1"/>
          <p:nvPr/>
        </p:nvSpPr>
        <p:spPr>
          <a:xfrm>
            <a:off x="11393668" y="1047938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17" name="text 416: Closed-energy restoring slope (kPa per stretch)" descr="sci-ppt:obj-0416"/>
          <p:cNvSpPr txBox="1"/>
          <p:nvPr/>
        </p:nvSpPr>
        <p:spPr>
          <a:xfrm rot="16200000">
            <a:off x="9807735" y="2522549"/>
            <a:ext cx="446383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Closed-energy restoring slope (kPa per stretch)</a:t>
            </a:r>
          </a:p>
        </p:txBody>
      </p:sp>
      <p:sp>
        <p:nvSpPr>
          <p:cNvPr id="418" name="polygon 417: plot geometry" descr="sci-ppt:obj-0417"/>
          <p:cNvSpPr/>
          <p:nvPr/>
        </p:nvSpPr>
        <p:spPr>
          <a:xfrm>
            <a:off x="11149114" y="1150875"/>
            <a:ext cx="161150" cy="3222999"/>
          </a:xfrm>
          <a:custGeom>
            <a:avLst/>
            <a:gdLst/>
            <a:ahLst/>
            <a:cxnLst/>
            <a:rect l="l" t="t" r="r" b="b"/>
            <a:pathLst>
              <a:path w="161150" h="3222999">
                <a:moveTo>
                  <a:pt x="0" y="3069523"/>
                </a:moveTo>
                <a:lnTo>
                  <a:pt x="80575" y="3222999"/>
                </a:lnTo>
                <a:lnTo>
                  <a:pt x="161150" y="3069523"/>
                </a:lnTo>
                <a:lnTo>
                  <a:pt x="161150" y="0"/>
                </a:lnTo>
                <a:lnTo>
                  <a:pt x="80575" y="0"/>
                </a:lnTo>
                <a:lnTo>
                  <a:pt x="0" y="0"/>
                </a:lnTo>
                <a:lnTo>
                  <a:pt x="0" y="3069523"/>
                </a:lnTo>
                <a:close/>
              </a:path>
            </a:pathLst>
          </a:custGeom>
          <a:noFill/>
          <a:ln w="1266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text 418: Local reduced radial stability: positive restores, negative destabiliz" descr="sci-ppt:obj-0418"/>
          <p:cNvSpPr txBox="1"/>
          <p:nvPr/>
        </p:nvSpPr>
        <p:spPr>
          <a:xfrm>
            <a:off x="3073904" y="84383"/>
            <a:ext cx="7471926" cy="235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000000"/>
                </a:solidFill>
                <a:latin typeface="Arial"/>
              </a:rPr>
              <a:t>Local reduced radial stability: positive restores, negative destabilizes</a:t>
            </a:r>
          </a:p>
        </p:txBody>
      </p:sp>
      <p:sp>
        <p:nvSpPr>
          <p:cNvPr id="420" name="text 419: Internal phase/core stability is a separate fixed-(T,V,m) check" descr="sci-ppt:obj-0419"/>
          <p:cNvSpPr txBox="1"/>
          <p:nvPr/>
        </p:nvSpPr>
        <p:spPr>
          <a:xfrm>
            <a:off x="3397359" y="293436"/>
            <a:ext cx="6547079" cy="235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000000"/>
                </a:solidFill>
                <a:latin typeface="Arial"/>
              </a:rPr>
              <a:t>Internal phase/core stability is a separate fixed-(T,V,m)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