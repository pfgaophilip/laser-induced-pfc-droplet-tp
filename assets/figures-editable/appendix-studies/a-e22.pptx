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-E2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A-E22 · Original pressure and work formulas recalled</a:t>
            </a:r>
          </a:p>
        </p:txBody>
      </p:sp>
      <p:cxnSp>
        <p:nvCxnSpPr>
          <p:cNvPr id="3" name="A-E22 line 1" descr="sci-ppt:o001"/>
          <p:cNvCxnSpPr/>
          <p:nvPr/>
        </p:nvCxnSpPr>
        <p:spPr>
          <a:xfrm>
            <a:off x="914400" y="4846320"/>
            <a:ext cx="32918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A-E22 line 2" descr="sci-ppt:o002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A-E22 line 3" descr="sci-ppt:o003"/>
          <p:cNvCxnSpPr/>
          <p:nvPr/>
        </p:nvCxnSpPr>
        <p:spPr>
          <a:xfrm>
            <a:off x="9144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A-E22 line 4" descr="sci-ppt:o004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A-E22 text 5" descr="sci-ppt:o005"/>
          <p:cNvSpPr txBox="1"/>
          <p:nvPr/>
        </p:nvSpPr>
        <p:spPr>
          <a:xfrm>
            <a:off x="4572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8" name="A-E22 line 6" descr="sci-ppt:o006"/>
          <p:cNvCxnSpPr/>
          <p:nvPr/>
        </p:nvCxnSpPr>
        <p:spPr>
          <a:xfrm>
            <a:off x="2377439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A-E22 line 7" descr="sci-ppt:o007"/>
          <p:cNvCxnSpPr/>
          <p:nvPr/>
        </p:nvCxnSpPr>
        <p:spPr>
          <a:xfrm>
            <a:off x="2377439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A-E22 text 8" descr="sci-ppt:o008"/>
          <p:cNvSpPr txBox="1"/>
          <p:nvPr/>
        </p:nvSpPr>
        <p:spPr>
          <a:xfrm>
            <a:off x="1920239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11" name="A-E22 line 9" descr="sci-ppt:o009"/>
          <p:cNvCxnSpPr/>
          <p:nvPr/>
        </p:nvCxnSpPr>
        <p:spPr>
          <a:xfrm>
            <a:off x="420624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A-E22 line 10" descr="sci-ppt:o010"/>
          <p:cNvCxnSpPr/>
          <p:nvPr/>
        </p:nvCxnSpPr>
        <p:spPr>
          <a:xfrm>
            <a:off x="420624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A-E22 text 11" descr="sci-ppt:o011"/>
          <p:cNvSpPr txBox="1"/>
          <p:nvPr/>
        </p:nvSpPr>
        <p:spPr>
          <a:xfrm>
            <a:off x="3749039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4" name="A-E22 line 12" descr="sci-ppt:o012"/>
          <p:cNvCxnSpPr/>
          <p:nvPr/>
        </p:nvCxnSpPr>
        <p:spPr>
          <a:xfrm>
            <a:off x="8503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A-E22 line 13" descr="sci-ppt:o013"/>
          <p:cNvCxnSpPr/>
          <p:nvPr/>
        </p:nvCxnSpPr>
        <p:spPr>
          <a:xfrm>
            <a:off x="850392" y="360534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A-E22 line 14" descr="sci-ppt:o014"/>
          <p:cNvCxnSpPr/>
          <p:nvPr/>
        </p:nvCxnSpPr>
        <p:spPr>
          <a:xfrm>
            <a:off x="914400" y="3605348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A-E22 text 15" descr="sci-ppt:o015"/>
          <p:cNvSpPr txBox="1"/>
          <p:nvPr/>
        </p:nvSpPr>
        <p:spPr>
          <a:xfrm>
            <a:off x="45720" y="352305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8" name="A-E22 line 16" descr="sci-ppt:o016"/>
          <p:cNvCxnSpPr/>
          <p:nvPr/>
        </p:nvCxnSpPr>
        <p:spPr>
          <a:xfrm>
            <a:off x="850392" y="236437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A-E22 line 17" descr="sci-ppt:o017"/>
          <p:cNvCxnSpPr/>
          <p:nvPr/>
        </p:nvCxnSpPr>
        <p:spPr>
          <a:xfrm>
            <a:off x="914400" y="2364377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A-E22 text 18" descr="sci-ppt:o018"/>
          <p:cNvSpPr txBox="1"/>
          <p:nvPr/>
        </p:nvSpPr>
        <p:spPr>
          <a:xfrm>
            <a:off x="45720" y="228208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sp>
        <p:nvSpPr>
          <p:cNvPr id="21" name="A-E22 text 19" descr="sci-ppt:o019"/>
          <p:cNvSpPr txBox="1"/>
          <p:nvPr/>
        </p:nvSpPr>
        <p:spPr>
          <a:xfrm>
            <a:off x="914400" y="5129783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R_ref</a:t>
            </a:r>
          </a:p>
        </p:txBody>
      </p:sp>
      <p:sp>
        <p:nvSpPr>
          <p:cNvPr id="22" name="A-E22 text 20" descr="sci-ppt:o020"/>
          <p:cNvSpPr txBox="1"/>
          <p:nvPr/>
        </p:nvSpPr>
        <p:spPr>
          <a:xfrm>
            <a:off x="365760" y="1024128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pₑₗ / G_g</a:t>
            </a:r>
          </a:p>
        </p:txBody>
      </p:sp>
      <p:sp>
        <p:nvSpPr>
          <p:cNvPr id="23" name="A-E22 polygon 21" descr="sci-ppt:o021"/>
          <p:cNvSpPr/>
          <p:nvPr/>
        </p:nvSpPr>
        <p:spPr>
          <a:xfrm>
            <a:off x="914400" y="1992147"/>
            <a:ext cx="3291840" cy="2854173"/>
          </a:xfrm>
          <a:custGeom>
            <a:avLst/>
            <a:gdLst/>
            <a:ahLst/>
            <a:cxnLst/>
            <a:rect l="l" t="t" r="r" b="b"/>
            <a:pathLst>
              <a:path w="3291840" h="2854173">
                <a:moveTo>
                  <a:pt x="0" y="2854173"/>
                </a:moveTo>
                <a:lnTo>
                  <a:pt x="16541" y="2646160"/>
                </a:lnTo>
                <a:lnTo>
                  <a:pt x="33083" y="2466650"/>
                </a:lnTo>
                <a:lnTo>
                  <a:pt x="49625" y="2310173"/>
                </a:lnTo>
                <a:lnTo>
                  <a:pt x="66167" y="2172534"/>
                </a:lnTo>
                <a:lnTo>
                  <a:pt x="82709" y="2050478"/>
                </a:lnTo>
                <a:lnTo>
                  <a:pt x="99251" y="1941443"/>
                </a:lnTo>
                <a:lnTo>
                  <a:pt x="115793" y="1843393"/>
                </a:lnTo>
                <a:lnTo>
                  <a:pt x="132335" y="1754690"/>
                </a:lnTo>
                <a:lnTo>
                  <a:pt x="148877" y="1674007"/>
                </a:lnTo>
                <a:lnTo>
                  <a:pt x="165419" y="1600257"/>
                </a:lnTo>
                <a:lnTo>
                  <a:pt x="181961" y="1532538"/>
                </a:lnTo>
                <a:lnTo>
                  <a:pt x="198502" y="1470105"/>
                </a:lnTo>
                <a:lnTo>
                  <a:pt x="215044" y="1412327"/>
                </a:lnTo>
                <a:lnTo>
                  <a:pt x="231586" y="1358676"/>
                </a:lnTo>
                <a:lnTo>
                  <a:pt x="248128" y="1308698"/>
                </a:lnTo>
                <a:lnTo>
                  <a:pt x="264670" y="1262007"/>
                </a:lnTo>
                <a:lnTo>
                  <a:pt x="281212" y="1218271"/>
                </a:lnTo>
                <a:lnTo>
                  <a:pt x="297754" y="1177201"/>
                </a:lnTo>
                <a:lnTo>
                  <a:pt x="314296" y="1138547"/>
                </a:lnTo>
                <a:lnTo>
                  <a:pt x="330838" y="1102089"/>
                </a:lnTo>
                <a:lnTo>
                  <a:pt x="347380" y="1067635"/>
                </a:lnTo>
                <a:lnTo>
                  <a:pt x="363922" y="1035014"/>
                </a:lnTo>
                <a:lnTo>
                  <a:pt x="380463" y="1004076"/>
                </a:lnTo>
                <a:lnTo>
                  <a:pt x="397005" y="974686"/>
                </a:lnTo>
                <a:lnTo>
                  <a:pt x="413547" y="946726"/>
                </a:lnTo>
                <a:lnTo>
                  <a:pt x="430089" y="920088"/>
                </a:lnTo>
                <a:lnTo>
                  <a:pt x="446631" y="894675"/>
                </a:lnTo>
                <a:lnTo>
                  <a:pt x="463173" y="870401"/>
                </a:lnTo>
                <a:lnTo>
                  <a:pt x="479715" y="847187"/>
                </a:lnTo>
                <a:lnTo>
                  <a:pt x="496257" y="824962"/>
                </a:lnTo>
                <a:lnTo>
                  <a:pt x="512799" y="803661"/>
                </a:lnTo>
                <a:lnTo>
                  <a:pt x="529341" y="783225"/>
                </a:lnTo>
                <a:lnTo>
                  <a:pt x="545883" y="763601"/>
                </a:lnTo>
                <a:lnTo>
                  <a:pt x="562424" y="744738"/>
                </a:lnTo>
                <a:lnTo>
                  <a:pt x="578966" y="726593"/>
                </a:lnTo>
                <a:lnTo>
                  <a:pt x="595508" y="709122"/>
                </a:lnTo>
                <a:lnTo>
                  <a:pt x="612050" y="692288"/>
                </a:lnTo>
                <a:lnTo>
                  <a:pt x="628592" y="676055"/>
                </a:lnTo>
                <a:lnTo>
                  <a:pt x="645134" y="660390"/>
                </a:lnTo>
                <a:lnTo>
                  <a:pt x="661676" y="645263"/>
                </a:lnTo>
                <a:lnTo>
                  <a:pt x="678218" y="630647"/>
                </a:lnTo>
                <a:lnTo>
                  <a:pt x="694760" y="616514"/>
                </a:lnTo>
                <a:lnTo>
                  <a:pt x="711302" y="602840"/>
                </a:lnTo>
                <a:lnTo>
                  <a:pt x="727844" y="589603"/>
                </a:lnTo>
                <a:lnTo>
                  <a:pt x="744385" y="576781"/>
                </a:lnTo>
                <a:lnTo>
                  <a:pt x="760927" y="564356"/>
                </a:lnTo>
                <a:lnTo>
                  <a:pt x="777469" y="552307"/>
                </a:lnTo>
                <a:lnTo>
                  <a:pt x="794011" y="540618"/>
                </a:lnTo>
                <a:lnTo>
                  <a:pt x="810553" y="529273"/>
                </a:lnTo>
                <a:lnTo>
                  <a:pt x="827095" y="518256"/>
                </a:lnTo>
                <a:lnTo>
                  <a:pt x="843637" y="507553"/>
                </a:lnTo>
                <a:lnTo>
                  <a:pt x="860179" y="497150"/>
                </a:lnTo>
                <a:lnTo>
                  <a:pt x="876721" y="487035"/>
                </a:lnTo>
                <a:lnTo>
                  <a:pt x="893263" y="477195"/>
                </a:lnTo>
                <a:lnTo>
                  <a:pt x="909805" y="467620"/>
                </a:lnTo>
                <a:lnTo>
                  <a:pt x="926346" y="458298"/>
                </a:lnTo>
                <a:lnTo>
                  <a:pt x="942888" y="449219"/>
                </a:lnTo>
                <a:lnTo>
                  <a:pt x="959430" y="440375"/>
                </a:lnTo>
                <a:lnTo>
                  <a:pt x="975972" y="431755"/>
                </a:lnTo>
                <a:lnTo>
                  <a:pt x="992514" y="423351"/>
                </a:lnTo>
                <a:lnTo>
                  <a:pt x="1009056" y="415155"/>
                </a:lnTo>
                <a:lnTo>
                  <a:pt x="1025598" y="407160"/>
                </a:lnTo>
                <a:lnTo>
                  <a:pt x="1042140" y="399357"/>
                </a:lnTo>
                <a:lnTo>
                  <a:pt x="1058682" y="391740"/>
                </a:lnTo>
                <a:lnTo>
                  <a:pt x="1075224" y="384302"/>
                </a:lnTo>
                <a:lnTo>
                  <a:pt x="1091766" y="377038"/>
                </a:lnTo>
                <a:lnTo>
                  <a:pt x="1108307" y="369940"/>
                </a:lnTo>
                <a:lnTo>
                  <a:pt x="1124849" y="363003"/>
                </a:lnTo>
                <a:lnTo>
                  <a:pt x="1141391" y="356221"/>
                </a:lnTo>
                <a:lnTo>
                  <a:pt x="1157933" y="349590"/>
                </a:lnTo>
                <a:lnTo>
                  <a:pt x="1174475" y="343104"/>
                </a:lnTo>
                <a:lnTo>
                  <a:pt x="1191017" y="336759"/>
                </a:lnTo>
                <a:lnTo>
                  <a:pt x="1207559" y="330550"/>
                </a:lnTo>
                <a:lnTo>
                  <a:pt x="1224101" y="324472"/>
                </a:lnTo>
                <a:lnTo>
                  <a:pt x="1240643" y="318522"/>
                </a:lnTo>
                <a:lnTo>
                  <a:pt x="1257185" y="312695"/>
                </a:lnTo>
                <a:lnTo>
                  <a:pt x="1273727" y="306988"/>
                </a:lnTo>
                <a:lnTo>
                  <a:pt x="1290268" y="301397"/>
                </a:lnTo>
                <a:lnTo>
                  <a:pt x="1306810" y="295917"/>
                </a:lnTo>
                <a:lnTo>
                  <a:pt x="1323352" y="290547"/>
                </a:lnTo>
                <a:lnTo>
                  <a:pt x="1339894" y="285283"/>
                </a:lnTo>
                <a:lnTo>
                  <a:pt x="1356436" y="280121"/>
                </a:lnTo>
                <a:lnTo>
                  <a:pt x="1372978" y="275059"/>
                </a:lnTo>
                <a:lnTo>
                  <a:pt x="1389520" y="270093"/>
                </a:lnTo>
                <a:lnTo>
                  <a:pt x="1406062" y="265222"/>
                </a:lnTo>
                <a:lnTo>
                  <a:pt x="1422604" y="260442"/>
                </a:lnTo>
                <a:lnTo>
                  <a:pt x="1439146" y="255750"/>
                </a:lnTo>
                <a:lnTo>
                  <a:pt x="1455688" y="251145"/>
                </a:lnTo>
                <a:lnTo>
                  <a:pt x="1472229" y="246624"/>
                </a:lnTo>
                <a:lnTo>
                  <a:pt x="1488771" y="242184"/>
                </a:lnTo>
                <a:lnTo>
                  <a:pt x="1505313" y="237823"/>
                </a:lnTo>
                <a:lnTo>
                  <a:pt x="1521855" y="233540"/>
                </a:lnTo>
                <a:lnTo>
                  <a:pt x="1538397" y="229332"/>
                </a:lnTo>
                <a:lnTo>
                  <a:pt x="1554939" y="225198"/>
                </a:lnTo>
                <a:lnTo>
                  <a:pt x="1571481" y="221135"/>
                </a:lnTo>
                <a:lnTo>
                  <a:pt x="1588023" y="217141"/>
                </a:lnTo>
                <a:lnTo>
                  <a:pt x="1604565" y="213215"/>
                </a:lnTo>
                <a:lnTo>
                  <a:pt x="1621107" y="209354"/>
                </a:lnTo>
                <a:lnTo>
                  <a:pt x="1637649" y="205559"/>
                </a:lnTo>
                <a:lnTo>
                  <a:pt x="1654190" y="201826"/>
                </a:lnTo>
                <a:lnTo>
                  <a:pt x="1670732" y="198154"/>
                </a:lnTo>
                <a:lnTo>
                  <a:pt x="1687274" y="194541"/>
                </a:lnTo>
                <a:lnTo>
                  <a:pt x="1703816" y="190987"/>
                </a:lnTo>
                <a:lnTo>
                  <a:pt x="1720358" y="187490"/>
                </a:lnTo>
                <a:lnTo>
                  <a:pt x="1736900" y="184049"/>
                </a:lnTo>
                <a:lnTo>
                  <a:pt x="1753442" y="180661"/>
                </a:lnTo>
                <a:lnTo>
                  <a:pt x="1769984" y="177326"/>
                </a:lnTo>
                <a:lnTo>
                  <a:pt x="1786526" y="174043"/>
                </a:lnTo>
                <a:lnTo>
                  <a:pt x="1803068" y="170811"/>
                </a:lnTo>
                <a:lnTo>
                  <a:pt x="1819610" y="167627"/>
                </a:lnTo>
                <a:lnTo>
                  <a:pt x="1836151" y="164492"/>
                </a:lnTo>
                <a:lnTo>
                  <a:pt x="1852693" y="161404"/>
                </a:lnTo>
                <a:lnTo>
                  <a:pt x="1869235" y="158362"/>
                </a:lnTo>
                <a:lnTo>
                  <a:pt x="1885777" y="155365"/>
                </a:lnTo>
                <a:lnTo>
                  <a:pt x="1902319" y="152412"/>
                </a:lnTo>
                <a:lnTo>
                  <a:pt x="1918861" y="149502"/>
                </a:lnTo>
                <a:lnTo>
                  <a:pt x="1935403" y="146634"/>
                </a:lnTo>
                <a:lnTo>
                  <a:pt x="1951945" y="143807"/>
                </a:lnTo>
                <a:lnTo>
                  <a:pt x="1968487" y="141021"/>
                </a:lnTo>
                <a:lnTo>
                  <a:pt x="1985029" y="138274"/>
                </a:lnTo>
                <a:lnTo>
                  <a:pt x="2001571" y="135565"/>
                </a:lnTo>
                <a:lnTo>
                  <a:pt x="2018112" y="132895"/>
                </a:lnTo>
                <a:lnTo>
                  <a:pt x="2034654" y="130261"/>
                </a:lnTo>
                <a:lnTo>
                  <a:pt x="2051196" y="127664"/>
                </a:lnTo>
                <a:lnTo>
                  <a:pt x="2067738" y="125102"/>
                </a:lnTo>
                <a:lnTo>
                  <a:pt x="2084280" y="122575"/>
                </a:lnTo>
                <a:lnTo>
                  <a:pt x="2100822" y="120082"/>
                </a:lnTo>
                <a:lnTo>
                  <a:pt x="2117364" y="117622"/>
                </a:lnTo>
                <a:lnTo>
                  <a:pt x="2133906" y="115195"/>
                </a:lnTo>
                <a:lnTo>
                  <a:pt x="2150448" y="112800"/>
                </a:lnTo>
                <a:lnTo>
                  <a:pt x="2166990" y="110437"/>
                </a:lnTo>
                <a:lnTo>
                  <a:pt x="2183532" y="108104"/>
                </a:lnTo>
                <a:lnTo>
                  <a:pt x="2200073" y="105801"/>
                </a:lnTo>
                <a:lnTo>
                  <a:pt x="2216615" y="103529"/>
                </a:lnTo>
                <a:lnTo>
                  <a:pt x="2233157" y="101285"/>
                </a:lnTo>
                <a:lnTo>
                  <a:pt x="2249699" y="99070"/>
                </a:lnTo>
                <a:lnTo>
                  <a:pt x="2266241" y="96882"/>
                </a:lnTo>
                <a:lnTo>
                  <a:pt x="2282783" y="94722"/>
                </a:lnTo>
                <a:lnTo>
                  <a:pt x="2299325" y="92589"/>
                </a:lnTo>
                <a:lnTo>
                  <a:pt x="2315867" y="90483"/>
                </a:lnTo>
                <a:lnTo>
                  <a:pt x="2332409" y="88402"/>
                </a:lnTo>
                <a:lnTo>
                  <a:pt x="2348951" y="86347"/>
                </a:lnTo>
                <a:lnTo>
                  <a:pt x="2365493" y="84317"/>
                </a:lnTo>
                <a:lnTo>
                  <a:pt x="2382034" y="82311"/>
                </a:lnTo>
                <a:lnTo>
                  <a:pt x="2398576" y="80329"/>
                </a:lnTo>
                <a:lnTo>
                  <a:pt x="2415118" y="78372"/>
                </a:lnTo>
                <a:lnTo>
                  <a:pt x="2431660" y="76437"/>
                </a:lnTo>
                <a:lnTo>
                  <a:pt x="2448202" y="74525"/>
                </a:lnTo>
                <a:lnTo>
                  <a:pt x="2464744" y="72636"/>
                </a:lnTo>
                <a:lnTo>
                  <a:pt x="2481286" y="70768"/>
                </a:lnTo>
                <a:lnTo>
                  <a:pt x="2497828" y="68922"/>
                </a:lnTo>
                <a:lnTo>
                  <a:pt x="2514370" y="67098"/>
                </a:lnTo>
                <a:lnTo>
                  <a:pt x="2530912" y="65294"/>
                </a:lnTo>
                <a:lnTo>
                  <a:pt x="2547454" y="63511"/>
                </a:lnTo>
                <a:lnTo>
                  <a:pt x="2563995" y="61748"/>
                </a:lnTo>
                <a:lnTo>
                  <a:pt x="2580537" y="60005"/>
                </a:lnTo>
                <a:lnTo>
                  <a:pt x="2597079" y="58282"/>
                </a:lnTo>
                <a:lnTo>
                  <a:pt x="2613621" y="56577"/>
                </a:lnTo>
                <a:lnTo>
                  <a:pt x="2630163" y="54892"/>
                </a:lnTo>
                <a:lnTo>
                  <a:pt x="2646705" y="53225"/>
                </a:lnTo>
                <a:lnTo>
                  <a:pt x="2663247" y="51576"/>
                </a:lnTo>
                <a:lnTo>
                  <a:pt x="2679789" y="49946"/>
                </a:lnTo>
                <a:lnTo>
                  <a:pt x="2696331" y="48333"/>
                </a:lnTo>
                <a:lnTo>
                  <a:pt x="2712873" y="46737"/>
                </a:lnTo>
                <a:lnTo>
                  <a:pt x="2729415" y="45159"/>
                </a:lnTo>
                <a:lnTo>
                  <a:pt x="2745956" y="43597"/>
                </a:lnTo>
                <a:lnTo>
                  <a:pt x="2762498" y="42052"/>
                </a:lnTo>
                <a:lnTo>
                  <a:pt x="2779040" y="40523"/>
                </a:lnTo>
                <a:lnTo>
                  <a:pt x="2795582" y="39010"/>
                </a:lnTo>
                <a:lnTo>
                  <a:pt x="2812124" y="37513"/>
                </a:lnTo>
                <a:lnTo>
                  <a:pt x="2828666" y="36032"/>
                </a:lnTo>
                <a:lnTo>
                  <a:pt x="2845208" y="34565"/>
                </a:lnTo>
                <a:lnTo>
                  <a:pt x="2861750" y="33114"/>
                </a:lnTo>
                <a:lnTo>
                  <a:pt x="2878292" y="31678"/>
                </a:lnTo>
                <a:lnTo>
                  <a:pt x="2894834" y="30256"/>
                </a:lnTo>
                <a:lnTo>
                  <a:pt x="2911376" y="28849"/>
                </a:lnTo>
                <a:lnTo>
                  <a:pt x="2927917" y="27456"/>
                </a:lnTo>
                <a:lnTo>
                  <a:pt x="2944459" y="26077"/>
                </a:lnTo>
                <a:lnTo>
                  <a:pt x="2961001" y="24711"/>
                </a:lnTo>
                <a:lnTo>
                  <a:pt x="2977543" y="23359"/>
                </a:lnTo>
                <a:lnTo>
                  <a:pt x="2994085" y="22021"/>
                </a:lnTo>
                <a:lnTo>
                  <a:pt x="3010627" y="20695"/>
                </a:lnTo>
                <a:lnTo>
                  <a:pt x="3027169" y="19383"/>
                </a:lnTo>
                <a:lnTo>
                  <a:pt x="3043711" y="18083"/>
                </a:lnTo>
                <a:lnTo>
                  <a:pt x="3060253" y="16796"/>
                </a:lnTo>
                <a:lnTo>
                  <a:pt x="3076795" y="15521"/>
                </a:lnTo>
                <a:lnTo>
                  <a:pt x="3093337" y="14259"/>
                </a:lnTo>
                <a:lnTo>
                  <a:pt x="3109878" y="13008"/>
                </a:lnTo>
                <a:lnTo>
                  <a:pt x="3126420" y="11769"/>
                </a:lnTo>
                <a:lnTo>
                  <a:pt x="3142962" y="10543"/>
                </a:lnTo>
                <a:lnTo>
                  <a:pt x="3159504" y="9327"/>
                </a:lnTo>
                <a:lnTo>
                  <a:pt x="3176046" y="8123"/>
                </a:lnTo>
                <a:lnTo>
                  <a:pt x="3192588" y="6930"/>
                </a:lnTo>
                <a:lnTo>
                  <a:pt x="3209130" y="5748"/>
                </a:lnTo>
                <a:lnTo>
                  <a:pt x="3225672" y="4578"/>
                </a:lnTo>
                <a:lnTo>
                  <a:pt x="3242214" y="3418"/>
                </a:lnTo>
                <a:lnTo>
                  <a:pt x="3258756" y="2268"/>
                </a:lnTo>
                <a:lnTo>
                  <a:pt x="3275298" y="1129"/>
                </a:lnTo>
                <a:lnTo>
                  <a:pt x="329184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A-E22 line 22" descr="sci-ppt:o022"/>
          <p:cNvCxnSpPr/>
          <p:nvPr/>
        </p:nvCxnSpPr>
        <p:spPr>
          <a:xfrm>
            <a:off x="5303520" y="4846320"/>
            <a:ext cx="32918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5" name="A-E22 line 23" descr="sci-ppt:o023"/>
          <p:cNvCxnSpPr/>
          <p:nvPr/>
        </p:nvCxnSpPr>
        <p:spPr>
          <a:xfrm>
            <a:off x="530352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6" name="A-E22 line 24" descr="sci-ppt:o024"/>
          <p:cNvCxnSpPr/>
          <p:nvPr/>
        </p:nvCxnSpPr>
        <p:spPr>
          <a:xfrm>
            <a:off x="530352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A-E22 line 25" descr="sci-ppt:o025"/>
          <p:cNvCxnSpPr/>
          <p:nvPr/>
        </p:nvCxnSpPr>
        <p:spPr>
          <a:xfrm>
            <a:off x="530352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A-E22 text 26" descr="sci-ppt:o026"/>
          <p:cNvSpPr txBox="1"/>
          <p:nvPr/>
        </p:nvSpPr>
        <p:spPr>
          <a:xfrm>
            <a:off x="484632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9" name="A-E22 line 27" descr="sci-ppt:o027"/>
          <p:cNvCxnSpPr/>
          <p:nvPr/>
        </p:nvCxnSpPr>
        <p:spPr>
          <a:xfrm>
            <a:off x="6766559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A-E22 line 28" descr="sci-ppt:o028"/>
          <p:cNvCxnSpPr/>
          <p:nvPr/>
        </p:nvCxnSpPr>
        <p:spPr>
          <a:xfrm>
            <a:off x="6766559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A-E22 text 29" descr="sci-ppt:o029"/>
          <p:cNvSpPr txBox="1"/>
          <p:nvPr/>
        </p:nvSpPr>
        <p:spPr>
          <a:xfrm>
            <a:off x="6309359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32" name="A-E22 line 30" descr="sci-ppt:o030"/>
          <p:cNvCxnSpPr/>
          <p:nvPr/>
        </p:nvCxnSpPr>
        <p:spPr>
          <a:xfrm>
            <a:off x="859536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A-E22 line 31" descr="sci-ppt:o031"/>
          <p:cNvCxnSpPr/>
          <p:nvPr/>
        </p:nvCxnSpPr>
        <p:spPr>
          <a:xfrm>
            <a:off x="859536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A-E22 text 32" descr="sci-ppt:o032"/>
          <p:cNvSpPr txBox="1"/>
          <p:nvPr/>
        </p:nvSpPr>
        <p:spPr>
          <a:xfrm>
            <a:off x="813816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35" name="A-E22 line 33" descr="sci-ppt:o033"/>
          <p:cNvCxnSpPr/>
          <p:nvPr/>
        </p:nvCxnSpPr>
        <p:spPr>
          <a:xfrm>
            <a:off x="523951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A-E22 line 34" descr="sci-ppt:o034"/>
          <p:cNvCxnSpPr/>
          <p:nvPr/>
        </p:nvCxnSpPr>
        <p:spPr>
          <a:xfrm>
            <a:off x="5239512" y="384701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A-E22 line 35" descr="sci-ppt:o035"/>
          <p:cNvCxnSpPr/>
          <p:nvPr/>
        </p:nvCxnSpPr>
        <p:spPr>
          <a:xfrm>
            <a:off x="5303520" y="3847010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A-E22 text 36" descr="sci-ppt:o036"/>
          <p:cNvSpPr txBox="1"/>
          <p:nvPr/>
        </p:nvSpPr>
        <p:spPr>
          <a:xfrm>
            <a:off x="4434840" y="376471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39" name="A-E22 line 37" descr="sci-ppt:o037"/>
          <p:cNvCxnSpPr/>
          <p:nvPr/>
        </p:nvCxnSpPr>
        <p:spPr>
          <a:xfrm>
            <a:off x="5239512" y="284770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A-E22 line 38" descr="sci-ppt:o038"/>
          <p:cNvCxnSpPr/>
          <p:nvPr/>
        </p:nvCxnSpPr>
        <p:spPr>
          <a:xfrm>
            <a:off x="5303520" y="2847701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A-E22 text 39" descr="sci-ppt:o039"/>
          <p:cNvSpPr txBox="1"/>
          <p:nvPr/>
        </p:nvSpPr>
        <p:spPr>
          <a:xfrm>
            <a:off x="4434840" y="276540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42" name="A-E22 line 40" descr="sci-ppt:o040"/>
          <p:cNvCxnSpPr/>
          <p:nvPr/>
        </p:nvCxnSpPr>
        <p:spPr>
          <a:xfrm>
            <a:off x="5239512" y="184839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A-E22 line 41" descr="sci-ppt:o041"/>
          <p:cNvCxnSpPr/>
          <p:nvPr/>
        </p:nvCxnSpPr>
        <p:spPr>
          <a:xfrm>
            <a:off x="5303520" y="1848391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A-E22 text 42" descr="sci-ppt:o042"/>
          <p:cNvSpPr txBox="1"/>
          <p:nvPr/>
        </p:nvSpPr>
        <p:spPr>
          <a:xfrm>
            <a:off x="4434840" y="176609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1000</a:t>
            </a:r>
          </a:p>
        </p:txBody>
      </p:sp>
      <p:sp>
        <p:nvSpPr>
          <p:cNvPr id="45" name="A-E22 text 43" descr="sci-ppt:o043"/>
          <p:cNvSpPr txBox="1"/>
          <p:nvPr/>
        </p:nvSpPr>
        <p:spPr>
          <a:xfrm>
            <a:off x="5303520" y="5129783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R_ref</a:t>
            </a:r>
          </a:p>
        </p:txBody>
      </p:sp>
      <p:sp>
        <p:nvSpPr>
          <p:cNvPr id="46" name="A-E22 text 44" descr="sci-ppt:o044"/>
          <p:cNvSpPr txBox="1"/>
          <p:nvPr/>
        </p:nvSpPr>
        <p:spPr>
          <a:xfrm>
            <a:off x="4754880" y="1024128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W_g / (G_g R_ref³)</a:t>
            </a:r>
          </a:p>
        </p:txBody>
      </p:sp>
      <p:sp>
        <p:nvSpPr>
          <p:cNvPr id="47" name="A-E22 polygon 45" descr="sci-ppt:o045"/>
          <p:cNvSpPr/>
          <p:nvPr/>
        </p:nvSpPr>
        <p:spPr>
          <a:xfrm>
            <a:off x="5386229" y="1372549"/>
            <a:ext cx="2117364" cy="3344492"/>
          </a:xfrm>
          <a:custGeom>
            <a:avLst/>
            <a:gdLst/>
            <a:ahLst/>
            <a:cxnLst/>
            <a:rect l="l" t="t" r="r" b="b"/>
            <a:pathLst>
              <a:path w="2117364" h="3344492">
                <a:moveTo>
                  <a:pt x="0" y="3344492"/>
                </a:moveTo>
                <a:lnTo>
                  <a:pt x="16542" y="3181466"/>
                </a:lnTo>
                <a:lnTo>
                  <a:pt x="33084" y="3042742"/>
                </a:lnTo>
                <a:lnTo>
                  <a:pt x="49626" y="2921791"/>
                </a:lnTo>
                <a:lnTo>
                  <a:pt x="66168" y="2814406"/>
                </a:lnTo>
                <a:lnTo>
                  <a:pt x="82710" y="2717721"/>
                </a:lnTo>
                <a:lnTo>
                  <a:pt x="99252" y="2629693"/>
                </a:lnTo>
                <a:lnTo>
                  <a:pt x="115793" y="2548816"/>
                </a:lnTo>
                <a:lnTo>
                  <a:pt x="132335" y="2473948"/>
                </a:lnTo>
                <a:lnTo>
                  <a:pt x="148877" y="2404203"/>
                </a:lnTo>
                <a:lnTo>
                  <a:pt x="165419" y="2338877"/>
                </a:lnTo>
                <a:lnTo>
                  <a:pt x="181961" y="2277407"/>
                </a:lnTo>
                <a:lnTo>
                  <a:pt x="198503" y="2219330"/>
                </a:lnTo>
                <a:lnTo>
                  <a:pt x="215045" y="2164264"/>
                </a:lnTo>
                <a:lnTo>
                  <a:pt x="231587" y="2111889"/>
                </a:lnTo>
                <a:lnTo>
                  <a:pt x="248129" y="2061935"/>
                </a:lnTo>
                <a:lnTo>
                  <a:pt x="264671" y="2014169"/>
                </a:lnTo>
                <a:lnTo>
                  <a:pt x="281213" y="1968395"/>
                </a:lnTo>
                <a:lnTo>
                  <a:pt x="297754" y="1924439"/>
                </a:lnTo>
                <a:lnTo>
                  <a:pt x="314296" y="1882151"/>
                </a:lnTo>
                <a:lnTo>
                  <a:pt x="330838" y="1841401"/>
                </a:lnTo>
                <a:lnTo>
                  <a:pt x="347380" y="1802070"/>
                </a:lnTo>
                <a:lnTo>
                  <a:pt x="363922" y="1764057"/>
                </a:lnTo>
                <a:lnTo>
                  <a:pt x="380464" y="1727269"/>
                </a:lnTo>
                <a:lnTo>
                  <a:pt x="397006" y="1691624"/>
                </a:lnTo>
                <a:lnTo>
                  <a:pt x="413548" y="1657047"/>
                </a:lnTo>
                <a:lnTo>
                  <a:pt x="430090" y="1623473"/>
                </a:lnTo>
                <a:lnTo>
                  <a:pt x="446632" y="1590839"/>
                </a:lnTo>
                <a:lnTo>
                  <a:pt x="463174" y="1559092"/>
                </a:lnTo>
                <a:lnTo>
                  <a:pt x="479715" y="1528180"/>
                </a:lnTo>
                <a:lnTo>
                  <a:pt x="496257" y="1498059"/>
                </a:lnTo>
                <a:lnTo>
                  <a:pt x="512799" y="1468685"/>
                </a:lnTo>
                <a:lnTo>
                  <a:pt x="529341" y="1440021"/>
                </a:lnTo>
                <a:lnTo>
                  <a:pt x="545883" y="1412031"/>
                </a:lnTo>
                <a:lnTo>
                  <a:pt x="562425" y="1384681"/>
                </a:lnTo>
                <a:lnTo>
                  <a:pt x="578967" y="1357942"/>
                </a:lnTo>
                <a:lnTo>
                  <a:pt x="595509" y="1331784"/>
                </a:lnTo>
                <a:lnTo>
                  <a:pt x="612051" y="1306182"/>
                </a:lnTo>
                <a:lnTo>
                  <a:pt x="628593" y="1281112"/>
                </a:lnTo>
                <a:lnTo>
                  <a:pt x="645135" y="1256549"/>
                </a:lnTo>
                <a:lnTo>
                  <a:pt x="661676" y="1232474"/>
                </a:lnTo>
                <a:lnTo>
                  <a:pt x="678218" y="1208866"/>
                </a:lnTo>
                <a:lnTo>
                  <a:pt x="694760" y="1185705"/>
                </a:lnTo>
                <a:lnTo>
                  <a:pt x="711302" y="1162976"/>
                </a:lnTo>
                <a:lnTo>
                  <a:pt x="727844" y="1140661"/>
                </a:lnTo>
                <a:lnTo>
                  <a:pt x="744386" y="1118744"/>
                </a:lnTo>
                <a:lnTo>
                  <a:pt x="760928" y="1097211"/>
                </a:lnTo>
                <a:lnTo>
                  <a:pt x="777470" y="1076048"/>
                </a:lnTo>
                <a:lnTo>
                  <a:pt x="794012" y="1055242"/>
                </a:lnTo>
                <a:lnTo>
                  <a:pt x="810554" y="1034781"/>
                </a:lnTo>
                <a:lnTo>
                  <a:pt x="827096" y="1014653"/>
                </a:lnTo>
                <a:lnTo>
                  <a:pt x="843637" y="994846"/>
                </a:lnTo>
                <a:lnTo>
                  <a:pt x="860179" y="975350"/>
                </a:lnTo>
                <a:lnTo>
                  <a:pt x="876721" y="956155"/>
                </a:lnTo>
                <a:lnTo>
                  <a:pt x="893263" y="937252"/>
                </a:lnTo>
                <a:lnTo>
                  <a:pt x="909805" y="918632"/>
                </a:lnTo>
                <a:lnTo>
                  <a:pt x="926347" y="900285"/>
                </a:lnTo>
                <a:lnTo>
                  <a:pt x="942889" y="882204"/>
                </a:lnTo>
                <a:lnTo>
                  <a:pt x="959431" y="864381"/>
                </a:lnTo>
                <a:lnTo>
                  <a:pt x="975973" y="846808"/>
                </a:lnTo>
                <a:lnTo>
                  <a:pt x="992515" y="829478"/>
                </a:lnTo>
                <a:lnTo>
                  <a:pt x="1009057" y="812384"/>
                </a:lnTo>
                <a:lnTo>
                  <a:pt x="1025598" y="795520"/>
                </a:lnTo>
                <a:lnTo>
                  <a:pt x="1042140" y="778879"/>
                </a:lnTo>
                <a:lnTo>
                  <a:pt x="1058682" y="762455"/>
                </a:lnTo>
                <a:lnTo>
                  <a:pt x="1075224" y="746243"/>
                </a:lnTo>
                <a:lnTo>
                  <a:pt x="1091766" y="730237"/>
                </a:lnTo>
                <a:lnTo>
                  <a:pt x="1108308" y="714431"/>
                </a:lnTo>
                <a:lnTo>
                  <a:pt x="1124850" y="698821"/>
                </a:lnTo>
                <a:lnTo>
                  <a:pt x="1141392" y="683402"/>
                </a:lnTo>
                <a:lnTo>
                  <a:pt x="1157934" y="668168"/>
                </a:lnTo>
                <a:lnTo>
                  <a:pt x="1174476" y="653116"/>
                </a:lnTo>
                <a:lnTo>
                  <a:pt x="1191018" y="638241"/>
                </a:lnTo>
                <a:lnTo>
                  <a:pt x="1207559" y="623538"/>
                </a:lnTo>
                <a:lnTo>
                  <a:pt x="1224101" y="609004"/>
                </a:lnTo>
                <a:lnTo>
                  <a:pt x="1240643" y="594635"/>
                </a:lnTo>
                <a:lnTo>
                  <a:pt x="1257185" y="580427"/>
                </a:lnTo>
                <a:lnTo>
                  <a:pt x="1273727" y="566376"/>
                </a:lnTo>
                <a:lnTo>
                  <a:pt x="1290269" y="552478"/>
                </a:lnTo>
                <a:lnTo>
                  <a:pt x="1306811" y="538732"/>
                </a:lnTo>
                <a:lnTo>
                  <a:pt x="1323353" y="525132"/>
                </a:lnTo>
                <a:lnTo>
                  <a:pt x="1339895" y="511676"/>
                </a:lnTo>
                <a:lnTo>
                  <a:pt x="1356437" y="498360"/>
                </a:lnTo>
                <a:lnTo>
                  <a:pt x="1372979" y="485183"/>
                </a:lnTo>
                <a:lnTo>
                  <a:pt x="1389520" y="472140"/>
                </a:lnTo>
                <a:lnTo>
                  <a:pt x="1406062" y="459230"/>
                </a:lnTo>
                <a:lnTo>
                  <a:pt x="1422604" y="446449"/>
                </a:lnTo>
                <a:lnTo>
                  <a:pt x="1439146" y="433794"/>
                </a:lnTo>
                <a:lnTo>
                  <a:pt x="1455688" y="421264"/>
                </a:lnTo>
                <a:lnTo>
                  <a:pt x="1472230" y="408856"/>
                </a:lnTo>
                <a:lnTo>
                  <a:pt x="1488772" y="396567"/>
                </a:lnTo>
                <a:lnTo>
                  <a:pt x="1505314" y="384395"/>
                </a:lnTo>
                <a:lnTo>
                  <a:pt x="1521856" y="372338"/>
                </a:lnTo>
                <a:lnTo>
                  <a:pt x="1538398" y="360394"/>
                </a:lnTo>
                <a:lnTo>
                  <a:pt x="1554940" y="348560"/>
                </a:lnTo>
                <a:lnTo>
                  <a:pt x="1571481" y="336835"/>
                </a:lnTo>
                <a:lnTo>
                  <a:pt x="1588023" y="325216"/>
                </a:lnTo>
                <a:lnTo>
                  <a:pt x="1604565" y="313702"/>
                </a:lnTo>
                <a:lnTo>
                  <a:pt x="1621107" y="302290"/>
                </a:lnTo>
                <a:lnTo>
                  <a:pt x="1637649" y="290979"/>
                </a:lnTo>
                <a:lnTo>
                  <a:pt x="1654191" y="279767"/>
                </a:lnTo>
                <a:lnTo>
                  <a:pt x="1670733" y="268652"/>
                </a:lnTo>
                <a:lnTo>
                  <a:pt x="1687275" y="257633"/>
                </a:lnTo>
                <a:lnTo>
                  <a:pt x="1703817" y="246707"/>
                </a:lnTo>
                <a:lnTo>
                  <a:pt x="1720359" y="235874"/>
                </a:lnTo>
                <a:lnTo>
                  <a:pt x="1736901" y="225131"/>
                </a:lnTo>
                <a:lnTo>
                  <a:pt x="1753442" y="214478"/>
                </a:lnTo>
                <a:lnTo>
                  <a:pt x="1769984" y="203912"/>
                </a:lnTo>
                <a:lnTo>
                  <a:pt x="1786526" y="193433"/>
                </a:lnTo>
                <a:lnTo>
                  <a:pt x="1803068" y="183038"/>
                </a:lnTo>
                <a:lnTo>
                  <a:pt x="1819610" y="172727"/>
                </a:lnTo>
                <a:lnTo>
                  <a:pt x="1836152" y="162498"/>
                </a:lnTo>
                <a:lnTo>
                  <a:pt x="1852694" y="152350"/>
                </a:lnTo>
                <a:lnTo>
                  <a:pt x="1869236" y="142281"/>
                </a:lnTo>
                <a:lnTo>
                  <a:pt x="1885778" y="132290"/>
                </a:lnTo>
                <a:lnTo>
                  <a:pt x="1902320" y="122376"/>
                </a:lnTo>
                <a:lnTo>
                  <a:pt x="1918862" y="112539"/>
                </a:lnTo>
                <a:lnTo>
                  <a:pt x="1935403" y="102775"/>
                </a:lnTo>
                <a:lnTo>
                  <a:pt x="1951945" y="93086"/>
                </a:lnTo>
                <a:lnTo>
                  <a:pt x="1968487" y="83469"/>
                </a:lnTo>
                <a:lnTo>
                  <a:pt x="1985029" y="73923"/>
                </a:lnTo>
                <a:lnTo>
                  <a:pt x="2001571" y="64447"/>
                </a:lnTo>
                <a:lnTo>
                  <a:pt x="2018113" y="55040"/>
                </a:lnTo>
                <a:lnTo>
                  <a:pt x="2034655" y="45702"/>
                </a:lnTo>
                <a:lnTo>
                  <a:pt x="2051197" y="36431"/>
                </a:lnTo>
                <a:lnTo>
                  <a:pt x="2067739" y="27226"/>
                </a:lnTo>
                <a:lnTo>
                  <a:pt x="2084281" y="18087"/>
                </a:lnTo>
                <a:lnTo>
                  <a:pt x="2100823" y="9012"/>
                </a:lnTo>
                <a:lnTo>
                  <a:pt x="2117364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A-E22 round_rect 46" descr="sci-ppt:o046"/>
          <p:cNvSpPr/>
          <p:nvPr/>
        </p:nvSpPr>
        <p:spPr>
          <a:xfrm>
            <a:off x="8778240" y="1371600"/>
            <a:ext cx="3063240" cy="34747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A-E22 text 47" descr="sci-ppt:o047"/>
          <p:cNvSpPr txBox="1"/>
          <p:nvPr/>
        </p:nvSpPr>
        <p:spPr>
          <a:xfrm>
            <a:off x="8887967" y="1426464"/>
            <a:ext cx="284378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Formulas</a:t>
            </a:r>
          </a:p>
        </p:txBody>
      </p:sp>
      <p:sp>
        <p:nvSpPr>
          <p:cNvPr id="50" name="A-E22 text 48" descr="sci-ppt:o048"/>
          <p:cNvSpPr txBox="1"/>
          <p:nvPr/>
        </p:nvSpPr>
        <p:spPr>
          <a:xfrm>
            <a:off x="8869680" y="1828800"/>
            <a:ext cx="288036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E7F0F3"/>
                </a:solidFill>
                <a:latin typeface="Arial"/>
              </a:rPr>
              <a:t>pₑₗ = (G_g/2)[5 − 4R_ref/R − (R_ref/R)⁴]</a:t>
            </a:r>
          </a:p>
        </p:txBody>
      </p:sp>
      <p:sp>
        <p:nvSpPr>
          <p:cNvPr id="51" name="A-E22 text 49" descr="sci-ppt:o049"/>
          <p:cNvSpPr txBox="1"/>
          <p:nvPr/>
        </p:nvSpPr>
        <p:spPr>
          <a:xfrm>
            <a:off x="8869680" y="2743200"/>
            <a:ext cx="2880360" cy="37109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B880"/>
                </a:solidFill>
                <a:latin typeface="Arial"/>
              </a:rPr>
              <a:t>W_g = 2πG_g[5R³/3 − 2R_refR² + R_ref⁴/R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B880"/>
                </a:solidFill>
                <a:latin typeface="Arial"/>
              </a:rPr>
              <a:t>− 2R_ref³/3]</a:t>
            </a:r>
          </a:p>
        </p:txBody>
      </p:sp>
      <p:sp>
        <p:nvSpPr>
          <p:cNvPr id="52" name="A-E22 text 50" descr="sci-ppt:o050"/>
          <p:cNvSpPr txBox="1"/>
          <p:nvPr/>
        </p:nvSpPr>
        <p:spPr>
          <a:xfrm>
            <a:off x="8869680" y="3931920"/>
            <a:ext cx="2880360" cy="38658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pressure saturates; work keeps growing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as R³</a:t>
            </a:r>
          </a:p>
        </p:txBody>
      </p:sp>
      <p:sp>
        <p:nvSpPr>
          <p:cNvPr id="53" name="A-E22 text 51" descr="sci-ppt:o051"/>
          <p:cNvSpPr txBox="1"/>
          <p:nvPr/>
        </p:nvSpPr>
        <p:spPr>
          <a:xfrm>
            <a:off x="914400" y="5486400"/>
            <a:ext cx="10972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Defence 2: resistance pressure and elastic work answer different parts of the feasibility question: a modest pressure can still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cost a finite work.</a:t>
            </a:r>
          </a:p>
        </p:txBody>
      </p:sp>
      <p:sp>
        <p:nvSpPr>
          <p:cNvPr id="54" name="A-E22 text 52" descr="sci-ppt:o05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Original pressure and work formulas recalled: Eqs. A-E05 and A-E07 (Defence 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