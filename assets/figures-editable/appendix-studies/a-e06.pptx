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44982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A-E06 · Physical variable map</a:t>
            </a:r>
          </a:p>
        </p:txBody>
      </p:sp>
      <p:sp>
        <p:nvSpPr>
          <p:cNvPr id="3" name="ellipse 1" descr="sci-ppt:obj-001"/>
          <p:cNvSpPr/>
          <p:nvPr/>
        </p:nvSpPr>
        <p:spPr>
          <a:xfrm>
            <a:off x="1060704" y="914400"/>
            <a:ext cx="1463040" cy="1463040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 2" descr="sci-ppt:obj-002"/>
          <p:cNvSpPr/>
          <p:nvPr/>
        </p:nvSpPr>
        <p:spPr>
          <a:xfrm>
            <a:off x="1463040" y="1316736"/>
            <a:ext cx="658368" cy="658368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 3" descr="sci-ppt:obj-003"/>
          <p:cNvCxnSpPr/>
          <p:nvPr/>
        </p:nvCxnSpPr>
        <p:spPr>
          <a:xfrm>
            <a:off x="1792224" y="1645920"/>
            <a:ext cx="329184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 4" descr="sci-ppt:obj-004"/>
          <p:cNvSpPr txBox="1"/>
          <p:nvPr/>
        </p:nvSpPr>
        <p:spPr>
          <a:xfrm>
            <a:off x="1755648" y="1271016"/>
            <a:ext cx="1097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Rref</a:t>
            </a:r>
          </a:p>
        </p:txBody>
      </p:sp>
      <p:cxnSp>
        <p:nvCxnSpPr>
          <p:cNvPr id="7" name="arrow 5" descr="sci-ppt:obj-005"/>
          <p:cNvCxnSpPr/>
          <p:nvPr/>
        </p:nvCxnSpPr>
        <p:spPr>
          <a:xfrm>
            <a:off x="1792224" y="1645920"/>
            <a:ext cx="517262" cy="517262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 6" descr="sci-ppt:obj-006"/>
          <p:cNvSpPr txBox="1"/>
          <p:nvPr/>
        </p:nvSpPr>
        <p:spPr>
          <a:xfrm>
            <a:off x="2304288" y="21396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r₀</a:t>
            </a:r>
          </a:p>
        </p:txBody>
      </p:sp>
      <p:sp>
        <p:nvSpPr>
          <p:cNvPr id="9" name="ellipse 7" descr="sci-ppt:obj-007"/>
          <p:cNvSpPr/>
          <p:nvPr/>
        </p:nvSpPr>
        <p:spPr>
          <a:xfrm>
            <a:off x="4682139" y="750219"/>
            <a:ext cx="1791401" cy="1791401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ellipse 8" descr="sci-ppt:obj-008"/>
          <p:cNvSpPr/>
          <p:nvPr/>
        </p:nvSpPr>
        <p:spPr>
          <a:xfrm>
            <a:off x="4864608" y="932688"/>
            <a:ext cx="1426464" cy="1426464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arrow 9" descr="sci-ppt:obj-009"/>
          <p:cNvCxnSpPr/>
          <p:nvPr/>
        </p:nvCxnSpPr>
        <p:spPr>
          <a:xfrm>
            <a:off x="5577840" y="1645920"/>
            <a:ext cx="713232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 10" descr="sci-ppt:obj-010"/>
          <p:cNvSpPr txBox="1"/>
          <p:nvPr/>
        </p:nvSpPr>
        <p:spPr>
          <a:xfrm>
            <a:off x="5952744" y="127101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3" name="arrow 11" descr="sci-ppt:obj-011"/>
          <p:cNvCxnSpPr/>
          <p:nvPr/>
        </p:nvCxnSpPr>
        <p:spPr>
          <a:xfrm>
            <a:off x="5577840" y="1645920"/>
            <a:ext cx="633355" cy="633355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text 12" descr="sci-ppt:obj-012"/>
          <p:cNvSpPr txBox="1"/>
          <p:nvPr/>
        </p:nvSpPr>
        <p:spPr>
          <a:xfrm>
            <a:off x="6373368" y="223113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5" name="arrow 13" descr="sci-ppt:obj-013"/>
          <p:cNvCxnSpPr/>
          <p:nvPr/>
        </p:nvCxnSpPr>
        <p:spPr>
          <a:xfrm>
            <a:off x="2697480" y="1645920"/>
            <a:ext cx="169164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text 14" descr="sci-ppt:obj-014"/>
          <p:cNvSpPr txBox="1"/>
          <p:nvPr/>
        </p:nvSpPr>
        <p:spPr>
          <a:xfrm>
            <a:off x="2834640" y="1143000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Material map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1005840" y="2578608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Reference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4846320" y="2660904"/>
            <a:ext cx="3383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Deformed: λr , λθ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6839712" y="777240"/>
            <a:ext cx="16459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Gg , ηg</a:t>
            </a:r>
          </a:p>
        </p:txBody>
      </p:sp>
      <p:sp>
        <p:nvSpPr>
          <p:cNvPr id="20" name="text 18" descr="sci-ppt:obj-018"/>
          <p:cNvSpPr txBox="1"/>
          <p:nvPr/>
        </p:nvSpPr>
        <p:spPr>
          <a:xfrm>
            <a:off x="6839712" y="1207008"/>
            <a:ext cx="18288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σrr , σθθ</a:t>
            </a:r>
          </a:p>
        </p:txBody>
      </p:sp>
      <p:sp>
        <p:nvSpPr>
          <p:cNvPr id="21" name="text 19" descr="sci-ppt:obj-019"/>
          <p:cNvSpPr txBox="1"/>
          <p:nvPr/>
        </p:nvSpPr>
        <p:spPr>
          <a:xfrm>
            <a:off x="6839712" y="1645920"/>
            <a:ext cx="13716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2" name="text 20" descr="sci-ppt:obj-020"/>
          <p:cNvSpPr txBox="1"/>
          <p:nvPr/>
        </p:nvSpPr>
        <p:spPr>
          <a:xfrm>
            <a:off x="5266944" y="16824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 21" descr="sci-ppt:obj-021"/>
          <p:cNvSpPr txBox="1"/>
          <p:nvPr/>
        </p:nvSpPr>
        <p:spPr>
          <a:xfrm>
            <a:off x="868680" y="2990088"/>
            <a:ext cx="77724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r₀³ − Rref³ = r³ − R³ ; radial coordinates point outward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5" name="text 23" descr="sci-ppt:obj-023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Rref: zero resistance</a:t>
            </a:r>
          </a:p>
        </p:txBody>
      </p:sp>
      <p:sp>
        <p:nvSpPr>
          <p:cNvPr id="26" name="text 24" descr="sci-ppt:obj-024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 increasing → pel increasing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large R → 5Gg/2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dpel/dR &gt; 0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Expansion requires positive additional pressure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Pressure plateau does not cap stored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