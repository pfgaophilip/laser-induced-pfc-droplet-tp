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6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A-E06 · Limiting-state and sign checks</a:t>
            </a:r>
          </a:p>
        </p:txBody>
      </p:sp>
      <p:cxnSp>
        <p:nvCxnSpPr>
          <p:cNvPr id="3" name="A-E06 line 1" descr="sci-ppt:o001"/>
          <p:cNvCxnSpPr/>
          <p:nvPr/>
        </p:nvCxnSpPr>
        <p:spPr>
          <a:xfrm>
            <a:off x="914400" y="5029200"/>
            <a:ext cx="58521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6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6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6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6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06 line 6" descr="sci-ppt:o006"/>
          <p:cNvCxnSpPr/>
          <p:nvPr/>
        </p:nvCxnSpPr>
        <p:spPr>
          <a:xfrm>
            <a:off x="156464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6 line 7" descr="sci-ppt:o007"/>
          <p:cNvCxnSpPr/>
          <p:nvPr/>
        </p:nvCxnSpPr>
        <p:spPr>
          <a:xfrm>
            <a:off x="156464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6 text 8" descr="sci-ppt:o008"/>
          <p:cNvSpPr txBox="1"/>
          <p:nvPr/>
        </p:nvSpPr>
        <p:spPr>
          <a:xfrm>
            <a:off x="110744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A-E06 line 9" descr="sci-ppt:o009"/>
          <p:cNvCxnSpPr/>
          <p:nvPr/>
        </p:nvCxnSpPr>
        <p:spPr>
          <a:xfrm>
            <a:off x="286512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6 line 10" descr="sci-ppt:o010"/>
          <p:cNvCxnSpPr/>
          <p:nvPr/>
        </p:nvCxnSpPr>
        <p:spPr>
          <a:xfrm>
            <a:off x="286512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6 text 11" descr="sci-ppt:o011"/>
          <p:cNvSpPr txBox="1"/>
          <p:nvPr/>
        </p:nvSpPr>
        <p:spPr>
          <a:xfrm>
            <a:off x="240792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4" name="A-E06 line 12" descr="sci-ppt:o012"/>
          <p:cNvCxnSpPr/>
          <p:nvPr/>
        </p:nvCxnSpPr>
        <p:spPr>
          <a:xfrm>
            <a:off x="41656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6 line 13" descr="sci-ppt:o013"/>
          <p:cNvCxnSpPr/>
          <p:nvPr/>
        </p:nvCxnSpPr>
        <p:spPr>
          <a:xfrm>
            <a:off x="41656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06 text 14" descr="sci-ppt:o014"/>
          <p:cNvSpPr txBox="1"/>
          <p:nvPr/>
        </p:nvSpPr>
        <p:spPr>
          <a:xfrm>
            <a:off x="37084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6</a:t>
            </a:r>
          </a:p>
        </p:txBody>
      </p:sp>
      <p:cxnSp>
        <p:nvCxnSpPr>
          <p:cNvPr id="17" name="A-E06 line 15" descr="sci-ppt:o015"/>
          <p:cNvCxnSpPr/>
          <p:nvPr/>
        </p:nvCxnSpPr>
        <p:spPr>
          <a:xfrm>
            <a:off x="546608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06 line 16" descr="sci-ppt:o016"/>
          <p:cNvCxnSpPr/>
          <p:nvPr/>
        </p:nvCxnSpPr>
        <p:spPr>
          <a:xfrm>
            <a:off x="546608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06 text 17" descr="sci-ppt:o017"/>
          <p:cNvSpPr txBox="1"/>
          <p:nvPr/>
        </p:nvSpPr>
        <p:spPr>
          <a:xfrm>
            <a:off x="500888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8</a:t>
            </a:r>
          </a:p>
        </p:txBody>
      </p:sp>
      <p:cxnSp>
        <p:nvCxnSpPr>
          <p:cNvPr id="20" name="A-E06 line 18" descr="sci-ppt:o018"/>
          <p:cNvCxnSpPr/>
          <p:nvPr/>
        </p:nvCxnSpPr>
        <p:spPr>
          <a:xfrm>
            <a:off x="676656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06 line 19" descr="sci-ppt:o019"/>
          <p:cNvCxnSpPr/>
          <p:nvPr/>
        </p:nvCxnSpPr>
        <p:spPr>
          <a:xfrm>
            <a:off x="676656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06 text 20" descr="sci-ppt:o020"/>
          <p:cNvSpPr txBox="1"/>
          <p:nvPr/>
        </p:nvSpPr>
        <p:spPr>
          <a:xfrm>
            <a:off x="630936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23" name="A-E06 line 21" descr="sci-ppt:o021"/>
          <p:cNvCxnSpPr/>
          <p:nvPr/>
        </p:nvCxnSpPr>
        <p:spPr>
          <a:xfrm>
            <a:off x="850392" y="50292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06 line 22" descr="sci-ppt:o022"/>
          <p:cNvCxnSpPr/>
          <p:nvPr/>
        </p:nvCxnSpPr>
        <p:spPr>
          <a:xfrm>
            <a:off x="850392" y="415834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A-E06 line 23" descr="sci-ppt:o023"/>
          <p:cNvCxnSpPr/>
          <p:nvPr/>
        </p:nvCxnSpPr>
        <p:spPr>
          <a:xfrm>
            <a:off x="914400" y="4158342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A-E06 text 24" descr="sci-ppt:o024"/>
          <p:cNvSpPr txBox="1"/>
          <p:nvPr/>
        </p:nvSpPr>
        <p:spPr>
          <a:xfrm>
            <a:off x="45720" y="407604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27" name="A-E06 line 25" descr="sci-ppt:o025"/>
          <p:cNvCxnSpPr/>
          <p:nvPr/>
        </p:nvCxnSpPr>
        <p:spPr>
          <a:xfrm>
            <a:off x="850392" y="3287485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A-E06 line 26" descr="sci-ppt:o026"/>
          <p:cNvCxnSpPr/>
          <p:nvPr/>
        </p:nvCxnSpPr>
        <p:spPr>
          <a:xfrm>
            <a:off x="914400" y="3287485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A-E06 text 27" descr="sci-ppt:o027"/>
          <p:cNvSpPr txBox="1"/>
          <p:nvPr/>
        </p:nvSpPr>
        <p:spPr>
          <a:xfrm>
            <a:off x="45720" y="3205189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30" name="A-E06 line 28" descr="sci-ppt:o028"/>
          <p:cNvCxnSpPr/>
          <p:nvPr/>
        </p:nvCxnSpPr>
        <p:spPr>
          <a:xfrm>
            <a:off x="850392" y="2416628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1" name="A-E06 line 29" descr="sci-ppt:o029"/>
          <p:cNvCxnSpPr/>
          <p:nvPr/>
        </p:nvCxnSpPr>
        <p:spPr>
          <a:xfrm>
            <a:off x="914400" y="2416628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2" name="A-E06 text 30" descr="sci-ppt:o030"/>
          <p:cNvSpPr txBox="1"/>
          <p:nvPr/>
        </p:nvSpPr>
        <p:spPr>
          <a:xfrm>
            <a:off x="45720" y="2334332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33" name="A-E06 line 31" descr="sci-ppt:o031"/>
          <p:cNvCxnSpPr/>
          <p:nvPr/>
        </p:nvCxnSpPr>
        <p:spPr>
          <a:xfrm>
            <a:off x="850392" y="154577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4" name="A-E06 line 32" descr="sci-ppt:o032"/>
          <p:cNvCxnSpPr/>
          <p:nvPr/>
        </p:nvCxnSpPr>
        <p:spPr>
          <a:xfrm>
            <a:off x="914400" y="1545771"/>
            <a:ext cx="58521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5" name="A-E06 text 33" descr="sci-ppt:o033"/>
          <p:cNvSpPr txBox="1"/>
          <p:nvPr/>
        </p:nvSpPr>
        <p:spPr>
          <a:xfrm>
            <a:off x="45720" y="146347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sp>
        <p:nvSpPr>
          <p:cNvPr id="36" name="A-E06 text 34" descr="sci-ppt:o034"/>
          <p:cNvSpPr txBox="1"/>
          <p:nvPr/>
        </p:nvSpPr>
        <p:spPr>
          <a:xfrm>
            <a:off x="914400" y="5312664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R_ref</a:t>
            </a:r>
          </a:p>
        </p:txBody>
      </p:sp>
      <p:sp>
        <p:nvSpPr>
          <p:cNvPr id="37" name="A-E06 text 35" descr="sci-ppt:o035"/>
          <p:cNvSpPr txBox="1"/>
          <p:nvPr/>
        </p:nvSpPr>
        <p:spPr>
          <a:xfrm>
            <a:off x="365760" y="1024128"/>
            <a:ext cx="58521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R_ref · dpₑₗ/dR / G_g</a:t>
            </a:r>
          </a:p>
        </p:txBody>
      </p:sp>
      <p:sp>
        <p:nvSpPr>
          <p:cNvPr id="38" name="A-E06 polygon 36" descr="sci-ppt:o036"/>
          <p:cNvSpPr/>
          <p:nvPr/>
        </p:nvSpPr>
        <p:spPr>
          <a:xfrm>
            <a:off x="914400" y="1545771"/>
            <a:ext cx="5852160" cy="3465994"/>
          </a:xfrm>
          <a:custGeom>
            <a:avLst/>
            <a:gdLst/>
            <a:ahLst/>
            <a:cxnLst/>
            <a:rect l="l" t="t" r="r" b="b"/>
            <a:pathLst>
              <a:path w="5852160" h="3465994">
                <a:moveTo>
                  <a:pt x="0" y="0"/>
                </a:moveTo>
                <a:lnTo>
                  <a:pt x="39144" y="633617"/>
                </a:lnTo>
                <a:lnTo>
                  <a:pt x="78289" y="1109412"/>
                </a:lnTo>
                <a:lnTo>
                  <a:pt x="117434" y="1474451"/>
                </a:lnTo>
                <a:lnTo>
                  <a:pt x="156579" y="1759952"/>
                </a:lnTo>
                <a:lnTo>
                  <a:pt x="195724" y="1987129"/>
                </a:lnTo>
                <a:lnTo>
                  <a:pt x="234869" y="2170722"/>
                </a:lnTo>
                <a:lnTo>
                  <a:pt x="274014" y="2321176"/>
                </a:lnTo>
                <a:lnTo>
                  <a:pt x="313159" y="2446035"/>
                </a:lnTo>
                <a:lnTo>
                  <a:pt x="352303" y="2550836"/>
                </a:lnTo>
                <a:lnTo>
                  <a:pt x="391448" y="2639710"/>
                </a:lnTo>
                <a:lnTo>
                  <a:pt x="430593" y="2715780"/>
                </a:lnTo>
                <a:lnTo>
                  <a:pt x="469738" y="2781444"/>
                </a:lnTo>
                <a:lnTo>
                  <a:pt x="508883" y="2838562"/>
                </a:lnTo>
                <a:lnTo>
                  <a:pt x="548028" y="2888593"/>
                </a:lnTo>
                <a:lnTo>
                  <a:pt x="587173" y="2932698"/>
                </a:lnTo>
                <a:lnTo>
                  <a:pt x="626318" y="2971805"/>
                </a:lnTo>
                <a:lnTo>
                  <a:pt x="665463" y="3006666"/>
                </a:lnTo>
                <a:lnTo>
                  <a:pt x="704607" y="3037895"/>
                </a:lnTo>
                <a:lnTo>
                  <a:pt x="743752" y="3065997"/>
                </a:lnTo>
                <a:lnTo>
                  <a:pt x="782897" y="3091390"/>
                </a:lnTo>
                <a:lnTo>
                  <a:pt x="822042" y="3114424"/>
                </a:lnTo>
                <a:lnTo>
                  <a:pt x="861187" y="3135393"/>
                </a:lnTo>
                <a:lnTo>
                  <a:pt x="900332" y="3154545"/>
                </a:lnTo>
                <a:lnTo>
                  <a:pt x="939477" y="3172091"/>
                </a:lnTo>
                <a:lnTo>
                  <a:pt x="978622" y="3188212"/>
                </a:lnTo>
                <a:lnTo>
                  <a:pt x="1017766" y="3203064"/>
                </a:lnTo>
                <a:lnTo>
                  <a:pt x="1056911" y="3216780"/>
                </a:lnTo>
                <a:lnTo>
                  <a:pt x="1096056" y="3229478"/>
                </a:lnTo>
                <a:lnTo>
                  <a:pt x="1135201" y="3241259"/>
                </a:lnTo>
                <a:lnTo>
                  <a:pt x="1174346" y="3252211"/>
                </a:lnTo>
                <a:lnTo>
                  <a:pt x="1213491" y="3262414"/>
                </a:lnTo>
                <a:lnTo>
                  <a:pt x="1252636" y="3271936"/>
                </a:lnTo>
                <a:lnTo>
                  <a:pt x="1291781" y="3280838"/>
                </a:lnTo>
                <a:lnTo>
                  <a:pt x="1330926" y="3289174"/>
                </a:lnTo>
                <a:lnTo>
                  <a:pt x="1370070" y="3296992"/>
                </a:lnTo>
                <a:lnTo>
                  <a:pt x="1409215" y="3304336"/>
                </a:lnTo>
                <a:lnTo>
                  <a:pt x="1448360" y="3311244"/>
                </a:lnTo>
                <a:lnTo>
                  <a:pt x="1487505" y="3317750"/>
                </a:lnTo>
                <a:lnTo>
                  <a:pt x="1526650" y="3323887"/>
                </a:lnTo>
                <a:lnTo>
                  <a:pt x="1565795" y="3329682"/>
                </a:lnTo>
                <a:lnTo>
                  <a:pt x="1604940" y="3335160"/>
                </a:lnTo>
                <a:lnTo>
                  <a:pt x="1644085" y="3340345"/>
                </a:lnTo>
                <a:lnTo>
                  <a:pt x="1683229" y="3345258"/>
                </a:lnTo>
                <a:lnTo>
                  <a:pt x="1722374" y="3349917"/>
                </a:lnTo>
                <a:lnTo>
                  <a:pt x="1761519" y="3354341"/>
                </a:lnTo>
                <a:lnTo>
                  <a:pt x="1800664" y="3358545"/>
                </a:lnTo>
                <a:lnTo>
                  <a:pt x="1839809" y="3362543"/>
                </a:lnTo>
                <a:lnTo>
                  <a:pt x="1878954" y="3366350"/>
                </a:lnTo>
                <a:lnTo>
                  <a:pt x="1918099" y="3369977"/>
                </a:lnTo>
                <a:lnTo>
                  <a:pt x="1957244" y="3373436"/>
                </a:lnTo>
                <a:lnTo>
                  <a:pt x="1996389" y="3376737"/>
                </a:lnTo>
                <a:lnTo>
                  <a:pt x="2035533" y="3379889"/>
                </a:lnTo>
                <a:lnTo>
                  <a:pt x="2074678" y="3382902"/>
                </a:lnTo>
                <a:lnTo>
                  <a:pt x="2113823" y="3385784"/>
                </a:lnTo>
                <a:lnTo>
                  <a:pt x="2152968" y="3388543"/>
                </a:lnTo>
                <a:lnTo>
                  <a:pt x="2192113" y="3391185"/>
                </a:lnTo>
                <a:lnTo>
                  <a:pt x="2231258" y="3393717"/>
                </a:lnTo>
                <a:lnTo>
                  <a:pt x="2270403" y="3396145"/>
                </a:lnTo>
                <a:lnTo>
                  <a:pt x="2309548" y="3398475"/>
                </a:lnTo>
                <a:lnTo>
                  <a:pt x="2348692" y="3400711"/>
                </a:lnTo>
                <a:lnTo>
                  <a:pt x="2387837" y="3402860"/>
                </a:lnTo>
                <a:lnTo>
                  <a:pt x="2426982" y="3404926"/>
                </a:lnTo>
                <a:lnTo>
                  <a:pt x="2466127" y="3406912"/>
                </a:lnTo>
                <a:lnTo>
                  <a:pt x="2505272" y="3408823"/>
                </a:lnTo>
                <a:lnTo>
                  <a:pt x="2544417" y="3410664"/>
                </a:lnTo>
                <a:lnTo>
                  <a:pt x="2583562" y="3412436"/>
                </a:lnTo>
                <a:lnTo>
                  <a:pt x="2622707" y="3414144"/>
                </a:lnTo>
                <a:lnTo>
                  <a:pt x="2661852" y="3415790"/>
                </a:lnTo>
                <a:lnTo>
                  <a:pt x="2700996" y="3417378"/>
                </a:lnTo>
                <a:lnTo>
                  <a:pt x="2740141" y="3418911"/>
                </a:lnTo>
                <a:lnTo>
                  <a:pt x="2779286" y="3420390"/>
                </a:lnTo>
                <a:lnTo>
                  <a:pt x="2818431" y="3421819"/>
                </a:lnTo>
                <a:lnTo>
                  <a:pt x="2857576" y="3423199"/>
                </a:lnTo>
                <a:lnTo>
                  <a:pt x="2896721" y="3424533"/>
                </a:lnTo>
                <a:lnTo>
                  <a:pt x="2935866" y="3425824"/>
                </a:lnTo>
                <a:lnTo>
                  <a:pt x="2975011" y="3427072"/>
                </a:lnTo>
                <a:lnTo>
                  <a:pt x="3014155" y="3428279"/>
                </a:lnTo>
                <a:lnTo>
                  <a:pt x="3053300" y="3429448"/>
                </a:lnTo>
                <a:lnTo>
                  <a:pt x="3092445" y="3430580"/>
                </a:lnTo>
                <a:lnTo>
                  <a:pt x="3131590" y="3431677"/>
                </a:lnTo>
                <a:lnTo>
                  <a:pt x="3170735" y="3432740"/>
                </a:lnTo>
                <a:lnTo>
                  <a:pt x="3209880" y="3433770"/>
                </a:lnTo>
                <a:lnTo>
                  <a:pt x="3249025" y="3434769"/>
                </a:lnTo>
                <a:lnTo>
                  <a:pt x="3288170" y="3435738"/>
                </a:lnTo>
                <a:lnTo>
                  <a:pt x="3327315" y="3436678"/>
                </a:lnTo>
                <a:lnTo>
                  <a:pt x="3366459" y="3437591"/>
                </a:lnTo>
                <a:lnTo>
                  <a:pt x="3405604" y="3438477"/>
                </a:lnTo>
                <a:lnTo>
                  <a:pt x="3444749" y="3439337"/>
                </a:lnTo>
                <a:lnTo>
                  <a:pt x="3483894" y="3440173"/>
                </a:lnTo>
                <a:lnTo>
                  <a:pt x="3523039" y="3440985"/>
                </a:lnTo>
                <a:lnTo>
                  <a:pt x="3562184" y="3441775"/>
                </a:lnTo>
                <a:lnTo>
                  <a:pt x="3601329" y="3442542"/>
                </a:lnTo>
                <a:lnTo>
                  <a:pt x="3640474" y="3443289"/>
                </a:lnTo>
                <a:lnTo>
                  <a:pt x="3679618" y="3444015"/>
                </a:lnTo>
                <a:lnTo>
                  <a:pt x="3718763" y="3444722"/>
                </a:lnTo>
                <a:lnTo>
                  <a:pt x="3757908" y="3445409"/>
                </a:lnTo>
                <a:lnTo>
                  <a:pt x="3797053" y="3446079"/>
                </a:lnTo>
                <a:lnTo>
                  <a:pt x="3836198" y="3446731"/>
                </a:lnTo>
                <a:lnTo>
                  <a:pt x="3875343" y="3447366"/>
                </a:lnTo>
                <a:lnTo>
                  <a:pt x="3914488" y="3447984"/>
                </a:lnTo>
                <a:lnTo>
                  <a:pt x="3953633" y="3448587"/>
                </a:lnTo>
                <a:lnTo>
                  <a:pt x="3992778" y="3449174"/>
                </a:lnTo>
                <a:lnTo>
                  <a:pt x="4031922" y="3449747"/>
                </a:lnTo>
                <a:lnTo>
                  <a:pt x="4071067" y="3450305"/>
                </a:lnTo>
                <a:lnTo>
                  <a:pt x="4110212" y="3450850"/>
                </a:lnTo>
                <a:lnTo>
                  <a:pt x="4149357" y="3451381"/>
                </a:lnTo>
                <a:lnTo>
                  <a:pt x="4188502" y="3451899"/>
                </a:lnTo>
                <a:lnTo>
                  <a:pt x="4227647" y="3452405"/>
                </a:lnTo>
                <a:lnTo>
                  <a:pt x="4266792" y="3452899"/>
                </a:lnTo>
                <a:lnTo>
                  <a:pt x="4305937" y="3453381"/>
                </a:lnTo>
                <a:lnTo>
                  <a:pt x="4345082" y="3453851"/>
                </a:lnTo>
                <a:lnTo>
                  <a:pt x="4384226" y="3454311"/>
                </a:lnTo>
                <a:lnTo>
                  <a:pt x="4423371" y="3454760"/>
                </a:lnTo>
                <a:lnTo>
                  <a:pt x="4462516" y="3455199"/>
                </a:lnTo>
                <a:lnTo>
                  <a:pt x="4501661" y="3455627"/>
                </a:lnTo>
                <a:lnTo>
                  <a:pt x="4540806" y="3456046"/>
                </a:lnTo>
                <a:lnTo>
                  <a:pt x="4579951" y="3456456"/>
                </a:lnTo>
                <a:lnTo>
                  <a:pt x="4619096" y="3456856"/>
                </a:lnTo>
                <a:lnTo>
                  <a:pt x="4658241" y="3457248"/>
                </a:lnTo>
                <a:lnTo>
                  <a:pt x="4697385" y="3457631"/>
                </a:lnTo>
                <a:lnTo>
                  <a:pt x="4736530" y="3458005"/>
                </a:lnTo>
                <a:lnTo>
                  <a:pt x="4775675" y="3458372"/>
                </a:lnTo>
                <a:lnTo>
                  <a:pt x="4814820" y="3458730"/>
                </a:lnTo>
                <a:lnTo>
                  <a:pt x="4853965" y="3459081"/>
                </a:lnTo>
                <a:lnTo>
                  <a:pt x="4893110" y="3459425"/>
                </a:lnTo>
                <a:lnTo>
                  <a:pt x="4932255" y="3459761"/>
                </a:lnTo>
                <a:lnTo>
                  <a:pt x="4971400" y="3460090"/>
                </a:lnTo>
                <a:lnTo>
                  <a:pt x="5010545" y="3460413"/>
                </a:lnTo>
                <a:lnTo>
                  <a:pt x="5049689" y="3460728"/>
                </a:lnTo>
                <a:lnTo>
                  <a:pt x="5088834" y="3461038"/>
                </a:lnTo>
                <a:lnTo>
                  <a:pt x="5127979" y="3461341"/>
                </a:lnTo>
                <a:lnTo>
                  <a:pt x="5167124" y="3461637"/>
                </a:lnTo>
                <a:lnTo>
                  <a:pt x="5206269" y="3461928"/>
                </a:lnTo>
                <a:lnTo>
                  <a:pt x="5245414" y="3462214"/>
                </a:lnTo>
                <a:lnTo>
                  <a:pt x="5284559" y="3462493"/>
                </a:lnTo>
                <a:lnTo>
                  <a:pt x="5323704" y="3462767"/>
                </a:lnTo>
                <a:lnTo>
                  <a:pt x="5362848" y="3463036"/>
                </a:lnTo>
                <a:lnTo>
                  <a:pt x="5401993" y="3463299"/>
                </a:lnTo>
                <a:lnTo>
                  <a:pt x="5441138" y="3463557"/>
                </a:lnTo>
                <a:lnTo>
                  <a:pt x="5480283" y="3463811"/>
                </a:lnTo>
                <a:lnTo>
                  <a:pt x="5519428" y="3464059"/>
                </a:lnTo>
                <a:lnTo>
                  <a:pt x="5558573" y="3464303"/>
                </a:lnTo>
                <a:lnTo>
                  <a:pt x="5597718" y="3464543"/>
                </a:lnTo>
                <a:lnTo>
                  <a:pt x="5636863" y="3464777"/>
                </a:lnTo>
                <a:lnTo>
                  <a:pt x="5676008" y="3465008"/>
                </a:lnTo>
                <a:lnTo>
                  <a:pt x="5715152" y="3465234"/>
                </a:lnTo>
                <a:lnTo>
                  <a:pt x="5754297" y="3465456"/>
                </a:lnTo>
                <a:lnTo>
                  <a:pt x="5793442" y="3465674"/>
                </a:lnTo>
                <a:lnTo>
                  <a:pt x="5832587" y="3465888"/>
                </a:lnTo>
                <a:lnTo>
                  <a:pt x="5852160" y="3465994"/>
                </a:lnTo>
              </a:path>
            </a:pathLst>
          </a:custGeom>
          <a:noFill/>
          <a:ln w="4318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A-E06 ellipse 37" descr="sci-ppt:o037"/>
          <p:cNvSpPr/>
          <p:nvPr/>
        </p:nvSpPr>
        <p:spPr>
          <a:xfrm>
            <a:off x="841248" y="1472619"/>
            <a:ext cx="146304" cy="146304"/>
          </a:xfrm>
          <a:prstGeom prst="ellipse">
            <a:avLst/>
          </a:prstGeom>
          <a:solidFill>
            <a:srgbClr val="F28BA0"/>
          </a:solidFill>
          <a:ln w="127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-E06 text 38" descr="sci-ppt:o038"/>
          <p:cNvSpPr txBox="1"/>
          <p:nvPr/>
        </p:nvSpPr>
        <p:spPr>
          <a:xfrm>
            <a:off x="1051560" y="1454331"/>
            <a:ext cx="173736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slope 4 at R_ref</a:t>
            </a:r>
          </a:p>
        </p:txBody>
      </p:sp>
      <p:sp>
        <p:nvSpPr>
          <p:cNvPr id="41" name="A-E06 text 39" descr="sci-ppt:o039"/>
          <p:cNvSpPr txBox="1"/>
          <p:nvPr/>
        </p:nvSpPr>
        <p:spPr>
          <a:xfrm>
            <a:off x="2938272" y="4506685"/>
            <a:ext cx="3291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positive everywhere: pₑₗ always increases</a:t>
            </a:r>
          </a:p>
        </p:txBody>
      </p:sp>
      <p:sp>
        <p:nvSpPr>
          <p:cNvPr id="42" name="A-E06 round_rect 40" descr="sci-ppt:o040"/>
          <p:cNvSpPr/>
          <p:nvPr/>
        </p:nvSpPr>
        <p:spPr>
          <a:xfrm>
            <a:off x="7040880" y="1371600"/>
            <a:ext cx="48006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A-E06 text 41" descr="sci-ppt:o041"/>
          <p:cNvSpPr txBox="1"/>
          <p:nvPr/>
        </p:nvSpPr>
        <p:spPr>
          <a:xfrm>
            <a:off x="7150608" y="1426464"/>
            <a:ext cx="45811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Three checks</a:t>
            </a:r>
          </a:p>
        </p:txBody>
      </p:sp>
      <p:sp>
        <p:nvSpPr>
          <p:cNvPr id="44" name="A-E06 text 42" descr="sci-ppt:o042"/>
          <p:cNvSpPr txBox="1"/>
          <p:nvPr/>
        </p:nvSpPr>
        <p:spPr>
          <a:xfrm>
            <a:off x="7178040" y="182880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pₑₗ(R_ref) = (G_g/2)(5 − 4 − 1) = 0</a:t>
            </a:r>
          </a:p>
        </p:txBody>
      </p:sp>
      <p:sp>
        <p:nvSpPr>
          <p:cNvPr id="45" name="A-E06 text 43" descr="sci-ppt:o043"/>
          <p:cNvSpPr txBox="1"/>
          <p:nvPr/>
        </p:nvSpPr>
        <p:spPr>
          <a:xfrm>
            <a:off x="7178040" y="2377440"/>
            <a:ext cx="45720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dpₑₗ/dR = 2G_g (R_ref/R² + R_ref⁴/R⁵) &gt; 0</a:t>
            </a:r>
          </a:p>
        </p:txBody>
      </p:sp>
      <p:sp>
        <p:nvSpPr>
          <p:cNvPr id="46" name="A-E06 text 44" descr="sci-ppt:o044"/>
          <p:cNvSpPr txBox="1"/>
          <p:nvPr/>
        </p:nvSpPr>
        <p:spPr>
          <a:xfrm>
            <a:off x="7178040" y="2926080"/>
            <a:ext cx="45720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lim R/R_ref → ∞: pₑₗ → 5G_g/2</a:t>
            </a:r>
          </a:p>
        </p:txBody>
      </p:sp>
      <p:sp>
        <p:nvSpPr>
          <p:cNvPr id="47" name="A-E06 text 45" descr="sci-ppt:o045"/>
          <p:cNvSpPr txBox="1"/>
          <p:nvPr/>
        </p:nvSpPr>
        <p:spPr>
          <a:xfrm>
            <a:off x="7178040" y="3566160"/>
            <a:ext cx="45720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Zero strain, zero resistance; expansion raises it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monotonically and boundedly.</a:t>
            </a:r>
          </a:p>
        </p:txBody>
      </p:sp>
      <p:sp>
        <p:nvSpPr>
          <p:cNvPr id="48" name="A-E06 text 46" descr="sci-ppt:o046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These checks guard against sign errors: a negative slope or a non-zero value at R_ref would signal a mistake.</a:t>
            </a:r>
          </a:p>
        </p:txBody>
      </p:sp>
      <p:sp>
        <p:nvSpPr>
          <p:cNvPr id="49" name="A-E06 text 47" descr="sci-ppt:o047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Limiting-state and sign checks of Eq. A-E06.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